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8" r:id="rId4"/>
  </p:sldMasterIdLst>
  <p:notesMasterIdLst>
    <p:notesMasterId r:id="rId29"/>
  </p:notesMasterIdLst>
  <p:handoutMasterIdLst>
    <p:handoutMasterId r:id="rId30"/>
  </p:handoutMasterIdLst>
  <p:sldIdLst>
    <p:sldId id="412" r:id="rId5"/>
    <p:sldId id="413" r:id="rId6"/>
    <p:sldId id="414" r:id="rId7"/>
    <p:sldId id="415" r:id="rId8"/>
    <p:sldId id="330" r:id="rId9"/>
    <p:sldId id="314" r:id="rId10"/>
    <p:sldId id="301" r:id="rId11"/>
    <p:sldId id="309" r:id="rId12"/>
    <p:sldId id="288" r:id="rId13"/>
    <p:sldId id="297" r:id="rId14"/>
    <p:sldId id="298" r:id="rId15"/>
    <p:sldId id="416" r:id="rId16"/>
    <p:sldId id="425" r:id="rId17"/>
    <p:sldId id="257" r:id="rId18"/>
    <p:sldId id="258" r:id="rId19"/>
    <p:sldId id="260" r:id="rId20"/>
    <p:sldId id="424" r:id="rId21"/>
    <p:sldId id="417" r:id="rId22"/>
    <p:sldId id="418" r:id="rId23"/>
    <p:sldId id="419" r:id="rId24"/>
    <p:sldId id="420" r:id="rId25"/>
    <p:sldId id="421" r:id="rId26"/>
    <p:sldId id="422" r:id="rId27"/>
    <p:sldId id="423" r:id="rId28"/>
  </p:sldIdLst>
  <p:sldSz cx="12192000" cy="6858000"/>
  <p:notesSz cx="6858000" cy="9144000"/>
  <p:defaultTextStyle>
    <a:defPPr rtl="0">
      <a:defRPr lang="es-ES"/>
    </a:defPPr>
    <a:lvl1pPr marL="0" algn="l" defTabSz="914400" rtl="0" eaLnBrk="1" latinLnBrk="0" hangingPunct="1">
      <a:defRPr lang="es-ES" sz="1800" kern="1200">
        <a:solidFill>
          <a:schemeClr val="tx1"/>
        </a:solidFill>
        <a:latin typeface="+mn-lt"/>
        <a:ea typeface="+mn-ea"/>
        <a:cs typeface="+mn-cs"/>
      </a:defRPr>
    </a:lvl1pPr>
    <a:lvl2pPr marL="457200" algn="l" defTabSz="914400" rtl="0" eaLnBrk="1" latinLnBrk="0" hangingPunct="1">
      <a:defRPr lang="es-ES" sz="1800" kern="1200">
        <a:solidFill>
          <a:schemeClr val="tx1"/>
        </a:solidFill>
        <a:latin typeface="+mn-lt"/>
        <a:ea typeface="+mn-ea"/>
        <a:cs typeface="+mn-cs"/>
      </a:defRPr>
    </a:lvl2pPr>
    <a:lvl3pPr marL="914400" algn="l" defTabSz="914400" rtl="0" eaLnBrk="1" latinLnBrk="0" hangingPunct="1">
      <a:defRPr lang="es-ES" sz="1800" kern="1200">
        <a:solidFill>
          <a:schemeClr val="tx1"/>
        </a:solidFill>
        <a:latin typeface="+mn-lt"/>
        <a:ea typeface="+mn-ea"/>
        <a:cs typeface="+mn-cs"/>
      </a:defRPr>
    </a:lvl3pPr>
    <a:lvl4pPr marL="1371600" algn="l" defTabSz="914400" rtl="0" eaLnBrk="1" latinLnBrk="0" hangingPunct="1">
      <a:defRPr lang="es-ES" sz="1800" kern="1200">
        <a:solidFill>
          <a:schemeClr val="tx1"/>
        </a:solidFill>
        <a:latin typeface="+mn-lt"/>
        <a:ea typeface="+mn-ea"/>
        <a:cs typeface="+mn-cs"/>
      </a:defRPr>
    </a:lvl4pPr>
    <a:lvl5pPr marL="1828800" algn="l" defTabSz="914400" rtl="0" eaLnBrk="1" latinLnBrk="0" hangingPunct="1">
      <a:defRPr lang="es-ES" sz="1800" kern="1200">
        <a:solidFill>
          <a:schemeClr val="tx1"/>
        </a:solidFill>
        <a:latin typeface="+mn-lt"/>
        <a:ea typeface="+mn-ea"/>
        <a:cs typeface="+mn-cs"/>
      </a:defRPr>
    </a:lvl5pPr>
    <a:lvl6pPr marL="2286000" algn="l" defTabSz="914400" rtl="0" eaLnBrk="1" latinLnBrk="0" hangingPunct="1">
      <a:defRPr lang="es-ES" sz="1800" kern="1200">
        <a:solidFill>
          <a:schemeClr val="tx1"/>
        </a:solidFill>
        <a:latin typeface="+mn-lt"/>
        <a:ea typeface="+mn-ea"/>
        <a:cs typeface="+mn-cs"/>
      </a:defRPr>
    </a:lvl6pPr>
    <a:lvl7pPr marL="2743200" algn="l" defTabSz="914400" rtl="0" eaLnBrk="1" latinLnBrk="0" hangingPunct="1">
      <a:defRPr lang="es-ES" sz="1800" kern="1200">
        <a:solidFill>
          <a:schemeClr val="tx1"/>
        </a:solidFill>
        <a:latin typeface="+mn-lt"/>
        <a:ea typeface="+mn-ea"/>
        <a:cs typeface="+mn-cs"/>
      </a:defRPr>
    </a:lvl7pPr>
    <a:lvl8pPr marL="3200400" algn="l" defTabSz="914400" rtl="0" eaLnBrk="1" latinLnBrk="0" hangingPunct="1">
      <a:defRPr lang="es-ES" sz="1800" kern="1200">
        <a:solidFill>
          <a:schemeClr val="tx1"/>
        </a:solidFill>
        <a:latin typeface="+mn-lt"/>
        <a:ea typeface="+mn-ea"/>
        <a:cs typeface="+mn-cs"/>
      </a:defRPr>
    </a:lvl8pPr>
    <a:lvl9pPr marL="3657600" algn="l" defTabSz="914400" rtl="0" eaLnBrk="1" latinLnBrk="0" hangingPunct="1">
      <a:defRPr lang="es-ES"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9246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A107856-5554-42FB-B03E-39F5DBC370B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4" autoAdjust="0"/>
    <p:restoredTop sz="88462" autoAdjust="0"/>
  </p:normalViewPr>
  <p:slideViewPr>
    <p:cSldViewPr snapToGrid="0">
      <p:cViewPr varScale="1">
        <p:scale>
          <a:sx n="56" d="100"/>
          <a:sy n="56" d="100"/>
        </p:scale>
        <p:origin x="1068" y="4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howGuides="1">
      <p:cViewPr varScale="1">
        <p:scale>
          <a:sx n="97" d="100"/>
          <a:sy n="97" d="100"/>
        </p:scale>
        <p:origin x="2868"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35" Type="http://schemas.openxmlformats.org/officeDocument/2006/relationships/tableStyles" Target="tableStyle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Marcador de fecha 2">
            <a:extLst>
              <a:ext uri="{FF2B5EF4-FFF2-40B4-BE49-F238E27FC236}">
                <a16:creationId xmlns:a16="http://schemas.microsoft.com/office/drawing/2014/main" id="{08F6756E-81DA-9FAC-70D8-556F658BDDA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lang="es-ES" sz="1200"/>
            </a:lvl1pPr>
          </a:lstStyle>
          <a:p>
            <a:pPr rtl="0"/>
            <a:fld id="{E92A46E5-772B-4A8A-A167-62663A29553C}" type="datetime1">
              <a:rPr lang="es-ES" smtClean="0"/>
              <a:t>29/10/2026</a:t>
            </a:fld>
            <a:endParaRPr lang="es-ES" dirty="0"/>
          </a:p>
        </p:txBody>
      </p:sp>
      <p:sp>
        <p:nvSpPr>
          <p:cNvPr id="6" name="Marcador de número de diapositiva 5">
            <a:extLst>
              <a:ext uri="{FF2B5EF4-FFF2-40B4-BE49-F238E27FC236}">
                <a16:creationId xmlns:a16="http://schemas.microsoft.com/office/drawing/2014/main" id="{A771D415-D05A-7067-CCD3-457153D96C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lang="es-ES" sz="1200"/>
            </a:lvl1pPr>
          </a:lstStyle>
          <a:p>
            <a:pPr rtl="0"/>
            <a:fld id="{E2C230DF-5933-439D-898F-38E9AC9BA688}" type="slidenum">
              <a:rPr lang="es-ES" smtClean="0"/>
              <a:t>‹Nº›</a:t>
            </a:fld>
            <a:endParaRPr lang="es-ES" dirty="0"/>
          </a:p>
        </p:txBody>
      </p:sp>
      <p:sp>
        <p:nvSpPr>
          <p:cNvPr id="7" name="Marcador de pie de página 6">
            <a:extLst>
              <a:ext uri="{FF2B5EF4-FFF2-40B4-BE49-F238E27FC236}">
                <a16:creationId xmlns:a16="http://schemas.microsoft.com/office/drawing/2014/main" id="{B97095E3-54D2-CFD2-4F49-7536FC8641D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lang="es-ES" sz="1200"/>
            </a:lvl1pPr>
          </a:lstStyle>
          <a:p>
            <a:pPr rtl="0"/>
            <a:endParaRPr lang="es-ES" dirty="0"/>
          </a:p>
        </p:txBody>
      </p:sp>
      <p:sp>
        <p:nvSpPr>
          <p:cNvPr id="8" name="Marcador de encabezado 7">
            <a:extLst>
              <a:ext uri="{FF2B5EF4-FFF2-40B4-BE49-F238E27FC236}">
                <a16:creationId xmlns:a16="http://schemas.microsoft.com/office/drawing/2014/main" id="{521EE01A-C0B5-5ECF-96DD-768F86AA15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es-ES" sz="1200"/>
            </a:lvl1pPr>
          </a:lstStyle>
          <a:p>
            <a:pPr rtl="0"/>
            <a:endParaRPr lang="es-ES" dirty="0"/>
          </a:p>
        </p:txBody>
      </p:sp>
    </p:spTree>
    <p:extLst>
      <p:ext uri="{BB962C8B-B14F-4D97-AF65-F5344CB8AC3E}">
        <p14:creationId xmlns:p14="http://schemas.microsoft.com/office/powerpoint/2010/main" val="265322844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es-ES" sz="1200"/>
            </a:lvl1pPr>
          </a:lstStyle>
          <a:p>
            <a:pPr rtl="0"/>
            <a:endParaRPr lang="es-ES" dirty="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lang="es-ES" sz="1200"/>
            </a:lvl1pPr>
          </a:lstStyle>
          <a:p>
            <a:pPr rtl="0"/>
            <a:fld id="{16DB30B6-91B7-493F-B445-96E1D2848A7B}" type="datetime1">
              <a:rPr lang="es-ES" smtClean="0"/>
              <a:t>29/10/2026</a:t>
            </a:fld>
            <a:endParaRPr lang="es-ES"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defPPr>
              <a:defRPr lang="es-ES"/>
            </a:defPPr>
          </a:lstStyle>
          <a:p>
            <a:pPr rtl="0"/>
            <a:endParaRPr lang="es-ES" dirty="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defPPr>
              <a:defRPr lang="es-ES"/>
            </a:defPPr>
          </a:lstStyle>
          <a:p>
            <a:pPr lvl="0" rtl="0"/>
            <a:r>
              <a:rPr lang="es-ES"/>
              <a:t>Haga clic para modificar los estilos de texto del patrón</a:t>
            </a:r>
          </a:p>
          <a:p>
            <a:pPr lvl="1" rtl="0"/>
            <a:r>
              <a:rPr lang="es-ES"/>
              <a:t>Segundo nivel</a:t>
            </a:r>
          </a:p>
          <a:p>
            <a:pPr lvl="2" rtl="0"/>
            <a:r>
              <a:rPr lang="es-ES"/>
              <a:t>Tercer nivel</a:t>
            </a:r>
          </a:p>
          <a:p>
            <a:pPr lvl="3" rtl="0"/>
            <a:r>
              <a:rPr lang="es-ES"/>
              <a:t>Cuarto nivel</a:t>
            </a:r>
          </a:p>
          <a:p>
            <a:pPr lvl="4" rtl="0"/>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lang="es-ES" sz="1200"/>
            </a:lvl1pPr>
          </a:lstStyle>
          <a:p>
            <a:pPr rtl="0"/>
            <a:endParaRPr lang="es-ES" dirty="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lang="es-ES" sz="1200"/>
            </a:lvl1pPr>
          </a:lstStyle>
          <a:p>
            <a:pPr rtl="0"/>
            <a:fld id="{A89C7E07-3C67-C64C-8DA0-0404F6303970}" type="slidenum">
              <a:rPr lang="es-ES" smtClean="0"/>
              <a:t>‹Nº›</a:t>
            </a:fld>
            <a:endParaRPr lang="es-ES" dirty="0"/>
          </a:p>
        </p:txBody>
      </p:sp>
    </p:spTree>
    <p:extLst>
      <p:ext uri="{BB962C8B-B14F-4D97-AF65-F5344CB8AC3E}">
        <p14:creationId xmlns:p14="http://schemas.microsoft.com/office/powerpoint/2010/main" val="403252837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lang="es-ES" sz="1200" kern="1200">
        <a:solidFill>
          <a:schemeClr val="tx1"/>
        </a:solidFill>
        <a:latin typeface="+mn-lt"/>
        <a:ea typeface="+mn-ea"/>
        <a:cs typeface="+mn-cs"/>
      </a:defRPr>
    </a:lvl1pPr>
    <a:lvl2pPr marL="457200" algn="l" defTabSz="914400" rtl="0" eaLnBrk="1" latinLnBrk="0" hangingPunct="1">
      <a:defRPr lang="es-ES" sz="1200" kern="1200">
        <a:solidFill>
          <a:schemeClr val="tx1"/>
        </a:solidFill>
        <a:latin typeface="+mn-lt"/>
        <a:ea typeface="+mn-ea"/>
        <a:cs typeface="+mn-cs"/>
      </a:defRPr>
    </a:lvl2pPr>
    <a:lvl3pPr marL="914400" algn="l" defTabSz="914400" rtl="0" eaLnBrk="1" latinLnBrk="0" hangingPunct="1">
      <a:defRPr lang="es-ES" sz="1200" kern="1200">
        <a:solidFill>
          <a:schemeClr val="tx1"/>
        </a:solidFill>
        <a:latin typeface="+mn-lt"/>
        <a:ea typeface="+mn-ea"/>
        <a:cs typeface="+mn-cs"/>
      </a:defRPr>
    </a:lvl3pPr>
    <a:lvl4pPr marL="1371600" algn="l" defTabSz="914400" rtl="0" eaLnBrk="1" latinLnBrk="0" hangingPunct="1">
      <a:defRPr lang="es-ES" sz="1200" kern="1200">
        <a:solidFill>
          <a:schemeClr val="tx1"/>
        </a:solidFill>
        <a:latin typeface="+mn-lt"/>
        <a:ea typeface="+mn-ea"/>
        <a:cs typeface="+mn-cs"/>
      </a:defRPr>
    </a:lvl4pPr>
    <a:lvl5pPr marL="1828800" algn="l" defTabSz="914400" rtl="0" eaLnBrk="1" latinLnBrk="0" hangingPunct="1">
      <a:defRPr lang="es-ES" sz="1200" kern="1200">
        <a:solidFill>
          <a:schemeClr val="tx1"/>
        </a:solidFill>
        <a:latin typeface="+mn-lt"/>
        <a:ea typeface="+mn-ea"/>
        <a:cs typeface="+mn-cs"/>
      </a:defRPr>
    </a:lvl5pPr>
    <a:lvl6pPr marL="2286000" algn="l" defTabSz="914400" rtl="0" eaLnBrk="1" latinLnBrk="0" hangingPunct="1">
      <a:defRPr lang="es-ES" sz="1200" kern="1200">
        <a:solidFill>
          <a:schemeClr val="tx1"/>
        </a:solidFill>
        <a:latin typeface="+mn-lt"/>
        <a:ea typeface="+mn-ea"/>
        <a:cs typeface="+mn-cs"/>
      </a:defRPr>
    </a:lvl6pPr>
    <a:lvl7pPr marL="2743200" algn="l" defTabSz="914400" rtl="0" eaLnBrk="1" latinLnBrk="0" hangingPunct="1">
      <a:defRPr lang="es-ES" sz="1200" kern="1200">
        <a:solidFill>
          <a:schemeClr val="tx1"/>
        </a:solidFill>
        <a:latin typeface="+mn-lt"/>
        <a:ea typeface="+mn-ea"/>
        <a:cs typeface="+mn-cs"/>
      </a:defRPr>
    </a:lvl7pPr>
    <a:lvl8pPr marL="3200400" algn="l" defTabSz="914400" rtl="0" eaLnBrk="1" latinLnBrk="0" hangingPunct="1">
      <a:defRPr lang="es-ES" sz="1200" kern="1200">
        <a:solidFill>
          <a:schemeClr val="tx1"/>
        </a:solidFill>
        <a:latin typeface="+mn-lt"/>
        <a:ea typeface="+mn-ea"/>
        <a:cs typeface="+mn-cs"/>
      </a:defRPr>
    </a:lvl8pPr>
    <a:lvl9pPr marL="3657600" algn="l" defTabSz="914400" rtl="0" eaLnBrk="1" latinLnBrk="0" hangingPunct="1">
      <a:defRPr lang="es-ES"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Dos partes: primero la conferencia (conceptos y arquitectura) y luego el taller práctico en n8n Cloud con el caso del Centro de Competencias Digitales de la UNAB.</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agente combina un modelo de lenguaje con herramientas y memoria. En ingeniería sirve para automatizar, apoyar decisiones y conectar sistemas heterogéneos.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
          <a:extLst>
            <a:ext uri="{FF2B5EF4-FFF2-40B4-BE49-F238E27FC236}">
              <a16:creationId xmlns:a16="http://schemas.microsoft.com/office/drawing/2014/main" id="{57920B8A-7910-DA6A-F3C2-7568EF8CDEEF}"/>
            </a:ext>
          </a:extLst>
        </p:cNvPr>
        <p:cNvGrpSpPr/>
        <p:nvPr/>
      </p:nvGrpSpPr>
      <p:grpSpPr>
        <a:xfrm>
          <a:off x="0" y="0"/>
          <a:ext cx="0" cy="0"/>
          <a:chOff x="0" y="0"/>
          <a:chExt cx="0" cy="0"/>
        </a:xfrm>
      </p:grpSpPr>
      <p:sp>
        <p:nvSpPr>
          <p:cNvPr id="12" name="Google Shape;12;p1:notes">
            <a:extLst>
              <a:ext uri="{FF2B5EF4-FFF2-40B4-BE49-F238E27FC236}">
                <a16:creationId xmlns:a16="http://schemas.microsoft.com/office/drawing/2014/main" id="{8BE2ECBB-9AE9-F2FC-E64B-5DE36BE8DDF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 name="Google Shape;13;p1:notes">
            <a:extLst>
              <a:ext uri="{FF2B5EF4-FFF2-40B4-BE49-F238E27FC236}">
                <a16:creationId xmlns:a16="http://schemas.microsoft.com/office/drawing/2014/main" id="{E36D475C-09AE-76AC-0A6A-D7C4A62470A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Introduccion</a:t>
            </a:r>
            <a:endParaRPr/>
          </a:p>
        </p:txBody>
      </p:sp>
      <p:sp>
        <p:nvSpPr>
          <p:cNvPr id="14" name="Google Shape;14;p1:notes">
            <a:extLst>
              <a:ext uri="{FF2B5EF4-FFF2-40B4-BE49-F238E27FC236}">
                <a16:creationId xmlns:a16="http://schemas.microsoft.com/office/drawing/2014/main" id="{006C82F8-FE23-2809-34F0-9CFDA79DC4C2}"/>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25855102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p:cNvGrpSpPr/>
        <p:nvPr/>
      </p:nvGrpSpPr>
      <p:grpSpPr>
        <a:xfrm>
          <a:off x="0" y="0"/>
          <a:ext cx="0" cy="0"/>
          <a:chOff x="0" y="0"/>
          <a:chExt cx="0" cy="0"/>
        </a:xfrm>
      </p:grpSpPr>
      <p:sp>
        <p:nvSpPr>
          <p:cNvPr id="43" name="Google Shape;4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 name="Google Shape;44;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 name="Google Shape;45;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extLst>
      <p:ext uri="{BB962C8B-B14F-4D97-AF65-F5344CB8AC3E}">
        <p14:creationId xmlns:p14="http://schemas.microsoft.com/office/powerpoint/2010/main" val="30702713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3" name="Google Shape;63;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 name="Google Shape;64;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5121186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1" name="Google Shape;361;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2" name="Google Shape;362;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4631993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 name="Google Shape;4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7" name="Google Shape;47;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p:cNvGrpSpPr/>
        <p:nvPr/>
      </p:nvGrpSpPr>
      <p:grpSpPr>
        <a:xfrm>
          <a:off x="0" y="0"/>
          <a:ext cx="0" cy="0"/>
          <a:chOff x="0" y="0"/>
          <a:chExt cx="0" cy="0"/>
        </a:xfrm>
      </p:grpSpPr>
      <p:sp>
        <p:nvSpPr>
          <p:cNvPr id="520" name="Google Shape;520;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1" name="Google Shape;521;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2" name="Google Shape;522;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3"/>
        <p:cNvGrpSpPr/>
        <p:nvPr/>
      </p:nvGrpSpPr>
      <p:grpSpPr>
        <a:xfrm>
          <a:off x="0" y="0"/>
          <a:ext cx="0" cy="0"/>
          <a:chOff x="0" y="0"/>
          <a:chExt cx="0" cy="0"/>
        </a:xfrm>
      </p:grpSpPr>
      <p:sp>
        <p:nvSpPr>
          <p:cNvPr id="584" name="Google Shape;584;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5" name="Google Shape;585;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6" name="Google Shape;586;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agente orquestador recibe la solicitud y delega en agentes especializados, cada uno con sus propias herramientas.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Los datos son sintéticos. La ruta exige CD-101 obligatorio, un curso de Analítica y uno de Tecnologías Transformativas.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Flujo 'Embedding documento RAG': lee archivos Markdown de Google Drive, los fragmenta, genera embeddings y los guarda en pgvector. Borra los fragmentos viejos del archivo para no duplicar.</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diseño de datos incluye telegram_id, la tabla de solicitudes con bandera enviado_sheets y la tabla de conversaciones.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Pida a los asistentes crear las cuentas antes del evento. Con n8n Cloud la base de datos debe ser accesible desde internet, por eso se sugiere un Postgres gratuito en la nube con pgvector.</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Cada bloque termina con un resultado verificable.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Estas prácticas aplican igual en n8n Cloud y en despliegues propios.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Cierre: invite a extender el sistema y a compartir sus propios casos.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ítulo de sección">
    <p:bg>
      <p:bgPr>
        <a:solidFill>
          <a:schemeClr val="accent3"/>
        </a:solidFill>
        <a:effectLst/>
      </p:bgPr>
    </p:bg>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7B0F5DF9-18C4-99DF-AF0C-6B03E6A1B75B}"/>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729169562"/>
      </p:ext>
    </p:extLst>
  </p:cSld>
  <p:clrMapOvr>
    <a:masterClrMapping/>
  </p:clrMapOvr>
  <p:extLst>
    <p:ext uri="{DCECCB84-F9BA-43D5-87BE-67443E8EF086}">
      <p15:sldGuideLst xmlns:p15="http://schemas.microsoft.com/office/powerpoint/2012/main">
        <p15:guide id="2" pos="7104">
          <p15:clr>
            <a:srgbClr val="FBAE40"/>
          </p15:clr>
        </p15:guide>
        <p15:guide id="3" pos="4344" userDrawn="1">
          <p15:clr>
            <a:srgbClr val="FBAE40"/>
          </p15:clr>
        </p15:guide>
        <p15:guide id="4" pos="4560" userDrawn="1">
          <p15:clr>
            <a:srgbClr val="FBAE40"/>
          </p15:clr>
        </p15:guide>
        <p15:guide id="8" orient="horz" pos="184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ítulo 1">
    <p:bg>
      <p:bgPr>
        <a:solidFill>
          <a:schemeClr val="tx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396151" y="2082187"/>
            <a:ext cx="11399697" cy="2644049"/>
          </a:xfrm>
          <a:prstGeom prst="rect">
            <a:avLst/>
          </a:prstGeom>
        </p:spPr>
        <p:txBody>
          <a:bodyPr lIns="0" tIns="0" rIns="0" bIns="0" rtlCol="0" anchor="b">
            <a:noAutofit/>
          </a:bodyPr>
          <a:lstStyle>
            <a:lvl1pPr algn="l">
              <a:lnSpc>
                <a:spcPct val="80000"/>
              </a:lnSpc>
              <a:defRPr lang="es-ES" sz="4800" b="1" i="0" spc="100" baseline="0">
                <a:solidFill>
                  <a:schemeClr val="bg1"/>
                </a:solidFill>
                <a:latin typeface="+mj-lt"/>
              </a:defRPr>
            </a:lvl1pPr>
          </a:lstStyle>
          <a:p>
            <a:pPr rtl="0"/>
            <a:r>
              <a:rPr lang="es-ES" dirty="0"/>
              <a:t>Título de la ponencia fuente (48)</a:t>
            </a:r>
            <a:br>
              <a:rPr lang="es-ES" dirty="0"/>
            </a:br>
            <a:r>
              <a:rPr lang="es-ES" dirty="0"/>
              <a:t>Autor(es) fuente (32)</a:t>
            </a:r>
            <a:br>
              <a:rPr lang="es-ES" dirty="0"/>
            </a:br>
            <a:endParaRPr lang="es-ES" dirty="0"/>
          </a:p>
        </p:txBody>
      </p:sp>
      <p:pic>
        <p:nvPicPr>
          <p:cNvPr id="7" name="Imagen 6">
            <a:extLst>
              <a:ext uri="{FF2B5EF4-FFF2-40B4-BE49-F238E27FC236}">
                <a16:creationId xmlns:a16="http://schemas.microsoft.com/office/drawing/2014/main" id="{DBDE8F68-4F95-8EB4-C6BC-6504DE0F53B3}"/>
              </a:ext>
            </a:extLst>
          </p:cNvPr>
          <p:cNvPicPr>
            <a:picLocks noChangeAspect="1"/>
          </p:cNvPicPr>
          <p:nvPr userDrawn="1"/>
        </p:nvPicPr>
        <p:blipFill>
          <a:blip r:embed="rId2"/>
          <a:srcRect t="87871"/>
          <a:stretch>
            <a:fillRect/>
          </a:stretch>
        </p:blipFill>
        <p:spPr>
          <a:xfrm>
            <a:off x="0" y="6026226"/>
            <a:ext cx="12192000" cy="831773"/>
          </a:xfrm>
          <a:prstGeom prst="rect">
            <a:avLst/>
          </a:prstGeom>
        </p:spPr>
      </p:pic>
      <p:pic>
        <p:nvPicPr>
          <p:cNvPr id="32" name="Imagen 31">
            <a:extLst>
              <a:ext uri="{FF2B5EF4-FFF2-40B4-BE49-F238E27FC236}">
                <a16:creationId xmlns:a16="http://schemas.microsoft.com/office/drawing/2014/main" id="{92A41CBB-C70F-A685-EED5-84B6C4154850}"/>
              </a:ext>
            </a:extLst>
          </p:cNvPr>
          <p:cNvPicPr>
            <a:picLocks noChangeAspect="1"/>
          </p:cNvPicPr>
          <p:nvPr userDrawn="1"/>
        </p:nvPicPr>
        <p:blipFill>
          <a:blip r:embed="rId2"/>
          <a:srcRect t="28113" b="49879"/>
          <a:stretch>
            <a:fillRect/>
          </a:stretch>
        </p:blipFill>
        <p:spPr>
          <a:xfrm>
            <a:off x="0" y="0"/>
            <a:ext cx="12192000" cy="1509311"/>
          </a:xfrm>
          <a:prstGeom prst="rect">
            <a:avLst/>
          </a:prstGeom>
        </p:spPr>
      </p:pic>
    </p:spTree>
    <p:extLst>
      <p:ext uri="{BB962C8B-B14F-4D97-AF65-F5344CB8AC3E}">
        <p14:creationId xmlns:p14="http://schemas.microsoft.com/office/powerpoint/2010/main" val="4413275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sp>
        <p:nvSpPr>
          <p:cNvPr id="12" name="Título 1">
            <a:extLst>
              <a:ext uri="{FF2B5EF4-FFF2-40B4-BE49-F238E27FC236}">
                <a16:creationId xmlns:a16="http://schemas.microsoft.com/office/drawing/2014/main" id="{39F93F26-ED5C-E74E-BFBD-E3054DC1B9C1}"/>
              </a:ext>
            </a:extLst>
          </p:cNvPr>
          <p:cNvSpPr>
            <a:spLocks noGrp="1"/>
          </p:cNvSpPr>
          <p:nvPr>
            <p:ph type="title" hasCustomPrompt="1"/>
          </p:nvPr>
        </p:nvSpPr>
        <p:spPr>
          <a:xfrm>
            <a:off x="594359" y="1795749"/>
            <a:ext cx="11138604" cy="791561"/>
          </a:xfrm>
          <a:prstGeom prst="rect">
            <a:avLst/>
          </a:prstGeom>
        </p:spPr>
        <p:txBody>
          <a:bodyPr lIns="0" tIns="0" rIns="0" bIns="0" rtlCol="0" anchor="b" anchorCtr="0">
            <a:noAutofit/>
          </a:bodyPr>
          <a:lstStyle>
            <a:lvl1pPr>
              <a:defRPr lang="es-ES" sz="4400" b="1" i="0" spc="50" baseline="0">
                <a:latin typeface="+mj-lt"/>
              </a:defRPr>
            </a:lvl1pPr>
          </a:lstStyle>
          <a:p>
            <a:pPr rtl="0"/>
            <a:r>
              <a:rPr lang="es-ES" noProof="0" dirty="0"/>
              <a:t>Haga clic para agregar un título </a:t>
            </a:r>
          </a:p>
        </p:txBody>
      </p:sp>
      <p:sp>
        <p:nvSpPr>
          <p:cNvPr id="2" name="Marcador de contenido 5">
            <a:extLst>
              <a:ext uri="{FF2B5EF4-FFF2-40B4-BE49-F238E27FC236}">
                <a16:creationId xmlns:a16="http://schemas.microsoft.com/office/drawing/2014/main" id="{186153BD-9D2B-47EB-3553-1D3F6663B2A3}"/>
              </a:ext>
            </a:extLst>
          </p:cNvPr>
          <p:cNvSpPr>
            <a:spLocks noGrp="1"/>
          </p:cNvSpPr>
          <p:nvPr>
            <p:ph sz="quarter" idx="13" hasCustomPrompt="1"/>
          </p:nvPr>
        </p:nvSpPr>
        <p:spPr>
          <a:xfrm>
            <a:off x="594359" y="2842353"/>
            <a:ext cx="11215723" cy="3148082"/>
          </a:xfrm>
        </p:spPr>
        <p:txBody>
          <a:bodyPr lIns="0" tIns="228600" rIns="0" bIns="0" rtlCol="0">
            <a:normAutofit/>
          </a:bodyPr>
          <a:lstStyle>
            <a:lvl1pPr marL="283464" indent="-283464">
              <a:lnSpc>
                <a:spcPct val="80000"/>
              </a:lnSpc>
              <a:spcBef>
                <a:spcPts val="2200"/>
              </a:spcBef>
              <a:buFont typeface="Arial" panose="020B0604020202020204" pitchFamily="34" charset="0"/>
              <a:buChar char="•"/>
              <a:defRPr lang="es-ES" sz="2400" b="1" i="0" kern="1200" dirty="0">
                <a:solidFill>
                  <a:schemeClr val="bg1"/>
                </a:solidFill>
                <a:latin typeface="+mn-lt"/>
                <a:ea typeface="+mn-ea"/>
                <a:cs typeface="+mn-cs"/>
              </a:defRPr>
            </a:lvl1pPr>
            <a:lvl2pPr indent="-283464">
              <a:spcBef>
                <a:spcPts val="600"/>
              </a:spcBef>
              <a:defRPr lang="es-ES" sz="2000"/>
            </a:lvl2pPr>
            <a:lvl3pPr indent="-283464">
              <a:spcBef>
                <a:spcPts val="1800"/>
              </a:spcBef>
              <a:defRPr lang="es-ES" sz="2000"/>
            </a:lvl3pPr>
            <a:lvl4pPr indent="-283464">
              <a:spcBef>
                <a:spcPts val="1800"/>
              </a:spcBef>
              <a:defRPr lang="es-ES" sz="2000"/>
            </a:lvl4pPr>
            <a:lvl5pPr indent="-283464">
              <a:spcBef>
                <a:spcPts val="1800"/>
              </a:spcBef>
              <a:defRPr lang="es-ES" sz="2000"/>
            </a:lvl5pPr>
          </a:lstStyle>
          <a:p>
            <a:pPr lvl="0" rtl="0"/>
            <a:r>
              <a:rPr lang="es-ES" noProof="0" dirty="0"/>
              <a:t>Haga clic para agregar contenido</a:t>
            </a:r>
          </a:p>
          <a:p>
            <a:pPr lvl="1" rtl="0"/>
            <a:r>
              <a:rPr lang="es-ES" noProof="0" dirty="0"/>
              <a:t>Segundo nivel</a:t>
            </a:r>
          </a:p>
          <a:p>
            <a:pPr lvl="2" rtl="0"/>
            <a:r>
              <a:rPr lang="es-ES" noProof="0" dirty="0"/>
              <a:t>Tercer nivel</a:t>
            </a:r>
          </a:p>
          <a:p>
            <a:pPr lvl="3" rtl="0"/>
            <a:r>
              <a:rPr lang="es-ES" noProof="0" dirty="0"/>
              <a:t>Cuarto nivel</a:t>
            </a:r>
          </a:p>
          <a:p>
            <a:pPr lvl="4" rtl="0"/>
            <a:r>
              <a:rPr lang="es-ES" noProof="0" dirty="0"/>
              <a:t>Quinto nivel</a:t>
            </a:r>
          </a:p>
        </p:txBody>
      </p:sp>
      <p:sp>
        <p:nvSpPr>
          <p:cNvPr id="43" name="Marcador de número de diapositiva 42">
            <a:extLst>
              <a:ext uri="{FF2B5EF4-FFF2-40B4-BE49-F238E27FC236}">
                <a16:creationId xmlns:a16="http://schemas.microsoft.com/office/drawing/2014/main" id="{D80CCC8F-9CF1-9621-04EB-DFA68FEE42D2}"/>
              </a:ext>
            </a:extLst>
          </p:cNvPr>
          <p:cNvSpPr>
            <a:spLocks noGrp="1"/>
          </p:cNvSpPr>
          <p:nvPr>
            <p:ph type="sldNum" sz="quarter" idx="26"/>
          </p:nvPr>
        </p:nvSpPr>
        <p:spPr/>
        <p:txBody>
          <a:bodyPr rtlCol="0"/>
          <a:lstStyle>
            <a:defPPr>
              <a:defRPr lang="es-ES"/>
            </a:defPPr>
          </a:lstStyle>
          <a:p>
            <a:pPr rtl="0"/>
            <a:fld id="{294A09A9-5501-47C1-A89A-A340965A2BE2}" type="slidenum">
              <a:rPr lang="es-ES" noProof="0" smtClean="0"/>
              <a:pPr rtl="0"/>
              <a:t>‹Nº›</a:t>
            </a:fld>
            <a:endParaRPr lang="es-ES" noProof="0" dirty="0"/>
          </a:p>
        </p:txBody>
      </p:sp>
      <p:sp>
        <p:nvSpPr>
          <p:cNvPr id="42" name="Marcador de fecha 41">
            <a:extLst>
              <a:ext uri="{FF2B5EF4-FFF2-40B4-BE49-F238E27FC236}">
                <a16:creationId xmlns:a16="http://schemas.microsoft.com/office/drawing/2014/main" id="{29CE2856-DB8F-5603-C085-74C70560FAC8}"/>
              </a:ext>
            </a:extLst>
          </p:cNvPr>
          <p:cNvSpPr>
            <a:spLocks noGrp="1"/>
          </p:cNvSpPr>
          <p:nvPr>
            <p:ph type="dt" sz="half" idx="25"/>
          </p:nvPr>
        </p:nvSpPr>
        <p:spPr/>
        <p:txBody>
          <a:bodyPr rtlCol="0"/>
          <a:lstStyle>
            <a:defPPr>
              <a:defRPr lang="es-ES"/>
            </a:defPPr>
          </a:lstStyle>
          <a:p>
            <a:pPr rtl="0"/>
            <a:endParaRPr lang="es-ES" noProof="0" dirty="0">
              <a:latin typeface="+mn-lt"/>
            </a:endParaRPr>
          </a:p>
        </p:txBody>
      </p:sp>
      <p:pic>
        <p:nvPicPr>
          <p:cNvPr id="5" name="Imagen 4">
            <a:extLst>
              <a:ext uri="{FF2B5EF4-FFF2-40B4-BE49-F238E27FC236}">
                <a16:creationId xmlns:a16="http://schemas.microsoft.com/office/drawing/2014/main" id="{2936D21C-C5BF-4F4B-3C99-BE5321E4FEEF}"/>
              </a:ext>
            </a:extLst>
          </p:cNvPr>
          <p:cNvPicPr>
            <a:picLocks noChangeAspect="1"/>
          </p:cNvPicPr>
          <p:nvPr userDrawn="1"/>
        </p:nvPicPr>
        <p:blipFill>
          <a:blip r:embed="rId2"/>
          <a:srcRect t="87871"/>
          <a:stretch>
            <a:fillRect/>
          </a:stretch>
        </p:blipFill>
        <p:spPr>
          <a:xfrm>
            <a:off x="0" y="6026226"/>
            <a:ext cx="12192000" cy="831773"/>
          </a:xfrm>
          <a:prstGeom prst="rect">
            <a:avLst/>
          </a:prstGeom>
        </p:spPr>
      </p:pic>
      <p:pic>
        <p:nvPicPr>
          <p:cNvPr id="18" name="Imagen 17">
            <a:extLst>
              <a:ext uri="{FF2B5EF4-FFF2-40B4-BE49-F238E27FC236}">
                <a16:creationId xmlns:a16="http://schemas.microsoft.com/office/drawing/2014/main" id="{9E5A32DF-7A99-3756-B689-551281AC7811}"/>
              </a:ext>
            </a:extLst>
          </p:cNvPr>
          <p:cNvPicPr>
            <a:picLocks noChangeAspect="1"/>
          </p:cNvPicPr>
          <p:nvPr userDrawn="1"/>
        </p:nvPicPr>
        <p:blipFill>
          <a:blip r:embed="rId2"/>
          <a:srcRect t="28113" b="49879"/>
          <a:stretch>
            <a:fillRect/>
          </a:stretch>
        </p:blipFill>
        <p:spPr>
          <a:xfrm>
            <a:off x="0" y="0"/>
            <a:ext cx="12192000" cy="1509311"/>
          </a:xfrm>
          <a:prstGeom prst="rect">
            <a:avLst/>
          </a:prstGeom>
        </p:spPr>
      </p:pic>
    </p:spTree>
    <p:extLst>
      <p:ext uri="{BB962C8B-B14F-4D97-AF65-F5344CB8AC3E}">
        <p14:creationId xmlns:p14="http://schemas.microsoft.com/office/powerpoint/2010/main" val="5180892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extLst>
      <p:ext uri="{BB962C8B-B14F-4D97-AF65-F5344CB8AC3E}">
        <p14:creationId xmlns:p14="http://schemas.microsoft.com/office/powerpoint/2010/main" val="33371419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10/29/2026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‹Nº›</a:t>
            </a:fld>
            <a:endParaRPr lang="en-US" dirty="0"/>
          </a:p>
        </p:txBody>
      </p:sp>
      <p:pic>
        <p:nvPicPr>
          <p:cNvPr id="6" name="Imagen 5">
            <a:extLst>
              <a:ext uri="{FF2B5EF4-FFF2-40B4-BE49-F238E27FC236}">
                <a16:creationId xmlns:a16="http://schemas.microsoft.com/office/drawing/2014/main" id="{855C17F9-AEF9-68A6-795D-092665C89698}"/>
              </a:ext>
            </a:extLst>
          </p:cNvPr>
          <p:cNvPicPr>
            <a:picLocks noChangeAspect="1"/>
          </p:cNvPicPr>
          <p:nvPr userDrawn="1"/>
        </p:nvPicPr>
        <p:blipFill>
          <a:blip r:embed="rId2"/>
          <a:stretch>
            <a:fillRect/>
          </a:stretch>
        </p:blipFill>
        <p:spPr>
          <a:xfrm>
            <a:off x="11156833" y="6248402"/>
            <a:ext cx="986969" cy="577175"/>
          </a:xfrm>
          <a:prstGeom prst="rect">
            <a:avLst/>
          </a:prstGeom>
        </p:spPr>
      </p:pic>
      <p:pic>
        <p:nvPicPr>
          <p:cNvPr id="8" name="Imagen 7">
            <a:extLst>
              <a:ext uri="{FF2B5EF4-FFF2-40B4-BE49-F238E27FC236}">
                <a16:creationId xmlns:a16="http://schemas.microsoft.com/office/drawing/2014/main" id="{26EE2394-C39F-A562-135A-907617F810CC}"/>
              </a:ext>
            </a:extLst>
          </p:cNvPr>
          <p:cNvPicPr>
            <a:picLocks noChangeAspect="1"/>
          </p:cNvPicPr>
          <p:nvPr userDrawn="1"/>
        </p:nvPicPr>
        <p:blipFill>
          <a:blip r:embed="rId3"/>
          <a:stretch>
            <a:fillRect/>
          </a:stretch>
        </p:blipFill>
        <p:spPr>
          <a:xfrm>
            <a:off x="92199" y="6248402"/>
            <a:ext cx="444096" cy="523911"/>
          </a:xfrm>
          <a:prstGeom prst="rect">
            <a:avLst/>
          </a:prstGeom>
        </p:spPr>
      </p:pic>
    </p:spTree>
    <p:extLst>
      <p:ext uri="{BB962C8B-B14F-4D97-AF65-F5344CB8AC3E}">
        <p14:creationId xmlns:p14="http://schemas.microsoft.com/office/powerpoint/2010/main" val="2219173803"/>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8EED84C6-50E6-6C43-8031-AFF6268E0C06}"/>
              </a:ext>
            </a:extLst>
          </p:cNvPr>
          <p:cNvSpPr>
            <a:spLocks noGrp="1"/>
          </p:cNvSpPr>
          <p:nvPr>
            <p:ph type="body" idx="1"/>
          </p:nvPr>
        </p:nvSpPr>
        <p:spPr>
          <a:xfrm>
            <a:off x="594360" y="1825625"/>
            <a:ext cx="10382250" cy="4351338"/>
          </a:xfrm>
          <a:prstGeom prst="rect">
            <a:avLst/>
          </a:prstGeom>
        </p:spPr>
        <p:txBody>
          <a:bodyPr vert="horz" lIns="91440" tIns="45720" rIns="91440" bIns="45720" rtlCol="0">
            <a:normAutofit/>
          </a:bodyPr>
          <a:lstStyle>
            <a:defPPr>
              <a:defRPr lang="es-ES"/>
            </a:defPPr>
          </a:lstStyle>
          <a:p>
            <a:pPr lvl="0" rtl="0"/>
            <a:r>
              <a:rPr lang="es-ES"/>
              <a:t>Haga clic para modificar los estilos de texto del patrón</a:t>
            </a:r>
          </a:p>
          <a:p>
            <a:pPr lvl="1" rtl="0"/>
            <a:r>
              <a:rPr lang="es-ES"/>
              <a:t>Segundo nivel</a:t>
            </a:r>
          </a:p>
          <a:p>
            <a:pPr lvl="2" rtl="0"/>
            <a:r>
              <a:rPr lang="es-ES"/>
              <a:t>Tercer nivel</a:t>
            </a:r>
          </a:p>
          <a:p>
            <a:pPr lvl="3" rtl="0"/>
            <a:r>
              <a:rPr lang="es-ES"/>
              <a:t>Cuarto nivel</a:t>
            </a:r>
          </a:p>
          <a:p>
            <a:pPr lvl="4" rtl="0"/>
            <a:r>
              <a:rPr lang="es-ES"/>
              <a:t>Quinto nivel</a:t>
            </a:r>
          </a:p>
        </p:txBody>
      </p:sp>
      <p:sp>
        <p:nvSpPr>
          <p:cNvPr id="12" name="Marcador de título 11">
            <a:extLst>
              <a:ext uri="{FF2B5EF4-FFF2-40B4-BE49-F238E27FC236}">
                <a16:creationId xmlns:a16="http://schemas.microsoft.com/office/drawing/2014/main" id="{D41FC0AE-253D-D242-9C88-017078F8A23A}"/>
              </a:ext>
            </a:extLst>
          </p:cNvPr>
          <p:cNvSpPr>
            <a:spLocks noGrp="1"/>
          </p:cNvSpPr>
          <p:nvPr>
            <p:ph type="title"/>
          </p:nvPr>
        </p:nvSpPr>
        <p:spPr>
          <a:xfrm>
            <a:off x="594360" y="365125"/>
            <a:ext cx="10401300" cy="1325563"/>
          </a:xfrm>
          <a:prstGeom prst="rect">
            <a:avLst/>
          </a:prstGeom>
        </p:spPr>
        <p:txBody>
          <a:bodyPr vert="horz" lIns="91440" tIns="45720" rIns="91440" bIns="45720" rtlCol="0" anchor="ctr">
            <a:normAutofit/>
          </a:bodyPr>
          <a:lstStyle>
            <a:defPPr>
              <a:defRPr lang="es-ES"/>
            </a:defPPr>
          </a:lstStyle>
          <a:p>
            <a:pPr rtl="0"/>
            <a:r>
              <a:rPr lang="es-ES"/>
              <a:t>Haga clic para modificar el estilo de título del patrón</a:t>
            </a:r>
          </a:p>
        </p:txBody>
      </p:sp>
      <p:sp>
        <p:nvSpPr>
          <p:cNvPr id="30" name="Marcador de fecha 3">
            <a:extLst>
              <a:ext uri="{FF2B5EF4-FFF2-40B4-BE49-F238E27FC236}">
                <a16:creationId xmlns:a16="http://schemas.microsoft.com/office/drawing/2014/main" id="{EF47083A-6D76-4B4D-87CA-E08E212F781D}"/>
              </a:ext>
            </a:extLst>
          </p:cNvPr>
          <p:cNvSpPr>
            <a:spLocks noGrp="1"/>
          </p:cNvSpPr>
          <p:nvPr>
            <p:ph type="dt" sz="half" idx="2"/>
          </p:nvPr>
        </p:nvSpPr>
        <p:spPr>
          <a:xfrm>
            <a:off x="1133648" y="6332220"/>
            <a:ext cx="1313180" cy="247651"/>
          </a:xfrm>
          <a:prstGeom prst="rect">
            <a:avLst/>
          </a:prstGeom>
        </p:spPr>
        <p:txBody>
          <a:bodyPr vert="horz" lIns="0" tIns="0" rIns="0" bIns="0" rtlCol="0" anchor="t" anchorCtr="0"/>
          <a:lstStyle>
            <a:lvl1pPr algn="l">
              <a:defRPr lang="es-ES" sz="1100" b="0" i="0">
                <a:solidFill>
                  <a:schemeClr val="bg1"/>
                </a:solidFill>
                <a:latin typeface="+mn-lt"/>
              </a:defRPr>
            </a:lvl1pPr>
          </a:lstStyle>
          <a:p>
            <a:pPr rtl="0"/>
            <a:endParaRPr lang="es-ES" dirty="0">
              <a:latin typeface="+mn-lt"/>
            </a:endParaRPr>
          </a:p>
        </p:txBody>
      </p:sp>
      <p:sp>
        <p:nvSpPr>
          <p:cNvPr id="32" name="Marcador de número de diapositiva 5">
            <a:extLst>
              <a:ext uri="{FF2B5EF4-FFF2-40B4-BE49-F238E27FC236}">
                <a16:creationId xmlns:a16="http://schemas.microsoft.com/office/drawing/2014/main" id="{C8ADA0DF-3751-9A48-8A21-59F01C782D7C}"/>
              </a:ext>
            </a:extLst>
          </p:cNvPr>
          <p:cNvSpPr>
            <a:spLocks noGrp="1"/>
          </p:cNvSpPr>
          <p:nvPr>
            <p:ph type="sldNum" sz="quarter" idx="4"/>
          </p:nvPr>
        </p:nvSpPr>
        <p:spPr>
          <a:xfrm>
            <a:off x="594360" y="6332220"/>
            <a:ext cx="523240" cy="247651"/>
          </a:xfrm>
          <a:prstGeom prst="rect">
            <a:avLst/>
          </a:prstGeom>
        </p:spPr>
        <p:txBody>
          <a:bodyPr vert="horz" lIns="0" tIns="0" rIns="0" bIns="0" rtlCol="0" anchor="t" anchorCtr="0"/>
          <a:lstStyle>
            <a:lvl1pPr algn="l">
              <a:defRPr lang="es-ES" sz="1100" b="1" i="0">
                <a:solidFill>
                  <a:schemeClr val="bg1"/>
                </a:solidFill>
                <a:latin typeface="+mn-lt"/>
              </a:defRPr>
            </a:lvl1pPr>
          </a:lstStyle>
          <a:p>
            <a:pPr rtl="0"/>
            <a:fld id="{294A09A9-5501-47C1-A89A-A340965A2BE2}" type="slidenum">
              <a:rPr lang="es-ES" smtClean="0"/>
              <a:pPr rtl="0"/>
              <a:t>‹Nº›</a:t>
            </a:fld>
            <a:endParaRPr lang="es-ES" dirty="0"/>
          </a:p>
        </p:txBody>
      </p:sp>
    </p:spTree>
    <p:extLst>
      <p:ext uri="{BB962C8B-B14F-4D97-AF65-F5344CB8AC3E}">
        <p14:creationId xmlns:p14="http://schemas.microsoft.com/office/powerpoint/2010/main" val="3515892240"/>
      </p:ext>
    </p:extLst>
  </p:cSld>
  <p:clrMap bg1="dk1" tx1="lt1" bg2="dk2" tx2="lt2" accent1="accent1" accent2="accent2" accent3="accent3" accent4="accent4" accent5="accent5" accent6="accent6" hlink="hlink" folHlink="folHlink"/>
  <p:sldLayoutIdLst>
    <p:sldLayoutId id="2147483710" r:id="rId1"/>
    <p:sldLayoutId id="2147483711" r:id="rId2"/>
    <p:sldLayoutId id="2147483698" r:id="rId3"/>
    <p:sldLayoutId id="2147483712" r:id="rId4"/>
    <p:sldLayoutId id="2147483713" r:id="rId5"/>
  </p:sldLayoutIdLst>
  <p:hf sldNum="0" hdr="0" ftr="0" dt="0"/>
  <p:txStyles>
    <p:titleStyle>
      <a:lvl1pPr algn="l" defTabSz="914400" rtl="0" eaLnBrk="1" latinLnBrk="0" hangingPunct="1">
        <a:lnSpc>
          <a:spcPct val="80000"/>
        </a:lnSpc>
        <a:spcBef>
          <a:spcPct val="0"/>
        </a:spcBef>
        <a:buNone/>
        <a:defRPr lang="es-ES" sz="4400" b="1" i="0" kern="1200" spc="100" baseline="0">
          <a:solidFill>
            <a:schemeClr val="bg1"/>
          </a:solidFill>
          <a:latin typeface="+mj-lt"/>
          <a:ea typeface="+mj-ea"/>
          <a:cs typeface="+mj-cs"/>
        </a:defRPr>
      </a:lvl1pPr>
      <a:lvl2pPr eaLnBrk="1" hangingPunct="1">
        <a:defRPr lang="es-ES">
          <a:solidFill>
            <a:schemeClr val="tx2"/>
          </a:solidFill>
        </a:defRPr>
      </a:lvl2pPr>
      <a:lvl3pPr eaLnBrk="1" hangingPunct="1">
        <a:defRPr lang="es-ES">
          <a:solidFill>
            <a:schemeClr val="tx2"/>
          </a:solidFill>
        </a:defRPr>
      </a:lvl3pPr>
      <a:lvl4pPr eaLnBrk="1" hangingPunct="1">
        <a:defRPr lang="es-ES">
          <a:solidFill>
            <a:schemeClr val="tx2"/>
          </a:solidFill>
        </a:defRPr>
      </a:lvl4pPr>
      <a:lvl5pPr eaLnBrk="1" hangingPunct="1">
        <a:defRPr lang="es-ES">
          <a:solidFill>
            <a:schemeClr val="tx2"/>
          </a:solidFill>
        </a:defRPr>
      </a:lvl5pPr>
      <a:lvl6pPr eaLnBrk="1" hangingPunct="1">
        <a:defRPr lang="es-ES">
          <a:solidFill>
            <a:schemeClr val="tx2"/>
          </a:solidFill>
        </a:defRPr>
      </a:lvl6pPr>
      <a:lvl7pPr eaLnBrk="1" hangingPunct="1">
        <a:defRPr lang="es-ES">
          <a:solidFill>
            <a:schemeClr val="tx2"/>
          </a:solidFill>
        </a:defRPr>
      </a:lvl7pPr>
      <a:lvl8pPr eaLnBrk="1" hangingPunct="1">
        <a:defRPr lang="es-ES">
          <a:solidFill>
            <a:schemeClr val="tx2"/>
          </a:solidFill>
        </a:defRPr>
      </a:lvl8pPr>
      <a:lvl9pPr eaLnBrk="1" hangingPunct="1">
        <a:defRPr lang="es-ES">
          <a:solidFill>
            <a:schemeClr val="tx2"/>
          </a:solidFill>
        </a:defRPr>
      </a:lvl9pPr>
    </p:titleStyle>
    <p:bodyStyle>
      <a:lvl1pPr marL="228600" indent="-283464" algn="l" defTabSz="914400" rtl="0" eaLnBrk="1" latinLnBrk="0" hangingPunct="1">
        <a:lnSpc>
          <a:spcPct val="90000"/>
        </a:lnSpc>
        <a:spcBef>
          <a:spcPts val="1000"/>
        </a:spcBef>
        <a:buFont typeface="Arial" panose="020B0604020202020204" pitchFamily="34" charset="0"/>
        <a:buChar char="•"/>
        <a:defRPr lang="es-ES" sz="2800" b="0" i="0" kern="1200">
          <a:solidFill>
            <a:schemeClr val="bg1"/>
          </a:solidFill>
          <a:latin typeface="+mn-lt"/>
          <a:ea typeface="+mn-ea"/>
          <a:cs typeface="+mn-cs"/>
        </a:defRPr>
      </a:lvl1pPr>
      <a:lvl2pPr marL="685800" indent="-283464" algn="l" defTabSz="914400" rtl="0" eaLnBrk="1" latinLnBrk="0" hangingPunct="1">
        <a:lnSpc>
          <a:spcPct val="90000"/>
        </a:lnSpc>
        <a:spcBef>
          <a:spcPts val="500"/>
        </a:spcBef>
        <a:buFont typeface="Arial" panose="020B0604020202020204" pitchFamily="34" charset="0"/>
        <a:buChar char="•"/>
        <a:defRPr lang="es-ES" sz="2400" b="0" i="0" kern="1200">
          <a:solidFill>
            <a:schemeClr val="bg1"/>
          </a:solidFill>
          <a:latin typeface="+mn-lt"/>
          <a:ea typeface="+mn-ea"/>
          <a:cs typeface="+mn-cs"/>
        </a:defRPr>
      </a:lvl2pPr>
      <a:lvl3pPr marL="1143000" indent="-283464" algn="l" defTabSz="914400" rtl="0" eaLnBrk="1" latinLnBrk="0" hangingPunct="1">
        <a:lnSpc>
          <a:spcPct val="90000"/>
        </a:lnSpc>
        <a:spcBef>
          <a:spcPts val="500"/>
        </a:spcBef>
        <a:buFont typeface="Arial" panose="020B0604020202020204" pitchFamily="34" charset="0"/>
        <a:buChar char="•"/>
        <a:defRPr lang="es-ES" sz="2000" b="0" i="0" kern="1200">
          <a:solidFill>
            <a:schemeClr val="bg1"/>
          </a:solidFill>
          <a:latin typeface="+mn-lt"/>
          <a:ea typeface="+mn-ea"/>
          <a:cs typeface="+mn-cs"/>
        </a:defRPr>
      </a:lvl3pPr>
      <a:lvl4pPr marL="1600200" indent="-283464" algn="l" defTabSz="914400" rtl="0" eaLnBrk="1" latinLnBrk="0" hangingPunct="1">
        <a:lnSpc>
          <a:spcPct val="90000"/>
        </a:lnSpc>
        <a:spcBef>
          <a:spcPts val="500"/>
        </a:spcBef>
        <a:buFont typeface="Arial" panose="020B0604020202020204" pitchFamily="34" charset="0"/>
        <a:buChar char="•"/>
        <a:defRPr lang="es-ES" sz="1800" b="0" i="0" kern="1200">
          <a:solidFill>
            <a:schemeClr val="bg1"/>
          </a:solidFill>
          <a:latin typeface="+mn-lt"/>
          <a:ea typeface="+mn-ea"/>
          <a:cs typeface="+mn-cs"/>
        </a:defRPr>
      </a:lvl4pPr>
      <a:lvl5pPr marL="2057400" indent="-283464" algn="l" defTabSz="914400" rtl="0" eaLnBrk="1" latinLnBrk="0" hangingPunct="1">
        <a:lnSpc>
          <a:spcPct val="90000"/>
        </a:lnSpc>
        <a:spcBef>
          <a:spcPts val="500"/>
        </a:spcBef>
        <a:buFont typeface="Arial" panose="020B0604020202020204" pitchFamily="34" charset="0"/>
        <a:buChar char="•"/>
        <a:defRPr lang="es-ES"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9pPr>
    </p:bodyStyle>
    <p:otherStyle>
      <a:defPPr>
        <a:defRPr lang="es-ES"/>
      </a:defPPr>
      <a:lvl1pPr marL="0" algn="l" defTabSz="914400" rtl="0" eaLnBrk="1" latinLnBrk="0" hangingPunct="1">
        <a:defRPr lang="es-ES" sz="1800" kern="1200">
          <a:solidFill>
            <a:schemeClr val="tx1"/>
          </a:solidFill>
          <a:latin typeface="+mn-lt"/>
          <a:ea typeface="+mn-ea"/>
          <a:cs typeface="+mn-cs"/>
        </a:defRPr>
      </a:lvl1pPr>
      <a:lvl2pPr marL="457200" algn="l" defTabSz="914400" rtl="0" eaLnBrk="1" latinLnBrk="0" hangingPunct="1">
        <a:defRPr lang="es-ES" sz="1800" kern="1200">
          <a:solidFill>
            <a:schemeClr val="tx1"/>
          </a:solidFill>
          <a:latin typeface="+mn-lt"/>
          <a:ea typeface="+mn-ea"/>
          <a:cs typeface="+mn-cs"/>
        </a:defRPr>
      </a:lvl2pPr>
      <a:lvl3pPr marL="914400" algn="l" defTabSz="914400" rtl="0" eaLnBrk="1" latinLnBrk="0" hangingPunct="1">
        <a:defRPr lang="es-ES" sz="1800" kern="1200">
          <a:solidFill>
            <a:schemeClr val="tx1"/>
          </a:solidFill>
          <a:latin typeface="+mn-lt"/>
          <a:ea typeface="+mn-ea"/>
          <a:cs typeface="+mn-cs"/>
        </a:defRPr>
      </a:lvl3pPr>
      <a:lvl4pPr marL="1371600" algn="l" defTabSz="914400" rtl="0" eaLnBrk="1" latinLnBrk="0" hangingPunct="1">
        <a:defRPr lang="es-ES" sz="1800" kern="1200">
          <a:solidFill>
            <a:schemeClr val="tx1"/>
          </a:solidFill>
          <a:latin typeface="+mn-lt"/>
          <a:ea typeface="+mn-ea"/>
          <a:cs typeface="+mn-cs"/>
        </a:defRPr>
      </a:lvl4pPr>
      <a:lvl5pPr marL="1828800" algn="l" defTabSz="914400" rtl="0" eaLnBrk="1" latinLnBrk="0" hangingPunct="1">
        <a:defRPr lang="es-ES" sz="1800" kern="1200">
          <a:solidFill>
            <a:schemeClr val="tx1"/>
          </a:solidFill>
          <a:latin typeface="+mn-lt"/>
          <a:ea typeface="+mn-ea"/>
          <a:cs typeface="+mn-cs"/>
        </a:defRPr>
      </a:lvl5pPr>
      <a:lvl6pPr marL="2286000" algn="l" defTabSz="914400" rtl="0" eaLnBrk="1" latinLnBrk="0" hangingPunct="1">
        <a:defRPr lang="es-ES" sz="1800" kern="1200">
          <a:solidFill>
            <a:schemeClr val="tx1"/>
          </a:solidFill>
          <a:latin typeface="+mn-lt"/>
          <a:ea typeface="+mn-ea"/>
          <a:cs typeface="+mn-cs"/>
        </a:defRPr>
      </a:lvl6pPr>
      <a:lvl7pPr marL="2743200" algn="l" defTabSz="914400" rtl="0" eaLnBrk="1" latinLnBrk="0" hangingPunct="1">
        <a:defRPr lang="es-ES" sz="1800" kern="1200">
          <a:solidFill>
            <a:schemeClr val="tx1"/>
          </a:solidFill>
          <a:latin typeface="+mn-lt"/>
          <a:ea typeface="+mn-ea"/>
          <a:cs typeface="+mn-cs"/>
        </a:defRPr>
      </a:lvl7pPr>
      <a:lvl8pPr marL="3200400" algn="l" defTabSz="914400" rtl="0" eaLnBrk="1" latinLnBrk="0" hangingPunct="1">
        <a:defRPr lang="es-ES" sz="1800" kern="1200">
          <a:solidFill>
            <a:schemeClr val="tx1"/>
          </a:solidFill>
          <a:latin typeface="+mn-lt"/>
          <a:ea typeface="+mn-ea"/>
          <a:cs typeface="+mn-cs"/>
        </a:defRPr>
      </a:lvl8pPr>
      <a:lvl9pPr marL="3657600" algn="l" defTabSz="914400" rtl="0" eaLnBrk="1" latinLnBrk="0" hangingPunct="1">
        <a:defRPr lang="es-ES"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userDrawn="1">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3.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 Id="rId9"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F814B2E8-3C01-6CE9-D9BA-5E63D12D5D89}"/>
              </a:ext>
            </a:extLst>
          </p:cNvPr>
          <p:cNvPicPr>
            <a:picLocks noChangeAspect="1"/>
          </p:cNvPicPr>
          <p:nvPr/>
        </p:nvPicPr>
        <p:blipFill>
          <a:blip r:embed="rId2"/>
          <a:stretch>
            <a:fillRect/>
          </a:stretch>
        </p:blipFill>
        <p:spPr>
          <a:xfrm>
            <a:off x="10229850" y="3967954"/>
            <a:ext cx="1962150" cy="1937623"/>
          </a:xfrm>
          <a:prstGeom prst="rect">
            <a:avLst/>
          </a:prstGeom>
        </p:spPr>
      </p:pic>
    </p:spTree>
    <p:extLst>
      <p:ext uri="{BB962C8B-B14F-4D97-AF65-F5344CB8AC3E}">
        <p14:creationId xmlns:p14="http://schemas.microsoft.com/office/powerpoint/2010/main" val="15555442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B64C0D-E217-8AFE-1C52-0855A78E6907}"/>
              </a:ext>
            </a:extLst>
          </p:cNvPr>
          <p:cNvSpPr>
            <a:spLocks noGrp="1"/>
          </p:cNvSpPr>
          <p:nvPr>
            <p:ph type="ctrTitle"/>
          </p:nvPr>
        </p:nvSpPr>
        <p:spPr>
          <a:xfrm>
            <a:off x="275063" y="1783080"/>
            <a:ext cx="11641873" cy="2468880"/>
          </a:xfrm>
        </p:spPr>
        <p:txBody>
          <a:bodyPr/>
          <a:lstStyle/>
          <a:p>
            <a:pPr algn="ctr"/>
            <a:r>
              <a:rPr lang="es-ES" sz="2800" b="1" i="0" u="none" strike="noStrike" baseline="0" dirty="0">
                <a:solidFill>
                  <a:srgbClr val="182A46"/>
                </a:solidFill>
                <a:latin typeface="Aptos" panose="020B0004020202020204" pitchFamily="34" charset="0"/>
              </a:rPr>
              <a:t>Orquestación de Agentes Inteligentes con n8n: Integración de sistemas </a:t>
            </a:r>
            <a:r>
              <a:rPr lang="es-ES" sz="2800" b="1" i="0" u="none" strike="noStrike" baseline="0" dirty="0" err="1">
                <a:solidFill>
                  <a:srgbClr val="182A46"/>
                </a:solidFill>
                <a:latin typeface="Aptos" panose="020B0004020202020204" pitchFamily="34" charset="0"/>
              </a:rPr>
              <a:t>multiagente</a:t>
            </a:r>
            <a:r>
              <a:rPr lang="es-ES" sz="2800" b="1" i="0" u="none" strike="noStrike" baseline="0" dirty="0">
                <a:solidFill>
                  <a:srgbClr val="182A46"/>
                </a:solidFill>
                <a:latin typeface="Aptos" panose="020B0004020202020204" pitchFamily="34" charset="0"/>
              </a:rPr>
              <a:t> con aplicaciones móviles para proyectos de ingeniería (Conferencia con taller demostrativo) </a:t>
            </a:r>
            <a:endParaRPr lang="es-CO" dirty="0"/>
          </a:p>
        </p:txBody>
      </p:sp>
      <p:sp>
        <p:nvSpPr>
          <p:cNvPr id="3" name="Rounded Rectangle 2"/>
          <p:cNvSpPr/>
          <p:nvPr/>
        </p:nvSpPr>
        <p:spPr>
          <a:xfrm>
            <a:off x="2301239" y="4759960"/>
            <a:ext cx="7589520" cy="640080"/>
          </a:xfrm>
          <a:prstGeom prst="roundRect">
            <a:avLst>
              <a:gd name="adj" fmla="val 7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ctr"/>
            <a:r>
              <a:rPr lang="es-CO" sz="1800" b="1" i="0" dirty="0">
                <a:solidFill>
                  <a:srgbClr val="1B2A4A"/>
                </a:solidFill>
                <a:latin typeface="Calibri"/>
              </a:rPr>
              <a:t>Alfredo Díaz Claros</a:t>
            </a:r>
          </a:p>
          <a:p>
            <a:pPr algn="ctr"/>
            <a:r>
              <a:rPr lang="es-CO" b="1" dirty="0">
                <a:solidFill>
                  <a:srgbClr val="1B2A4A"/>
                </a:solidFill>
                <a:latin typeface="Calibri"/>
              </a:rPr>
              <a:t>UNIVERSIDAD AUTONOMA DE BUCARAMANGA</a:t>
            </a:r>
          </a:p>
          <a:p>
            <a:pPr algn="ctr"/>
            <a:r>
              <a:rPr lang="es-CO" sz="1800" b="1" i="0" dirty="0">
                <a:solidFill>
                  <a:srgbClr val="1B2A4A"/>
                </a:solidFill>
                <a:latin typeface="Calibri"/>
              </a:rPr>
              <a:t>SMART REGIONS CENTER</a:t>
            </a:r>
          </a:p>
        </p:txBody>
      </p:sp>
    </p:spTree>
    <p:extLst>
      <p:ext uri="{BB962C8B-B14F-4D97-AF65-F5344CB8AC3E}">
        <p14:creationId xmlns:p14="http://schemas.microsoft.com/office/powerpoint/2010/main" val="19501185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1645920"/>
            <a:ext cx="10972800" cy="685800"/>
          </a:xfrm>
        </p:spPr>
        <p:txBody>
          <a:bodyPr/>
          <a:lstStyle/>
          <a:p>
            <a:r>
              <a:rPr sz="3000">
                <a:solidFill>
                  <a:srgbClr val="182A46"/>
                </a:solidFill>
              </a:rPr>
              <a:t>Agenda: conferencia y taller demostrativo</a:t>
            </a:r>
          </a:p>
        </p:txBody>
      </p:sp>
      <p:sp>
        <p:nvSpPr>
          <p:cNvPr id="3" name="Rounded Rectangle 2"/>
          <p:cNvSpPr/>
          <p:nvPr/>
        </p:nvSpPr>
        <p:spPr>
          <a:xfrm>
            <a:off x="624841" y="2514600"/>
            <a:ext cx="5349240" cy="3108960"/>
          </a:xfrm>
          <a:prstGeom prst="roundRect">
            <a:avLst>
              <a:gd name="adj" fmla="val 7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spcAft>
                <a:spcPts val="400"/>
              </a:spcAft>
            </a:pPr>
            <a:r>
              <a:rPr sz="1800" b="1" dirty="0">
                <a:solidFill>
                  <a:srgbClr val="1B4FA8"/>
                </a:solidFill>
              </a:rPr>
              <a:t>Conferencia · ≈ 20 min</a:t>
            </a:r>
          </a:p>
          <a:p>
            <a:pPr algn="l">
              <a:spcAft>
                <a:spcPts val="400"/>
              </a:spcAft>
            </a:pPr>
            <a:r>
              <a:rPr sz="1400" b="0" dirty="0">
                <a:solidFill>
                  <a:srgbClr val="182A46"/>
                </a:solidFill>
              </a:rPr>
              <a:t>• Agentes de IA en proyectos de ingeniería</a:t>
            </a:r>
          </a:p>
          <a:p>
            <a:pPr algn="l">
              <a:spcAft>
                <a:spcPts val="400"/>
              </a:spcAft>
            </a:pPr>
            <a:r>
              <a:rPr sz="1400" b="0" dirty="0">
                <a:solidFill>
                  <a:srgbClr val="182A46"/>
                </a:solidFill>
              </a:rPr>
              <a:t>• De un </a:t>
            </a:r>
            <a:r>
              <a:rPr sz="1400" b="0" dirty="0" err="1">
                <a:solidFill>
                  <a:srgbClr val="182A46"/>
                </a:solidFill>
              </a:rPr>
              <a:t>chatbot</a:t>
            </a:r>
            <a:r>
              <a:rPr sz="1400" b="0" dirty="0">
                <a:solidFill>
                  <a:srgbClr val="182A46"/>
                </a:solidFill>
              </a:rPr>
              <a:t> a un sistema </a:t>
            </a:r>
            <a:r>
              <a:rPr sz="1400" b="0" dirty="0" err="1">
                <a:solidFill>
                  <a:srgbClr val="182A46"/>
                </a:solidFill>
              </a:rPr>
              <a:t>multiagente</a:t>
            </a:r>
            <a:endParaRPr sz="1400" b="0" dirty="0">
              <a:solidFill>
                <a:srgbClr val="182A46"/>
              </a:solidFill>
            </a:endParaRPr>
          </a:p>
          <a:p>
            <a:pPr algn="l">
              <a:spcAft>
                <a:spcPts val="400"/>
              </a:spcAft>
            </a:pPr>
            <a:r>
              <a:rPr sz="1400" b="0" dirty="0">
                <a:solidFill>
                  <a:srgbClr val="182A46"/>
                </a:solidFill>
              </a:rPr>
              <a:t>• Arquitectura del caso </a:t>
            </a:r>
          </a:p>
          <a:p>
            <a:pPr algn="l">
              <a:spcAft>
                <a:spcPts val="400"/>
              </a:spcAft>
            </a:pPr>
            <a:r>
              <a:rPr sz="1400" b="0" dirty="0">
                <a:solidFill>
                  <a:srgbClr val="182A46"/>
                </a:solidFill>
              </a:rPr>
              <a:t>• Integración con aplicaciones web</a:t>
            </a:r>
          </a:p>
        </p:txBody>
      </p:sp>
      <p:sp>
        <p:nvSpPr>
          <p:cNvPr id="4" name="Rounded Rectangle 3"/>
          <p:cNvSpPr/>
          <p:nvPr/>
        </p:nvSpPr>
        <p:spPr>
          <a:xfrm>
            <a:off x="5234940" y="2514600"/>
            <a:ext cx="6332221" cy="3108960"/>
          </a:xfrm>
          <a:prstGeom prst="roundRect">
            <a:avLst>
              <a:gd name="adj" fmla="val 7000"/>
            </a:avLst>
          </a:prstGeom>
          <a:solidFill>
            <a:srgbClr val="182A46"/>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spcAft>
                <a:spcPts val="400"/>
              </a:spcAft>
            </a:pPr>
            <a:endParaRPr sz="1400" b="0" dirty="0">
              <a:solidFill>
                <a:srgbClr val="FFFFFF"/>
              </a:solidFill>
            </a:endParaRPr>
          </a:p>
        </p:txBody>
      </p:sp>
      <p:sp>
        <p:nvSpPr>
          <p:cNvPr id="6" name="CuadroTexto 5">
            <a:extLst>
              <a:ext uri="{FF2B5EF4-FFF2-40B4-BE49-F238E27FC236}">
                <a16:creationId xmlns:a16="http://schemas.microsoft.com/office/drawing/2014/main" id="{6EA8622D-66A9-AAEB-8331-8E305C0D8C71}"/>
              </a:ext>
            </a:extLst>
          </p:cNvPr>
          <p:cNvSpPr txBox="1"/>
          <p:nvPr/>
        </p:nvSpPr>
        <p:spPr>
          <a:xfrm>
            <a:off x="5469255" y="2586831"/>
            <a:ext cx="6097904" cy="3036729"/>
          </a:xfrm>
          <a:prstGeom prst="rect">
            <a:avLst/>
          </a:prstGeom>
          <a:noFill/>
        </p:spPr>
        <p:txBody>
          <a:bodyPr wrap="square">
            <a:spAutoFit/>
          </a:bodyPr>
          <a:lstStyle/>
          <a:p>
            <a:pPr>
              <a:spcAft>
                <a:spcPts val="400"/>
              </a:spcAft>
            </a:pPr>
            <a:r>
              <a:rPr lang="es-ES" sz="2400" b="1" dirty="0">
                <a:solidFill>
                  <a:srgbClr val="7FD4FF"/>
                </a:solidFill>
              </a:rPr>
              <a:t>Taller demostrativo 1 · Para hoy</a:t>
            </a:r>
          </a:p>
          <a:p>
            <a:pPr>
              <a:spcAft>
                <a:spcPts val="400"/>
              </a:spcAft>
            </a:pPr>
            <a:r>
              <a:rPr lang="es-ES" sz="2400" b="0" dirty="0">
                <a:solidFill>
                  <a:srgbClr val="FFFFFF"/>
                </a:solidFill>
              </a:rPr>
              <a:t>• Base de datos y tabla vectorial</a:t>
            </a:r>
          </a:p>
          <a:p>
            <a:pPr algn="l">
              <a:spcAft>
                <a:spcPts val="400"/>
              </a:spcAft>
            </a:pPr>
            <a:endParaRPr lang="es-ES" sz="2400" b="1" dirty="0">
              <a:solidFill>
                <a:srgbClr val="7FD4FF"/>
              </a:solidFill>
            </a:endParaRPr>
          </a:p>
          <a:p>
            <a:pPr algn="l">
              <a:spcAft>
                <a:spcPts val="400"/>
              </a:spcAft>
            </a:pPr>
            <a:r>
              <a:rPr lang="es-ES" sz="2400" b="1" dirty="0">
                <a:solidFill>
                  <a:srgbClr val="7FD4FF"/>
                </a:solidFill>
              </a:rPr>
              <a:t>Taller demostrativo 2 Avanzado ·</a:t>
            </a:r>
          </a:p>
          <a:p>
            <a:pPr algn="l">
              <a:spcAft>
                <a:spcPts val="400"/>
              </a:spcAft>
            </a:pPr>
            <a:r>
              <a:rPr lang="es-ES" sz="1800" b="0" dirty="0">
                <a:solidFill>
                  <a:srgbClr val="FFFFFF"/>
                </a:solidFill>
              </a:rPr>
              <a:t>• Base de datos y tabla vectorial</a:t>
            </a:r>
          </a:p>
          <a:p>
            <a:pPr algn="l">
              <a:spcAft>
                <a:spcPts val="400"/>
              </a:spcAft>
            </a:pPr>
            <a:r>
              <a:rPr lang="es-ES" sz="1800" b="0" dirty="0">
                <a:solidFill>
                  <a:srgbClr val="FFFFFF"/>
                </a:solidFill>
              </a:rPr>
              <a:t>• Ingesta RAG con n8n</a:t>
            </a:r>
          </a:p>
          <a:p>
            <a:pPr algn="l">
              <a:spcAft>
                <a:spcPts val="400"/>
              </a:spcAft>
            </a:pPr>
            <a:r>
              <a:rPr lang="es-ES" sz="1800" b="0" dirty="0">
                <a:solidFill>
                  <a:srgbClr val="FFFFFF"/>
                </a:solidFill>
              </a:rPr>
              <a:t>• Agente orquestador + </a:t>
            </a:r>
            <a:r>
              <a:rPr lang="es-ES" sz="1800" b="0" dirty="0" err="1">
                <a:solidFill>
                  <a:srgbClr val="FFFFFF"/>
                </a:solidFill>
              </a:rPr>
              <a:t>Telegram</a:t>
            </a:r>
            <a:endParaRPr lang="es-ES" sz="1800" b="0" dirty="0">
              <a:solidFill>
                <a:srgbClr val="FFFFFF"/>
              </a:solidFill>
            </a:endParaRPr>
          </a:p>
          <a:p>
            <a:pPr algn="l">
              <a:spcAft>
                <a:spcPts val="400"/>
              </a:spcAft>
            </a:pPr>
            <a:r>
              <a:rPr lang="es-ES" sz="1800" b="0" dirty="0">
                <a:solidFill>
                  <a:srgbClr val="FFFFFF"/>
                </a:solidFill>
              </a:rPr>
              <a:t>• Pruebas y registro de solicitudes</a:t>
            </a:r>
            <a:endParaRPr lang="es-CO"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411730"/>
            <a:ext cx="10972800" cy="685800"/>
          </a:xfrm>
        </p:spPr>
        <p:txBody>
          <a:bodyPr/>
          <a:lstStyle/>
          <a:p>
            <a:r>
              <a:rPr sz="3000" dirty="0">
                <a:solidFill>
                  <a:srgbClr val="182A46"/>
                </a:solidFill>
              </a:rPr>
              <a:t>Agentes de IA para proyectos de ingeniería</a:t>
            </a:r>
          </a:p>
        </p:txBody>
      </p:sp>
      <p:sp>
        <p:nvSpPr>
          <p:cNvPr id="3" name="Rounded Rectangle 2"/>
          <p:cNvSpPr/>
          <p:nvPr/>
        </p:nvSpPr>
        <p:spPr>
          <a:xfrm>
            <a:off x="742950" y="3863340"/>
            <a:ext cx="3474720" cy="1611630"/>
          </a:xfrm>
          <a:prstGeom prst="roundRect">
            <a:avLst>
              <a:gd name="adj" fmla="val 7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spcAft>
                <a:spcPts val="400"/>
              </a:spcAft>
            </a:pPr>
            <a:r>
              <a:rPr sz="2200" b="1">
                <a:solidFill>
                  <a:srgbClr val="1B4FA8"/>
                </a:solidFill>
              </a:rPr>
              <a:t>Automatizar</a:t>
            </a:r>
          </a:p>
          <a:p>
            <a:pPr algn="l">
              <a:spcAft>
                <a:spcPts val="400"/>
              </a:spcAft>
            </a:pPr>
            <a:r>
              <a:rPr sz="1600" b="0">
                <a:solidFill>
                  <a:srgbClr val="182A46"/>
                </a:solidFill>
              </a:rPr>
              <a:t>Tareas repetitivas: consultas, reportes, registro de solicitudes.</a:t>
            </a:r>
          </a:p>
        </p:txBody>
      </p:sp>
      <p:sp>
        <p:nvSpPr>
          <p:cNvPr id="4" name="Rounded Rectangle 3"/>
          <p:cNvSpPr/>
          <p:nvPr/>
        </p:nvSpPr>
        <p:spPr>
          <a:xfrm>
            <a:off x="4491990" y="3863340"/>
            <a:ext cx="3474720" cy="1611630"/>
          </a:xfrm>
          <a:prstGeom prst="roundRect">
            <a:avLst>
              <a:gd name="adj" fmla="val 7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spcAft>
                <a:spcPts val="400"/>
              </a:spcAft>
            </a:pPr>
            <a:r>
              <a:rPr sz="2200" b="1">
                <a:solidFill>
                  <a:srgbClr val="1B4FA8"/>
                </a:solidFill>
              </a:rPr>
              <a:t>Decidir</a:t>
            </a:r>
          </a:p>
          <a:p>
            <a:pPr algn="l">
              <a:spcAft>
                <a:spcPts val="400"/>
              </a:spcAft>
            </a:pPr>
            <a:r>
              <a:rPr sz="1600" b="0">
                <a:solidFill>
                  <a:srgbClr val="182A46"/>
                </a:solidFill>
              </a:rPr>
              <a:t>El modelo elige qué herramienta usar según la pregunta del usuario.</a:t>
            </a:r>
          </a:p>
        </p:txBody>
      </p:sp>
      <p:sp>
        <p:nvSpPr>
          <p:cNvPr id="5" name="Rounded Rectangle 4"/>
          <p:cNvSpPr/>
          <p:nvPr/>
        </p:nvSpPr>
        <p:spPr>
          <a:xfrm>
            <a:off x="8241030" y="3863340"/>
            <a:ext cx="3474720" cy="1611630"/>
          </a:xfrm>
          <a:prstGeom prst="roundRect">
            <a:avLst>
              <a:gd name="adj" fmla="val 7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spcAft>
                <a:spcPts val="400"/>
              </a:spcAft>
            </a:pPr>
            <a:r>
              <a:rPr sz="2200" b="1">
                <a:solidFill>
                  <a:srgbClr val="1B4FA8"/>
                </a:solidFill>
              </a:rPr>
              <a:t>Conectar</a:t>
            </a:r>
          </a:p>
          <a:p>
            <a:pPr algn="l">
              <a:spcAft>
                <a:spcPts val="400"/>
              </a:spcAft>
            </a:pPr>
            <a:r>
              <a:rPr sz="1600" b="0">
                <a:solidFill>
                  <a:srgbClr val="182A46"/>
                </a:solidFill>
              </a:rPr>
              <a:t>Bases de datos, documentos, hojas de cálculo y apps móviles en un solo flujo.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
          <a:extLst>
            <a:ext uri="{FF2B5EF4-FFF2-40B4-BE49-F238E27FC236}">
              <a16:creationId xmlns:a16="http://schemas.microsoft.com/office/drawing/2014/main" id="{28F6393F-327A-B562-5FB7-B1D81BFC8F18}"/>
            </a:ext>
          </a:extLst>
        </p:cNvPr>
        <p:cNvGrpSpPr/>
        <p:nvPr/>
      </p:nvGrpSpPr>
      <p:grpSpPr>
        <a:xfrm>
          <a:off x="0" y="0"/>
          <a:ext cx="0" cy="0"/>
          <a:chOff x="0" y="0"/>
          <a:chExt cx="0" cy="0"/>
        </a:xfrm>
      </p:grpSpPr>
      <p:sp>
        <p:nvSpPr>
          <p:cNvPr id="17" name="Google Shape;17;p3">
            <a:extLst>
              <a:ext uri="{FF2B5EF4-FFF2-40B4-BE49-F238E27FC236}">
                <a16:creationId xmlns:a16="http://schemas.microsoft.com/office/drawing/2014/main" id="{760FE0D0-A159-7403-0081-86175EF2B1A8}"/>
              </a:ext>
            </a:extLst>
          </p:cNvPr>
          <p:cNvSpPr/>
          <p:nvPr/>
        </p:nvSpPr>
        <p:spPr>
          <a:xfrm>
            <a:off x="0" y="0"/>
            <a:ext cx="12192000" cy="731520"/>
          </a:xfrm>
          <a:prstGeom prst="rect">
            <a:avLst/>
          </a:prstGeom>
          <a:solidFill>
            <a:srgbClr val="6366F1">
              <a:alpha val="40000"/>
            </a:srgbClr>
          </a:solidFill>
          <a:ln w="12700" cap="flat" cmpd="sng">
            <a:solidFill>
              <a:srgbClr val="6366F1">
                <a:alpha val="40000"/>
              </a:srgbClr>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8" name="Google Shape;18;p3">
            <a:extLst>
              <a:ext uri="{FF2B5EF4-FFF2-40B4-BE49-F238E27FC236}">
                <a16:creationId xmlns:a16="http://schemas.microsoft.com/office/drawing/2014/main" id="{25EBB743-C721-4F82-43E8-8B2BE4B8C715}"/>
              </a:ext>
            </a:extLst>
          </p:cNvPr>
          <p:cNvSpPr/>
          <p:nvPr/>
        </p:nvSpPr>
        <p:spPr>
          <a:xfrm>
            <a:off x="604059" y="902208"/>
            <a:ext cx="10972800" cy="1706880"/>
          </a:xfrm>
          <a:prstGeom prst="rect">
            <a:avLst/>
          </a:prstGeom>
          <a:noFill/>
          <a:ln>
            <a:noFill/>
          </a:ln>
        </p:spPr>
        <p:txBody>
          <a:bodyPr spcFirstLastPara="1" wrap="square" lIns="0" tIns="0" rIns="0" bIns="0" anchor="ctr" anchorCtr="0">
            <a:noAutofit/>
          </a:bodyPr>
          <a:lstStyle/>
          <a:p>
            <a:pPr algn="ctr">
              <a:buClr>
                <a:srgbClr val="FFFFFF"/>
              </a:buClr>
              <a:buSzPts val="6000"/>
            </a:pPr>
            <a:r>
              <a:rPr lang="en-US" sz="5333" b="1" dirty="0">
                <a:solidFill>
                  <a:srgbClr val="FFFFFF"/>
                </a:solidFill>
                <a:latin typeface="Trebuchet MS"/>
                <a:ea typeface="Trebuchet MS"/>
                <a:cs typeface="Trebuchet MS"/>
                <a:sym typeface="Trebuchet MS"/>
              </a:rPr>
              <a:t>PRIMERA SESION. INTRODUCCION</a:t>
            </a:r>
            <a:endParaRPr sz="5333" dirty="0">
              <a:solidFill>
                <a:schemeClr val="dk1"/>
              </a:solidFill>
              <a:latin typeface="Calibri"/>
              <a:ea typeface="Calibri"/>
              <a:cs typeface="Calibri"/>
              <a:sym typeface="Calibri"/>
            </a:endParaRPr>
          </a:p>
        </p:txBody>
      </p:sp>
      <p:sp>
        <p:nvSpPr>
          <p:cNvPr id="19" name="Google Shape;19;p3">
            <a:extLst>
              <a:ext uri="{FF2B5EF4-FFF2-40B4-BE49-F238E27FC236}">
                <a16:creationId xmlns:a16="http://schemas.microsoft.com/office/drawing/2014/main" id="{DF163751-1914-A370-59E6-400154DB0075}"/>
              </a:ext>
            </a:extLst>
          </p:cNvPr>
          <p:cNvSpPr/>
          <p:nvPr/>
        </p:nvSpPr>
        <p:spPr>
          <a:xfrm>
            <a:off x="522778" y="1971294"/>
            <a:ext cx="10972800" cy="914400"/>
          </a:xfrm>
          <a:prstGeom prst="rect">
            <a:avLst/>
          </a:prstGeom>
          <a:noFill/>
          <a:ln>
            <a:noFill/>
          </a:ln>
        </p:spPr>
        <p:txBody>
          <a:bodyPr spcFirstLastPara="1" wrap="square" lIns="0" tIns="0" rIns="0" bIns="0" anchor="ctr" anchorCtr="0">
            <a:noAutofit/>
          </a:bodyPr>
          <a:lstStyle/>
          <a:p>
            <a:pPr algn="ctr">
              <a:buClr>
                <a:srgbClr val="06B6D4"/>
              </a:buClr>
              <a:buSzPts val="3200"/>
            </a:pPr>
            <a:r>
              <a:rPr lang="en-US" sz="4267" dirty="0">
                <a:solidFill>
                  <a:srgbClr val="06B6D4"/>
                </a:solidFill>
                <a:latin typeface="Trebuchet MS"/>
                <a:ea typeface="Trebuchet MS"/>
                <a:cs typeface="Trebuchet MS"/>
                <a:sym typeface="Trebuchet MS"/>
              </a:rPr>
              <a:t>A </a:t>
            </a:r>
            <a:r>
              <a:rPr lang="en-US" sz="4267" dirty="0" err="1">
                <a:solidFill>
                  <a:srgbClr val="06B6D4"/>
                </a:solidFill>
                <a:latin typeface="Trebuchet MS"/>
                <a:ea typeface="Trebuchet MS"/>
                <a:cs typeface="Trebuchet MS"/>
                <a:sym typeface="Trebuchet MS"/>
              </a:rPr>
              <a:t>los</a:t>
            </a:r>
            <a:r>
              <a:rPr lang="en-US" sz="4267" dirty="0">
                <a:solidFill>
                  <a:srgbClr val="06B6D4"/>
                </a:solidFill>
                <a:latin typeface="Trebuchet MS"/>
                <a:ea typeface="Trebuchet MS"/>
                <a:cs typeface="Trebuchet MS"/>
                <a:sym typeface="Trebuchet MS"/>
              </a:rPr>
              <a:t> </a:t>
            </a:r>
            <a:r>
              <a:rPr lang="en-US" sz="4267" dirty="0" err="1">
                <a:solidFill>
                  <a:srgbClr val="06B6D4"/>
                </a:solidFill>
                <a:latin typeface="Trebuchet MS"/>
                <a:ea typeface="Trebuchet MS"/>
                <a:cs typeface="Trebuchet MS"/>
                <a:sym typeface="Trebuchet MS"/>
              </a:rPr>
              <a:t>Agentes</a:t>
            </a:r>
            <a:r>
              <a:rPr lang="en-US" sz="4267" dirty="0">
                <a:solidFill>
                  <a:srgbClr val="06B6D4"/>
                </a:solidFill>
                <a:latin typeface="Trebuchet MS"/>
                <a:ea typeface="Trebuchet MS"/>
                <a:cs typeface="Trebuchet MS"/>
                <a:sym typeface="Trebuchet MS"/>
              </a:rPr>
              <a:t> AI</a:t>
            </a:r>
            <a:endParaRPr sz="4267" dirty="0">
              <a:solidFill>
                <a:schemeClr val="dk1"/>
              </a:solidFill>
              <a:latin typeface="Calibri"/>
              <a:ea typeface="Calibri"/>
              <a:cs typeface="Calibri"/>
              <a:sym typeface="Calibri"/>
            </a:endParaRPr>
          </a:p>
        </p:txBody>
      </p:sp>
      <p:sp>
        <p:nvSpPr>
          <p:cNvPr id="20" name="Google Shape;20;p3">
            <a:extLst>
              <a:ext uri="{FF2B5EF4-FFF2-40B4-BE49-F238E27FC236}">
                <a16:creationId xmlns:a16="http://schemas.microsoft.com/office/drawing/2014/main" id="{AC68794E-216E-7A74-15FA-218112E7AFF3}"/>
              </a:ext>
            </a:extLst>
          </p:cNvPr>
          <p:cNvSpPr/>
          <p:nvPr/>
        </p:nvSpPr>
        <p:spPr>
          <a:xfrm>
            <a:off x="3663141" y="2800350"/>
            <a:ext cx="4876800" cy="48768"/>
          </a:xfrm>
          <a:prstGeom prst="rect">
            <a:avLst/>
          </a:prstGeom>
          <a:solidFill>
            <a:srgbClr val="374151"/>
          </a:solidFill>
          <a:ln w="12700" cap="flat" cmpd="sng">
            <a:solidFill>
              <a:srgbClr val="374151"/>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21" name="Google Shape;21;p3">
            <a:extLst>
              <a:ext uri="{FF2B5EF4-FFF2-40B4-BE49-F238E27FC236}">
                <a16:creationId xmlns:a16="http://schemas.microsoft.com/office/drawing/2014/main" id="{6742FF3C-B554-0AE5-7327-694F50AFFCE7}"/>
              </a:ext>
            </a:extLst>
          </p:cNvPr>
          <p:cNvSpPr/>
          <p:nvPr/>
        </p:nvSpPr>
        <p:spPr>
          <a:xfrm>
            <a:off x="615141" y="2922270"/>
            <a:ext cx="10972800" cy="548640"/>
          </a:xfrm>
          <a:prstGeom prst="rect">
            <a:avLst/>
          </a:prstGeom>
          <a:noFill/>
          <a:ln>
            <a:noFill/>
          </a:ln>
        </p:spPr>
        <p:txBody>
          <a:bodyPr spcFirstLastPara="1" wrap="square" lIns="0" tIns="0" rIns="0" bIns="0" anchor="ctr" anchorCtr="0">
            <a:noAutofit/>
          </a:bodyPr>
          <a:lstStyle/>
          <a:p>
            <a:pPr algn="ctr">
              <a:buClr>
                <a:srgbClr val="9CA3AF"/>
              </a:buClr>
              <a:buSzPts val="1300"/>
            </a:pPr>
            <a:r>
              <a:rPr lang="en-US" sz="1733" dirty="0" err="1">
                <a:solidFill>
                  <a:schemeClr val="bg1"/>
                </a:solidFill>
                <a:latin typeface="Calibri"/>
                <a:ea typeface="Calibri"/>
                <a:cs typeface="Calibri"/>
                <a:sym typeface="Calibri"/>
              </a:rPr>
              <a:t>Guía</a:t>
            </a:r>
            <a:r>
              <a:rPr lang="en-US" sz="1733" dirty="0">
                <a:solidFill>
                  <a:schemeClr val="bg1"/>
                </a:solidFill>
                <a:latin typeface="Calibri"/>
                <a:ea typeface="Calibri"/>
                <a:cs typeface="Calibri"/>
                <a:sym typeface="Calibri"/>
              </a:rPr>
              <a:t> Técnica </a:t>
            </a:r>
            <a:r>
              <a:rPr lang="en-US" sz="1733" dirty="0" err="1">
                <a:solidFill>
                  <a:schemeClr val="bg1"/>
                </a:solidFill>
                <a:latin typeface="Calibri"/>
                <a:ea typeface="Calibri"/>
                <a:cs typeface="Calibri"/>
                <a:sym typeface="Calibri"/>
              </a:rPr>
              <a:t>Completa</a:t>
            </a:r>
            <a:r>
              <a:rPr lang="en-US" sz="1733" dirty="0">
                <a:solidFill>
                  <a:schemeClr val="bg1"/>
                </a:solidFill>
                <a:latin typeface="Calibri"/>
                <a:ea typeface="Calibri"/>
                <a:cs typeface="Calibri"/>
                <a:sym typeface="Calibri"/>
              </a:rPr>
              <a:t> • Workflows • </a:t>
            </a:r>
            <a:r>
              <a:rPr lang="en-US" sz="1733" dirty="0" err="1">
                <a:solidFill>
                  <a:schemeClr val="bg1"/>
                </a:solidFill>
                <a:latin typeface="Calibri"/>
                <a:ea typeface="Calibri"/>
                <a:cs typeface="Calibri"/>
                <a:sym typeface="Calibri"/>
              </a:rPr>
              <a:t>Nodos</a:t>
            </a:r>
            <a:r>
              <a:rPr lang="en-US" sz="1733" dirty="0">
                <a:solidFill>
                  <a:schemeClr val="bg1"/>
                </a:solidFill>
                <a:latin typeface="Calibri"/>
                <a:ea typeface="Calibri"/>
                <a:cs typeface="Calibri"/>
                <a:sym typeface="Calibri"/>
              </a:rPr>
              <a:t> • Memoria • </a:t>
            </a:r>
            <a:r>
              <a:rPr lang="en-US" sz="1733" dirty="0" err="1">
                <a:solidFill>
                  <a:schemeClr val="bg1"/>
                </a:solidFill>
                <a:latin typeface="Calibri"/>
                <a:ea typeface="Calibri"/>
                <a:cs typeface="Calibri"/>
                <a:sym typeface="Calibri"/>
              </a:rPr>
              <a:t>Herramientas</a:t>
            </a:r>
            <a:endParaRPr sz="1733" dirty="0">
              <a:solidFill>
                <a:schemeClr val="bg1"/>
              </a:solidFill>
              <a:latin typeface="Calibri"/>
              <a:ea typeface="Calibri"/>
              <a:cs typeface="Calibri"/>
              <a:sym typeface="Calibri"/>
            </a:endParaRPr>
          </a:p>
        </p:txBody>
      </p:sp>
      <p:sp>
        <p:nvSpPr>
          <p:cNvPr id="22" name="Google Shape;22;p3">
            <a:extLst>
              <a:ext uri="{FF2B5EF4-FFF2-40B4-BE49-F238E27FC236}">
                <a16:creationId xmlns:a16="http://schemas.microsoft.com/office/drawing/2014/main" id="{C4D5A442-7D58-CA05-F2BE-1C24BD40CE61}"/>
              </a:ext>
            </a:extLst>
          </p:cNvPr>
          <p:cNvSpPr/>
          <p:nvPr/>
        </p:nvSpPr>
        <p:spPr>
          <a:xfrm>
            <a:off x="1346661" y="3592830"/>
            <a:ext cx="4145280" cy="1889760"/>
          </a:xfrm>
          <a:prstGeom prst="rect">
            <a:avLst/>
          </a:prstGeom>
          <a:solidFill>
            <a:srgbClr val="111827"/>
          </a:solidFill>
          <a:ln w="9525" cap="flat" cmpd="sng">
            <a:solidFill>
              <a:srgbClr val="6366F1"/>
            </a:solidFill>
            <a:prstDash val="solid"/>
            <a:round/>
            <a:headEnd type="none" w="sm" len="sm"/>
            <a:tailEnd type="none" w="sm" len="sm"/>
          </a:ln>
          <a:effectLst>
            <a:outerShdw blurRad="101600" dist="25400" dir="8100000" algn="bl" rotWithShape="0">
              <a:srgbClr val="000000">
                <a:alpha val="30196"/>
              </a:srgbClr>
            </a:outerShdw>
          </a:effectLst>
        </p:spPr>
        <p:txBody>
          <a:bodyPr spcFirstLastPara="1" wrap="square" lIns="121900" tIns="121900" rIns="121900" bIns="121900" anchor="ctr" anchorCtr="0">
            <a:noAutofit/>
          </a:bodyPr>
          <a:lstStyle/>
          <a:p>
            <a:endParaRPr sz="2400"/>
          </a:p>
        </p:txBody>
      </p:sp>
      <p:sp>
        <p:nvSpPr>
          <p:cNvPr id="23" name="Google Shape;23;p3">
            <a:extLst>
              <a:ext uri="{FF2B5EF4-FFF2-40B4-BE49-F238E27FC236}">
                <a16:creationId xmlns:a16="http://schemas.microsoft.com/office/drawing/2014/main" id="{DF78CEA5-AE39-E305-584D-9FE6B356A075}"/>
              </a:ext>
            </a:extLst>
          </p:cNvPr>
          <p:cNvSpPr/>
          <p:nvPr/>
        </p:nvSpPr>
        <p:spPr>
          <a:xfrm>
            <a:off x="1346661" y="3592830"/>
            <a:ext cx="4145280" cy="73152"/>
          </a:xfrm>
          <a:prstGeom prst="rect">
            <a:avLst/>
          </a:prstGeom>
          <a:solidFill>
            <a:srgbClr val="6366F1"/>
          </a:solidFill>
          <a:ln w="12700" cap="flat" cmpd="sng">
            <a:solidFill>
              <a:srgbClr val="6366F1"/>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24" name="Google Shape;24;p3">
            <a:extLst>
              <a:ext uri="{FF2B5EF4-FFF2-40B4-BE49-F238E27FC236}">
                <a16:creationId xmlns:a16="http://schemas.microsoft.com/office/drawing/2014/main" id="{2EACFBD2-E4A9-A1CA-FF40-2C0EE4338D80}"/>
              </a:ext>
            </a:extLst>
          </p:cNvPr>
          <p:cNvSpPr/>
          <p:nvPr/>
        </p:nvSpPr>
        <p:spPr>
          <a:xfrm>
            <a:off x="1529541" y="3714750"/>
            <a:ext cx="3779520" cy="670560"/>
          </a:xfrm>
          <a:prstGeom prst="rect">
            <a:avLst/>
          </a:prstGeom>
          <a:noFill/>
          <a:ln>
            <a:noFill/>
          </a:ln>
        </p:spPr>
        <p:txBody>
          <a:bodyPr spcFirstLastPara="1" wrap="square" lIns="0" tIns="0" rIns="0" bIns="0" anchor="ctr" anchorCtr="0">
            <a:noAutofit/>
          </a:bodyPr>
          <a:lstStyle/>
          <a:p>
            <a:pPr>
              <a:buClr>
                <a:srgbClr val="6366F1"/>
              </a:buClr>
              <a:buSzPts val="2800"/>
            </a:pPr>
            <a:r>
              <a:rPr lang="en-US" sz="3733" b="1" dirty="0">
                <a:solidFill>
                  <a:srgbClr val="6366F1"/>
                </a:solidFill>
                <a:latin typeface="Trebuchet MS"/>
                <a:ea typeface="Trebuchet MS"/>
                <a:cs typeface="Trebuchet MS"/>
                <a:sym typeface="Trebuchet MS"/>
              </a:rPr>
              <a:t>LLM</a:t>
            </a:r>
            <a:endParaRPr sz="3733" dirty="0">
              <a:solidFill>
                <a:schemeClr val="dk1"/>
              </a:solidFill>
              <a:latin typeface="Calibri"/>
              <a:ea typeface="Calibri"/>
              <a:cs typeface="Calibri"/>
              <a:sym typeface="Calibri"/>
            </a:endParaRPr>
          </a:p>
        </p:txBody>
      </p:sp>
      <p:sp>
        <p:nvSpPr>
          <p:cNvPr id="25" name="Google Shape;25;p3">
            <a:extLst>
              <a:ext uri="{FF2B5EF4-FFF2-40B4-BE49-F238E27FC236}">
                <a16:creationId xmlns:a16="http://schemas.microsoft.com/office/drawing/2014/main" id="{2A52E9C7-A3D9-5BC8-316E-4CF9A9B92CA1}"/>
              </a:ext>
            </a:extLst>
          </p:cNvPr>
          <p:cNvSpPr/>
          <p:nvPr/>
        </p:nvSpPr>
        <p:spPr>
          <a:xfrm>
            <a:off x="1529541" y="4324350"/>
            <a:ext cx="3779520" cy="365760"/>
          </a:xfrm>
          <a:prstGeom prst="rect">
            <a:avLst/>
          </a:prstGeom>
          <a:noFill/>
          <a:ln>
            <a:noFill/>
          </a:ln>
        </p:spPr>
        <p:txBody>
          <a:bodyPr spcFirstLastPara="1" wrap="square" lIns="0" tIns="0" rIns="0" bIns="0" anchor="ctr" anchorCtr="0">
            <a:noAutofit/>
          </a:bodyPr>
          <a:lstStyle/>
          <a:p>
            <a:pPr>
              <a:buClr>
                <a:srgbClr val="D1D5DB"/>
              </a:buClr>
              <a:buSzPts val="1200"/>
            </a:pPr>
            <a:r>
              <a:rPr lang="en-US" sz="1600" dirty="0" err="1">
                <a:latin typeface="Calibri"/>
                <a:ea typeface="Calibri"/>
                <a:cs typeface="Calibri"/>
                <a:sym typeface="Calibri"/>
              </a:rPr>
              <a:t>Que</a:t>
            </a:r>
            <a:r>
              <a:rPr lang="en-US" sz="1600" dirty="0">
                <a:latin typeface="Calibri"/>
                <a:ea typeface="Calibri"/>
                <a:cs typeface="Calibri"/>
                <a:sym typeface="Calibri"/>
              </a:rPr>
              <a:t> son? </a:t>
            </a:r>
            <a:endParaRPr sz="1600" dirty="0">
              <a:latin typeface="Calibri"/>
              <a:ea typeface="Calibri"/>
              <a:cs typeface="Calibri"/>
              <a:sym typeface="Calibri"/>
            </a:endParaRPr>
          </a:p>
        </p:txBody>
      </p:sp>
      <p:sp>
        <p:nvSpPr>
          <p:cNvPr id="27" name="Google Shape;27;p3">
            <a:extLst>
              <a:ext uri="{FF2B5EF4-FFF2-40B4-BE49-F238E27FC236}">
                <a16:creationId xmlns:a16="http://schemas.microsoft.com/office/drawing/2014/main" id="{DA23ED52-63A7-E392-92D3-42B6486544A4}"/>
              </a:ext>
            </a:extLst>
          </p:cNvPr>
          <p:cNvSpPr/>
          <p:nvPr/>
        </p:nvSpPr>
        <p:spPr>
          <a:xfrm>
            <a:off x="6711141" y="3592830"/>
            <a:ext cx="4145280" cy="1889760"/>
          </a:xfrm>
          <a:prstGeom prst="rect">
            <a:avLst/>
          </a:prstGeom>
          <a:solidFill>
            <a:srgbClr val="111827"/>
          </a:solidFill>
          <a:ln w="9525" cap="flat" cmpd="sng">
            <a:solidFill>
              <a:srgbClr val="06B6D4"/>
            </a:solidFill>
            <a:prstDash val="solid"/>
            <a:round/>
            <a:headEnd type="none" w="sm" len="sm"/>
            <a:tailEnd type="none" w="sm" len="sm"/>
          </a:ln>
          <a:effectLst>
            <a:outerShdw blurRad="101600" dist="25400" dir="8100000" algn="bl" rotWithShape="0">
              <a:srgbClr val="000000">
                <a:alpha val="30196"/>
              </a:srgbClr>
            </a:outerShdw>
          </a:effectLst>
        </p:spPr>
        <p:txBody>
          <a:bodyPr spcFirstLastPara="1" wrap="square" lIns="121900" tIns="121900" rIns="121900" bIns="121900" anchor="ctr" anchorCtr="0">
            <a:noAutofit/>
          </a:bodyPr>
          <a:lstStyle/>
          <a:p>
            <a:endParaRPr sz="2400"/>
          </a:p>
        </p:txBody>
      </p:sp>
      <p:sp>
        <p:nvSpPr>
          <p:cNvPr id="28" name="Google Shape;28;p3">
            <a:extLst>
              <a:ext uri="{FF2B5EF4-FFF2-40B4-BE49-F238E27FC236}">
                <a16:creationId xmlns:a16="http://schemas.microsoft.com/office/drawing/2014/main" id="{89FB992D-9412-E02B-EF47-184F2EEE7A6E}"/>
              </a:ext>
            </a:extLst>
          </p:cNvPr>
          <p:cNvSpPr/>
          <p:nvPr/>
        </p:nvSpPr>
        <p:spPr>
          <a:xfrm>
            <a:off x="6711141" y="3592830"/>
            <a:ext cx="4145280" cy="73152"/>
          </a:xfrm>
          <a:prstGeom prst="rect">
            <a:avLst/>
          </a:prstGeom>
          <a:solidFill>
            <a:srgbClr val="06B6D4"/>
          </a:solidFill>
          <a:ln w="12700" cap="flat" cmpd="sng">
            <a:solidFill>
              <a:srgbClr val="06B6D4"/>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29" name="Google Shape;29;p3">
            <a:extLst>
              <a:ext uri="{FF2B5EF4-FFF2-40B4-BE49-F238E27FC236}">
                <a16:creationId xmlns:a16="http://schemas.microsoft.com/office/drawing/2014/main" id="{DDC3A287-FAED-5B06-826E-7BBE975F34A3}"/>
              </a:ext>
            </a:extLst>
          </p:cNvPr>
          <p:cNvSpPr/>
          <p:nvPr/>
        </p:nvSpPr>
        <p:spPr>
          <a:xfrm>
            <a:off x="6894021" y="3714750"/>
            <a:ext cx="3779520" cy="670560"/>
          </a:xfrm>
          <a:prstGeom prst="rect">
            <a:avLst/>
          </a:prstGeom>
          <a:noFill/>
          <a:ln>
            <a:noFill/>
          </a:ln>
        </p:spPr>
        <p:txBody>
          <a:bodyPr spcFirstLastPara="1" wrap="square" lIns="0" tIns="0" rIns="0" bIns="0" anchor="ctr" anchorCtr="0">
            <a:noAutofit/>
          </a:bodyPr>
          <a:lstStyle/>
          <a:p>
            <a:pPr>
              <a:buClr>
                <a:srgbClr val="06B6D4"/>
              </a:buClr>
              <a:buSzPts val="2800"/>
            </a:pPr>
            <a:r>
              <a:rPr lang="en-US" sz="3733" b="1" dirty="0" err="1">
                <a:solidFill>
                  <a:srgbClr val="06B6D4"/>
                </a:solidFill>
                <a:latin typeface="Trebuchet MS"/>
                <a:ea typeface="Trebuchet MS"/>
                <a:cs typeface="Trebuchet MS"/>
                <a:sym typeface="Trebuchet MS"/>
              </a:rPr>
              <a:t>Agentes</a:t>
            </a:r>
            <a:r>
              <a:rPr lang="en-US" sz="3733" b="1" dirty="0">
                <a:solidFill>
                  <a:srgbClr val="06B6D4"/>
                </a:solidFill>
                <a:latin typeface="Trebuchet MS"/>
                <a:ea typeface="Trebuchet MS"/>
                <a:cs typeface="Trebuchet MS"/>
                <a:sym typeface="Trebuchet MS"/>
              </a:rPr>
              <a:t>- Agentic</a:t>
            </a:r>
            <a:endParaRPr sz="3733" dirty="0">
              <a:solidFill>
                <a:schemeClr val="dk1"/>
              </a:solidFill>
              <a:latin typeface="Calibri"/>
              <a:ea typeface="Calibri"/>
              <a:cs typeface="Calibri"/>
              <a:sym typeface="Calibri"/>
            </a:endParaRPr>
          </a:p>
        </p:txBody>
      </p:sp>
      <p:sp>
        <p:nvSpPr>
          <p:cNvPr id="30" name="Google Shape;30;p3">
            <a:extLst>
              <a:ext uri="{FF2B5EF4-FFF2-40B4-BE49-F238E27FC236}">
                <a16:creationId xmlns:a16="http://schemas.microsoft.com/office/drawing/2014/main" id="{1C92341D-A122-4F3D-CD71-E22188F579AE}"/>
              </a:ext>
            </a:extLst>
          </p:cNvPr>
          <p:cNvSpPr/>
          <p:nvPr/>
        </p:nvSpPr>
        <p:spPr>
          <a:xfrm>
            <a:off x="6894021" y="4324350"/>
            <a:ext cx="3779520" cy="365760"/>
          </a:xfrm>
          <a:prstGeom prst="rect">
            <a:avLst/>
          </a:prstGeom>
          <a:noFill/>
          <a:ln>
            <a:noFill/>
          </a:ln>
        </p:spPr>
        <p:txBody>
          <a:bodyPr spcFirstLastPara="1" wrap="square" lIns="0" tIns="0" rIns="0" bIns="0" anchor="ctr" anchorCtr="0">
            <a:noAutofit/>
          </a:bodyPr>
          <a:lstStyle/>
          <a:p>
            <a:pPr>
              <a:buClr>
                <a:srgbClr val="D1D5DB"/>
              </a:buClr>
              <a:buSzPts val="1200"/>
            </a:pPr>
            <a:r>
              <a:rPr lang="en-US" sz="1600" dirty="0">
                <a:latin typeface="Calibri"/>
                <a:ea typeface="Calibri"/>
                <a:cs typeface="Calibri"/>
                <a:sym typeface="Calibri"/>
              </a:rPr>
              <a:t>Workflow Automation</a:t>
            </a:r>
            <a:endParaRPr sz="1600" dirty="0">
              <a:latin typeface="Calibri"/>
              <a:ea typeface="Calibri"/>
              <a:cs typeface="Calibri"/>
              <a:sym typeface="Calibri"/>
            </a:endParaRPr>
          </a:p>
        </p:txBody>
      </p:sp>
      <p:sp>
        <p:nvSpPr>
          <p:cNvPr id="33" name="Google Shape;33;p3">
            <a:extLst>
              <a:ext uri="{FF2B5EF4-FFF2-40B4-BE49-F238E27FC236}">
                <a16:creationId xmlns:a16="http://schemas.microsoft.com/office/drawing/2014/main" id="{B2EAFF74-3735-57E8-F767-00715A4AB8DA}"/>
              </a:ext>
            </a:extLst>
          </p:cNvPr>
          <p:cNvSpPr/>
          <p:nvPr/>
        </p:nvSpPr>
        <p:spPr>
          <a:xfrm>
            <a:off x="1529541" y="5945886"/>
            <a:ext cx="1219200" cy="207264"/>
          </a:xfrm>
          <a:prstGeom prst="rect">
            <a:avLst/>
          </a:prstGeom>
          <a:noFill/>
          <a:ln>
            <a:noFill/>
          </a:ln>
        </p:spPr>
        <p:txBody>
          <a:bodyPr spcFirstLastPara="1" wrap="square" lIns="0" tIns="0" rIns="0" bIns="0" anchor="ctr" anchorCtr="0">
            <a:noAutofit/>
          </a:bodyPr>
          <a:lstStyle/>
          <a:p>
            <a:pPr algn="ctr">
              <a:buClr>
                <a:srgbClr val="9CA3AF"/>
              </a:buClr>
              <a:buSzPts val="900"/>
            </a:pPr>
            <a:r>
              <a:rPr lang="en-US" sz="1867" dirty="0" err="1">
                <a:latin typeface="Calibri"/>
                <a:ea typeface="Calibri"/>
                <a:cs typeface="Calibri"/>
                <a:sym typeface="Calibri"/>
              </a:rPr>
              <a:t>Agentes</a:t>
            </a:r>
            <a:endParaRPr sz="1867" dirty="0">
              <a:latin typeface="Calibri"/>
              <a:ea typeface="Calibri"/>
              <a:cs typeface="Calibri"/>
              <a:sym typeface="Calibri"/>
            </a:endParaRPr>
          </a:p>
        </p:txBody>
      </p:sp>
      <p:sp>
        <p:nvSpPr>
          <p:cNvPr id="35" name="Google Shape;35;p3">
            <a:extLst>
              <a:ext uri="{FF2B5EF4-FFF2-40B4-BE49-F238E27FC236}">
                <a16:creationId xmlns:a16="http://schemas.microsoft.com/office/drawing/2014/main" id="{0C67D278-EC47-1AA0-E4EA-069BE0C4D22B}"/>
              </a:ext>
            </a:extLst>
          </p:cNvPr>
          <p:cNvSpPr/>
          <p:nvPr/>
        </p:nvSpPr>
        <p:spPr>
          <a:xfrm>
            <a:off x="3602181" y="5945886"/>
            <a:ext cx="1219200" cy="207264"/>
          </a:xfrm>
          <a:prstGeom prst="rect">
            <a:avLst/>
          </a:prstGeom>
          <a:noFill/>
          <a:ln>
            <a:noFill/>
          </a:ln>
        </p:spPr>
        <p:txBody>
          <a:bodyPr spcFirstLastPara="1" wrap="square" lIns="0" tIns="0" rIns="0" bIns="0" anchor="ctr" anchorCtr="0">
            <a:noAutofit/>
          </a:bodyPr>
          <a:lstStyle/>
          <a:p>
            <a:pPr algn="ctr">
              <a:buClr>
                <a:srgbClr val="9CA3AF"/>
              </a:buClr>
              <a:buSzPts val="900"/>
            </a:pPr>
            <a:r>
              <a:rPr lang="en-US" sz="1867">
                <a:latin typeface="Calibri"/>
                <a:ea typeface="Calibri"/>
                <a:cs typeface="Calibri"/>
                <a:sym typeface="Calibri"/>
              </a:rPr>
              <a:t>LLMs</a:t>
            </a:r>
            <a:endParaRPr sz="1867">
              <a:latin typeface="Calibri"/>
              <a:ea typeface="Calibri"/>
              <a:cs typeface="Calibri"/>
              <a:sym typeface="Calibri"/>
            </a:endParaRPr>
          </a:p>
        </p:txBody>
      </p:sp>
      <p:sp>
        <p:nvSpPr>
          <p:cNvPr id="37" name="Google Shape;37;p3">
            <a:extLst>
              <a:ext uri="{FF2B5EF4-FFF2-40B4-BE49-F238E27FC236}">
                <a16:creationId xmlns:a16="http://schemas.microsoft.com/office/drawing/2014/main" id="{6CC9A063-6BF3-C1E1-0702-F917851C13E8}"/>
              </a:ext>
            </a:extLst>
          </p:cNvPr>
          <p:cNvSpPr/>
          <p:nvPr/>
        </p:nvSpPr>
        <p:spPr>
          <a:xfrm>
            <a:off x="5674821" y="5945886"/>
            <a:ext cx="1219200" cy="207264"/>
          </a:xfrm>
          <a:prstGeom prst="rect">
            <a:avLst/>
          </a:prstGeom>
          <a:noFill/>
          <a:ln>
            <a:noFill/>
          </a:ln>
        </p:spPr>
        <p:txBody>
          <a:bodyPr spcFirstLastPara="1" wrap="square" lIns="0" tIns="0" rIns="0" bIns="0" anchor="ctr" anchorCtr="0">
            <a:noAutofit/>
          </a:bodyPr>
          <a:lstStyle/>
          <a:p>
            <a:pPr algn="ctr">
              <a:buClr>
                <a:srgbClr val="9CA3AF"/>
              </a:buClr>
              <a:buSzPts val="900"/>
            </a:pPr>
            <a:r>
              <a:rPr lang="en-US" sz="1867">
                <a:latin typeface="Calibri"/>
                <a:ea typeface="Calibri"/>
                <a:cs typeface="Calibri"/>
                <a:sym typeface="Calibri"/>
              </a:rPr>
              <a:t>Memoria</a:t>
            </a:r>
            <a:endParaRPr sz="1867">
              <a:latin typeface="Calibri"/>
              <a:ea typeface="Calibri"/>
              <a:cs typeface="Calibri"/>
              <a:sym typeface="Calibri"/>
            </a:endParaRPr>
          </a:p>
        </p:txBody>
      </p:sp>
      <p:sp>
        <p:nvSpPr>
          <p:cNvPr id="39" name="Google Shape;39;p3">
            <a:extLst>
              <a:ext uri="{FF2B5EF4-FFF2-40B4-BE49-F238E27FC236}">
                <a16:creationId xmlns:a16="http://schemas.microsoft.com/office/drawing/2014/main" id="{432D4CBB-8153-4DE9-EC32-C98C488DE84E}"/>
              </a:ext>
            </a:extLst>
          </p:cNvPr>
          <p:cNvSpPr/>
          <p:nvPr/>
        </p:nvSpPr>
        <p:spPr>
          <a:xfrm>
            <a:off x="7747461" y="5945886"/>
            <a:ext cx="1219200" cy="207264"/>
          </a:xfrm>
          <a:prstGeom prst="rect">
            <a:avLst/>
          </a:prstGeom>
          <a:noFill/>
          <a:ln>
            <a:noFill/>
          </a:ln>
        </p:spPr>
        <p:txBody>
          <a:bodyPr spcFirstLastPara="1" wrap="square" lIns="0" tIns="0" rIns="0" bIns="0" anchor="ctr" anchorCtr="0">
            <a:noAutofit/>
          </a:bodyPr>
          <a:lstStyle/>
          <a:p>
            <a:pPr algn="ctr">
              <a:buClr>
                <a:srgbClr val="9CA3AF"/>
              </a:buClr>
              <a:buSzPts val="900"/>
            </a:pPr>
            <a:r>
              <a:rPr lang="en-US" sz="1867">
                <a:latin typeface="Calibri"/>
                <a:ea typeface="Calibri"/>
                <a:cs typeface="Calibri"/>
                <a:sym typeface="Calibri"/>
              </a:rPr>
              <a:t>Tools</a:t>
            </a:r>
            <a:endParaRPr sz="1867">
              <a:latin typeface="Calibri"/>
              <a:ea typeface="Calibri"/>
              <a:cs typeface="Calibri"/>
              <a:sym typeface="Calibri"/>
            </a:endParaRPr>
          </a:p>
        </p:txBody>
      </p:sp>
      <p:sp>
        <p:nvSpPr>
          <p:cNvPr id="41" name="Google Shape;41;p3">
            <a:extLst>
              <a:ext uri="{FF2B5EF4-FFF2-40B4-BE49-F238E27FC236}">
                <a16:creationId xmlns:a16="http://schemas.microsoft.com/office/drawing/2014/main" id="{5F876F4F-E6EA-8880-7B12-E86CEFE500AB}"/>
              </a:ext>
            </a:extLst>
          </p:cNvPr>
          <p:cNvSpPr/>
          <p:nvPr/>
        </p:nvSpPr>
        <p:spPr>
          <a:xfrm>
            <a:off x="9820101" y="5945886"/>
            <a:ext cx="1219200" cy="207264"/>
          </a:xfrm>
          <a:prstGeom prst="rect">
            <a:avLst/>
          </a:prstGeom>
          <a:noFill/>
          <a:ln>
            <a:noFill/>
          </a:ln>
        </p:spPr>
        <p:txBody>
          <a:bodyPr spcFirstLastPara="1" wrap="square" lIns="0" tIns="0" rIns="0" bIns="0" anchor="ctr" anchorCtr="0">
            <a:noAutofit/>
          </a:bodyPr>
          <a:lstStyle/>
          <a:p>
            <a:pPr algn="ctr">
              <a:buClr>
                <a:srgbClr val="9CA3AF"/>
              </a:buClr>
              <a:buSzPts val="900"/>
            </a:pPr>
            <a:r>
              <a:rPr lang="en-US" sz="1867">
                <a:latin typeface="Calibri"/>
                <a:ea typeface="Calibri"/>
                <a:cs typeface="Calibri"/>
                <a:sym typeface="Calibri"/>
              </a:rPr>
              <a:t>RAG</a:t>
            </a:r>
            <a:endParaRPr sz="1867">
              <a:latin typeface="Calibri"/>
              <a:ea typeface="Calibri"/>
              <a:cs typeface="Calibri"/>
              <a:sym typeface="Calibri"/>
            </a:endParaRPr>
          </a:p>
        </p:txBody>
      </p:sp>
    </p:spTree>
    <p:extLst>
      <p:ext uri="{BB962C8B-B14F-4D97-AF65-F5344CB8AC3E}">
        <p14:creationId xmlns:p14="http://schemas.microsoft.com/office/powerpoint/2010/main" val="28404237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78" name="Google Shape;78;p4"/>
          <p:cNvSpPr/>
          <p:nvPr/>
        </p:nvSpPr>
        <p:spPr>
          <a:xfrm>
            <a:off x="393845" y="1609344"/>
            <a:ext cx="3901440" cy="4572000"/>
          </a:xfrm>
          <a:prstGeom prst="rect">
            <a:avLst/>
          </a:prstGeom>
          <a:solidFill>
            <a:srgbClr val="09246B"/>
          </a:solidFill>
          <a:ln w="9525" cap="flat" cmpd="sng">
            <a:solidFill>
              <a:srgbClr val="10B981"/>
            </a:solidFill>
            <a:prstDash val="solid"/>
            <a:round/>
            <a:headEnd type="none" w="sm" len="sm"/>
            <a:tailEnd type="none" w="sm" len="sm"/>
          </a:ln>
          <a:effectLst>
            <a:outerShdw blurRad="101600" dist="25400" dir="8100000" algn="bl" rotWithShape="0">
              <a:srgbClr val="000000">
                <a:alpha val="30196"/>
              </a:srgbClr>
            </a:outerShdw>
          </a:effectLst>
          <a:scene3d>
            <a:camera prst="orthographicFront"/>
            <a:lightRig rig="threePt" dir="t"/>
          </a:scene3d>
          <a:sp3d>
            <a:bevelT/>
          </a:sp3d>
        </p:spPr>
        <p:txBody>
          <a:bodyPr spcFirstLastPara="1" wrap="square" lIns="121900" tIns="121900" rIns="121900" bIns="121900" anchor="ctr" anchorCtr="0">
            <a:noAutofit/>
          </a:bodyPr>
          <a:lstStyle/>
          <a:p>
            <a:endParaRPr sz="2400"/>
          </a:p>
        </p:txBody>
      </p:sp>
      <p:sp>
        <p:nvSpPr>
          <p:cNvPr id="48" name="Google Shape;48;p4"/>
          <p:cNvSpPr/>
          <p:nvPr/>
        </p:nvSpPr>
        <p:spPr>
          <a:xfrm>
            <a:off x="0" y="1280160"/>
            <a:ext cx="12192000" cy="60960"/>
          </a:xfrm>
          <a:prstGeom prst="rect">
            <a:avLst/>
          </a:prstGeom>
          <a:solidFill>
            <a:srgbClr val="10B981"/>
          </a:solidFill>
          <a:ln w="12700" cap="flat" cmpd="sng">
            <a:solidFill>
              <a:srgbClr val="10B981"/>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50" name="Google Shape;50;p4"/>
          <p:cNvSpPr/>
          <p:nvPr/>
        </p:nvSpPr>
        <p:spPr>
          <a:xfrm>
            <a:off x="9041933" y="807311"/>
            <a:ext cx="10972800" cy="426720"/>
          </a:xfrm>
          <a:prstGeom prst="rect">
            <a:avLst/>
          </a:prstGeom>
          <a:noFill/>
          <a:ln>
            <a:noFill/>
          </a:ln>
        </p:spPr>
        <p:txBody>
          <a:bodyPr spcFirstLastPara="1" wrap="square" lIns="0" tIns="0" rIns="0" bIns="0" anchor="ctr" anchorCtr="0">
            <a:noAutofit/>
          </a:bodyPr>
          <a:lstStyle/>
          <a:p>
            <a:pPr>
              <a:buClr>
                <a:srgbClr val="9CA3AF"/>
              </a:buClr>
              <a:buSzPts val="1300"/>
            </a:pPr>
            <a:r>
              <a:rPr lang="en-US" dirty="0" err="1">
                <a:latin typeface="Calibri"/>
                <a:ea typeface="Calibri"/>
                <a:cs typeface="Calibri"/>
                <a:sym typeface="Calibri"/>
              </a:rPr>
              <a:t>Fundamentos</a:t>
            </a:r>
            <a:r>
              <a:rPr lang="en-US" dirty="0">
                <a:latin typeface="Calibri"/>
                <a:ea typeface="Calibri"/>
                <a:cs typeface="Calibri"/>
                <a:sym typeface="Calibri"/>
              </a:rPr>
              <a:t> de la IA </a:t>
            </a:r>
            <a:r>
              <a:rPr lang="en-US" dirty="0" err="1">
                <a:latin typeface="Calibri"/>
                <a:ea typeface="Calibri"/>
                <a:cs typeface="Calibri"/>
                <a:sym typeface="Calibri"/>
              </a:rPr>
              <a:t>Agéntica</a:t>
            </a:r>
            <a:endParaRPr dirty="0">
              <a:latin typeface="Calibri"/>
              <a:ea typeface="Calibri"/>
              <a:cs typeface="Calibri"/>
              <a:sym typeface="Calibri"/>
            </a:endParaRPr>
          </a:p>
        </p:txBody>
      </p:sp>
      <p:sp>
        <p:nvSpPr>
          <p:cNvPr id="79" name="Google Shape;79;p4"/>
          <p:cNvSpPr/>
          <p:nvPr/>
        </p:nvSpPr>
        <p:spPr>
          <a:xfrm>
            <a:off x="674460" y="1755648"/>
            <a:ext cx="3901440" cy="426720"/>
          </a:xfrm>
          <a:prstGeom prst="rect">
            <a:avLst/>
          </a:prstGeom>
          <a:noFill/>
          <a:ln>
            <a:noFill/>
          </a:ln>
        </p:spPr>
        <p:txBody>
          <a:bodyPr spcFirstLastPara="1" wrap="square" lIns="0" tIns="0" rIns="0" bIns="0" anchor="ctr" anchorCtr="0">
            <a:noAutofit/>
          </a:bodyPr>
          <a:lstStyle/>
          <a:p>
            <a:pPr>
              <a:buClr>
                <a:srgbClr val="10B981"/>
              </a:buClr>
              <a:buSzPts val="1300"/>
            </a:pPr>
            <a:r>
              <a:rPr lang="en-US" sz="1733" b="1">
                <a:latin typeface="Trebuchet MS"/>
                <a:ea typeface="Trebuchet MS"/>
                <a:cs typeface="Trebuchet MS"/>
                <a:sym typeface="Trebuchet MS"/>
              </a:rPr>
              <a:t>Definición</a:t>
            </a:r>
            <a:endParaRPr sz="1733">
              <a:latin typeface="Calibri"/>
              <a:ea typeface="Calibri"/>
              <a:cs typeface="Calibri"/>
              <a:sym typeface="Calibri"/>
            </a:endParaRPr>
          </a:p>
        </p:txBody>
      </p:sp>
      <p:sp>
        <p:nvSpPr>
          <p:cNvPr id="80" name="Google Shape;80;p4"/>
          <p:cNvSpPr/>
          <p:nvPr/>
        </p:nvSpPr>
        <p:spPr>
          <a:xfrm>
            <a:off x="674461" y="2243328"/>
            <a:ext cx="3498465" cy="1097280"/>
          </a:xfrm>
          <a:prstGeom prst="rect">
            <a:avLst/>
          </a:prstGeom>
          <a:noFill/>
          <a:ln>
            <a:noFill/>
          </a:ln>
        </p:spPr>
        <p:txBody>
          <a:bodyPr spcFirstLastPara="1" wrap="square" lIns="0" tIns="0" rIns="0" bIns="0" anchor="ctr" anchorCtr="0">
            <a:noAutofit/>
          </a:bodyPr>
          <a:lstStyle/>
          <a:p>
            <a:pPr>
              <a:buClr>
                <a:srgbClr val="D1D5DB"/>
              </a:buClr>
              <a:buSzPts val="1000"/>
            </a:pPr>
            <a:r>
              <a:rPr lang="en-US" sz="1333" dirty="0">
                <a:latin typeface="Calibri"/>
                <a:ea typeface="Calibri"/>
                <a:cs typeface="Calibri"/>
                <a:sym typeface="Calibri"/>
              </a:rPr>
              <a:t>Un </a:t>
            </a:r>
            <a:r>
              <a:rPr lang="en-US" sz="1333" dirty="0" err="1">
                <a:latin typeface="Calibri"/>
                <a:ea typeface="Calibri"/>
                <a:cs typeface="Calibri"/>
                <a:sym typeface="Calibri"/>
              </a:rPr>
              <a:t>Agente</a:t>
            </a:r>
            <a:r>
              <a:rPr lang="en-US" sz="1333" dirty="0">
                <a:latin typeface="Calibri"/>
                <a:ea typeface="Calibri"/>
                <a:cs typeface="Calibri"/>
                <a:sym typeface="Calibri"/>
              </a:rPr>
              <a:t> AI es un </a:t>
            </a:r>
            <a:r>
              <a:rPr lang="en-US" sz="1333" dirty="0" err="1">
                <a:latin typeface="Calibri"/>
                <a:ea typeface="Calibri"/>
                <a:cs typeface="Calibri"/>
                <a:sym typeface="Calibri"/>
              </a:rPr>
              <a:t>sistema</a:t>
            </a:r>
            <a:r>
              <a:rPr lang="en-US" sz="1333" dirty="0">
                <a:latin typeface="Calibri"/>
                <a:ea typeface="Calibri"/>
                <a:cs typeface="Calibri"/>
                <a:sym typeface="Calibri"/>
              </a:rPr>
              <a:t> </a:t>
            </a:r>
            <a:r>
              <a:rPr lang="en-US" sz="1333" dirty="0" err="1">
                <a:latin typeface="Calibri"/>
                <a:ea typeface="Calibri"/>
                <a:cs typeface="Calibri"/>
                <a:sym typeface="Calibri"/>
              </a:rPr>
              <a:t>autónomo</a:t>
            </a:r>
            <a:r>
              <a:rPr lang="en-US" sz="1333" dirty="0">
                <a:latin typeface="Calibri"/>
                <a:ea typeface="Calibri"/>
                <a:cs typeface="Calibri"/>
                <a:sym typeface="Calibri"/>
              </a:rPr>
              <a:t> que </a:t>
            </a:r>
            <a:r>
              <a:rPr lang="en-US" sz="1333" dirty="0" err="1">
                <a:latin typeface="Calibri"/>
                <a:ea typeface="Calibri"/>
                <a:cs typeface="Calibri"/>
                <a:sym typeface="Calibri"/>
              </a:rPr>
              <a:t>percibe</a:t>
            </a:r>
            <a:r>
              <a:rPr lang="en-US" sz="1333" dirty="0">
                <a:latin typeface="Calibri"/>
                <a:ea typeface="Calibri"/>
                <a:cs typeface="Calibri"/>
                <a:sym typeface="Calibri"/>
              </a:rPr>
              <a:t> </a:t>
            </a:r>
            <a:r>
              <a:rPr lang="en-US" sz="1333" dirty="0" err="1">
                <a:latin typeface="Calibri"/>
                <a:ea typeface="Calibri"/>
                <a:cs typeface="Calibri"/>
                <a:sym typeface="Calibri"/>
              </a:rPr>
              <a:t>su</a:t>
            </a:r>
            <a:r>
              <a:rPr lang="en-US" sz="1333" dirty="0">
                <a:latin typeface="Calibri"/>
                <a:ea typeface="Calibri"/>
                <a:cs typeface="Calibri"/>
                <a:sym typeface="Calibri"/>
              </a:rPr>
              <a:t> </a:t>
            </a:r>
            <a:r>
              <a:rPr lang="en-US" sz="1333" dirty="0" err="1">
                <a:latin typeface="Calibri"/>
                <a:ea typeface="Calibri"/>
                <a:cs typeface="Calibri"/>
                <a:sym typeface="Calibri"/>
              </a:rPr>
              <a:t>entorno</a:t>
            </a:r>
            <a:r>
              <a:rPr lang="en-US" sz="1333" dirty="0">
                <a:latin typeface="Calibri"/>
                <a:ea typeface="Calibri"/>
                <a:cs typeface="Calibri"/>
                <a:sym typeface="Calibri"/>
              </a:rPr>
              <a:t>, </a:t>
            </a:r>
            <a:r>
              <a:rPr lang="en-US" sz="1333" dirty="0" err="1">
                <a:latin typeface="Calibri"/>
                <a:ea typeface="Calibri"/>
                <a:cs typeface="Calibri"/>
                <a:sym typeface="Calibri"/>
              </a:rPr>
              <a:t>razona</a:t>
            </a:r>
            <a:r>
              <a:rPr lang="en-US" sz="1333" dirty="0">
                <a:latin typeface="Calibri"/>
                <a:ea typeface="Calibri"/>
                <a:cs typeface="Calibri"/>
                <a:sym typeface="Calibri"/>
              </a:rPr>
              <a:t> con un LLM, </a:t>
            </a:r>
            <a:r>
              <a:rPr lang="en-US" sz="1333" dirty="0" err="1">
                <a:latin typeface="Calibri"/>
                <a:ea typeface="Calibri"/>
                <a:cs typeface="Calibri"/>
                <a:sym typeface="Calibri"/>
              </a:rPr>
              <a:t>planifica</a:t>
            </a:r>
            <a:r>
              <a:rPr lang="en-US" sz="1333" dirty="0">
                <a:latin typeface="Calibri"/>
                <a:ea typeface="Calibri"/>
                <a:cs typeface="Calibri"/>
                <a:sym typeface="Calibri"/>
              </a:rPr>
              <a:t> pasos y </a:t>
            </a:r>
            <a:r>
              <a:rPr lang="en-US" sz="1333" dirty="0" err="1">
                <a:latin typeface="Calibri"/>
                <a:ea typeface="Calibri"/>
                <a:cs typeface="Calibri"/>
                <a:sym typeface="Calibri"/>
              </a:rPr>
              <a:t>ejecuta</a:t>
            </a:r>
            <a:r>
              <a:rPr lang="en-US" sz="1333" dirty="0">
                <a:latin typeface="Calibri"/>
                <a:ea typeface="Calibri"/>
                <a:cs typeface="Calibri"/>
                <a:sym typeface="Calibri"/>
              </a:rPr>
              <a:t> </a:t>
            </a:r>
            <a:r>
              <a:rPr lang="en-US" sz="1333" dirty="0" err="1">
                <a:latin typeface="Calibri"/>
                <a:ea typeface="Calibri"/>
                <a:cs typeface="Calibri"/>
                <a:sym typeface="Calibri"/>
              </a:rPr>
              <a:t>acciones</a:t>
            </a:r>
            <a:r>
              <a:rPr lang="en-US" sz="1333" dirty="0">
                <a:latin typeface="Calibri"/>
                <a:ea typeface="Calibri"/>
                <a:cs typeface="Calibri"/>
                <a:sym typeface="Calibri"/>
              </a:rPr>
              <a:t> para </a:t>
            </a:r>
            <a:r>
              <a:rPr lang="en-US" sz="1333" dirty="0" err="1">
                <a:latin typeface="Calibri"/>
                <a:ea typeface="Calibri"/>
                <a:cs typeface="Calibri"/>
                <a:sym typeface="Calibri"/>
              </a:rPr>
              <a:t>alcanzar</a:t>
            </a:r>
            <a:r>
              <a:rPr lang="en-US" sz="1333" dirty="0">
                <a:latin typeface="Calibri"/>
                <a:ea typeface="Calibri"/>
                <a:cs typeface="Calibri"/>
                <a:sym typeface="Calibri"/>
              </a:rPr>
              <a:t> </a:t>
            </a:r>
            <a:r>
              <a:rPr lang="en-US" sz="1333" dirty="0" err="1">
                <a:latin typeface="Calibri"/>
                <a:ea typeface="Calibri"/>
                <a:cs typeface="Calibri"/>
                <a:sym typeface="Calibri"/>
              </a:rPr>
              <a:t>objetivos</a:t>
            </a:r>
            <a:r>
              <a:rPr lang="en-US" sz="1333" dirty="0">
                <a:latin typeface="Calibri"/>
                <a:ea typeface="Calibri"/>
                <a:cs typeface="Calibri"/>
                <a:sym typeface="Calibri"/>
              </a:rPr>
              <a:t> </a:t>
            </a:r>
            <a:r>
              <a:rPr lang="en-US" sz="1333" dirty="0" err="1">
                <a:latin typeface="Calibri"/>
                <a:ea typeface="Calibri"/>
                <a:cs typeface="Calibri"/>
                <a:sym typeface="Calibri"/>
              </a:rPr>
              <a:t>complejos</a:t>
            </a:r>
            <a:r>
              <a:rPr lang="en-US" sz="1333" dirty="0">
                <a:latin typeface="Calibri"/>
                <a:ea typeface="Calibri"/>
                <a:cs typeface="Calibri"/>
                <a:sym typeface="Calibri"/>
              </a:rPr>
              <a:t>.</a:t>
            </a:r>
            <a:endParaRPr sz="1333" dirty="0">
              <a:latin typeface="Calibri"/>
              <a:ea typeface="Calibri"/>
              <a:cs typeface="Calibri"/>
              <a:sym typeface="Calibri"/>
            </a:endParaRPr>
          </a:p>
        </p:txBody>
      </p:sp>
      <p:sp>
        <p:nvSpPr>
          <p:cNvPr id="81" name="Google Shape;81;p4"/>
          <p:cNvSpPr/>
          <p:nvPr/>
        </p:nvSpPr>
        <p:spPr>
          <a:xfrm>
            <a:off x="674460" y="3584448"/>
            <a:ext cx="3901440" cy="365760"/>
          </a:xfrm>
          <a:prstGeom prst="rect">
            <a:avLst/>
          </a:prstGeom>
          <a:noFill/>
          <a:ln>
            <a:noFill/>
          </a:ln>
        </p:spPr>
        <p:txBody>
          <a:bodyPr spcFirstLastPara="1" wrap="square" lIns="0" tIns="0" rIns="0" bIns="0" anchor="ctr" anchorCtr="0">
            <a:noAutofit/>
          </a:bodyPr>
          <a:lstStyle/>
          <a:p>
            <a:pPr>
              <a:buClr>
                <a:srgbClr val="FFFFFF"/>
              </a:buClr>
              <a:buSzPts val="1000"/>
            </a:pPr>
            <a:r>
              <a:rPr lang="en-US" sz="1333" b="1" dirty="0">
                <a:latin typeface="Calibri"/>
                <a:ea typeface="Calibri"/>
                <a:cs typeface="Calibri"/>
                <a:sym typeface="Calibri"/>
              </a:rPr>
              <a:t>Chatbot</a:t>
            </a:r>
            <a:endParaRPr sz="1333" dirty="0">
              <a:latin typeface="Calibri"/>
              <a:ea typeface="Calibri"/>
              <a:cs typeface="Calibri"/>
              <a:sym typeface="Calibri"/>
            </a:endParaRPr>
          </a:p>
        </p:txBody>
      </p:sp>
      <p:sp>
        <p:nvSpPr>
          <p:cNvPr id="82" name="Google Shape;82;p4"/>
          <p:cNvSpPr/>
          <p:nvPr/>
        </p:nvSpPr>
        <p:spPr>
          <a:xfrm>
            <a:off x="674460" y="3925824"/>
            <a:ext cx="3901440" cy="341376"/>
          </a:xfrm>
          <a:prstGeom prst="rect">
            <a:avLst/>
          </a:prstGeom>
          <a:noFill/>
          <a:ln>
            <a:noFill/>
          </a:ln>
        </p:spPr>
        <p:txBody>
          <a:bodyPr spcFirstLastPara="1" wrap="square" lIns="0" tIns="0" rIns="0" bIns="0" anchor="ctr" anchorCtr="0">
            <a:noAutofit/>
          </a:bodyPr>
          <a:lstStyle/>
          <a:p>
            <a:pPr>
              <a:buClr>
                <a:srgbClr val="9CA3AF"/>
              </a:buClr>
              <a:buSzPts val="900"/>
            </a:pPr>
            <a:r>
              <a:rPr lang="en-US" sz="1200">
                <a:latin typeface="Calibri"/>
                <a:ea typeface="Calibri"/>
                <a:cs typeface="Calibri"/>
                <a:sym typeface="Calibri"/>
              </a:rPr>
              <a:t>Solo responde preguntas</a:t>
            </a:r>
            <a:endParaRPr sz="1200">
              <a:latin typeface="Calibri"/>
              <a:ea typeface="Calibri"/>
              <a:cs typeface="Calibri"/>
              <a:sym typeface="Calibri"/>
            </a:endParaRPr>
          </a:p>
        </p:txBody>
      </p:sp>
      <p:sp>
        <p:nvSpPr>
          <p:cNvPr id="83" name="Google Shape;83;p4"/>
          <p:cNvSpPr/>
          <p:nvPr/>
        </p:nvSpPr>
        <p:spPr>
          <a:xfrm>
            <a:off x="674460" y="4376928"/>
            <a:ext cx="3901440" cy="365760"/>
          </a:xfrm>
          <a:prstGeom prst="rect">
            <a:avLst/>
          </a:prstGeom>
          <a:noFill/>
          <a:ln>
            <a:noFill/>
          </a:ln>
        </p:spPr>
        <p:txBody>
          <a:bodyPr spcFirstLastPara="1" wrap="square" lIns="0" tIns="0" rIns="0" bIns="0" anchor="ctr" anchorCtr="0">
            <a:noAutofit/>
          </a:bodyPr>
          <a:lstStyle/>
          <a:p>
            <a:pPr>
              <a:buClr>
                <a:srgbClr val="FFFFFF"/>
              </a:buClr>
              <a:buSzPts val="1000"/>
            </a:pPr>
            <a:r>
              <a:rPr lang="en-US" sz="1333" b="1" dirty="0">
                <a:latin typeface="Calibri"/>
                <a:ea typeface="Calibri"/>
                <a:cs typeface="Calibri"/>
                <a:sym typeface="Calibri"/>
              </a:rPr>
              <a:t> </a:t>
            </a:r>
            <a:r>
              <a:rPr lang="en-US" sz="1333" b="1" dirty="0" err="1">
                <a:latin typeface="Calibri"/>
                <a:ea typeface="Calibri"/>
                <a:cs typeface="Calibri"/>
                <a:sym typeface="Calibri"/>
              </a:rPr>
              <a:t>Agente</a:t>
            </a:r>
            <a:endParaRPr sz="1333" dirty="0">
              <a:latin typeface="Calibri"/>
              <a:ea typeface="Calibri"/>
              <a:cs typeface="Calibri"/>
              <a:sym typeface="Calibri"/>
            </a:endParaRPr>
          </a:p>
        </p:txBody>
      </p:sp>
      <p:sp>
        <p:nvSpPr>
          <p:cNvPr id="84" name="Google Shape;84;p4"/>
          <p:cNvSpPr/>
          <p:nvPr/>
        </p:nvSpPr>
        <p:spPr>
          <a:xfrm>
            <a:off x="674460" y="4718304"/>
            <a:ext cx="3901440" cy="341376"/>
          </a:xfrm>
          <a:prstGeom prst="rect">
            <a:avLst/>
          </a:prstGeom>
          <a:noFill/>
          <a:ln>
            <a:noFill/>
          </a:ln>
        </p:spPr>
        <p:txBody>
          <a:bodyPr spcFirstLastPara="1" wrap="square" lIns="0" tIns="0" rIns="0" bIns="0" anchor="ctr" anchorCtr="0">
            <a:noAutofit/>
          </a:bodyPr>
          <a:lstStyle/>
          <a:p>
            <a:pPr>
              <a:buClr>
                <a:srgbClr val="9CA3AF"/>
              </a:buClr>
              <a:buSzPts val="900"/>
            </a:pPr>
            <a:r>
              <a:rPr lang="en-US" sz="1200">
                <a:latin typeface="Calibri"/>
                <a:ea typeface="Calibri"/>
                <a:cs typeface="Calibri"/>
                <a:sym typeface="Calibri"/>
              </a:rPr>
              <a:t>Actúa, planifica y usa herramientas</a:t>
            </a:r>
            <a:endParaRPr sz="1200">
              <a:latin typeface="Calibri"/>
              <a:ea typeface="Calibri"/>
              <a:cs typeface="Calibri"/>
              <a:sym typeface="Calibri"/>
            </a:endParaRPr>
          </a:p>
        </p:txBody>
      </p:sp>
      <p:sp>
        <p:nvSpPr>
          <p:cNvPr id="85" name="Google Shape;85;p4"/>
          <p:cNvSpPr/>
          <p:nvPr/>
        </p:nvSpPr>
        <p:spPr>
          <a:xfrm>
            <a:off x="674460" y="5230368"/>
            <a:ext cx="3657600" cy="48768"/>
          </a:xfrm>
          <a:prstGeom prst="rect">
            <a:avLst/>
          </a:prstGeom>
          <a:solidFill>
            <a:srgbClr val="374151"/>
          </a:solidFill>
          <a:ln w="12700" cap="flat" cmpd="sng">
            <a:solidFill>
              <a:srgbClr val="374151"/>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86" name="Google Shape;86;p4"/>
          <p:cNvSpPr/>
          <p:nvPr/>
        </p:nvSpPr>
        <p:spPr>
          <a:xfrm>
            <a:off x="674460" y="5352288"/>
            <a:ext cx="3901440" cy="853440"/>
          </a:xfrm>
          <a:prstGeom prst="rect">
            <a:avLst/>
          </a:prstGeom>
          <a:noFill/>
          <a:ln>
            <a:noFill/>
          </a:ln>
        </p:spPr>
        <p:txBody>
          <a:bodyPr spcFirstLastPara="1" wrap="square" lIns="0" tIns="0" rIns="0" bIns="0" anchor="ctr" anchorCtr="0">
            <a:noAutofit/>
          </a:bodyPr>
          <a:lstStyle/>
          <a:p>
            <a:pPr>
              <a:buClr>
                <a:srgbClr val="9CA3AF"/>
              </a:buClr>
              <a:buSzPts val="900"/>
            </a:pPr>
            <a:r>
              <a:rPr lang="en-US" sz="1200" i="1">
                <a:latin typeface="Calibri"/>
                <a:ea typeface="Calibri"/>
                <a:cs typeface="Calibri"/>
                <a:sym typeface="Calibri"/>
              </a:rPr>
              <a:t>Patrón ReAct: Razonar → Actuar → Observar → Repetir</a:t>
            </a:r>
            <a:endParaRPr sz="1200">
              <a:latin typeface="Calibri"/>
              <a:ea typeface="Calibri"/>
              <a:cs typeface="Calibri"/>
              <a:sym typeface="Calibri"/>
            </a:endParaRPr>
          </a:p>
        </p:txBody>
      </p:sp>
      <p:grpSp>
        <p:nvGrpSpPr>
          <p:cNvPr id="5" name="Grupo 4">
            <a:extLst>
              <a:ext uri="{FF2B5EF4-FFF2-40B4-BE49-F238E27FC236}">
                <a16:creationId xmlns:a16="http://schemas.microsoft.com/office/drawing/2014/main" id="{04E87165-DD35-B5C5-C2A8-023F07D2A7C4}"/>
              </a:ext>
            </a:extLst>
          </p:cNvPr>
          <p:cNvGrpSpPr/>
          <p:nvPr/>
        </p:nvGrpSpPr>
        <p:grpSpPr>
          <a:xfrm>
            <a:off x="5140494" y="1524000"/>
            <a:ext cx="6084969" cy="4419600"/>
            <a:chOff x="5140493" y="1524000"/>
            <a:chExt cx="6563827" cy="4754880"/>
          </a:xfrm>
        </p:grpSpPr>
        <p:sp>
          <p:nvSpPr>
            <p:cNvPr id="51" name="Google Shape;51;p4"/>
            <p:cNvSpPr/>
            <p:nvPr/>
          </p:nvSpPr>
          <p:spPr>
            <a:xfrm>
              <a:off x="7144451" y="3197352"/>
              <a:ext cx="2438400" cy="1423416"/>
            </a:xfrm>
            <a:prstGeom prst="ellipse">
              <a:avLst/>
            </a:prstGeom>
            <a:solidFill>
              <a:srgbClr val="6366F1">
                <a:alpha val="80000"/>
              </a:srgbClr>
            </a:solidFill>
            <a:ln w="25400" cap="flat" cmpd="sng">
              <a:solidFill>
                <a:srgbClr val="6366F1"/>
              </a:solidFill>
              <a:prstDash val="solid"/>
              <a:round/>
              <a:headEnd type="none" w="sm" len="sm"/>
              <a:tailEnd type="none" w="sm" len="sm"/>
            </a:ln>
            <a:effectLst>
              <a:outerShdw blurRad="152400" dist="38100" dir="8100000" algn="bl" rotWithShape="0">
                <a:srgbClr val="000000">
                  <a:alpha val="40000"/>
                </a:srgbClr>
              </a:outerShdw>
            </a:effectLst>
          </p:spPr>
          <p:txBody>
            <a:bodyPr spcFirstLastPara="1" wrap="square" lIns="121900" tIns="121900" rIns="121900" bIns="121900" anchor="ctr" anchorCtr="0">
              <a:noAutofit/>
            </a:bodyPr>
            <a:lstStyle/>
            <a:p>
              <a:endParaRPr sz="2400"/>
            </a:p>
          </p:txBody>
        </p:sp>
        <p:pic>
          <p:nvPicPr>
            <p:cNvPr id="52" name="Google Shape;52;p4" descr="preencoded.png"/>
            <p:cNvPicPr preferRelativeResize="0"/>
            <p:nvPr/>
          </p:nvPicPr>
          <p:blipFill rotWithShape="1">
            <a:blip r:embed="rId3">
              <a:alphaModFix/>
            </a:blip>
            <a:srcRect/>
            <a:stretch/>
          </p:blipFill>
          <p:spPr>
            <a:xfrm>
              <a:off x="8154183" y="3511296"/>
              <a:ext cx="548640" cy="548640"/>
            </a:xfrm>
            <a:prstGeom prst="rect">
              <a:avLst/>
            </a:prstGeom>
            <a:noFill/>
            <a:ln>
              <a:noFill/>
            </a:ln>
          </p:spPr>
        </p:pic>
        <p:sp>
          <p:nvSpPr>
            <p:cNvPr id="53" name="Google Shape;53;p4"/>
            <p:cNvSpPr/>
            <p:nvPr/>
          </p:nvSpPr>
          <p:spPr>
            <a:xfrm>
              <a:off x="7325127" y="4084320"/>
              <a:ext cx="2194560" cy="341376"/>
            </a:xfrm>
            <a:prstGeom prst="rect">
              <a:avLst/>
            </a:prstGeom>
            <a:noFill/>
            <a:ln>
              <a:noFill/>
            </a:ln>
          </p:spPr>
          <p:txBody>
            <a:bodyPr spcFirstLastPara="1" wrap="square" lIns="0" tIns="0" rIns="0" bIns="0" anchor="ctr" anchorCtr="0">
              <a:noAutofit/>
            </a:bodyPr>
            <a:lstStyle/>
            <a:p>
              <a:pPr algn="ctr">
                <a:buClr>
                  <a:srgbClr val="FFFFFF"/>
                </a:buClr>
                <a:buSzPts val="1100"/>
              </a:pPr>
              <a:r>
                <a:rPr lang="en-US" sz="1467" b="1">
                  <a:latin typeface="Trebuchet MS"/>
                  <a:ea typeface="Trebuchet MS"/>
                  <a:cs typeface="Trebuchet MS"/>
                  <a:sym typeface="Trebuchet MS"/>
                </a:rPr>
                <a:t>AGENTE</a:t>
              </a:r>
              <a:endParaRPr sz="1467">
                <a:latin typeface="Calibri"/>
                <a:ea typeface="Calibri"/>
                <a:cs typeface="Calibri"/>
                <a:sym typeface="Calibri"/>
              </a:endParaRPr>
            </a:p>
          </p:txBody>
        </p:sp>
        <p:cxnSp>
          <p:nvCxnSpPr>
            <p:cNvPr id="54" name="Google Shape;54;p4"/>
            <p:cNvCxnSpPr>
              <a:cxnSpLocks/>
              <a:endCxn id="52" idx="0"/>
            </p:cNvCxnSpPr>
            <p:nvPr/>
          </p:nvCxnSpPr>
          <p:spPr>
            <a:xfrm>
              <a:off x="8363651" y="2157984"/>
              <a:ext cx="64852" cy="1353312"/>
            </a:xfrm>
            <a:prstGeom prst="straightConnector1">
              <a:avLst/>
            </a:prstGeom>
            <a:noFill/>
            <a:ln w="25400" cap="flat" cmpd="sng">
              <a:solidFill>
                <a:schemeClr val="tx1">
                  <a:alpha val="50000"/>
                </a:schemeClr>
              </a:solidFill>
              <a:prstDash val="dash"/>
              <a:round/>
              <a:headEnd type="none" w="sm" len="sm"/>
              <a:tailEnd type="none" w="sm" len="sm"/>
            </a:ln>
          </p:spPr>
        </p:cxnSp>
        <p:sp>
          <p:nvSpPr>
            <p:cNvPr id="55" name="Google Shape;55;p4"/>
            <p:cNvSpPr/>
            <p:nvPr/>
          </p:nvSpPr>
          <p:spPr>
            <a:xfrm>
              <a:off x="7568967" y="1524000"/>
              <a:ext cx="1706880" cy="1097280"/>
            </a:xfrm>
            <a:prstGeom prst="rect">
              <a:avLst/>
            </a:prstGeom>
            <a:solidFill>
              <a:srgbClr val="111827"/>
            </a:solidFill>
            <a:ln w="9525" cap="flat" cmpd="sng">
              <a:solidFill>
                <a:srgbClr val="06B6D4"/>
              </a:solidFill>
              <a:prstDash val="solid"/>
              <a:round/>
              <a:headEnd type="none" w="sm" len="sm"/>
              <a:tailEnd type="none" w="sm" len="sm"/>
            </a:ln>
            <a:effectLst>
              <a:outerShdw blurRad="101600" dist="25400" dir="8100000" algn="bl" rotWithShape="0">
                <a:srgbClr val="000000">
                  <a:alpha val="30196"/>
                </a:srgbClr>
              </a:outerShdw>
            </a:effectLst>
          </p:spPr>
          <p:txBody>
            <a:bodyPr spcFirstLastPara="1" wrap="square" lIns="121900" tIns="121900" rIns="121900" bIns="121900" anchor="ctr" anchorCtr="0">
              <a:noAutofit/>
            </a:bodyPr>
            <a:lstStyle/>
            <a:p>
              <a:endParaRPr sz="2400"/>
            </a:p>
          </p:txBody>
        </p:sp>
        <p:sp>
          <p:nvSpPr>
            <p:cNvPr id="57" name="Google Shape;57;p4"/>
            <p:cNvSpPr/>
            <p:nvPr/>
          </p:nvSpPr>
          <p:spPr>
            <a:xfrm>
              <a:off x="8056647" y="1609344"/>
              <a:ext cx="1219200" cy="731520"/>
            </a:xfrm>
            <a:prstGeom prst="rect">
              <a:avLst/>
            </a:prstGeom>
            <a:noFill/>
            <a:ln>
              <a:noFill/>
            </a:ln>
          </p:spPr>
          <p:txBody>
            <a:bodyPr spcFirstLastPara="1" wrap="square" lIns="0" tIns="0" rIns="0" bIns="0" anchor="ctr" anchorCtr="0">
              <a:noAutofit/>
            </a:bodyPr>
            <a:lstStyle/>
            <a:p>
              <a:pPr>
                <a:buClr>
                  <a:srgbClr val="D1D5DB"/>
                </a:buClr>
                <a:buSzPts val="800"/>
              </a:pPr>
              <a:r>
                <a:rPr lang="en-US" sz="1067">
                  <a:latin typeface="Calibri"/>
                  <a:ea typeface="Calibri"/>
                  <a:cs typeface="Calibri"/>
                  <a:sym typeface="Calibri"/>
                </a:rPr>
                <a:t>Percepción</a:t>
              </a:r>
              <a:endParaRPr sz="1067">
                <a:latin typeface="Calibri"/>
                <a:ea typeface="Calibri"/>
                <a:cs typeface="Calibri"/>
                <a:sym typeface="Calibri"/>
              </a:endParaRPr>
            </a:p>
            <a:p>
              <a:pPr>
                <a:buClr>
                  <a:srgbClr val="D1D5DB"/>
                </a:buClr>
                <a:buSzPts val="800"/>
              </a:pPr>
              <a:r>
                <a:rPr lang="en-US" sz="1067">
                  <a:latin typeface="Calibri"/>
                  <a:ea typeface="Calibri"/>
                  <a:cs typeface="Calibri"/>
                  <a:sym typeface="Calibri"/>
                </a:rPr>
                <a:t>(Input)</a:t>
              </a:r>
              <a:endParaRPr sz="1067">
                <a:latin typeface="Calibri"/>
                <a:ea typeface="Calibri"/>
                <a:cs typeface="Calibri"/>
                <a:sym typeface="Calibri"/>
              </a:endParaRPr>
            </a:p>
          </p:txBody>
        </p:sp>
        <p:cxnSp>
          <p:nvCxnSpPr>
            <p:cNvPr id="58" name="Google Shape;58;p4"/>
            <p:cNvCxnSpPr>
              <a:cxnSpLocks/>
              <a:endCxn id="59" idx="1"/>
            </p:cNvCxnSpPr>
            <p:nvPr/>
          </p:nvCxnSpPr>
          <p:spPr>
            <a:xfrm flipV="1">
              <a:off x="9041933" y="2987041"/>
              <a:ext cx="955507" cy="291084"/>
            </a:xfrm>
            <a:prstGeom prst="straightConnector1">
              <a:avLst/>
            </a:prstGeom>
            <a:noFill/>
            <a:ln w="25400" cap="flat" cmpd="sng">
              <a:solidFill>
                <a:schemeClr val="tx1">
                  <a:alpha val="50000"/>
                </a:schemeClr>
              </a:solidFill>
              <a:prstDash val="dash"/>
              <a:round/>
              <a:headEnd type="none" w="sm" len="sm"/>
              <a:tailEnd type="none" w="sm" len="sm"/>
            </a:ln>
          </p:spPr>
        </p:cxnSp>
        <p:sp>
          <p:nvSpPr>
            <p:cNvPr id="59" name="Google Shape;59;p4"/>
            <p:cNvSpPr/>
            <p:nvPr/>
          </p:nvSpPr>
          <p:spPr>
            <a:xfrm>
              <a:off x="9997440" y="2438400"/>
              <a:ext cx="1706880" cy="1097280"/>
            </a:xfrm>
            <a:prstGeom prst="rect">
              <a:avLst/>
            </a:prstGeom>
            <a:solidFill>
              <a:srgbClr val="111827"/>
            </a:solidFill>
            <a:ln w="9525" cap="flat" cmpd="sng">
              <a:solidFill>
                <a:srgbClr val="F59E0B"/>
              </a:solidFill>
              <a:prstDash val="solid"/>
              <a:round/>
              <a:headEnd type="none" w="sm" len="sm"/>
              <a:tailEnd type="none" w="sm" len="sm"/>
            </a:ln>
            <a:effectLst>
              <a:outerShdw blurRad="101600" dist="25400" dir="8100000" algn="bl" rotWithShape="0">
                <a:srgbClr val="000000">
                  <a:alpha val="30196"/>
                </a:srgbClr>
              </a:outerShdw>
            </a:effectLst>
          </p:spPr>
          <p:txBody>
            <a:bodyPr spcFirstLastPara="1" wrap="square" lIns="121900" tIns="121900" rIns="121900" bIns="121900" anchor="ctr" anchorCtr="0">
              <a:noAutofit/>
            </a:bodyPr>
            <a:lstStyle/>
            <a:p>
              <a:endParaRPr sz="2400"/>
            </a:p>
          </p:txBody>
        </p:sp>
        <p:sp>
          <p:nvSpPr>
            <p:cNvPr id="61" name="Google Shape;61;p4"/>
            <p:cNvSpPr/>
            <p:nvPr/>
          </p:nvSpPr>
          <p:spPr>
            <a:xfrm>
              <a:off x="10485120" y="2523744"/>
              <a:ext cx="1219200" cy="731520"/>
            </a:xfrm>
            <a:prstGeom prst="rect">
              <a:avLst/>
            </a:prstGeom>
            <a:noFill/>
            <a:ln>
              <a:noFill/>
            </a:ln>
          </p:spPr>
          <p:txBody>
            <a:bodyPr spcFirstLastPara="1" wrap="square" lIns="0" tIns="0" rIns="0" bIns="0" anchor="ctr" anchorCtr="0">
              <a:noAutofit/>
            </a:bodyPr>
            <a:lstStyle/>
            <a:p>
              <a:pPr>
                <a:buClr>
                  <a:srgbClr val="D1D5DB"/>
                </a:buClr>
                <a:buSzPts val="800"/>
              </a:pPr>
              <a:r>
                <a:rPr lang="en-US" sz="1067">
                  <a:latin typeface="Calibri"/>
                  <a:ea typeface="Calibri"/>
                  <a:cs typeface="Calibri"/>
                  <a:sym typeface="Calibri"/>
                </a:rPr>
                <a:t>Memoria</a:t>
              </a:r>
              <a:endParaRPr sz="1067">
                <a:latin typeface="Calibri"/>
                <a:ea typeface="Calibri"/>
                <a:cs typeface="Calibri"/>
                <a:sym typeface="Calibri"/>
              </a:endParaRPr>
            </a:p>
            <a:p>
              <a:pPr>
                <a:buClr>
                  <a:srgbClr val="D1D5DB"/>
                </a:buClr>
                <a:buSzPts val="800"/>
              </a:pPr>
              <a:r>
                <a:rPr lang="en-US" sz="1067">
                  <a:latin typeface="Calibri"/>
                  <a:ea typeface="Calibri"/>
                  <a:cs typeface="Calibri"/>
                  <a:sym typeface="Calibri"/>
                </a:rPr>
                <a:t>(Contexto)</a:t>
              </a:r>
              <a:endParaRPr sz="1067">
                <a:latin typeface="Calibri"/>
                <a:ea typeface="Calibri"/>
                <a:cs typeface="Calibri"/>
                <a:sym typeface="Calibri"/>
              </a:endParaRPr>
            </a:p>
          </p:txBody>
        </p:sp>
        <p:cxnSp>
          <p:nvCxnSpPr>
            <p:cNvPr id="62" name="Google Shape;62;p4"/>
            <p:cNvCxnSpPr>
              <a:cxnSpLocks/>
              <a:endCxn id="63" idx="1"/>
            </p:cNvCxnSpPr>
            <p:nvPr/>
          </p:nvCxnSpPr>
          <p:spPr>
            <a:xfrm>
              <a:off x="9041933" y="4645152"/>
              <a:ext cx="955507" cy="170688"/>
            </a:xfrm>
            <a:prstGeom prst="straightConnector1">
              <a:avLst/>
            </a:prstGeom>
            <a:noFill/>
            <a:ln w="25400" cap="flat" cmpd="sng">
              <a:solidFill>
                <a:schemeClr val="tx1">
                  <a:alpha val="50000"/>
                </a:schemeClr>
              </a:solidFill>
              <a:prstDash val="dash"/>
              <a:round/>
              <a:headEnd type="none" w="sm" len="sm"/>
              <a:tailEnd type="none" w="sm" len="sm"/>
            </a:ln>
          </p:spPr>
        </p:cxnSp>
        <p:sp>
          <p:nvSpPr>
            <p:cNvPr id="63" name="Google Shape;63;p4"/>
            <p:cNvSpPr/>
            <p:nvPr/>
          </p:nvSpPr>
          <p:spPr>
            <a:xfrm>
              <a:off x="9997440" y="4267200"/>
              <a:ext cx="1706880" cy="1097280"/>
            </a:xfrm>
            <a:prstGeom prst="rect">
              <a:avLst/>
            </a:prstGeom>
            <a:solidFill>
              <a:srgbClr val="111827"/>
            </a:solidFill>
            <a:ln w="9525" cap="flat" cmpd="sng">
              <a:solidFill>
                <a:srgbClr val="EF4444"/>
              </a:solidFill>
              <a:prstDash val="solid"/>
              <a:round/>
              <a:headEnd type="none" w="sm" len="sm"/>
              <a:tailEnd type="none" w="sm" len="sm"/>
            </a:ln>
            <a:effectLst>
              <a:outerShdw blurRad="101600" dist="25400" dir="8100000" algn="bl" rotWithShape="0">
                <a:srgbClr val="000000">
                  <a:alpha val="30196"/>
                </a:srgbClr>
              </a:outerShdw>
            </a:effectLst>
          </p:spPr>
          <p:txBody>
            <a:bodyPr spcFirstLastPara="1" wrap="square" lIns="121900" tIns="121900" rIns="121900" bIns="121900" anchor="ctr" anchorCtr="0">
              <a:noAutofit/>
            </a:bodyPr>
            <a:lstStyle/>
            <a:p>
              <a:endParaRPr sz="2400"/>
            </a:p>
          </p:txBody>
        </p:sp>
        <p:sp>
          <p:nvSpPr>
            <p:cNvPr id="65" name="Google Shape;65;p4"/>
            <p:cNvSpPr/>
            <p:nvPr/>
          </p:nvSpPr>
          <p:spPr>
            <a:xfrm>
              <a:off x="10485120" y="4352544"/>
              <a:ext cx="1219200" cy="731520"/>
            </a:xfrm>
            <a:prstGeom prst="rect">
              <a:avLst/>
            </a:prstGeom>
            <a:noFill/>
            <a:ln>
              <a:noFill/>
            </a:ln>
          </p:spPr>
          <p:txBody>
            <a:bodyPr spcFirstLastPara="1" wrap="square" lIns="0" tIns="0" rIns="0" bIns="0" anchor="ctr" anchorCtr="0">
              <a:noAutofit/>
            </a:bodyPr>
            <a:lstStyle/>
            <a:p>
              <a:pPr>
                <a:buClr>
                  <a:srgbClr val="D1D5DB"/>
                </a:buClr>
                <a:buSzPts val="800"/>
              </a:pPr>
              <a:r>
                <a:rPr lang="en-US" sz="1067">
                  <a:latin typeface="Calibri"/>
                  <a:ea typeface="Calibri"/>
                  <a:cs typeface="Calibri"/>
                  <a:sym typeface="Calibri"/>
                </a:rPr>
                <a:t>Herramientas</a:t>
              </a:r>
              <a:endParaRPr sz="1067">
                <a:latin typeface="Calibri"/>
                <a:ea typeface="Calibri"/>
                <a:cs typeface="Calibri"/>
                <a:sym typeface="Calibri"/>
              </a:endParaRPr>
            </a:p>
            <a:p>
              <a:pPr>
                <a:buClr>
                  <a:srgbClr val="D1D5DB"/>
                </a:buClr>
                <a:buSzPts val="800"/>
              </a:pPr>
              <a:r>
                <a:rPr lang="en-US" sz="1067">
                  <a:latin typeface="Calibri"/>
                  <a:ea typeface="Calibri"/>
                  <a:cs typeface="Calibri"/>
                  <a:sym typeface="Calibri"/>
                </a:rPr>
                <a:t>(Actions)</a:t>
              </a:r>
              <a:endParaRPr sz="1067">
                <a:latin typeface="Calibri"/>
                <a:ea typeface="Calibri"/>
                <a:cs typeface="Calibri"/>
                <a:sym typeface="Calibri"/>
              </a:endParaRPr>
            </a:p>
          </p:txBody>
        </p:sp>
        <p:cxnSp>
          <p:nvCxnSpPr>
            <p:cNvPr id="66" name="Google Shape;66;p4"/>
            <p:cNvCxnSpPr>
              <a:cxnSpLocks/>
              <a:stCxn id="51" idx="4"/>
              <a:endCxn id="67" idx="0"/>
            </p:cNvCxnSpPr>
            <p:nvPr/>
          </p:nvCxnSpPr>
          <p:spPr>
            <a:xfrm>
              <a:off x="8363651" y="4620768"/>
              <a:ext cx="58756" cy="560832"/>
            </a:xfrm>
            <a:prstGeom prst="straightConnector1">
              <a:avLst/>
            </a:prstGeom>
            <a:noFill/>
            <a:ln w="25400" cap="flat" cmpd="sng">
              <a:solidFill>
                <a:schemeClr val="tx1">
                  <a:alpha val="50000"/>
                </a:schemeClr>
              </a:solidFill>
              <a:prstDash val="dash"/>
              <a:round/>
              <a:headEnd type="none" w="sm" len="sm"/>
              <a:tailEnd type="none" w="sm" len="sm"/>
            </a:ln>
          </p:spPr>
        </p:cxnSp>
        <p:sp>
          <p:nvSpPr>
            <p:cNvPr id="67" name="Google Shape;67;p4"/>
            <p:cNvSpPr/>
            <p:nvPr/>
          </p:nvSpPr>
          <p:spPr>
            <a:xfrm>
              <a:off x="7568967" y="5181600"/>
              <a:ext cx="1706880" cy="1097280"/>
            </a:xfrm>
            <a:prstGeom prst="rect">
              <a:avLst/>
            </a:prstGeom>
            <a:solidFill>
              <a:srgbClr val="111827"/>
            </a:solidFill>
            <a:ln w="9525" cap="flat" cmpd="sng">
              <a:solidFill>
                <a:srgbClr val="6366F1"/>
              </a:solidFill>
              <a:prstDash val="solid"/>
              <a:round/>
              <a:headEnd type="none" w="sm" len="sm"/>
              <a:tailEnd type="none" w="sm" len="sm"/>
            </a:ln>
            <a:effectLst>
              <a:outerShdw blurRad="101600" dist="25400" dir="8100000" algn="bl" rotWithShape="0">
                <a:srgbClr val="000000">
                  <a:alpha val="30196"/>
                </a:srgbClr>
              </a:outerShdw>
            </a:effectLst>
          </p:spPr>
          <p:txBody>
            <a:bodyPr spcFirstLastPara="1" wrap="square" lIns="121900" tIns="121900" rIns="121900" bIns="121900" anchor="ctr" anchorCtr="0">
              <a:noAutofit/>
            </a:bodyPr>
            <a:lstStyle/>
            <a:p>
              <a:endParaRPr sz="2400"/>
            </a:p>
          </p:txBody>
        </p:sp>
        <p:sp>
          <p:nvSpPr>
            <p:cNvPr id="69" name="Google Shape;69;p4"/>
            <p:cNvSpPr/>
            <p:nvPr/>
          </p:nvSpPr>
          <p:spPr>
            <a:xfrm>
              <a:off x="8056647" y="5266944"/>
              <a:ext cx="1219200" cy="731520"/>
            </a:xfrm>
            <a:prstGeom prst="rect">
              <a:avLst/>
            </a:prstGeom>
            <a:noFill/>
            <a:ln>
              <a:noFill/>
            </a:ln>
          </p:spPr>
          <p:txBody>
            <a:bodyPr spcFirstLastPara="1" wrap="square" lIns="0" tIns="0" rIns="0" bIns="0" anchor="ctr" anchorCtr="0">
              <a:noAutofit/>
            </a:bodyPr>
            <a:lstStyle/>
            <a:p>
              <a:pPr>
                <a:buClr>
                  <a:srgbClr val="D1D5DB"/>
                </a:buClr>
                <a:buSzPts val="800"/>
              </a:pPr>
              <a:r>
                <a:rPr lang="en-US" sz="1067">
                  <a:latin typeface="Calibri"/>
                  <a:ea typeface="Calibri"/>
                  <a:cs typeface="Calibri"/>
                  <a:sym typeface="Calibri"/>
                </a:rPr>
                <a:t>Razonamiento</a:t>
              </a:r>
              <a:endParaRPr sz="1067">
                <a:latin typeface="Calibri"/>
                <a:ea typeface="Calibri"/>
                <a:cs typeface="Calibri"/>
                <a:sym typeface="Calibri"/>
              </a:endParaRPr>
            </a:p>
            <a:p>
              <a:pPr>
                <a:buClr>
                  <a:srgbClr val="D1D5DB"/>
                </a:buClr>
                <a:buSzPts val="800"/>
              </a:pPr>
              <a:r>
                <a:rPr lang="en-US" sz="1067">
                  <a:latin typeface="Calibri"/>
                  <a:ea typeface="Calibri"/>
                  <a:cs typeface="Calibri"/>
                  <a:sym typeface="Calibri"/>
                </a:rPr>
                <a:t>(LLM)</a:t>
              </a:r>
              <a:endParaRPr sz="1067">
                <a:latin typeface="Calibri"/>
                <a:ea typeface="Calibri"/>
                <a:cs typeface="Calibri"/>
                <a:sym typeface="Calibri"/>
              </a:endParaRPr>
            </a:p>
          </p:txBody>
        </p:sp>
        <p:cxnSp>
          <p:nvCxnSpPr>
            <p:cNvPr id="70" name="Google Shape;70;p4"/>
            <p:cNvCxnSpPr>
              <a:cxnSpLocks/>
              <a:endCxn id="51" idx="3"/>
            </p:cNvCxnSpPr>
            <p:nvPr/>
          </p:nvCxnSpPr>
          <p:spPr>
            <a:xfrm flipV="1">
              <a:off x="6835213" y="4412314"/>
              <a:ext cx="666335" cy="574215"/>
            </a:xfrm>
            <a:prstGeom prst="straightConnector1">
              <a:avLst/>
            </a:prstGeom>
            <a:noFill/>
            <a:ln w="25400" cap="flat" cmpd="sng">
              <a:solidFill>
                <a:schemeClr val="tx1">
                  <a:alpha val="50000"/>
                </a:schemeClr>
              </a:solidFill>
              <a:prstDash val="dash"/>
              <a:round/>
              <a:headEnd type="none" w="sm" len="sm"/>
              <a:tailEnd type="none" w="sm" len="sm"/>
            </a:ln>
          </p:spPr>
        </p:cxnSp>
        <p:sp>
          <p:nvSpPr>
            <p:cNvPr id="71" name="Google Shape;71;p4"/>
            <p:cNvSpPr/>
            <p:nvPr/>
          </p:nvSpPr>
          <p:spPr>
            <a:xfrm>
              <a:off x="5211513" y="4273768"/>
              <a:ext cx="1706880" cy="1097280"/>
            </a:xfrm>
            <a:prstGeom prst="rect">
              <a:avLst/>
            </a:prstGeom>
            <a:solidFill>
              <a:srgbClr val="111827"/>
            </a:solidFill>
            <a:ln w="9525" cap="flat" cmpd="sng">
              <a:solidFill>
                <a:srgbClr val="10B981"/>
              </a:solidFill>
              <a:prstDash val="solid"/>
              <a:round/>
              <a:headEnd type="none" w="sm" len="sm"/>
              <a:tailEnd type="none" w="sm" len="sm"/>
            </a:ln>
            <a:effectLst>
              <a:outerShdw blurRad="101600" dist="25400" dir="8100000" algn="bl" rotWithShape="0">
                <a:srgbClr val="000000">
                  <a:alpha val="30196"/>
                </a:srgbClr>
              </a:outerShdw>
            </a:effectLst>
          </p:spPr>
          <p:txBody>
            <a:bodyPr spcFirstLastPara="1" wrap="square" lIns="121900" tIns="121900" rIns="121900" bIns="121900" anchor="ctr" anchorCtr="0">
              <a:noAutofit/>
            </a:bodyPr>
            <a:lstStyle/>
            <a:p>
              <a:endParaRPr sz="2400"/>
            </a:p>
          </p:txBody>
        </p:sp>
        <p:sp>
          <p:nvSpPr>
            <p:cNvPr id="73" name="Google Shape;73;p4"/>
            <p:cNvSpPr/>
            <p:nvPr/>
          </p:nvSpPr>
          <p:spPr>
            <a:xfrm>
              <a:off x="5628173" y="4352544"/>
              <a:ext cx="1219200" cy="731520"/>
            </a:xfrm>
            <a:prstGeom prst="rect">
              <a:avLst/>
            </a:prstGeom>
            <a:noFill/>
            <a:ln>
              <a:noFill/>
            </a:ln>
          </p:spPr>
          <p:txBody>
            <a:bodyPr spcFirstLastPara="1" wrap="square" lIns="0" tIns="0" rIns="0" bIns="0" anchor="ctr" anchorCtr="0">
              <a:noAutofit/>
            </a:bodyPr>
            <a:lstStyle/>
            <a:p>
              <a:pPr>
                <a:buClr>
                  <a:srgbClr val="D1D5DB"/>
                </a:buClr>
                <a:buSzPts val="800"/>
              </a:pPr>
              <a:r>
                <a:rPr lang="en-US" sz="1067" dirty="0" err="1">
                  <a:latin typeface="Calibri"/>
                  <a:ea typeface="Calibri"/>
                  <a:cs typeface="Calibri"/>
                  <a:sym typeface="Calibri"/>
                </a:rPr>
                <a:t>Planificación</a:t>
              </a:r>
              <a:endParaRPr sz="1067" dirty="0">
                <a:latin typeface="Calibri"/>
                <a:ea typeface="Calibri"/>
                <a:cs typeface="Calibri"/>
                <a:sym typeface="Calibri"/>
              </a:endParaRPr>
            </a:p>
            <a:p>
              <a:pPr>
                <a:buClr>
                  <a:srgbClr val="D1D5DB"/>
                </a:buClr>
                <a:buSzPts val="800"/>
              </a:pPr>
              <a:r>
                <a:rPr lang="en-US" sz="1067" dirty="0">
                  <a:latin typeface="Calibri"/>
                  <a:ea typeface="Calibri"/>
                  <a:cs typeface="Calibri"/>
                  <a:sym typeface="Calibri"/>
                </a:rPr>
                <a:t>(Goals)</a:t>
              </a:r>
              <a:endParaRPr sz="1067" dirty="0">
                <a:latin typeface="Calibri"/>
                <a:ea typeface="Calibri"/>
                <a:cs typeface="Calibri"/>
                <a:sym typeface="Calibri"/>
              </a:endParaRPr>
            </a:p>
          </p:txBody>
        </p:sp>
        <p:sp>
          <p:nvSpPr>
            <p:cNvPr id="75" name="Google Shape;75;p4"/>
            <p:cNvSpPr/>
            <p:nvPr/>
          </p:nvSpPr>
          <p:spPr>
            <a:xfrm>
              <a:off x="5140493" y="2438400"/>
              <a:ext cx="1706880" cy="1097280"/>
            </a:xfrm>
            <a:prstGeom prst="rect">
              <a:avLst/>
            </a:prstGeom>
            <a:solidFill>
              <a:srgbClr val="111827"/>
            </a:solidFill>
            <a:ln w="9525" cap="flat" cmpd="sng">
              <a:solidFill>
                <a:srgbClr val="9CA3AF"/>
              </a:solidFill>
              <a:prstDash val="solid"/>
              <a:round/>
              <a:headEnd type="none" w="sm" len="sm"/>
              <a:tailEnd type="none" w="sm" len="sm"/>
            </a:ln>
            <a:effectLst>
              <a:outerShdw blurRad="101600" dist="25400" dir="8100000" algn="bl" rotWithShape="0">
                <a:srgbClr val="000000">
                  <a:alpha val="30196"/>
                </a:srgbClr>
              </a:outerShdw>
            </a:effectLst>
          </p:spPr>
          <p:txBody>
            <a:bodyPr spcFirstLastPara="1" wrap="square" lIns="121900" tIns="121900" rIns="121900" bIns="121900" anchor="ctr" anchorCtr="0">
              <a:noAutofit/>
            </a:bodyPr>
            <a:lstStyle/>
            <a:p>
              <a:endParaRPr sz="2400"/>
            </a:p>
          </p:txBody>
        </p:sp>
        <p:sp>
          <p:nvSpPr>
            <p:cNvPr id="77" name="Google Shape;77;p4"/>
            <p:cNvSpPr/>
            <p:nvPr/>
          </p:nvSpPr>
          <p:spPr>
            <a:xfrm>
              <a:off x="5628173" y="2523744"/>
              <a:ext cx="1219200" cy="731520"/>
            </a:xfrm>
            <a:prstGeom prst="rect">
              <a:avLst/>
            </a:prstGeom>
            <a:noFill/>
            <a:ln>
              <a:noFill/>
            </a:ln>
          </p:spPr>
          <p:txBody>
            <a:bodyPr spcFirstLastPara="1" wrap="square" lIns="0" tIns="0" rIns="0" bIns="0" anchor="ctr" anchorCtr="0">
              <a:noAutofit/>
            </a:bodyPr>
            <a:lstStyle/>
            <a:p>
              <a:pPr>
                <a:buClr>
                  <a:srgbClr val="D1D5DB"/>
                </a:buClr>
                <a:buSzPts val="800"/>
              </a:pPr>
              <a:r>
                <a:rPr lang="en-US" sz="1067">
                  <a:latin typeface="Calibri"/>
                  <a:ea typeface="Calibri"/>
                  <a:cs typeface="Calibri"/>
                  <a:sym typeface="Calibri"/>
                </a:rPr>
                <a:t>Output</a:t>
              </a:r>
              <a:endParaRPr sz="1067">
                <a:latin typeface="Calibri"/>
                <a:ea typeface="Calibri"/>
                <a:cs typeface="Calibri"/>
                <a:sym typeface="Calibri"/>
              </a:endParaRPr>
            </a:p>
            <a:p>
              <a:pPr>
                <a:buClr>
                  <a:srgbClr val="D1D5DB"/>
                </a:buClr>
                <a:buSzPts val="800"/>
              </a:pPr>
              <a:r>
                <a:rPr lang="en-US" sz="1067">
                  <a:latin typeface="Calibri"/>
                  <a:ea typeface="Calibri"/>
                  <a:cs typeface="Calibri"/>
                  <a:sym typeface="Calibri"/>
                </a:rPr>
                <a:t>(Respuesta)</a:t>
              </a:r>
              <a:endParaRPr sz="1067">
                <a:latin typeface="Calibri"/>
                <a:ea typeface="Calibri"/>
                <a:cs typeface="Calibri"/>
                <a:sym typeface="Calibri"/>
              </a:endParaRPr>
            </a:p>
          </p:txBody>
        </p:sp>
        <p:cxnSp>
          <p:nvCxnSpPr>
            <p:cNvPr id="74" name="Google Shape;74;p4"/>
            <p:cNvCxnSpPr>
              <a:cxnSpLocks/>
              <a:endCxn id="51" idx="1"/>
            </p:cNvCxnSpPr>
            <p:nvPr/>
          </p:nvCxnSpPr>
          <p:spPr>
            <a:xfrm>
              <a:off x="6934983" y="3059431"/>
              <a:ext cx="566564" cy="346376"/>
            </a:xfrm>
            <a:prstGeom prst="straightConnector1">
              <a:avLst/>
            </a:prstGeom>
            <a:noFill/>
            <a:ln w="25400" cap="flat" cmpd="sng">
              <a:solidFill>
                <a:schemeClr val="tx1">
                  <a:alpha val="50000"/>
                </a:schemeClr>
              </a:solidFill>
              <a:prstDash val="dash"/>
              <a:round/>
              <a:headEnd type="none" w="sm" len="sm"/>
              <a:tailEnd type="none" w="sm" len="sm"/>
            </a:ln>
          </p:spPr>
        </p:cxnSp>
      </p:grpSp>
    </p:spTree>
    <p:extLst>
      <p:ext uri="{BB962C8B-B14F-4D97-AF65-F5344CB8AC3E}">
        <p14:creationId xmlns:p14="http://schemas.microsoft.com/office/powerpoint/2010/main" val="2180712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9" name="Google Shape;69;p5"/>
          <p:cNvSpPr/>
          <p:nvPr/>
        </p:nvSpPr>
        <p:spPr>
          <a:xfrm>
            <a:off x="365760" y="1097280"/>
            <a:ext cx="1463040" cy="48768"/>
          </a:xfrm>
          <a:prstGeom prst="rect">
            <a:avLst/>
          </a:prstGeom>
          <a:solidFill>
            <a:srgbClr val="02C39A"/>
          </a:solidFill>
          <a:ln w="12700" cap="flat" cmpd="sng">
            <a:solidFill>
              <a:srgbClr val="02C39A"/>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70" name="Google Shape;70;p5"/>
          <p:cNvSpPr/>
          <p:nvPr/>
        </p:nvSpPr>
        <p:spPr>
          <a:xfrm>
            <a:off x="8915400" y="805260"/>
            <a:ext cx="11216640" cy="426720"/>
          </a:xfrm>
          <a:prstGeom prst="rect">
            <a:avLst/>
          </a:prstGeom>
          <a:noFill/>
          <a:ln>
            <a:noFill/>
          </a:ln>
        </p:spPr>
        <p:txBody>
          <a:bodyPr spcFirstLastPara="1" wrap="square" lIns="0" tIns="0" rIns="0" bIns="0" anchor="ctr" anchorCtr="0">
            <a:noAutofit/>
          </a:bodyPr>
          <a:lstStyle/>
          <a:p>
            <a:pPr>
              <a:buClr>
                <a:srgbClr val="028090"/>
              </a:buClr>
              <a:buSzPts val="1300"/>
            </a:pPr>
            <a:r>
              <a:rPr lang="en-US" sz="1733" i="1" dirty="0">
                <a:latin typeface="Calibri"/>
                <a:ea typeface="Calibri"/>
                <a:cs typeface="Calibri"/>
                <a:sym typeface="Calibri"/>
              </a:rPr>
              <a:t>El panorama </a:t>
            </a:r>
            <a:r>
              <a:rPr lang="en-US" sz="1733" i="1" dirty="0" err="1">
                <a:latin typeface="Calibri"/>
                <a:ea typeface="Calibri"/>
                <a:cs typeface="Calibri"/>
                <a:sym typeface="Calibri"/>
              </a:rPr>
              <a:t>completo</a:t>
            </a:r>
            <a:r>
              <a:rPr lang="en-US" sz="1733" i="1" dirty="0">
                <a:latin typeface="Calibri"/>
                <a:ea typeface="Calibri"/>
                <a:cs typeface="Calibri"/>
                <a:sym typeface="Calibri"/>
              </a:rPr>
              <a:t>: de IA a LLMs</a:t>
            </a:r>
            <a:endParaRPr sz="1733" dirty="0">
              <a:latin typeface="Calibri"/>
              <a:ea typeface="Calibri"/>
              <a:cs typeface="Calibri"/>
              <a:sym typeface="Calibri"/>
            </a:endParaRPr>
          </a:p>
        </p:txBody>
      </p:sp>
      <p:sp>
        <p:nvSpPr>
          <p:cNvPr id="71" name="Google Shape;71;p5"/>
          <p:cNvSpPr/>
          <p:nvPr/>
        </p:nvSpPr>
        <p:spPr>
          <a:xfrm>
            <a:off x="365760" y="1645920"/>
            <a:ext cx="7274293" cy="4369869"/>
          </a:xfrm>
          <a:prstGeom prst="roundRect">
            <a:avLst>
              <a:gd name="adj" fmla="val 3158"/>
            </a:avLst>
          </a:prstGeom>
          <a:solidFill>
            <a:srgbClr val="1C7293">
              <a:alpha val="25098"/>
            </a:srgbClr>
          </a:solidFill>
          <a:ln w="25400" cap="flat" cmpd="sng">
            <a:solidFill>
              <a:srgbClr val="1C7293"/>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72" name="Google Shape;72;p5"/>
          <p:cNvSpPr/>
          <p:nvPr/>
        </p:nvSpPr>
        <p:spPr>
          <a:xfrm>
            <a:off x="512064" y="1743456"/>
            <a:ext cx="7022592" cy="426720"/>
          </a:xfrm>
          <a:prstGeom prst="rect">
            <a:avLst/>
          </a:prstGeom>
          <a:noFill/>
          <a:ln>
            <a:noFill/>
          </a:ln>
        </p:spPr>
        <p:txBody>
          <a:bodyPr spcFirstLastPara="1" wrap="square" lIns="0" tIns="0" rIns="0" bIns="0" anchor="ctr" anchorCtr="0">
            <a:noAutofit/>
          </a:bodyPr>
          <a:lstStyle/>
          <a:p>
            <a:pPr>
              <a:buClr>
                <a:srgbClr val="1C7293"/>
              </a:buClr>
              <a:buSzPts val="1100"/>
            </a:pPr>
            <a:r>
              <a:rPr lang="en-US" sz="1467" b="1">
                <a:latin typeface="Trebuchet MS"/>
                <a:ea typeface="Trebuchet MS"/>
                <a:cs typeface="Trebuchet MS"/>
                <a:sym typeface="Trebuchet MS"/>
              </a:rPr>
              <a:t>Inteligencia Artificial (IA)</a:t>
            </a:r>
            <a:endParaRPr sz="1467">
              <a:latin typeface="Calibri"/>
              <a:ea typeface="Calibri"/>
              <a:cs typeface="Calibri"/>
              <a:sym typeface="Calibri"/>
            </a:endParaRPr>
          </a:p>
        </p:txBody>
      </p:sp>
      <p:sp>
        <p:nvSpPr>
          <p:cNvPr id="73" name="Google Shape;73;p5"/>
          <p:cNvSpPr/>
          <p:nvPr/>
        </p:nvSpPr>
        <p:spPr>
          <a:xfrm>
            <a:off x="1036320" y="2194560"/>
            <a:ext cx="5974080" cy="3535680"/>
          </a:xfrm>
          <a:prstGeom prst="roundRect">
            <a:avLst>
              <a:gd name="adj" fmla="val 4138"/>
            </a:avLst>
          </a:prstGeom>
          <a:solidFill>
            <a:srgbClr val="028090">
              <a:alpha val="25098"/>
            </a:srgbClr>
          </a:solidFill>
          <a:ln w="25400" cap="flat" cmpd="sng">
            <a:solidFill>
              <a:srgbClr val="028090"/>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74" name="Google Shape;74;p5"/>
          <p:cNvSpPr/>
          <p:nvPr/>
        </p:nvSpPr>
        <p:spPr>
          <a:xfrm>
            <a:off x="1182624" y="2292096"/>
            <a:ext cx="5681472" cy="426720"/>
          </a:xfrm>
          <a:prstGeom prst="rect">
            <a:avLst/>
          </a:prstGeom>
          <a:noFill/>
          <a:ln>
            <a:noFill/>
          </a:ln>
        </p:spPr>
        <p:txBody>
          <a:bodyPr spcFirstLastPara="1" wrap="square" lIns="0" tIns="0" rIns="0" bIns="0" anchor="ctr" anchorCtr="0">
            <a:noAutofit/>
          </a:bodyPr>
          <a:lstStyle/>
          <a:p>
            <a:pPr>
              <a:buClr>
                <a:srgbClr val="028090"/>
              </a:buClr>
              <a:buSzPts val="1100"/>
            </a:pPr>
            <a:r>
              <a:rPr lang="en-US" sz="1467" b="1">
                <a:latin typeface="Trebuchet MS"/>
                <a:ea typeface="Trebuchet MS"/>
                <a:cs typeface="Trebuchet MS"/>
                <a:sym typeface="Trebuchet MS"/>
              </a:rPr>
              <a:t>Machine Learning</a:t>
            </a:r>
            <a:endParaRPr sz="1467">
              <a:latin typeface="Calibri"/>
              <a:ea typeface="Calibri"/>
              <a:cs typeface="Calibri"/>
              <a:sym typeface="Calibri"/>
            </a:endParaRPr>
          </a:p>
        </p:txBody>
      </p:sp>
      <p:sp>
        <p:nvSpPr>
          <p:cNvPr id="75" name="Google Shape;75;p5"/>
          <p:cNvSpPr/>
          <p:nvPr/>
        </p:nvSpPr>
        <p:spPr>
          <a:xfrm>
            <a:off x="1706880" y="2743200"/>
            <a:ext cx="4632960" cy="2438400"/>
          </a:xfrm>
          <a:prstGeom prst="roundRect">
            <a:avLst>
              <a:gd name="adj" fmla="val 6000"/>
            </a:avLst>
          </a:prstGeom>
          <a:solidFill>
            <a:srgbClr val="02A898">
              <a:alpha val="25098"/>
            </a:srgbClr>
          </a:solidFill>
          <a:ln w="25400" cap="flat" cmpd="sng">
            <a:solidFill>
              <a:srgbClr val="02A898"/>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76" name="Google Shape;76;p5"/>
          <p:cNvSpPr/>
          <p:nvPr/>
        </p:nvSpPr>
        <p:spPr>
          <a:xfrm>
            <a:off x="1853184" y="2840736"/>
            <a:ext cx="4340352" cy="426720"/>
          </a:xfrm>
          <a:prstGeom prst="rect">
            <a:avLst/>
          </a:prstGeom>
          <a:noFill/>
          <a:ln>
            <a:noFill/>
          </a:ln>
        </p:spPr>
        <p:txBody>
          <a:bodyPr spcFirstLastPara="1" wrap="square" lIns="0" tIns="0" rIns="0" bIns="0" anchor="ctr" anchorCtr="0">
            <a:noAutofit/>
          </a:bodyPr>
          <a:lstStyle/>
          <a:p>
            <a:pPr>
              <a:buClr>
                <a:srgbClr val="02A898"/>
              </a:buClr>
              <a:buSzPts val="1100"/>
            </a:pPr>
            <a:r>
              <a:rPr lang="en-US" sz="1467" b="1">
                <a:latin typeface="Trebuchet MS"/>
                <a:ea typeface="Trebuchet MS"/>
                <a:cs typeface="Trebuchet MS"/>
                <a:sym typeface="Trebuchet MS"/>
              </a:rPr>
              <a:t>Deep Learning</a:t>
            </a:r>
            <a:endParaRPr sz="1467">
              <a:latin typeface="Calibri"/>
              <a:ea typeface="Calibri"/>
              <a:cs typeface="Calibri"/>
              <a:sym typeface="Calibri"/>
            </a:endParaRPr>
          </a:p>
        </p:txBody>
      </p:sp>
      <p:sp>
        <p:nvSpPr>
          <p:cNvPr id="77" name="Google Shape;77;p5"/>
          <p:cNvSpPr/>
          <p:nvPr/>
        </p:nvSpPr>
        <p:spPr>
          <a:xfrm>
            <a:off x="2377440" y="3230880"/>
            <a:ext cx="3291840" cy="1463040"/>
          </a:xfrm>
          <a:prstGeom prst="roundRect">
            <a:avLst>
              <a:gd name="adj" fmla="val 10000"/>
            </a:avLst>
          </a:prstGeom>
          <a:solidFill>
            <a:srgbClr val="02C39A">
              <a:alpha val="25098"/>
            </a:srgbClr>
          </a:solidFill>
          <a:ln w="25400" cap="flat" cmpd="sng">
            <a:solidFill>
              <a:srgbClr val="02C39A"/>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78" name="Google Shape;78;p5"/>
          <p:cNvSpPr/>
          <p:nvPr/>
        </p:nvSpPr>
        <p:spPr>
          <a:xfrm>
            <a:off x="2523744" y="3328416"/>
            <a:ext cx="2999232" cy="426720"/>
          </a:xfrm>
          <a:prstGeom prst="rect">
            <a:avLst/>
          </a:prstGeom>
          <a:noFill/>
          <a:ln>
            <a:noFill/>
          </a:ln>
        </p:spPr>
        <p:txBody>
          <a:bodyPr spcFirstLastPara="1" wrap="square" lIns="0" tIns="0" rIns="0" bIns="0" anchor="ctr" anchorCtr="0">
            <a:noAutofit/>
          </a:bodyPr>
          <a:lstStyle/>
          <a:p>
            <a:pPr>
              <a:buClr>
                <a:srgbClr val="02C39A"/>
              </a:buClr>
              <a:buSzPts val="1100"/>
            </a:pPr>
            <a:r>
              <a:rPr lang="en-US" sz="1467" b="1">
                <a:latin typeface="Trebuchet MS"/>
                <a:ea typeface="Trebuchet MS"/>
                <a:cs typeface="Trebuchet MS"/>
                <a:sym typeface="Trebuchet MS"/>
              </a:rPr>
              <a:t>GenAI</a:t>
            </a:r>
            <a:endParaRPr sz="1467">
              <a:latin typeface="Calibri"/>
              <a:ea typeface="Calibri"/>
              <a:cs typeface="Calibri"/>
              <a:sym typeface="Calibri"/>
            </a:endParaRPr>
          </a:p>
        </p:txBody>
      </p:sp>
      <p:sp>
        <p:nvSpPr>
          <p:cNvPr id="79" name="Google Shape;79;p5"/>
          <p:cNvSpPr/>
          <p:nvPr/>
        </p:nvSpPr>
        <p:spPr>
          <a:xfrm>
            <a:off x="3767328" y="3712464"/>
            <a:ext cx="1219200" cy="670560"/>
          </a:xfrm>
          <a:prstGeom prst="rect">
            <a:avLst/>
          </a:prstGeom>
          <a:solidFill>
            <a:srgbClr val="02C39A"/>
          </a:solidFill>
          <a:ln w="12700" cap="flat" cmpd="sng">
            <a:solidFill>
              <a:srgbClr val="02C39A"/>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80" name="Google Shape;80;p5"/>
          <p:cNvSpPr/>
          <p:nvPr/>
        </p:nvSpPr>
        <p:spPr>
          <a:xfrm>
            <a:off x="3767328" y="3724656"/>
            <a:ext cx="1219200" cy="670560"/>
          </a:xfrm>
          <a:prstGeom prst="rect">
            <a:avLst/>
          </a:prstGeom>
          <a:noFill/>
          <a:ln>
            <a:noFill/>
          </a:ln>
        </p:spPr>
        <p:txBody>
          <a:bodyPr spcFirstLastPara="1" wrap="square" lIns="0" tIns="0" rIns="0" bIns="0" anchor="ctr" anchorCtr="0">
            <a:noAutofit/>
          </a:bodyPr>
          <a:lstStyle/>
          <a:p>
            <a:pPr algn="ctr">
              <a:buClr>
                <a:srgbClr val="FFFFFF"/>
              </a:buClr>
              <a:buSzPts val="1100"/>
            </a:pPr>
            <a:r>
              <a:rPr lang="en-US" sz="1467" b="1" dirty="0">
                <a:latin typeface="Trebuchet MS"/>
                <a:ea typeface="Trebuchet MS"/>
                <a:cs typeface="Trebuchet MS"/>
                <a:sym typeface="Trebuchet MS"/>
              </a:rPr>
              <a:t>LLM y </a:t>
            </a:r>
            <a:r>
              <a:rPr lang="en-US" sz="1467" b="1" dirty="0" err="1">
                <a:latin typeface="Trebuchet MS"/>
                <a:ea typeface="Trebuchet MS"/>
                <a:cs typeface="Trebuchet MS"/>
                <a:sym typeface="Trebuchet MS"/>
              </a:rPr>
              <a:t>DxMs</a:t>
            </a:r>
            <a:endParaRPr sz="1467" dirty="0">
              <a:latin typeface="Calibri"/>
              <a:ea typeface="Calibri"/>
              <a:cs typeface="Calibri"/>
              <a:sym typeface="Calibri"/>
            </a:endParaRPr>
          </a:p>
        </p:txBody>
      </p:sp>
      <p:sp>
        <p:nvSpPr>
          <p:cNvPr id="81" name="Google Shape;81;p5"/>
          <p:cNvSpPr/>
          <p:nvPr/>
        </p:nvSpPr>
        <p:spPr>
          <a:xfrm>
            <a:off x="9770648" y="341964"/>
            <a:ext cx="4023360" cy="463296"/>
          </a:xfrm>
          <a:prstGeom prst="rect">
            <a:avLst/>
          </a:prstGeom>
          <a:noFill/>
          <a:ln>
            <a:noFill/>
          </a:ln>
        </p:spPr>
        <p:txBody>
          <a:bodyPr spcFirstLastPara="1" wrap="square" lIns="0" tIns="0" rIns="0" bIns="0" anchor="ctr" anchorCtr="0">
            <a:noAutofit/>
          </a:bodyPr>
          <a:lstStyle/>
          <a:p>
            <a:pPr>
              <a:buClr>
                <a:srgbClr val="0D1B2A"/>
              </a:buClr>
              <a:buSzPts val="1400"/>
            </a:pPr>
            <a:r>
              <a:rPr lang="en-US" sz="1867" b="1" dirty="0" err="1">
                <a:latin typeface="Trebuchet MS"/>
                <a:ea typeface="Trebuchet MS"/>
                <a:cs typeface="Trebuchet MS"/>
                <a:sym typeface="Trebuchet MS"/>
              </a:rPr>
              <a:t>Conceptos</a:t>
            </a:r>
            <a:r>
              <a:rPr lang="en-US" sz="1867" b="1" dirty="0">
                <a:latin typeface="Trebuchet MS"/>
                <a:ea typeface="Trebuchet MS"/>
                <a:cs typeface="Trebuchet MS"/>
                <a:sym typeface="Trebuchet MS"/>
              </a:rPr>
              <a:t> Clave</a:t>
            </a:r>
            <a:endParaRPr sz="1867" dirty="0">
              <a:latin typeface="Calibri"/>
              <a:ea typeface="Calibri"/>
              <a:cs typeface="Calibri"/>
              <a:sym typeface="Calibri"/>
            </a:endParaRPr>
          </a:p>
        </p:txBody>
      </p:sp>
      <p:sp>
        <p:nvSpPr>
          <p:cNvPr id="82" name="Google Shape;82;p5"/>
          <p:cNvSpPr/>
          <p:nvPr/>
        </p:nvSpPr>
        <p:spPr>
          <a:xfrm>
            <a:off x="8015321" y="1712976"/>
            <a:ext cx="4023360" cy="1158240"/>
          </a:xfrm>
          <a:prstGeom prst="rect">
            <a:avLst/>
          </a:prstGeom>
          <a:solidFill>
            <a:srgbClr val="FFFFFF"/>
          </a:solidFill>
          <a:ln>
            <a:noFill/>
          </a:ln>
          <a:effectLst>
            <a:outerShdw blurRad="76200" dist="25400" dir="8100000" algn="bl" rotWithShape="0">
              <a:srgbClr val="000000">
                <a:alpha val="10196"/>
              </a:srgbClr>
            </a:outerShdw>
          </a:effectLst>
        </p:spPr>
        <p:txBody>
          <a:bodyPr spcFirstLastPara="1" wrap="square" lIns="121900" tIns="121900" rIns="121900" bIns="121900" anchor="ctr" anchorCtr="0">
            <a:noAutofit/>
          </a:bodyPr>
          <a:lstStyle/>
          <a:p>
            <a:endParaRPr sz="2400"/>
          </a:p>
        </p:txBody>
      </p:sp>
      <p:sp>
        <p:nvSpPr>
          <p:cNvPr id="83" name="Google Shape;83;p5"/>
          <p:cNvSpPr/>
          <p:nvPr/>
        </p:nvSpPr>
        <p:spPr>
          <a:xfrm>
            <a:off x="8015321" y="1712976"/>
            <a:ext cx="60960" cy="1158240"/>
          </a:xfrm>
          <a:prstGeom prst="rect">
            <a:avLst/>
          </a:prstGeom>
          <a:solidFill>
            <a:srgbClr val="02C39A"/>
          </a:solidFill>
          <a:ln w="12700" cap="flat" cmpd="sng">
            <a:solidFill>
              <a:srgbClr val="02C39A"/>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84" name="Google Shape;84;p5"/>
          <p:cNvSpPr/>
          <p:nvPr/>
        </p:nvSpPr>
        <p:spPr>
          <a:xfrm>
            <a:off x="8161625" y="1798320"/>
            <a:ext cx="3779520" cy="365760"/>
          </a:xfrm>
          <a:prstGeom prst="rect">
            <a:avLst/>
          </a:prstGeom>
          <a:noFill/>
          <a:ln>
            <a:noFill/>
          </a:ln>
        </p:spPr>
        <p:txBody>
          <a:bodyPr spcFirstLastPara="1" wrap="square" lIns="0" tIns="0" rIns="0" bIns="0" anchor="ctr" anchorCtr="0">
            <a:noAutofit/>
          </a:bodyPr>
          <a:lstStyle/>
          <a:p>
            <a:pPr>
              <a:buClr>
                <a:srgbClr val="028090"/>
              </a:buClr>
              <a:buSzPts val="1100"/>
            </a:pPr>
            <a:r>
              <a:rPr lang="en-US" sz="1467" b="1">
                <a:solidFill>
                  <a:srgbClr val="028090"/>
                </a:solidFill>
                <a:latin typeface="Trebuchet MS"/>
                <a:ea typeface="Trebuchet MS"/>
                <a:cs typeface="Trebuchet MS"/>
                <a:sym typeface="Trebuchet MS"/>
              </a:rPr>
              <a:t>GenAI</a:t>
            </a:r>
            <a:endParaRPr sz="1467">
              <a:solidFill>
                <a:schemeClr val="dk1"/>
              </a:solidFill>
              <a:latin typeface="Calibri"/>
              <a:ea typeface="Calibri"/>
              <a:cs typeface="Calibri"/>
              <a:sym typeface="Calibri"/>
            </a:endParaRPr>
          </a:p>
        </p:txBody>
      </p:sp>
      <p:sp>
        <p:nvSpPr>
          <p:cNvPr id="85" name="Google Shape;85;p5"/>
          <p:cNvSpPr/>
          <p:nvPr/>
        </p:nvSpPr>
        <p:spPr>
          <a:xfrm>
            <a:off x="8161625" y="2176272"/>
            <a:ext cx="3779520" cy="609600"/>
          </a:xfrm>
          <a:prstGeom prst="rect">
            <a:avLst/>
          </a:prstGeom>
          <a:noFill/>
          <a:ln>
            <a:noFill/>
          </a:ln>
        </p:spPr>
        <p:txBody>
          <a:bodyPr spcFirstLastPara="1" wrap="square" lIns="0" tIns="0" rIns="0" bIns="0" anchor="ctr" anchorCtr="0">
            <a:noAutofit/>
          </a:bodyPr>
          <a:lstStyle/>
          <a:p>
            <a:pPr>
              <a:buClr>
                <a:srgbClr val="1A1A2E"/>
              </a:buClr>
              <a:buSzPts val="1000"/>
            </a:pPr>
            <a:r>
              <a:rPr lang="en-US" sz="1333">
                <a:solidFill>
                  <a:srgbClr val="1A1A2E"/>
                </a:solidFill>
                <a:latin typeface="Calibri"/>
                <a:ea typeface="Calibri"/>
                <a:cs typeface="Calibri"/>
                <a:sym typeface="Calibri"/>
              </a:rPr>
              <a:t>Crea nuevo contenido: texto, imágenes, código, audio</a:t>
            </a:r>
            <a:endParaRPr sz="1333">
              <a:solidFill>
                <a:schemeClr val="dk1"/>
              </a:solidFill>
              <a:latin typeface="Calibri"/>
              <a:ea typeface="Calibri"/>
              <a:cs typeface="Calibri"/>
              <a:sym typeface="Calibri"/>
            </a:endParaRPr>
          </a:p>
        </p:txBody>
      </p:sp>
      <p:sp>
        <p:nvSpPr>
          <p:cNvPr id="86" name="Google Shape;86;p5"/>
          <p:cNvSpPr/>
          <p:nvPr/>
        </p:nvSpPr>
        <p:spPr>
          <a:xfrm>
            <a:off x="8015321" y="3054096"/>
            <a:ext cx="4023360" cy="1158240"/>
          </a:xfrm>
          <a:prstGeom prst="rect">
            <a:avLst/>
          </a:prstGeom>
          <a:solidFill>
            <a:srgbClr val="FFFFFF"/>
          </a:solidFill>
          <a:ln>
            <a:noFill/>
          </a:ln>
          <a:effectLst>
            <a:outerShdw blurRad="76200" dist="25400" dir="8100000" algn="bl" rotWithShape="0">
              <a:srgbClr val="000000">
                <a:alpha val="10196"/>
              </a:srgbClr>
            </a:outerShdw>
          </a:effectLst>
        </p:spPr>
        <p:txBody>
          <a:bodyPr spcFirstLastPara="1" wrap="square" lIns="121900" tIns="121900" rIns="121900" bIns="121900" anchor="ctr" anchorCtr="0">
            <a:noAutofit/>
          </a:bodyPr>
          <a:lstStyle/>
          <a:p>
            <a:endParaRPr sz="2400"/>
          </a:p>
        </p:txBody>
      </p:sp>
      <p:sp>
        <p:nvSpPr>
          <p:cNvPr id="87" name="Google Shape;87;p5"/>
          <p:cNvSpPr/>
          <p:nvPr/>
        </p:nvSpPr>
        <p:spPr>
          <a:xfrm>
            <a:off x="8015321" y="3054096"/>
            <a:ext cx="60960" cy="1158240"/>
          </a:xfrm>
          <a:prstGeom prst="rect">
            <a:avLst/>
          </a:prstGeom>
          <a:solidFill>
            <a:srgbClr val="02C39A"/>
          </a:solidFill>
          <a:ln w="12700" cap="flat" cmpd="sng">
            <a:solidFill>
              <a:srgbClr val="02C39A"/>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88" name="Google Shape;88;p5"/>
          <p:cNvSpPr/>
          <p:nvPr/>
        </p:nvSpPr>
        <p:spPr>
          <a:xfrm>
            <a:off x="8161625" y="3139440"/>
            <a:ext cx="3779520" cy="365760"/>
          </a:xfrm>
          <a:prstGeom prst="rect">
            <a:avLst/>
          </a:prstGeom>
          <a:noFill/>
          <a:ln>
            <a:noFill/>
          </a:ln>
        </p:spPr>
        <p:txBody>
          <a:bodyPr spcFirstLastPara="1" wrap="square" lIns="0" tIns="0" rIns="0" bIns="0" anchor="ctr" anchorCtr="0">
            <a:noAutofit/>
          </a:bodyPr>
          <a:lstStyle/>
          <a:p>
            <a:pPr>
              <a:buClr>
                <a:srgbClr val="028090"/>
              </a:buClr>
              <a:buSzPts val="1100"/>
            </a:pPr>
            <a:r>
              <a:rPr lang="en-US" sz="1467" b="1">
                <a:solidFill>
                  <a:srgbClr val="028090"/>
                </a:solidFill>
                <a:latin typeface="Trebuchet MS"/>
                <a:ea typeface="Trebuchet MS"/>
                <a:cs typeface="Trebuchet MS"/>
                <a:sym typeface="Trebuchet MS"/>
              </a:rPr>
              <a:t>LLMs</a:t>
            </a:r>
            <a:endParaRPr sz="1467">
              <a:solidFill>
                <a:schemeClr val="dk1"/>
              </a:solidFill>
              <a:latin typeface="Calibri"/>
              <a:ea typeface="Calibri"/>
              <a:cs typeface="Calibri"/>
              <a:sym typeface="Calibri"/>
            </a:endParaRPr>
          </a:p>
        </p:txBody>
      </p:sp>
      <p:sp>
        <p:nvSpPr>
          <p:cNvPr id="89" name="Google Shape;89;p5"/>
          <p:cNvSpPr/>
          <p:nvPr/>
        </p:nvSpPr>
        <p:spPr>
          <a:xfrm>
            <a:off x="8161625" y="3517392"/>
            <a:ext cx="3779520" cy="609600"/>
          </a:xfrm>
          <a:prstGeom prst="rect">
            <a:avLst/>
          </a:prstGeom>
          <a:noFill/>
          <a:ln>
            <a:noFill/>
          </a:ln>
        </p:spPr>
        <p:txBody>
          <a:bodyPr spcFirstLastPara="1" wrap="square" lIns="0" tIns="0" rIns="0" bIns="0" anchor="ctr" anchorCtr="0">
            <a:noAutofit/>
          </a:bodyPr>
          <a:lstStyle/>
          <a:p>
            <a:pPr>
              <a:buClr>
                <a:srgbClr val="1A1A2E"/>
              </a:buClr>
              <a:buSzPts val="1000"/>
            </a:pPr>
            <a:r>
              <a:rPr lang="en-US" sz="1333">
                <a:solidFill>
                  <a:srgbClr val="1A1A2E"/>
                </a:solidFill>
                <a:latin typeface="Calibri"/>
                <a:ea typeface="Calibri"/>
                <a:cs typeface="Calibri"/>
                <a:sym typeface="Calibri"/>
              </a:rPr>
              <a:t>Subconjunto de GenAI entrenado en texto; entiende y genera lenguaje</a:t>
            </a:r>
            <a:endParaRPr sz="1333">
              <a:solidFill>
                <a:schemeClr val="dk1"/>
              </a:solidFill>
              <a:latin typeface="Calibri"/>
              <a:ea typeface="Calibri"/>
              <a:cs typeface="Calibri"/>
              <a:sym typeface="Calibri"/>
            </a:endParaRPr>
          </a:p>
        </p:txBody>
      </p:sp>
      <p:sp>
        <p:nvSpPr>
          <p:cNvPr id="90" name="Google Shape;90;p5"/>
          <p:cNvSpPr/>
          <p:nvPr/>
        </p:nvSpPr>
        <p:spPr>
          <a:xfrm>
            <a:off x="8076281" y="4382730"/>
            <a:ext cx="3962400" cy="1786423"/>
          </a:xfrm>
          <a:prstGeom prst="rect">
            <a:avLst/>
          </a:prstGeom>
          <a:solidFill>
            <a:srgbClr val="FFFFFF"/>
          </a:solidFill>
          <a:ln>
            <a:noFill/>
          </a:ln>
          <a:effectLst>
            <a:outerShdw blurRad="76200" dist="25400" dir="8100000" algn="bl" rotWithShape="0">
              <a:srgbClr val="000000">
                <a:alpha val="10196"/>
              </a:srgbClr>
            </a:outerShdw>
          </a:effectLst>
        </p:spPr>
        <p:txBody>
          <a:bodyPr spcFirstLastPara="1" wrap="square" lIns="121900" tIns="121900" rIns="121900" bIns="121900" anchor="ctr" anchorCtr="0">
            <a:noAutofit/>
          </a:bodyPr>
          <a:lstStyle/>
          <a:p>
            <a:endParaRPr sz="2400"/>
          </a:p>
        </p:txBody>
      </p:sp>
      <p:sp>
        <p:nvSpPr>
          <p:cNvPr id="91" name="Google Shape;91;p5"/>
          <p:cNvSpPr/>
          <p:nvPr/>
        </p:nvSpPr>
        <p:spPr>
          <a:xfrm>
            <a:off x="8015321" y="4395216"/>
            <a:ext cx="60960" cy="1755648"/>
          </a:xfrm>
          <a:prstGeom prst="rect">
            <a:avLst/>
          </a:prstGeom>
          <a:solidFill>
            <a:srgbClr val="02C39A"/>
          </a:solidFill>
          <a:ln w="12700" cap="flat" cmpd="sng">
            <a:solidFill>
              <a:srgbClr val="02C39A"/>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92" name="Google Shape;92;p5"/>
          <p:cNvSpPr/>
          <p:nvPr/>
        </p:nvSpPr>
        <p:spPr>
          <a:xfrm>
            <a:off x="8161625" y="4480560"/>
            <a:ext cx="3779520" cy="365760"/>
          </a:xfrm>
          <a:prstGeom prst="rect">
            <a:avLst/>
          </a:prstGeom>
          <a:noFill/>
          <a:ln>
            <a:noFill/>
          </a:ln>
        </p:spPr>
        <p:txBody>
          <a:bodyPr spcFirstLastPara="1" wrap="square" lIns="0" tIns="0" rIns="0" bIns="0" anchor="ctr" anchorCtr="0">
            <a:noAutofit/>
          </a:bodyPr>
          <a:lstStyle/>
          <a:p>
            <a:pPr>
              <a:buClr>
                <a:srgbClr val="028090"/>
              </a:buClr>
              <a:buSzPts val="1100"/>
            </a:pPr>
            <a:r>
              <a:rPr lang="en-US" sz="1467" b="1">
                <a:solidFill>
                  <a:srgbClr val="028090"/>
                </a:solidFill>
                <a:latin typeface="Trebuchet MS"/>
                <a:ea typeface="Trebuchet MS"/>
                <a:cs typeface="Trebuchet MS"/>
                <a:sym typeface="Trebuchet MS"/>
              </a:rPr>
              <a:t>Diferencia</a:t>
            </a:r>
            <a:endParaRPr sz="1467">
              <a:solidFill>
                <a:schemeClr val="dk1"/>
              </a:solidFill>
              <a:latin typeface="Calibri"/>
              <a:ea typeface="Calibri"/>
              <a:cs typeface="Calibri"/>
              <a:sym typeface="Calibri"/>
            </a:endParaRPr>
          </a:p>
        </p:txBody>
      </p:sp>
      <p:sp>
        <p:nvSpPr>
          <p:cNvPr id="93" name="Google Shape;93;p5"/>
          <p:cNvSpPr/>
          <p:nvPr/>
        </p:nvSpPr>
        <p:spPr>
          <a:xfrm>
            <a:off x="8161625" y="5088103"/>
            <a:ext cx="3779520" cy="609600"/>
          </a:xfrm>
          <a:prstGeom prst="rect">
            <a:avLst/>
          </a:prstGeom>
          <a:noFill/>
          <a:ln>
            <a:noFill/>
          </a:ln>
        </p:spPr>
        <p:txBody>
          <a:bodyPr spcFirstLastPara="1" wrap="square" lIns="0" tIns="0" rIns="0" bIns="0" anchor="ctr" anchorCtr="0">
            <a:noAutofit/>
          </a:bodyPr>
          <a:lstStyle/>
          <a:p>
            <a:pPr>
              <a:buClr>
                <a:srgbClr val="1A1A2E"/>
              </a:buClr>
              <a:buSzPts val="1000"/>
            </a:pPr>
            <a:r>
              <a:rPr lang="en-US" sz="1333" dirty="0">
                <a:solidFill>
                  <a:schemeClr val="bg1"/>
                </a:solidFill>
                <a:latin typeface="Calibri"/>
                <a:ea typeface="Calibri"/>
                <a:cs typeface="Calibri"/>
                <a:sym typeface="Calibri"/>
              </a:rPr>
              <a:t>Todo LLM es </a:t>
            </a:r>
            <a:r>
              <a:rPr lang="en-US" sz="1333" dirty="0" err="1">
                <a:solidFill>
                  <a:schemeClr val="bg1"/>
                </a:solidFill>
                <a:latin typeface="Calibri"/>
                <a:ea typeface="Calibri"/>
                <a:cs typeface="Calibri"/>
                <a:sym typeface="Calibri"/>
              </a:rPr>
              <a:t>GenAI</a:t>
            </a:r>
            <a:r>
              <a:rPr lang="en-US" sz="1333" dirty="0">
                <a:solidFill>
                  <a:schemeClr val="bg1"/>
                </a:solidFill>
                <a:latin typeface="Calibri"/>
                <a:ea typeface="Calibri"/>
                <a:cs typeface="Calibri"/>
                <a:sym typeface="Calibri"/>
              </a:rPr>
              <a:t>, </a:t>
            </a:r>
            <a:r>
              <a:rPr lang="en-US" sz="1333" dirty="0" err="1">
                <a:solidFill>
                  <a:schemeClr val="bg1"/>
                </a:solidFill>
                <a:latin typeface="Calibri"/>
                <a:ea typeface="Calibri"/>
                <a:cs typeface="Calibri"/>
                <a:sym typeface="Calibri"/>
              </a:rPr>
              <a:t>pero</a:t>
            </a:r>
            <a:r>
              <a:rPr lang="en-US" sz="1333" dirty="0">
                <a:solidFill>
                  <a:schemeClr val="bg1"/>
                </a:solidFill>
                <a:latin typeface="Calibri"/>
                <a:ea typeface="Calibri"/>
                <a:cs typeface="Calibri"/>
                <a:sym typeface="Calibri"/>
              </a:rPr>
              <a:t> no </a:t>
            </a:r>
            <a:r>
              <a:rPr lang="en-US" sz="1333" dirty="0" err="1">
                <a:solidFill>
                  <a:schemeClr val="bg1"/>
                </a:solidFill>
                <a:latin typeface="Calibri"/>
                <a:ea typeface="Calibri"/>
                <a:cs typeface="Calibri"/>
                <a:sym typeface="Calibri"/>
              </a:rPr>
              <a:t>todo</a:t>
            </a:r>
            <a:r>
              <a:rPr lang="en-US" sz="1333" dirty="0">
                <a:solidFill>
                  <a:schemeClr val="bg1"/>
                </a:solidFill>
                <a:latin typeface="Calibri"/>
                <a:ea typeface="Calibri"/>
                <a:cs typeface="Calibri"/>
                <a:sym typeface="Calibri"/>
              </a:rPr>
              <a:t> </a:t>
            </a:r>
            <a:r>
              <a:rPr lang="en-US" sz="1333" dirty="0" err="1">
                <a:solidFill>
                  <a:schemeClr val="bg1"/>
                </a:solidFill>
                <a:latin typeface="Calibri"/>
                <a:ea typeface="Calibri"/>
                <a:cs typeface="Calibri"/>
                <a:sym typeface="Calibri"/>
              </a:rPr>
              <a:t>GenAI</a:t>
            </a:r>
            <a:r>
              <a:rPr lang="en-US" sz="1333" dirty="0">
                <a:solidFill>
                  <a:schemeClr val="bg1"/>
                </a:solidFill>
                <a:latin typeface="Calibri"/>
                <a:ea typeface="Calibri"/>
                <a:cs typeface="Calibri"/>
                <a:sym typeface="Calibri"/>
              </a:rPr>
              <a:t> es un LLM.</a:t>
            </a:r>
          </a:p>
          <a:p>
            <a:pPr>
              <a:buClr>
                <a:srgbClr val="1A1A2E"/>
              </a:buClr>
              <a:buSzPts val="1000"/>
            </a:pPr>
            <a:endParaRPr lang="en-US" sz="1333" dirty="0">
              <a:solidFill>
                <a:schemeClr val="bg1"/>
              </a:solidFill>
              <a:latin typeface="Calibri"/>
              <a:ea typeface="Calibri"/>
              <a:cs typeface="Calibri"/>
              <a:sym typeface="Calibri"/>
            </a:endParaRPr>
          </a:p>
          <a:p>
            <a:pPr>
              <a:buClr>
                <a:srgbClr val="1A1A2E"/>
              </a:buClr>
              <a:buSzPts val="1000"/>
            </a:pPr>
            <a:r>
              <a:rPr lang="es-ES" sz="1333" b="1" dirty="0" err="1">
                <a:solidFill>
                  <a:schemeClr val="bg1"/>
                </a:solidFill>
                <a:latin typeface="Google Sans"/>
              </a:rPr>
              <a:t>DxM</a:t>
            </a:r>
            <a:r>
              <a:rPr lang="es-ES" sz="1333" b="1" dirty="0">
                <a:solidFill>
                  <a:schemeClr val="bg1"/>
                </a:solidFill>
                <a:latin typeface="Google Sans"/>
              </a:rPr>
              <a:t> (</a:t>
            </a:r>
            <a:r>
              <a:rPr lang="es-ES" sz="1333" b="1" dirty="0" err="1">
                <a:solidFill>
                  <a:schemeClr val="bg1"/>
                </a:solidFill>
                <a:latin typeface="Google Sans"/>
              </a:rPr>
              <a:t>Domain</a:t>
            </a:r>
            <a:r>
              <a:rPr lang="es-ES" sz="1333" b="1" dirty="0">
                <a:solidFill>
                  <a:schemeClr val="bg1"/>
                </a:solidFill>
                <a:latin typeface="Google Sans"/>
              </a:rPr>
              <a:t> </a:t>
            </a:r>
            <a:r>
              <a:rPr lang="es-ES" sz="1333" b="1" dirty="0" err="1">
                <a:solidFill>
                  <a:schemeClr val="bg1"/>
                </a:solidFill>
                <a:latin typeface="Google Sans"/>
              </a:rPr>
              <a:t>Models</a:t>
            </a:r>
            <a:r>
              <a:rPr lang="es-ES" sz="1333" b="1" dirty="0">
                <a:solidFill>
                  <a:schemeClr val="bg1"/>
                </a:solidFill>
                <a:latin typeface="Google Sans"/>
              </a:rPr>
              <a:t> o Digital </a:t>
            </a:r>
            <a:r>
              <a:rPr lang="es-ES" sz="1333" b="1" dirty="0" err="1">
                <a:solidFill>
                  <a:schemeClr val="bg1"/>
                </a:solidFill>
                <a:latin typeface="Google Sans"/>
              </a:rPr>
              <a:t>Experience</a:t>
            </a:r>
            <a:r>
              <a:rPr lang="es-ES" sz="1333" b="1" dirty="0">
                <a:solidFill>
                  <a:schemeClr val="bg1"/>
                </a:solidFill>
                <a:latin typeface="Google Sans"/>
              </a:rPr>
              <a:t> Management)</a:t>
            </a:r>
            <a:r>
              <a:rPr lang="es-ES" sz="1333" dirty="0">
                <a:solidFill>
                  <a:schemeClr val="bg1"/>
                </a:solidFill>
              </a:rPr>
              <a:t>: En IA empresarial, se refiere a los </a:t>
            </a:r>
            <a:r>
              <a:rPr lang="es-ES" sz="1333" i="1" dirty="0">
                <a:solidFill>
                  <a:schemeClr val="bg1"/>
                </a:solidFill>
                <a:latin typeface="Google Sans"/>
              </a:rPr>
              <a:t>Modelos de Dominio</a:t>
            </a:r>
            <a:r>
              <a:rPr lang="es-ES" sz="1333" dirty="0">
                <a:solidFill>
                  <a:schemeClr val="bg1"/>
                </a:solidFill>
              </a:rPr>
              <a:t> (más pequeños y especializados) </a:t>
            </a:r>
            <a:endParaRPr sz="1333" dirty="0">
              <a:solidFill>
                <a:schemeClr val="bg1"/>
              </a:solidFill>
              <a:latin typeface="Calibri"/>
              <a:ea typeface="Calibri"/>
              <a:cs typeface="Calibri"/>
              <a:sym typeface="Calibri"/>
            </a:endParaRPr>
          </a:p>
        </p:txBody>
      </p:sp>
    </p:spTree>
    <p:extLst>
      <p:ext uri="{BB962C8B-B14F-4D97-AF65-F5344CB8AC3E}">
        <p14:creationId xmlns:p14="http://schemas.microsoft.com/office/powerpoint/2010/main" val="22215369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p13"/>
          <p:cNvSpPr/>
          <p:nvPr/>
        </p:nvSpPr>
        <p:spPr>
          <a:xfrm>
            <a:off x="0" y="0"/>
            <a:ext cx="12192000" cy="97536"/>
          </a:xfrm>
          <a:prstGeom prst="rect">
            <a:avLst/>
          </a:prstGeom>
          <a:solidFill>
            <a:srgbClr val="028090"/>
          </a:solidFill>
          <a:ln w="12700" cap="flat" cmpd="sng">
            <a:solidFill>
              <a:srgbClr val="028090"/>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65" name="Google Shape;365;p13"/>
          <p:cNvSpPr/>
          <p:nvPr/>
        </p:nvSpPr>
        <p:spPr>
          <a:xfrm>
            <a:off x="0" y="0"/>
            <a:ext cx="97536" cy="6858000"/>
          </a:xfrm>
          <a:prstGeom prst="rect">
            <a:avLst/>
          </a:prstGeom>
          <a:solidFill>
            <a:srgbClr val="028090"/>
          </a:solidFill>
          <a:ln w="12700" cap="flat" cmpd="sng">
            <a:solidFill>
              <a:srgbClr val="028090"/>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67" name="Google Shape;367;p13"/>
          <p:cNvSpPr/>
          <p:nvPr/>
        </p:nvSpPr>
        <p:spPr>
          <a:xfrm>
            <a:off x="365760" y="1097280"/>
            <a:ext cx="1463040" cy="48768"/>
          </a:xfrm>
          <a:prstGeom prst="rect">
            <a:avLst/>
          </a:prstGeom>
          <a:solidFill>
            <a:srgbClr val="02C39A"/>
          </a:solidFill>
          <a:ln w="12700" cap="flat" cmpd="sng">
            <a:solidFill>
              <a:srgbClr val="02C39A"/>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68" name="Google Shape;368;p13"/>
          <p:cNvSpPr/>
          <p:nvPr/>
        </p:nvSpPr>
        <p:spPr>
          <a:xfrm>
            <a:off x="6755130" y="1082518"/>
            <a:ext cx="11216640" cy="426720"/>
          </a:xfrm>
          <a:prstGeom prst="rect">
            <a:avLst/>
          </a:prstGeom>
          <a:noFill/>
          <a:ln>
            <a:noFill/>
          </a:ln>
        </p:spPr>
        <p:txBody>
          <a:bodyPr spcFirstLastPara="1" wrap="square" lIns="0" tIns="0" rIns="0" bIns="0" anchor="ctr" anchorCtr="0">
            <a:noAutofit/>
          </a:bodyPr>
          <a:lstStyle/>
          <a:p>
            <a:pPr>
              <a:buClr>
                <a:srgbClr val="028090"/>
              </a:buClr>
              <a:buSzPts val="1300"/>
            </a:pPr>
            <a:r>
              <a:rPr lang="en-US" sz="1733" i="1" dirty="0" err="1">
                <a:latin typeface="Calibri"/>
                <a:ea typeface="Calibri"/>
                <a:cs typeface="Calibri"/>
                <a:sym typeface="Calibri"/>
              </a:rPr>
              <a:t>Usando</a:t>
            </a:r>
            <a:r>
              <a:rPr lang="en-US" sz="1733" i="1" dirty="0">
                <a:latin typeface="Calibri"/>
                <a:ea typeface="Calibri"/>
                <a:cs typeface="Calibri"/>
                <a:sym typeface="Calibri"/>
              </a:rPr>
              <a:t> </a:t>
            </a:r>
            <a:r>
              <a:rPr lang="en-US" sz="1733" i="1" dirty="0" err="1">
                <a:latin typeface="Calibri"/>
                <a:ea typeface="Calibri"/>
                <a:cs typeface="Calibri"/>
                <a:sym typeface="Calibri"/>
              </a:rPr>
              <a:t>GenAI</a:t>
            </a:r>
            <a:r>
              <a:rPr lang="en-US" sz="1733" i="1" dirty="0">
                <a:latin typeface="Calibri"/>
                <a:ea typeface="Calibri"/>
                <a:cs typeface="Calibri"/>
                <a:sym typeface="Calibri"/>
              </a:rPr>
              <a:t> y AI Agents de forma </a:t>
            </a:r>
            <a:r>
              <a:rPr lang="en-US" sz="1733" i="1" dirty="0" err="1">
                <a:latin typeface="Calibri"/>
                <a:ea typeface="Calibri"/>
                <a:cs typeface="Calibri"/>
                <a:sym typeface="Calibri"/>
              </a:rPr>
              <a:t>responsable</a:t>
            </a:r>
            <a:r>
              <a:rPr lang="en-US" sz="1733" i="1" dirty="0">
                <a:latin typeface="Calibri"/>
                <a:ea typeface="Calibri"/>
                <a:cs typeface="Calibri"/>
                <a:sym typeface="Calibri"/>
              </a:rPr>
              <a:t> y </a:t>
            </a:r>
            <a:r>
              <a:rPr lang="en-US" sz="1733" i="1" dirty="0" err="1">
                <a:latin typeface="Calibri"/>
                <a:ea typeface="Calibri"/>
                <a:cs typeface="Calibri"/>
                <a:sym typeface="Calibri"/>
              </a:rPr>
              <a:t>eficiente</a:t>
            </a:r>
            <a:endParaRPr sz="1733" dirty="0">
              <a:latin typeface="Calibri"/>
              <a:ea typeface="Calibri"/>
              <a:cs typeface="Calibri"/>
              <a:sym typeface="Calibri"/>
            </a:endParaRPr>
          </a:p>
        </p:txBody>
      </p:sp>
      <p:sp>
        <p:nvSpPr>
          <p:cNvPr id="369" name="Google Shape;369;p13"/>
          <p:cNvSpPr/>
          <p:nvPr/>
        </p:nvSpPr>
        <p:spPr>
          <a:xfrm>
            <a:off x="304800" y="1706880"/>
            <a:ext cx="5608320" cy="2255520"/>
          </a:xfrm>
          <a:prstGeom prst="rect">
            <a:avLst/>
          </a:prstGeom>
          <a:solidFill>
            <a:srgbClr val="FFFFFF"/>
          </a:solidFill>
          <a:ln>
            <a:noFill/>
          </a:ln>
          <a:effectLst>
            <a:outerShdw blurRad="76200" dist="25400" dir="8100000" algn="bl" rotWithShape="0">
              <a:srgbClr val="000000">
                <a:alpha val="10196"/>
              </a:srgbClr>
            </a:outerShdw>
          </a:effectLst>
          <a:scene3d>
            <a:camera prst="orthographicFront"/>
            <a:lightRig rig="threePt" dir="t"/>
          </a:scene3d>
          <a:sp3d>
            <a:bevelT/>
          </a:sp3d>
        </p:spPr>
        <p:txBody>
          <a:bodyPr spcFirstLastPara="1" wrap="square" lIns="121900" tIns="121900" rIns="121900" bIns="121900" anchor="ctr" anchorCtr="0">
            <a:noAutofit/>
          </a:bodyPr>
          <a:lstStyle/>
          <a:p>
            <a:endParaRPr sz="2400"/>
          </a:p>
        </p:txBody>
      </p:sp>
      <p:sp>
        <p:nvSpPr>
          <p:cNvPr id="370" name="Google Shape;370;p13"/>
          <p:cNvSpPr/>
          <p:nvPr/>
        </p:nvSpPr>
        <p:spPr>
          <a:xfrm>
            <a:off x="304800" y="1706880"/>
            <a:ext cx="5608320" cy="487680"/>
          </a:xfrm>
          <a:prstGeom prst="rect">
            <a:avLst/>
          </a:prstGeom>
          <a:solidFill>
            <a:srgbClr val="028090"/>
          </a:solidFill>
          <a:ln w="12700" cap="flat" cmpd="sng">
            <a:solidFill>
              <a:srgbClr val="028090"/>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71" name="Google Shape;371;p13"/>
          <p:cNvSpPr/>
          <p:nvPr/>
        </p:nvSpPr>
        <p:spPr>
          <a:xfrm>
            <a:off x="487680" y="1767840"/>
            <a:ext cx="5242560" cy="390144"/>
          </a:xfrm>
          <a:prstGeom prst="rect">
            <a:avLst/>
          </a:prstGeom>
          <a:noFill/>
          <a:ln>
            <a:noFill/>
          </a:ln>
        </p:spPr>
        <p:txBody>
          <a:bodyPr spcFirstLastPara="1" wrap="square" lIns="0" tIns="0" rIns="0" bIns="0" anchor="ctr" anchorCtr="0">
            <a:noAutofit/>
          </a:bodyPr>
          <a:lstStyle/>
          <a:p>
            <a:pPr>
              <a:buClr>
                <a:srgbClr val="FFFFFF"/>
              </a:buClr>
              <a:buSzPts val="1200"/>
            </a:pPr>
            <a:r>
              <a:rPr lang="en-US" sz="1600" b="1" dirty="0">
                <a:solidFill>
                  <a:srgbClr val="FFFFFF"/>
                </a:solidFill>
                <a:latin typeface="Trebuchet MS"/>
                <a:ea typeface="Trebuchet MS"/>
                <a:cs typeface="Trebuchet MS"/>
                <a:sym typeface="Trebuchet MS"/>
              </a:rPr>
              <a:t> Prompts </a:t>
            </a:r>
            <a:r>
              <a:rPr lang="en-US" sz="1600" b="1" dirty="0" err="1">
                <a:solidFill>
                  <a:srgbClr val="FFFFFF"/>
                </a:solidFill>
                <a:latin typeface="Trebuchet MS"/>
                <a:ea typeface="Trebuchet MS"/>
                <a:cs typeface="Trebuchet MS"/>
                <a:sym typeface="Trebuchet MS"/>
              </a:rPr>
              <a:t>Efectivos</a:t>
            </a:r>
            <a:endParaRPr sz="1600" dirty="0">
              <a:solidFill>
                <a:schemeClr val="dk1"/>
              </a:solidFill>
              <a:latin typeface="Calibri"/>
              <a:ea typeface="Calibri"/>
              <a:cs typeface="Calibri"/>
              <a:sym typeface="Calibri"/>
            </a:endParaRPr>
          </a:p>
        </p:txBody>
      </p:sp>
      <p:sp>
        <p:nvSpPr>
          <p:cNvPr id="373" name="Google Shape;373;p13"/>
          <p:cNvSpPr/>
          <p:nvPr/>
        </p:nvSpPr>
        <p:spPr>
          <a:xfrm>
            <a:off x="426720" y="2304288"/>
            <a:ext cx="146304" cy="341376"/>
          </a:xfrm>
          <a:prstGeom prst="rect">
            <a:avLst/>
          </a:prstGeom>
          <a:noFill/>
          <a:ln>
            <a:noFill/>
          </a:ln>
        </p:spPr>
        <p:txBody>
          <a:bodyPr spcFirstLastPara="1" wrap="square" lIns="0" tIns="0" rIns="0" bIns="0" anchor="ctr" anchorCtr="0">
            <a:noAutofit/>
          </a:bodyPr>
          <a:lstStyle/>
          <a:p>
            <a:pPr>
              <a:buClr>
                <a:srgbClr val="02C39A"/>
              </a:buClr>
              <a:buSzPts val="1000"/>
            </a:pPr>
            <a:r>
              <a:rPr lang="en-US" sz="1333">
                <a:solidFill>
                  <a:srgbClr val="02C39A"/>
                </a:solidFill>
                <a:latin typeface="Calibri"/>
                <a:ea typeface="Calibri"/>
                <a:cs typeface="Calibri"/>
                <a:sym typeface="Calibri"/>
              </a:rPr>
              <a:t>•</a:t>
            </a:r>
            <a:endParaRPr sz="1333">
              <a:solidFill>
                <a:schemeClr val="dk1"/>
              </a:solidFill>
              <a:latin typeface="Calibri"/>
              <a:ea typeface="Calibri"/>
              <a:cs typeface="Calibri"/>
              <a:sym typeface="Calibri"/>
            </a:endParaRPr>
          </a:p>
        </p:txBody>
      </p:sp>
      <p:sp>
        <p:nvSpPr>
          <p:cNvPr id="374" name="Google Shape;374;p13"/>
          <p:cNvSpPr/>
          <p:nvPr/>
        </p:nvSpPr>
        <p:spPr>
          <a:xfrm>
            <a:off x="573024" y="2304288"/>
            <a:ext cx="5181600" cy="341376"/>
          </a:xfrm>
          <a:prstGeom prst="rect">
            <a:avLst/>
          </a:prstGeom>
          <a:noFill/>
          <a:ln>
            <a:noFill/>
          </a:ln>
        </p:spPr>
        <p:txBody>
          <a:bodyPr spcFirstLastPara="1" wrap="square" lIns="0" tIns="0" rIns="0" bIns="0" anchor="ctr" anchorCtr="0">
            <a:noAutofit/>
          </a:bodyPr>
          <a:lstStyle/>
          <a:p>
            <a:pPr>
              <a:buClr>
                <a:srgbClr val="1A1A2E"/>
              </a:buClr>
              <a:buSzPts val="1000"/>
            </a:pPr>
            <a:r>
              <a:rPr lang="en-US" sz="1333">
                <a:solidFill>
                  <a:srgbClr val="1A1A2E"/>
                </a:solidFill>
                <a:latin typeface="Calibri"/>
                <a:ea typeface="Calibri"/>
                <a:cs typeface="Calibri"/>
                <a:sym typeface="Calibri"/>
              </a:rPr>
              <a:t>Sé específico y detallado en las instrucciones</a:t>
            </a:r>
            <a:endParaRPr sz="1333">
              <a:solidFill>
                <a:schemeClr val="dk1"/>
              </a:solidFill>
              <a:latin typeface="Calibri"/>
              <a:ea typeface="Calibri"/>
              <a:cs typeface="Calibri"/>
              <a:sym typeface="Calibri"/>
            </a:endParaRPr>
          </a:p>
        </p:txBody>
      </p:sp>
      <p:sp>
        <p:nvSpPr>
          <p:cNvPr id="375" name="Google Shape;375;p13"/>
          <p:cNvSpPr/>
          <p:nvPr/>
        </p:nvSpPr>
        <p:spPr>
          <a:xfrm>
            <a:off x="426720" y="2682240"/>
            <a:ext cx="146304" cy="341376"/>
          </a:xfrm>
          <a:prstGeom prst="rect">
            <a:avLst/>
          </a:prstGeom>
          <a:noFill/>
          <a:ln>
            <a:noFill/>
          </a:ln>
        </p:spPr>
        <p:txBody>
          <a:bodyPr spcFirstLastPara="1" wrap="square" lIns="0" tIns="0" rIns="0" bIns="0" anchor="ctr" anchorCtr="0">
            <a:noAutofit/>
          </a:bodyPr>
          <a:lstStyle/>
          <a:p>
            <a:pPr>
              <a:buClr>
                <a:srgbClr val="02C39A"/>
              </a:buClr>
              <a:buSzPts val="1000"/>
            </a:pPr>
            <a:r>
              <a:rPr lang="en-US" sz="1333">
                <a:solidFill>
                  <a:srgbClr val="02C39A"/>
                </a:solidFill>
                <a:latin typeface="Calibri"/>
                <a:ea typeface="Calibri"/>
                <a:cs typeface="Calibri"/>
                <a:sym typeface="Calibri"/>
              </a:rPr>
              <a:t>•</a:t>
            </a:r>
            <a:endParaRPr sz="1333">
              <a:solidFill>
                <a:schemeClr val="dk1"/>
              </a:solidFill>
              <a:latin typeface="Calibri"/>
              <a:ea typeface="Calibri"/>
              <a:cs typeface="Calibri"/>
              <a:sym typeface="Calibri"/>
            </a:endParaRPr>
          </a:p>
        </p:txBody>
      </p:sp>
      <p:sp>
        <p:nvSpPr>
          <p:cNvPr id="376" name="Google Shape;376;p13"/>
          <p:cNvSpPr/>
          <p:nvPr/>
        </p:nvSpPr>
        <p:spPr>
          <a:xfrm>
            <a:off x="573024" y="2682240"/>
            <a:ext cx="5181600" cy="341376"/>
          </a:xfrm>
          <a:prstGeom prst="rect">
            <a:avLst/>
          </a:prstGeom>
          <a:noFill/>
          <a:ln>
            <a:noFill/>
          </a:ln>
        </p:spPr>
        <p:txBody>
          <a:bodyPr spcFirstLastPara="1" wrap="square" lIns="0" tIns="0" rIns="0" bIns="0" anchor="ctr" anchorCtr="0">
            <a:noAutofit/>
          </a:bodyPr>
          <a:lstStyle/>
          <a:p>
            <a:pPr>
              <a:buClr>
                <a:srgbClr val="1A1A2E"/>
              </a:buClr>
              <a:buSzPts val="1000"/>
            </a:pPr>
            <a:r>
              <a:rPr lang="en-US" sz="1333">
                <a:solidFill>
                  <a:srgbClr val="1A1A2E"/>
                </a:solidFill>
                <a:latin typeface="Calibri"/>
                <a:ea typeface="Calibri"/>
                <a:cs typeface="Calibri"/>
                <a:sym typeface="Calibri"/>
              </a:rPr>
              <a:t>Usa Few-Shot cuando el tono o formato importa</a:t>
            </a:r>
            <a:endParaRPr sz="1333">
              <a:solidFill>
                <a:schemeClr val="dk1"/>
              </a:solidFill>
              <a:latin typeface="Calibri"/>
              <a:ea typeface="Calibri"/>
              <a:cs typeface="Calibri"/>
              <a:sym typeface="Calibri"/>
            </a:endParaRPr>
          </a:p>
        </p:txBody>
      </p:sp>
      <p:sp>
        <p:nvSpPr>
          <p:cNvPr id="377" name="Google Shape;377;p13"/>
          <p:cNvSpPr/>
          <p:nvPr/>
        </p:nvSpPr>
        <p:spPr>
          <a:xfrm>
            <a:off x="426720" y="3060192"/>
            <a:ext cx="146304" cy="341376"/>
          </a:xfrm>
          <a:prstGeom prst="rect">
            <a:avLst/>
          </a:prstGeom>
          <a:noFill/>
          <a:ln>
            <a:noFill/>
          </a:ln>
        </p:spPr>
        <p:txBody>
          <a:bodyPr spcFirstLastPara="1" wrap="square" lIns="0" tIns="0" rIns="0" bIns="0" anchor="ctr" anchorCtr="0">
            <a:noAutofit/>
          </a:bodyPr>
          <a:lstStyle/>
          <a:p>
            <a:pPr>
              <a:buClr>
                <a:srgbClr val="02C39A"/>
              </a:buClr>
              <a:buSzPts val="1000"/>
            </a:pPr>
            <a:r>
              <a:rPr lang="en-US" sz="1333">
                <a:solidFill>
                  <a:srgbClr val="02C39A"/>
                </a:solidFill>
                <a:latin typeface="Calibri"/>
                <a:ea typeface="Calibri"/>
                <a:cs typeface="Calibri"/>
                <a:sym typeface="Calibri"/>
              </a:rPr>
              <a:t>•</a:t>
            </a:r>
            <a:endParaRPr sz="1333">
              <a:solidFill>
                <a:schemeClr val="dk1"/>
              </a:solidFill>
              <a:latin typeface="Calibri"/>
              <a:ea typeface="Calibri"/>
              <a:cs typeface="Calibri"/>
              <a:sym typeface="Calibri"/>
            </a:endParaRPr>
          </a:p>
        </p:txBody>
      </p:sp>
      <p:sp>
        <p:nvSpPr>
          <p:cNvPr id="378" name="Google Shape;378;p13"/>
          <p:cNvSpPr/>
          <p:nvPr/>
        </p:nvSpPr>
        <p:spPr>
          <a:xfrm>
            <a:off x="573024" y="3060192"/>
            <a:ext cx="5181600" cy="341376"/>
          </a:xfrm>
          <a:prstGeom prst="rect">
            <a:avLst/>
          </a:prstGeom>
          <a:noFill/>
          <a:ln>
            <a:noFill/>
          </a:ln>
        </p:spPr>
        <p:txBody>
          <a:bodyPr spcFirstLastPara="1" wrap="square" lIns="0" tIns="0" rIns="0" bIns="0" anchor="ctr" anchorCtr="0">
            <a:noAutofit/>
          </a:bodyPr>
          <a:lstStyle/>
          <a:p>
            <a:pPr>
              <a:buClr>
                <a:srgbClr val="1A1A2E"/>
              </a:buClr>
              <a:buSzPts val="1000"/>
            </a:pPr>
            <a:r>
              <a:rPr lang="en-US" sz="1333">
                <a:solidFill>
                  <a:srgbClr val="1A1A2E"/>
                </a:solidFill>
                <a:latin typeface="Calibri"/>
                <a:ea typeface="Calibri"/>
                <a:cs typeface="Calibri"/>
                <a:sym typeface="Calibri"/>
              </a:rPr>
              <a:t>Aplica Markdown para estructurar prompts largos</a:t>
            </a:r>
            <a:endParaRPr sz="1333">
              <a:solidFill>
                <a:schemeClr val="dk1"/>
              </a:solidFill>
              <a:latin typeface="Calibri"/>
              <a:ea typeface="Calibri"/>
              <a:cs typeface="Calibri"/>
              <a:sym typeface="Calibri"/>
            </a:endParaRPr>
          </a:p>
        </p:txBody>
      </p:sp>
      <p:sp>
        <p:nvSpPr>
          <p:cNvPr id="379" name="Google Shape;379;p13"/>
          <p:cNvSpPr/>
          <p:nvPr/>
        </p:nvSpPr>
        <p:spPr>
          <a:xfrm>
            <a:off x="426720" y="3438144"/>
            <a:ext cx="146304" cy="341376"/>
          </a:xfrm>
          <a:prstGeom prst="rect">
            <a:avLst/>
          </a:prstGeom>
          <a:noFill/>
          <a:ln>
            <a:noFill/>
          </a:ln>
        </p:spPr>
        <p:txBody>
          <a:bodyPr spcFirstLastPara="1" wrap="square" lIns="0" tIns="0" rIns="0" bIns="0" anchor="ctr" anchorCtr="0">
            <a:noAutofit/>
          </a:bodyPr>
          <a:lstStyle/>
          <a:p>
            <a:pPr>
              <a:buClr>
                <a:srgbClr val="02C39A"/>
              </a:buClr>
              <a:buSzPts val="1000"/>
            </a:pPr>
            <a:r>
              <a:rPr lang="en-US" sz="1333">
                <a:solidFill>
                  <a:srgbClr val="02C39A"/>
                </a:solidFill>
                <a:latin typeface="Calibri"/>
                <a:ea typeface="Calibri"/>
                <a:cs typeface="Calibri"/>
                <a:sym typeface="Calibri"/>
              </a:rPr>
              <a:t>•</a:t>
            </a:r>
            <a:endParaRPr sz="1333">
              <a:solidFill>
                <a:schemeClr val="dk1"/>
              </a:solidFill>
              <a:latin typeface="Calibri"/>
              <a:ea typeface="Calibri"/>
              <a:cs typeface="Calibri"/>
              <a:sym typeface="Calibri"/>
            </a:endParaRPr>
          </a:p>
        </p:txBody>
      </p:sp>
      <p:sp>
        <p:nvSpPr>
          <p:cNvPr id="380" name="Google Shape;380;p13"/>
          <p:cNvSpPr/>
          <p:nvPr/>
        </p:nvSpPr>
        <p:spPr>
          <a:xfrm>
            <a:off x="573024" y="3438144"/>
            <a:ext cx="5181600" cy="341376"/>
          </a:xfrm>
          <a:prstGeom prst="rect">
            <a:avLst/>
          </a:prstGeom>
          <a:noFill/>
          <a:ln>
            <a:noFill/>
          </a:ln>
        </p:spPr>
        <p:txBody>
          <a:bodyPr spcFirstLastPara="1" wrap="square" lIns="0" tIns="0" rIns="0" bIns="0" anchor="ctr" anchorCtr="0">
            <a:noAutofit/>
          </a:bodyPr>
          <a:lstStyle/>
          <a:p>
            <a:pPr>
              <a:buClr>
                <a:srgbClr val="1A1A2E"/>
              </a:buClr>
              <a:buSzPts val="1000"/>
            </a:pPr>
            <a:r>
              <a:rPr lang="en-US" sz="1333">
                <a:solidFill>
                  <a:srgbClr val="1A1A2E"/>
                </a:solidFill>
                <a:latin typeface="Calibri"/>
                <a:ea typeface="Calibri"/>
                <a:cs typeface="Calibri"/>
                <a:sym typeface="Calibri"/>
              </a:rPr>
              <a:t>Incluye ejemplos de entrada y salida esperada</a:t>
            </a:r>
            <a:endParaRPr sz="1333">
              <a:solidFill>
                <a:schemeClr val="dk1"/>
              </a:solidFill>
              <a:latin typeface="Calibri"/>
              <a:ea typeface="Calibri"/>
              <a:cs typeface="Calibri"/>
              <a:sym typeface="Calibri"/>
            </a:endParaRPr>
          </a:p>
        </p:txBody>
      </p:sp>
      <p:sp>
        <p:nvSpPr>
          <p:cNvPr id="381" name="Google Shape;381;p13"/>
          <p:cNvSpPr/>
          <p:nvPr/>
        </p:nvSpPr>
        <p:spPr>
          <a:xfrm>
            <a:off x="301845" y="4145281"/>
            <a:ext cx="5611276" cy="2033847"/>
          </a:xfrm>
          <a:prstGeom prst="rect">
            <a:avLst/>
          </a:prstGeom>
          <a:solidFill>
            <a:srgbClr val="FFFFFF"/>
          </a:solidFill>
          <a:ln>
            <a:noFill/>
          </a:ln>
          <a:effectLst>
            <a:outerShdw blurRad="76200" dist="25400" dir="8100000" algn="bl" rotWithShape="0">
              <a:srgbClr val="000000">
                <a:alpha val="10196"/>
              </a:srgbClr>
            </a:outerShdw>
          </a:effectLst>
          <a:scene3d>
            <a:camera prst="orthographicFront"/>
            <a:lightRig rig="threePt" dir="t"/>
          </a:scene3d>
          <a:sp3d>
            <a:bevelT/>
          </a:sp3d>
        </p:spPr>
        <p:txBody>
          <a:bodyPr spcFirstLastPara="1" wrap="square" lIns="121900" tIns="121900" rIns="121900" bIns="121900" anchor="ctr" anchorCtr="0">
            <a:noAutofit/>
          </a:bodyPr>
          <a:lstStyle/>
          <a:p>
            <a:endParaRPr sz="2400"/>
          </a:p>
        </p:txBody>
      </p:sp>
      <p:sp>
        <p:nvSpPr>
          <p:cNvPr id="382" name="Google Shape;382;p13"/>
          <p:cNvSpPr/>
          <p:nvPr/>
        </p:nvSpPr>
        <p:spPr>
          <a:xfrm>
            <a:off x="304800" y="4145280"/>
            <a:ext cx="5608320" cy="487680"/>
          </a:xfrm>
          <a:prstGeom prst="rect">
            <a:avLst/>
          </a:prstGeom>
          <a:solidFill>
            <a:srgbClr val="028090"/>
          </a:solidFill>
          <a:ln w="12700" cap="flat" cmpd="sng">
            <a:solidFill>
              <a:srgbClr val="028090"/>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83" name="Google Shape;383;p13"/>
          <p:cNvSpPr/>
          <p:nvPr/>
        </p:nvSpPr>
        <p:spPr>
          <a:xfrm>
            <a:off x="487680" y="4206240"/>
            <a:ext cx="5242560" cy="390144"/>
          </a:xfrm>
          <a:prstGeom prst="rect">
            <a:avLst/>
          </a:prstGeom>
          <a:noFill/>
          <a:ln>
            <a:noFill/>
          </a:ln>
        </p:spPr>
        <p:txBody>
          <a:bodyPr spcFirstLastPara="1" wrap="square" lIns="0" tIns="0" rIns="0" bIns="0" anchor="ctr" anchorCtr="0">
            <a:noAutofit/>
          </a:bodyPr>
          <a:lstStyle/>
          <a:p>
            <a:pPr>
              <a:buClr>
                <a:srgbClr val="FFFFFF"/>
              </a:buClr>
              <a:buSzPts val="1200"/>
            </a:pPr>
            <a:r>
              <a:rPr lang="en-US" sz="1600" b="1" dirty="0">
                <a:solidFill>
                  <a:srgbClr val="FFFFFF"/>
                </a:solidFill>
                <a:latin typeface="Trebuchet MS"/>
                <a:ea typeface="Trebuchet MS"/>
                <a:cs typeface="Trebuchet MS"/>
                <a:sym typeface="Trebuchet MS"/>
              </a:rPr>
              <a:t> </a:t>
            </a:r>
            <a:r>
              <a:rPr lang="en-US" sz="1600" b="1" dirty="0" err="1">
                <a:solidFill>
                  <a:srgbClr val="FFFFFF"/>
                </a:solidFill>
                <a:latin typeface="Trebuchet MS"/>
                <a:ea typeface="Trebuchet MS"/>
                <a:cs typeface="Trebuchet MS"/>
                <a:sym typeface="Trebuchet MS"/>
              </a:rPr>
              <a:t>Configuración</a:t>
            </a:r>
            <a:r>
              <a:rPr lang="en-US" sz="1600" b="1" dirty="0">
                <a:solidFill>
                  <a:srgbClr val="FFFFFF"/>
                </a:solidFill>
                <a:latin typeface="Trebuchet MS"/>
                <a:ea typeface="Trebuchet MS"/>
                <a:cs typeface="Trebuchet MS"/>
                <a:sym typeface="Trebuchet MS"/>
              </a:rPr>
              <a:t> del </a:t>
            </a:r>
            <a:r>
              <a:rPr lang="en-US" sz="1600" b="1" dirty="0" err="1">
                <a:solidFill>
                  <a:srgbClr val="FFFFFF"/>
                </a:solidFill>
                <a:latin typeface="Trebuchet MS"/>
                <a:ea typeface="Trebuchet MS"/>
                <a:cs typeface="Trebuchet MS"/>
                <a:sym typeface="Trebuchet MS"/>
              </a:rPr>
              <a:t>Modelo</a:t>
            </a:r>
            <a:endParaRPr sz="1600" dirty="0">
              <a:solidFill>
                <a:schemeClr val="dk1"/>
              </a:solidFill>
              <a:latin typeface="Calibri"/>
              <a:ea typeface="Calibri"/>
              <a:cs typeface="Calibri"/>
              <a:sym typeface="Calibri"/>
            </a:endParaRPr>
          </a:p>
        </p:txBody>
      </p:sp>
      <p:sp>
        <p:nvSpPr>
          <p:cNvPr id="384" name="Google Shape;384;p13"/>
          <p:cNvSpPr/>
          <p:nvPr/>
        </p:nvSpPr>
        <p:spPr>
          <a:xfrm>
            <a:off x="609600" y="4734745"/>
            <a:ext cx="5303520" cy="1560576"/>
          </a:xfrm>
          <a:prstGeom prst="rect">
            <a:avLst/>
          </a:prstGeom>
          <a:noFill/>
          <a:ln>
            <a:noFill/>
          </a:ln>
        </p:spPr>
        <p:txBody>
          <a:bodyPr spcFirstLastPara="1" wrap="square" lIns="0" tIns="0" rIns="0" bIns="0" anchor="ctr" anchorCtr="0">
            <a:noAutofit/>
          </a:bodyPr>
          <a:lstStyle/>
          <a:p>
            <a:pPr>
              <a:buClr>
                <a:srgbClr val="1A1A2E"/>
              </a:buClr>
              <a:buSzPts val="1000"/>
            </a:pPr>
            <a:r>
              <a:rPr lang="en-US" sz="1333" dirty="0" err="1">
                <a:solidFill>
                  <a:srgbClr val="1A1A2E"/>
                </a:solidFill>
                <a:latin typeface="Calibri"/>
                <a:ea typeface="Calibri"/>
                <a:cs typeface="Calibri"/>
                <a:sym typeface="Calibri"/>
              </a:rPr>
              <a:t>Temperatura</a:t>
            </a:r>
            <a:r>
              <a:rPr lang="en-US" sz="1333" dirty="0">
                <a:solidFill>
                  <a:srgbClr val="1A1A2E"/>
                </a:solidFill>
                <a:latin typeface="Calibri"/>
                <a:ea typeface="Calibri"/>
                <a:cs typeface="Calibri"/>
                <a:sym typeface="Calibri"/>
              </a:rPr>
              <a:t> baja (0.0-0.3) para </a:t>
            </a:r>
            <a:r>
              <a:rPr lang="en-US" sz="1333" dirty="0" err="1">
                <a:solidFill>
                  <a:srgbClr val="1A1A2E"/>
                </a:solidFill>
                <a:latin typeface="Calibri"/>
                <a:ea typeface="Calibri"/>
                <a:cs typeface="Calibri"/>
                <a:sym typeface="Calibri"/>
              </a:rPr>
              <a:t>tareas</a:t>
            </a:r>
            <a:r>
              <a:rPr lang="en-US" sz="1333" dirty="0">
                <a:solidFill>
                  <a:srgbClr val="1A1A2E"/>
                </a:solidFill>
                <a:latin typeface="Calibri"/>
                <a:ea typeface="Calibri"/>
                <a:cs typeface="Calibri"/>
                <a:sym typeface="Calibri"/>
              </a:rPr>
              <a:t> </a:t>
            </a:r>
            <a:r>
              <a:rPr lang="en-US" sz="1333" dirty="0" err="1">
                <a:solidFill>
                  <a:srgbClr val="1A1A2E"/>
                </a:solidFill>
                <a:latin typeface="Calibri"/>
                <a:ea typeface="Calibri"/>
                <a:cs typeface="Calibri"/>
                <a:sym typeface="Calibri"/>
              </a:rPr>
              <a:t>analíticas</a:t>
            </a:r>
            <a:endParaRPr lang="en-US" sz="1333" dirty="0">
              <a:solidFill>
                <a:srgbClr val="1A1A2E"/>
              </a:solidFill>
              <a:latin typeface="Calibri"/>
              <a:ea typeface="Calibri"/>
              <a:cs typeface="Calibri"/>
              <a:sym typeface="Calibri"/>
            </a:endParaRPr>
          </a:p>
          <a:p>
            <a:pPr>
              <a:buClr>
                <a:srgbClr val="1A1A2E"/>
              </a:buClr>
              <a:buSzPts val="1000"/>
            </a:pPr>
            <a:endParaRPr sz="1333" dirty="0">
              <a:solidFill>
                <a:schemeClr val="dk1"/>
              </a:solidFill>
              <a:latin typeface="Calibri"/>
              <a:ea typeface="Calibri"/>
              <a:cs typeface="Calibri"/>
              <a:sym typeface="Calibri"/>
            </a:endParaRPr>
          </a:p>
          <a:p>
            <a:pPr>
              <a:buClr>
                <a:srgbClr val="1A1A2E"/>
              </a:buClr>
              <a:buSzPts val="1000"/>
            </a:pPr>
            <a:r>
              <a:rPr lang="en-US" sz="1333" dirty="0" err="1">
                <a:solidFill>
                  <a:srgbClr val="1A1A2E"/>
                </a:solidFill>
                <a:latin typeface="Calibri"/>
                <a:ea typeface="Calibri"/>
                <a:cs typeface="Calibri"/>
                <a:sym typeface="Calibri"/>
              </a:rPr>
              <a:t>Temperatura</a:t>
            </a:r>
            <a:r>
              <a:rPr lang="en-US" sz="1333" dirty="0">
                <a:solidFill>
                  <a:srgbClr val="1A1A2E"/>
                </a:solidFill>
                <a:latin typeface="Calibri"/>
                <a:ea typeface="Calibri"/>
                <a:cs typeface="Calibri"/>
                <a:sym typeface="Calibri"/>
              </a:rPr>
              <a:t> </a:t>
            </a:r>
            <a:r>
              <a:rPr lang="en-US" sz="1333" dirty="0" err="1">
                <a:solidFill>
                  <a:srgbClr val="1A1A2E"/>
                </a:solidFill>
                <a:latin typeface="Calibri"/>
                <a:ea typeface="Calibri"/>
                <a:cs typeface="Calibri"/>
                <a:sym typeface="Calibri"/>
              </a:rPr>
              <a:t>alta</a:t>
            </a:r>
            <a:r>
              <a:rPr lang="en-US" sz="1333" dirty="0">
                <a:solidFill>
                  <a:srgbClr val="1A1A2E"/>
                </a:solidFill>
                <a:latin typeface="Calibri"/>
                <a:ea typeface="Calibri"/>
                <a:cs typeface="Calibri"/>
                <a:sym typeface="Calibri"/>
              </a:rPr>
              <a:t> (0.7-1.0) para </a:t>
            </a:r>
            <a:r>
              <a:rPr lang="en-US" sz="1333" dirty="0" err="1">
                <a:solidFill>
                  <a:srgbClr val="1A1A2E"/>
                </a:solidFill>
                <a:latin typeface="Calibri"/>
                <a:ea typeface="Calibri"/>
                <a:cs typeface="Calibri"/>
                <a:sym typeface="Calibri"/>
              </a:rPr>
              <a:t>creatividad</a:t>
            </a:r>
            <a:endParaRPr lang="en-US" sz="1333" dirty="0">
              <a:solidFill>
                <a:srgbClr val="1A1A2E"/>
              </a:solidFill>
              <a:latin typeface="Calibri"/>
              <a:ea typeface="Calibri"/>
              <a:cs typeface="Calibri"/>
              <a:sym typeface="Calibri"/>
            </a:endParaRPr>
          </a:p>
          <a:p>
            <a:pPr>
              <a:buClr>
                <a:srgbClr val="1A1A2E"/>
              </a:buClr>
              <a:buSzPts val="1000"/>
            </a:pPr>
            <a:endParaRPr lang="en-US" sz="1333" dirty="0">
              <a:solidFill>
                <a:srgbClr val="1A1A2E"/>
              </a:solidFill>
              <a:latin typeface="Calibri"/>
              <a:ea typeface="Calibri"/>
              <a:cs typeface="Calibri"/>
              <a:sym typeface="Calibri"/>
            </a:endParaRPr>
          </a:p>
          <a:p>
            <a:pPr>
              <a:buClr>
                <a:srgbClr val="1A1A2E"/>
              </a:buClr>
              <a:buSzPts val="1000"/>
            </a:pPr>
            <a:r>
              <a:rPr lang="en-US" sz="1333" dirty="0" err="1">
                <a:solidFill>
                  <a:srgbClr val="1A1A2E"/>
                </a:solidFill>
                <a:latin typeface="Calibri"/>
                <a:ea typeface="Calibri"/>
                <a:cs typeface="Calibri"/>
                <a:sym typeface="Calibri"/>
              </a:rPr>
              <a:t>Controla</a:t>
            </a:r>
            <a:r>
              <a:rPr lang="en-US" sz="1333" dirty="0">
                <a:solidFill>
                  <a:srgbClr val="1A1A2E"/>
                </a:solidFill>
                <a:latin typeface="Calibri"/>
                <a:ea typeface="Calibri"/>
                <a:cs typeface="Calibri"/>
                <a:sym typeface="Calibri"/>
              </a:rPr>
              <a:t> </a:t>
            </a:r>
            <a:r>
              <a:rPr lang="en-US" sz="1333" dirty="0" err="1">
                <a:solidFill>
                  <a:srgbClr val="1A1A2E"/>
                </a:solidFill>
                <a:latin typeface="Calibri"/>
                <a:ea typeface="Calibri"/>
                <a:cs typeface="Calibri"/>
                <a:sym typeface="Calibri"/>
              </a:rPr>
              <a:t>el</a:t>
            </a:r>
            <a:r>
              <a:rPr lang="en-US" sz="1333" dirty="0">
                <a:solidFill>
                  <a:srgbClr val="1A1A2E"/>
                </a:solidFill>
                <a:latin typeface="Calibri"/>
                <a:ea typeface="Calibri"/>
                <a:cs typeface="Calibri"/>
                <a:sym typeface="Calibri"/>
              </a:rPr>
              <a:t> </a:t>
            </a:r>
            <a:r>
              <a:rPr lang="en-US" sz="1333" dirty="0" err="1">
                <a:solidFill>
                  <a:srgbClr val="1A1A2E"/>
                </a:solidFill>
                <a:latin typeface="Calibri"/>
                <a:ea typeface="Calibri"/>
                <a:cs typeface="Calibri"/>
                <a:sym typeface="Calibri"/>
              </a:rPr>
              <a:t>límite</a:t>
            </a:r>
            <a:r>
              <a:rPr lang="en-US" sz="1333" dirty="0">
                <a:solidFill>
                  <a:srgbClr val="1A1A2E"/>
                </a:solidFill>
                <a:latin typeface="Calibri"/>
                <a:ea typeface="Calibri"/>
                <a:cs typeface="Calibri"/>
                <a:sym typeface="Calibri"/>
              </a:rPr>
              <a:t> de tokens para </a:t>
            </a:r>
            <a:r>
              <a:rPr lang="en-US" sz="1333" dirty="0" err="1">
                <a:solidFill>
                  <a:srgbClr val="1A1A2E"/>
                </a:solidFill>
                <a:latin typeface="Calibri"/>
                <a:ea typeface="Calibri"/>
                <a:cs typeface="Calibri"/>
                <a:sym typeface="Calibri"/>
              </a:rPr>
              <a:t>evitar</a:t>
            </a:r>
            <a:r>
              <a:rPr lang="en-US" sz="1333" dirty="0">
                <a:solidFill>
                  <a:srgbClr val="1A1A2E"/>
                </a:solidFill>
                <a:latin typeface="Calibri"/>
                <a:ea typeface="Calibri"/>
                <a:cs typeface="Calibri"/>
                <a:sym typeface="Calibri"/>
              </a:rPr>
              <a:t> cortes</a:t>
            </a:r>
          </a:p>
          <a:p>
            <a:pPr>
              <a:buClr>
                <a:srgbClr val="1A1A2E"/>
              </a:buClr>
              <a:buSzPts val="1000"/>
            </a:pPr>
            <a:endParaRPr lang="en-US" sz="1333" dirty="0">
              <a:solidFill>
                <a:srgbClr val="1A1A2E"/>
              </a:solidFill>
              <a:latin typeface="Calibri"/>
              <a:ea typeface="Calibri"/>
              <a:cs typeface="Calibri"/>
              <a:sym typeface="Calibri"/>
            </a:endParaRPr>
          </a:p>
          <a:p>
            <a:pPr>
              <a:buClr>
                <a:srgbClr val="1A1A2E"/>
              </a:buClr>
              <a:buSzPts val="1000"/>
            </a:pPr>
            <a:endParaRPr sz="1333" dirty="0">
              <a:solidFill>
                <a:schemeClr val="dk1"/>
              </a:solidFill>
              <a:latin typeface="Calibri"/>
              <a:ea typeface="Calibri"/>
              <a:cs typeface="Calibri"/>
              <a:sym typeface="Calibri"/>
            </a:endParaRPr>
          </a:p>
        </p:txBody>
      </p:sp>
      <p:sp>
        <p:nvSpPr>
          <p:cNvPr id="385" name="Google Shape;385;p13"/>
          <p:cNvSpPr/>
          <p:nvPr/>
        </p:nvSpPr>
        <p:spPr>
          <a:xfrm>
            <a:off x="426720" y="4742688"/>
            <a:ext cx="146304" cy="341376"/>
          </a:xfrm>
          <a:prstGeom prst="rect">
            <a:avLst/>
          </a:prstGeom>
          <a:noFill/>
          <a:ln>
            <a:noFill/>
          </a:ln>
        </p:spPr>
        <p:txBody>
          <a:bodyPr spcFirstLastPara="1" wrap="square" lIns="0" tIns="0" rIns="0" bIns="0" anchor="ctr" anchorCtr="0">
            <a:noAutofit/>
          </a:bodyPr>
          <a:lstStyle/>
          <a:p>
            <a:pPr>
              <a:buClr>
                <a:srgbClr val="02C39A"/>
              </a:buClr>
              <a:buSzPts val="1000"/>
            </a:pPr>
            <a:r>
              <a:rPr lang="en-US" sz="1333">
                <a:solidFill>
                  <a:srgbClr val="02C39A"/>
                </a:solidFill>
                <a:latin typeface="Calibri"/>
                <a:ea typeface="Calibri"/>
                <a:cs typeface="Calibri"/>
                <a:sym typeface="Calibri"/>
              </a:rPr>
              <a:t>•</a:t>
            </a:r>
            <a:endParaRPr sz="1333">
              <a:solidFill>
                <a:schemeClr val="dk1"/>
              </a:solidFill>
              <a:latin typeface="Calibri"/>
              <a:ea typeface="Calibri"/>
              <a:cs typeface="Calibri"/>
              <a:sym typeface="Calibri"/>
            </a:endParaRPr>
          </a:p>
        </p:txBody>
      </p:sp>
      <p:sp>
        <p:nvSpPr>
          <p:cNvPr id="387" name="Google Shape;387;p13"/>
          <p:cNvSpPr/>
          <p:nvPr/>
        </p:nvSpPr>
        <p:spPr>
          <a:xfrm>
            <a:off x="426720" y="5120640"/>
            <a:ext cx="146304" cy="341376"/>
          </a:xfrm>
          <a:prstGeom prst="rect">
            <a:avLst/>
          </a:prstGeom>
          <a:noFill/>
          <a:ln>
            <a:noFill/>
          </a:ln>
        </p:spPr>
        <p:txBody>
          <a:bodyPr spcFirstLastPara="1" wrap="square" lIns="0" tIns="0" rIns="0" bIns="0" anchor="ctr" anchorCtr="0">
            <a:noAutofit/>
          </a:bodyPr>
          <a:lstStyle/>
          <a:p>
            <a:pPr>
              <a:buClr>
                <a:srgbClr val="02C39A"/>
              </a:buClr>
              <a:buSzPts val="1000"/>
            </a:pPr>
            <a:r>
              <a:rPr lang="en-US" sz="1333">
                <a:solidFill>
                  <a:srgbClr val="02C39A"/>
                </a:solidFill>
                <a:latin typeface="Calibri"/>
                <a:ea typeface="Calibri"/>
                <a:cs typeface="Calibri"/>
                <a:sym typeface="Calibri"/>
              </a:rPr>
              <a:t>•</a:t>
            </a:r>
            <a:endParaRPr sz="1333">
              <a:solidFill>
                <a:schemeClr val="dk1"/>
              </a:solidFill>
              <a:latin typeface="Calibri"/>
              <a:ea typeface="Calibri"/>
              <a:cs typeface="Calibri"/>
              <a:sym typeface="Calibri"/>
            </a:endParaRPr>
          </a:p>
        </p:txBody>
      </p:sp>
      <p:sp>
        <p:nvSpPr>
          <p:cNvPr id="389" name="Google Shape;389;p13"/>
          <p:cNvSpPr/>
          <p:nvPr/>
        </p:nvSpPr>
        <p:spPr>
          <a:xfrm>
            <a:off x="426720" y="5498592"/>
            <a:ext cx="146304" cy="341376"/>
          </a:xfrm>
          <a:prstGeom prst="rect">
            <a:avLst/>
          </a:prstGeom>
          <a:noFill/>
          <a:ln>
            <a:noFill/>
          </a:ln>
        </p:spPr>
        <p:txBody>
          <a:bodyPr spcFirstLastPara="1" wrap="square" lIns="0" tIns="0" rIns="0" bIns="0" anchor="ctr" anchorCtr="0">
            <a:noAutofit/>
          </a:bodyPr>
          <a:lstStyle/>
          <a:p>
            <a:pPr>
              <a:buClr>
                <a:srgbClr val="02C39A"/>
              </a:buClr>
              <a:buSzPts val="1000"/>
            </a:pPr>
            <a:r>
              <a:rPr lang="en-US" sz="1333">
                <a:solidFill>
                  <a:srgbClr val="02C39A"/>
                </a:solidFill>
                <a:latin typeface="Calibri"/>
                <a:ea typeface="Calibri"/>
                <a:cs typeface="Calibri"/>
                <a:sym typeface="Calibri"/>
              </a:rPr>
              <a:t>•</a:t>
            </a:r>
            <a:endParaRPr sz="1333">
              <a:solidFill>
                <a:schemeClr val="dk1"/>
              </a:solidFill>
              <a:latin typeface="Calibri"/>
              <a:ea typeface="Calibri"/>
              <a:cs typeface="Calibri"/>
              <a:sym typeface="Calibri"/>
            </a:endParaRPr>
          </a:p>
        </p:txBody>
      </p:sp>
      <p:sp>
        <p:nvSpPr>
          <p:cNvPr id="391" name="Google Shape;391;p13"/>
          <p:cNvSpPr/>
          <p:nvPr/>
        </p:nvSpPr>
        <p:spPr>
          <a:xfrm>
            <a:off x="6217920" y="1706880"/>
            <a:ext cx="5608320" cy="2255520"/>
          </a:xfrm>
          <a:prstGeom prst="rect">
            <a:avLst/>
          </a:prstGeom>
          <a:solidFill>
            <a:srgbClr val="FFFFFF"/>
          </a:solidFill>
          <a:ln>
            <a:noFill/>
          </a:ln>
          <a:effectLst>
            <a:outerShdw blurRad="76200" dist="25400" dir="8100000" algn="bl" rotWithShape="0">
              <a:srgbClr val="000000">
                <a:alpha val="10196"/>
              </a:srgbClr>
            </a:outerShdw>
          </a:effectLst>
          <a:scene3d>
            <a:camera prst="orthographicFront"/>
            <a:lightRig rig="threePt" dir="t"/>
          </a:scene3d>
          <a:sp3d>
            <a:bevelT/>
          </a:sp3d>
        </p:spPr>
        <p:txBody>
          <a:bodyPr spcFirstLastPara="1" wrap="square" lIns="121900" tIns="121900" rIns="121900" bIns="121900" anchor="ctr" anchorCtr="0">
            <a:noAutofit/>
          </a:bodyPr>
          <a:lstStyle/>
          <a:p>
            <a:endParaRPr sz="2400"/>
          </a:p>
        </p:txBody>
      </p:sp>
      <p:sp>
        <p:nvSpPr>
          <p:cNvPr id="392" name="Google Shape;392;p13"/>
          <p:cNvSpPr/>
          <p:nvPr/>
        </p:nvSpPr>
        <p:spPr>
          <a:xfrm>
            <a:off x="6217920" y="1706880"/>
            <a:ext cx="5608320" cy="487680"/>
          </a:xfrm>
          <a:prstGeom prst="rect">
            <a:avLst/>
          </a:prstGeom>
          <a:solidFill>
            <a:srgbClr val="0D1B2A"/>
          </a:solidFill>
          <a:ln w="12700" cap="flat" cmpd="sng">
            <a:solidFill>
              <a:srgbClr val="0D1B2A"/>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93" name="Google Shape;393;p13"/>
          <p:cNvSpPr/>
          <p:nvPr/>
        </p:nvSpPr>
        <p:spPr>
          <a:xfrm>
            <a:off x="6400800" y="1767840"/>
            <a:ext cx="5242560" cy="390144"/>
          </a:xfrm>
          <a:prstGeom prst="rect">
            <a:avLst/>
          </a:prstGeom>
          <a:noFill/>
          <a:ln>
            <a:noFill/>
          </a:ln>
        </p:spPr>
        <p:txBody>
          <a:bodyPr spcFirstLastPara="1" wrap="square" lIns="0" tIns="0" rIns="0" bIns="0" anchor="ctr" anchorCtr="0">
            <a:noAutofit/>
          </a:bodyPr>
          <a:lstStyle/>
          <a:p>
            <a:pPr>
              <a:buClr>
                <a:srgbClr val="FFFFFF"/>
              </a:buClr>
              <a:buSzPts val="1200"/>
            </a:pPr>
            <a:r>
              <a:rPr lang="en-US" sz="1600" b="1" dirty="0" err="1">
                <a:solidFill>
                  <a:srgbClr val="FFFFFF"/>
                </a:solidFill>
                <a:latin typeface="Trebuchet MS"/>
                <a:ea typeface="Trebuchet MS"/>
                <a:cs typeface="Trebuchet MS"/>
                <a:sym typeface="Trebuchet MS"/>
              </a:rPr>
              <a:t>Gobernanza</a:t>
            </a:r>
            <a:r>
              <a:rPr lang="en-US" sz="1600" b="1" dirty="0">
                <a:solidFill>
                  <a:srgbClr val="FFFFFF"/>
                </a:solidFill>
                <a:latin typeface="Trebuchet MS"/>
                <a:ea typeface="Trebuchet MS"/>
                <a:cs typeface="Trebuchet MS"/>
                <a:sym typeface="Trebuchet MS"/>
              </a:rPr>
              <a:t> y </a:t>
            </a:r>
            <a:r>
              <a:rPr lang="en-US" sz="1600" b="1" dirty="0" err="1">
                <a:solidFill>
                  <a:srgbClr val="FFFFFF"/>
                </a:solidFill>
                <a:latin typeface="Trebuchet MS"/>
                <a:ea typeface="Trebuchet MS"/>
                <a:cs typeface="Trebuchet MS"/>
                <a:sym typeface="Trebuchet MS"/>
              </a:rPr>
              <a:t>Privacidad</a:t>
            </a:r>
            <a:endParaRPr sz="1600" dirty="0">
              <a:solidFill>
                <a:schemeClr val="dk1"/>
              </a:solidFill>
              <a:latin typeface="Calibri"/>
              <a:ea typeface="Calibri"/>
              <a:cs typeface="Calibri"/>
              <a:sym typeface="Calibri"/>
            </a:endParaRPr>
          </a:p>
        </p:txBody>
      </p:sp>
      <p:sp>
        <p:nvSpPr>
          <p:cNvPr id="395" name="Google Shape;395;p13"/>
          <p:cNvSpPr/>
          <p:nvPr/>
        </p:nvSpPr>
        <p:spPr>
          <a:xfrm>
            <a:off x="6339840" y="2304288"/>
            <a:ext cx="146304" cy="341376"/>
          </a:xfrm>
          <a:prstGeom prst="rect">
            <a:avLst/>
          </a:prstGeom>
          <a:noFill/>
          <a:ln>
            <a:noFill/>
          </a:ln>
        </p:spPr>
        <p:txBody>
          <a:bodyPr spcFirstLastPara="1" wrap="square" lIns="0" tIns="0" rIns="0" bIns="0" anchor="ctr" anchorCtr="0">
            <a:noAutofit/>
          </a:bodyPr>
          <a:lstStyle/>
          <a:p>
            <a:pPr>
              <a:buClr>
                <a:srgbClr val="02C39A"/>
              </a:buClr>
              <a:buSzPts val="1000"/>
            </a:pPr>
            <a:r>
              <a:rPr lang="en-US" sz="1333">
                <a:solidFill>
                  <a:srgbClr val="02C39A"/>
                </a:solidFill>
                <a:latin typeface="Calibri"/>
                <a:ea typeface="Calibri"/>
                <a:cs typeface="Calibri"/>
                <a:sym typeface="Calibri"/>
              </a:rPr>
              <a:t>•</a:t>
            </a:r>
            <a:endParaRPr sz="1333">
              <a:solidFill>
                <a:schemeClr val="dk1"/>
              </a:solidFill>
              <a:latin typeface="Calibri"/>
              <a:ea typeface="Calibri"/>
              <a:cs typeface="Calibri"/>
              <a:sym typeface="Calibri"/>
            </a:endParaRPr>
          </a:p>
        </p:txBody>
      </p:sp>
      <p:sp>
        <p:nvSpPr>
          <p:cNvPr id="396" name="Google Shape;396;p13"/>
          <p:cNvSpPr/>
          <p:nvPr/>
        </p:nvSpPr>
        <p:spPr>
          <a:xfrm>
            <a:off x="6486144" y="2304288"/>
            <a:ext cx="5181600" cy="341376"/>
          </a:xfrm>
          <a:prstGeom prst="rect">
            <a:avLst/>
          </a:prstGeom>
          <a:noFill/>
          <a:ln>
            <a:noFill/>
          </a:ln>
        </p:spPr>
        <p:txBody>
          <a:bodyPr spcFirstLastPara="1" wrap="square" lIns="0" tIns="0" rIns="0" bIns="0" anchor="ctr" anchorCtr="0">
            <a:noAutofit/>
          </a:bodyPr>
          <a:lstStyle/>
          <a:p>
            <a:pPr>
              <a:buClr>
                <a:srgbClr val="1A1A2E"/>
              </a:buClr>
              <a:buSzPts val="1000"/>
            </a:pPr>
            <a:r>
              <a:rPr lang="en-US" sz="1333">
                <a:solidFill>
                  <a:srgbClr val="1A1A2E"/>
                </a:solidFill>
                <a:latin typeface="Calibri"/>
                <a:ea typeface="Calibri"/>
                <a:cs typeface="Calibri"/>
                <a:sym typeface="Calibri"/>
              </a:rPr>
              <a:t>Usa modelos locales con datos sensibles</a:t>
            </a:r>
            <a:endParaRPr sz="1333">
              <a:solidFill>
                <a:schemeClr val="dk1"/>
              </a:solidFill>
              <a:latin typeface="Calibri"/>
              <a:ea typeface="Calibri"/>
              <a:cs typeface="Calibri"/>
              <a:sym typeface="Calibri"/>
            </a:endParaRPr>
          </a:p>
        </p:txBody>
      </p:sp>
      <p:sp>
        <p:nvSpPr>
          <p:cNvPr id="397" name="Google Shape;397;p13"/>
          <p:cNvSpPr/>
          <p:nvPr/>
        </p:nvSpPr>
        <p:spPr>
          <a:xfrm>
            <a:off x="6339840" y="2682240"/>
            <a:ext cx="146304" cy="341376"/>
          </a:xfrm>
          <a:prstGeom prst="rect">
            <a:avLst/>
          </a:prstGeom>
          <a:noFill/>
          <a:ln>
            <a:noFill/>
          </a:ln>
        </p:spPr>
        <p:txBody>
          <a:bodyPr spcFirstLastPara="1" wrap="square" lIns="0" tIns="0" rIns="0" bIns="0" anchor="ctr" anchorCtr="0">
            <a:noAutofit/>
          </a:bodyPr>
          <a:lstStyle/>
          <a:p>
            <a:pPr>
              <a:buClr>
                <a:srgbClr val="02C39A"/>
              </a:buClr>
              <a:buSzPts val="1000"/>
            </a:pPr>
            <a:r>
              <a:rPr lang="en-US" sz="1333">
                <a:solidFill>
                  <a:srgbClr val="02C39A"/>
                </a:solidFill>
                <a:latin typeface="Calibri"/>
                <a:ea typeface="Calibri"/>
                <a:cs typeface="Calibri"/>
                <a:sym typeface="Calibri"/>
              </a:rPr>
              <a:t>•</a:t>
            </a:r>
            <a:endParaRPr sz="1333">
              <a:solidFill>
                <a:schemeClr val="dk1"/>
              </a:solidFill>
              <a:latin typeface="Calibri"/>
              <a:ea typeface="Calibri"/>
              <a:cs typeface="Calibri"/>
              <a:sym typeface="Calibri"/>
            </a:endParaRPr>
          </a:p>
        </p:txBody>
      </p:sp>
      <p:sp>
        <p:nvSpPr>
          <p:cNvPr id="398" name="Google Shape;398;p13"/>
          <p:cNvSpPr/>
          <p:nvPr/>
        </p:nvSpPr>
        <p:spPr>
          <a:xfrm>
            <a:off x="6486144" y="2682240"/>
            <a:ext cx="5181600" cy="341376"/>
          </a:xfrm>
          <a:prstGeom prst="rect">
            <a:avLst/>
          </a:prstGeom>
          <a:noFill/>
          <a:ln>
            <a:noFill/>
          </a:ln>
        </p:spPr>
        <p:txBody>
          <a:bodyPr spcFirstLastPara="1" wrap="square" lIns="0" tIns="0" rIns="0" bIns="0" anchor="ctr" anchorCtr="0">
            <a:noAutofit/>
          </a:bodyPr>
          <a:lstStyle/>
          <a:p>
            <a:pPr>
              <a:buClr>
                <a:srgbClr val="1A1A2E"/>
              </a:buClr>
              <a:buSzPts val="1000"/>
            </a:pPr>
            <a:r>
              <a:rPr lang="en-US" sz="1333">
                <a:solidFill>
                  <a:srgbClr val="1A1A2E"/>
                </a:solidFill>
                <a:latin typeface="Calibri"/>
                <a:ea typeface="Calibri"/>
                <a:cs typeface="Calibri"/>
                <a:sym typeface="Calibri"/>
              </a:rPr>
              <a:t>Configura KNIME Hub para controlar acceso</a:t>
            </a:r>
            <a:endParaRPr sz="1333">
              <a:solidFill>
                <a:schemeClr val="dk1"/>
              </a:solidFill>
              <a:latin typeface="Calibri"/>
              <a:ea typeface="Calibri"/>
              <a:cs typeface="Calibri"/>
              <a:sym typeface="Calibri"/>
            </a:endParaRPr>
          </a:p>
        </p:txBody>
      </p:sp>
      <p:sp>
        <p:nvSpPr>
          <p:cNvPr id="399" name="Google Shape;399;p13"/>
          <p:cNvSpPr/>
          <p:nvPr/>
        </p:nvSpPr>
        <p:spPr>
          <a:xfrm>
            <a:off x="6339840" y="3060192"/>
            <a:ext cx="146304" cy="341376"/>
          </a:xfrm>
          <a:prstGeom prst="rect">
            <a:avLst/>
          </a:prstGeom>
          <a:noFill/>
          <a:ln>
            <a:noFill/>
          </a:ln>
        </p:spPr>
        <p:txBody>
          <a:bodyPr spcFirstLastPara="1" wrap="square" lIns="0" tIns="0" rIns="0" bIns="0" anchor="ctr" anchorCtr="0">
            <a:noAutofit/>
          </a:bodyPr>
          <a:lstStyle/>
          <a:p>
            <a:pPr>
              <a:buClr>
                <a:srgbClr val="02C39A"/>
              </a:buClr>
              <a:buSzPts val="1000"/>
            </a:pPr>
            <a:r>
              <a:rPr lang="en-US" sz="1333">
                <a:solidFill>
                  <a:srgbClr val="02C39A"/>
                </a:solidFill>
                <a:latin typeface="Calibri"/>
                <a:ea typeface="Calibri"/>
                <a:cs typeface="Calibri"/>
                <a:sym typeface="Calibri"/>
              </a:rPr>
              <a:t>•</a:t>
            </a:r>
            <a:endParaRPr sz="1333">
              <a:solidFill>
                <a:schemeClr val="dk1"/>
              </a:solidFill>
              <a:latin typeface="Calibri"/>
              <a:ea typeface="Calibri"/>
              <a:cs typeface="Calibri"/>
              <a:sym typeface="Calibri"/>
            </a:endParaRPr>
          </a:p>
        </p:txBody>
      </p:sp>
      <p:sp>
        <p:nvSpPr>
          <p:cNvPr id="400" name="Google Shape;400;p13"/>
          <p:cNvSpPr/>
          <p:nvPr/>
        </p:nvSpPr>
        <p:spPr>
          <a:xfrm>
            <a:off x="6486144" y="3060192"/>
            <a:ext cx="5181600" cy="341376"/>
          </a:xfrm>
          <a:prstGeom prst="rect">
            <a:avLst/>
          </a:prstGeom>
          <a:noFill/>
          <a:ln>
            <a:noFill/>
          </a:ln>
        </p:spPr>
        <p:txBody>
          <a:bodyPr spcFirstLastPara="1" wrap="square" lIns="0" tIns="0" rIns="0" bIns="0" anchor="ctr" anchorCtr="0">
            <a:noAutofit/>
          </a:bodyPr>
          <a:lstStyle/>
          <a:p>
            <a:pPr>
              <a:buClr>
                <a:srgbClr val="1A1A2E"/>
              </a:buClr>
              <a:buSzPts val="1000"/>
            </a:pPr>
            <a:r>
              <a:rPr lang="en-US" sz="1333">
                <a:solidFill>
                  <a:srgbClr val="1A1A2E"/>
                </a:solidFill>
                <a:latin typeface="Calibri"/>
                <a:ea typeface="Calibri"/>
                <a:cs typeface="Calibri"/>
                <a:sym typeface="Calibri"/>
              </a:rPr>
              <a:t>No incluyas datos confidenciales en prompts API</a:t>
            </a:r>
            <a:endParaRPr sz="1333">
              <a:solidFill>
                <a:schemeClr val="dk1"/>
              </a:solidFill>
              <a:latin typeface="Calibri"/>
              <a:ea typeface="Calibri"/>
              <a:cs typeface="Calibri"/>
              <a:sym typeface="Calibri"/>
            </a:endParaRPr>
          </a:p>
        </p:txBody>
      </p:sp>
      <p:sp>
        <p:nvSpPr>
          <p:cNvPr id="401" name="Google Shape;401;p13"/>
          <p:cNvSpPr/>
          <p:nvPr/>
        </p:nvSpPr>
        <p:spPr>
          <a:xfrm>
            <a:off x="6278883" y="4145281"/>
            <a:ext cx="5547357" cy="2033847"/>
          </a:xfrm>
          <a:prstGeom prst="rect">
            <a:avLst/>
          </a:prstGeom>
          <a:solidFill>
            <a:srgbClr val="FFFFFF"/>
          </a:solidFill>
          <a:ln>
            <a:noFill/>
          </a:ln>
          <a:effectLst>
            <a:outerShdw blurRad="76200" dist="25400" dir="8100000" algn="bl" rotWithShape="0">
              <a:srgbClr val="000000">
                <a:alpha val="10196"/>
              </a:srgbClr>
            </a:outerShdw>
          </a:effectLst>
          <a:scene3d>
            <a:camera prst="orthographicFront"/>
            <a:lightRig rig="threePt" dir="t"/>
          </a:scene3d>
          <a:sp3d>
            <a:bevelT/>
          </a:sp3d>
        </p:spPr>
        <p:txBody>
          <a:bodyPr spcFirstLastPara="1" wrap="square" lIns="121900" tIns="121900" rIns="121900" bIns="121900" anchor="ctr" anchorCtr="0">
            <a:noAutofit/>
          </a:bodyPr>
          <a:lstStyle/>
          <a:p>
            <a:endParaRPr sz="2400"/>
          </a:p>
        </p:txBody>
      </p:sp>
      <p:sp>
        <p:nvSpPr>
          <p:cNvPr id="402" name="Google Shape;402;p13"/>
          <p:cNvSpPr/>
          <p:nvPr/>
        </p:nvSpPr>
        <p:spPr>
          <a:xfrm>
            <a:off x="6217920" y="4145280"/>
            <a:ext cx="5608320" cy="487680"/>
          </a:xfrm>
          <a:prstGeom prst="rect">
            <a:avLst/>
          </a:prstGeom>
          <a:solidFill>
            <a:srgbClr val="0D1B2A"/>
          </a:solidFill>
          <a:ln w="12700" cap="flat" cmpd="sng">
            <a:solidFill>
              <a:srgbClr val="0D1B2A"/>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03" name="Google Shape;403;p13"/>
          <p:cNvSpPr/>
          <p:nvPr/>
        </p:nvSpPr>
        <p:spPr>
          <a:xfrm>
            <a:off x="6400800" y="4206240"/>
            <a:ext cx="5242560" cy="390144"/>
          </a:xfrm>
          <a:prstGeom prst="rect">
            <a:avLst/>
          </a:prstGeom>
          <a:noFill/>
          <a:ln>
            <a:noFill/>
          </a:ln>
        </p:spPr>
        <p:txBody>
          <a:bodyPr spcFirstLastPara="1" wrap="square" lIns="0" tIns="0" rIns="0" bIns="0" anchor="ctr" anchorCtr="0">
            <a:noAutofit/>
          </a:bodyPr>
          <a:lstStyle/>
          <a:p>
            <a:pPr>
              <a:buClr>
                <a:srgbClr val="FFFFFF"/>
              </a:buClr>
              <a:buSzPts val="1200"/>
            </a:pPr>
            <a:r>
              <a:rPr lang="en-US" sz="1600" b="1" dirty="0">
                <a:solidFill>
                  <a:srgbClr val="FFFFFF"/>
                </a:solidFill>
                <a:latin typeface="Trebuchet MS"/>
                <a:ea typeface="Trebuchet MS"/>
                <a:cs typeface="Trebuchet MS"/>
                <a:sym typeface="Trebuchet MS"/>
              </a:rPr>
              <a:t> </a:t>
            </a:r>
            <a:r>
              <a:rPr lang="en-US" sz="1600" b="1" dirty="0" err="1">
                <a:solidFill>
                  <a:srgbClr val="FFFFFF"/>
                </a:solidFill>
                <a:latin typeface="Trebuchet MS"/>
                <a:ea typeface="Trebuchet MS"/>
                <a:cs typeface="Trebuchet MS"/>
                <a:sym typeface="Trebuchet MS"/>
              </a:rPr>
              <a:t>Riesgos</a:t>
            </a:r>
            <a:r>
              <a:rPr lang="en-US" sz="1600" b="1" dirty="0">
                <a:solidFill>
                  <a:srgbClr val="FFFFFF"/>
                </a:solidFill>
                <a:latin typeface="Trebuchet MS"/>
                <a:ea typeface="Trebuchet MS"/>
                <a:cs typeface="Trebuchet MS"/>
                <a:sym typeface="Trebuchet MS"/>
              </a:rPr>
              <a:t> a </a:t>
            </a:r>
            <a:r>
              <a:rPr lang="en-US" sz="1600" b="1" dirty="0" err="1">
                <a:solidFill>
                  <a:srgbClr val="FFFFFF"/>
                </a:solidFill>
                <a:latin typeface="Trebuchet MS"/>
                <a:ea typeface="Trebuchet MS"/>
                <a:cs typeface="Trebuchet MS"/>
                <a:sym typeface="Trebuchet MS"/>
              </a:rPr>
              <a:t>Considerar</a:t>
            </a:r>
            <a:endParaRPr sz="1600" dirty="0">
              <a:solidFill>
                <a:schemeClr val="dk1"/>
              </a:solidFill>
              <a:latin typeface="Calibri"/>
              <a:ea typeface="Calibri"/>
              <a:cs typeface="Calibri"/>
              <a:sym typeface="Calibri"/>
            </a:endParaRPr>
          </a:p>
        </p:txBody>
      </p:sp>
      <p:sp>
        <p:nvSpPr>
          <p:cNvPr id="404" name="Google Shape;404;p13"/>
          <p:cNvSpPr/>
          <p:nvPr/>
        </p:nvSpPr>
        <p:spPr>
          <a:xfrm>
            <a:off x="6586636" y="4718304"/>
            <a:ext cx="5303520" cy="1560576"/>
          </a:xfrm>
          <a:prstGeom prst="rect">
            <a:avLst/>
          </a:prstGeom>
          <a:noFill/>
          <a:ln>
            <a:noFill/>
          </a:ln>
        </p:spPr>
        <p:txBody>
          <a:bodyPr spcFirstLastPara="1" wrap="square" lIns="0" tIns="0" rIns="0" bIns="0" anchor="ctr" anchorCtr="0">
            <a:noAutofit/>
          </a:bodyPr>
          <a:lstStyle/>
          <a:p>
            <a:pPr>
              <a:buClr>
                <a:srgbClr val="1A1A2E"/>
              </a:buClr>
              <a:buSzPts val="1000"/>
            </a:pPr>
            <a:r>
              <a:rPr lang="en-US" sz="1333" dirty="0" err="1">
                <a:solidFill>
                  <a:srgbClr val="1A1A2E"/>
                </a:solidFill>
                <a:latin typeface="Calibri"/>
                <a:ea typeface="Calibri"/>
                <a:cs typeface="Calibri"/>
                <a:sym typeface="Calibri"/>
              </a:rPr>
              <a:t>Alucinaciones</a:t>
            </a:r>
            <a:r>
              <a:rPr lang="en-US" sz="1333" dirty="0">
                <a:solidFill>
                  <a:srgbClr val="1A1A2E"/>
                </a:solidFill>
                <a:latin typeface="Calibri"/>
                <a:ea typeface="Calibri"/>
                <a:cs typeface="Calibri"/>
                <a:sym typeface="Calibri"/>
              </a:rPr>
              <a:t>: </a:t>
            </a:r>
            <a:r>
              <a:rPr lang="en-US" sz="1333" dirty="0" err="1">
                <a:solidFill>
                  <a:srgbClr val="1A1A2E"/>
                </a:solidFill>
                <a:latin typeface="Calibri"/>
                <a:ea typeface="Calibri"/>
                <a:cs typeface="Calibri"/>
                <a:sym typeface="Calibri"/>
              </a:rPr>
              <a:t>el</a:t>
            </a:r>
            <a:r>
              <a:rPr lang="en-US" sz="1333" dirty="0">
                <a:solidFill>
                  <a:srgbClr val="1A1A2E"/>
                </a:solidFill>
                <a:latin typeface="Calibri"/>
                <a:ea typeface="Calibri"/>
                <a:cs typeface="Calibri"/>
                <a:sym typeface="Calibri"/>
              </a:rPr>
              <a:t> </a:t>
            </a:r>
            <a:r>
              <a:rPr lang="en-US" sz="1333" dirty="0" err="1">
                <a:solidFill>
                  <a:srgbClr val="1A1A2E"/>
                </a:solidFill>
                <a:latin typeface="Calibri"/>
                <a:ea typeface="Calibri"/>
                <a:cs typeface="Calibri"/>
                <a:sym typeface="Calibri"/>
              </a:rPr>
              <a:t>modelo</a:t>
            </a:r>
            <a:r>
              <a:rPr lang="en-US" sz="1333" dirty="0">
                <a:solidFill>
                  <a:srgbClr val="1A1A2E"/>
                </a:solidFill>
                <a:latin typeface="Calibri"/>
                <a:ea typeface="Calibri"/>
                <a:cs typeface="Calibri"/>
                <a:sym typeface="Calibri"/>
              </a:rPr>
              <a:t> </a:t>
            </a:r>
            <a:r>
              <a:rPr lang="en-US" sz="1333" dirty="0" err="1">
                <a:solidFill>
                  <a:srgbClr val="1A1A2E"/>
                </a:solidFill>
                <a:latin typeface="Calibri"/>
                <a:ea typeface="Calibri"/>
                <a:cs typeface="Calibri"/>
                <a:sym typeface="Calibri"/>
              </a:rPr>
              <a:t>puede</a:t>
            </a:r>
            <a:r>
              <a:rPr lang="en-US" sz="1333" dirty="0">
                <a:solidFill>
                  <a:srgbClr val="1A1A2E"/>
                </a:solidFill>
                <a:latin typeface="Calibri"/>
                <a:ea typeface="Calibri"/>
                <a:cs typeface="Calibri"/>
                <a:sym typeface="Calibri"/>
              </a:rPr>
              <a:t> </a:t>
            </a:r>
            <a:r>
              <a:rPr lang="en-US" sz="1333" dirty="0" err="1">
                <a:solidFill>
                  <a:srgbClr val="1A1A2E"/>
                </a:solidFill>
                <a:latin typeface="Calibri"/>
                <a:ea typeface="Calibri"/>
                <a:cs typeface="Calibri"/>
                <a:sym typeface="Calibri"/>
              </a:rPr>
              <a:t>inventar</a:t>
            </a:r>
            <a:r>
              <a:rPr lang="en-US" sz="1333" dirty="0">
                <a:solidFill>
                  <a:srgbClr val="1A1A2E"/>
                </a:solidFill>
                <a:latin typeface="Calibri"/>
                <a:ea typeface="Calibri"/>
                <a:cs typeface="Calibri"/>
                <a:sym typeface="Calibri"/>
              </a:rPr>
              <a:t> </a:t>
            </a:r>
            <a:r>
              <a:rPr lang="en-US" sz="1333" dirty="0" err="1">
                <a:solidFill>
                  <a:srgbClr val="1A1A2E"/>
                </a:solidFill>
                <a:latin typeface="Calibri"/>
                <a:ea typeface="Calibri"/>
                <a:cs typeface="Calibri"/>
                <a:sym typeface="Calibri"/>
              </a:rPr>
              <a:t>hechos</a:t>
            </a:r>
            <a:endParaRPr sz="1333" dirty="0">
              <a:solidFill>
                <a:schemeClr val="dk1"/>
              </a:solidFill>
              <a:latin typeface="Calibri"/>
              <a:ea typeface="Calibri"/>
              <a:cs typeface="Calibri"/>
              <a:sym typeface="Calibri"/>
            </a:endParaRPr>
          </a:p>
          <a:p>
            <a:pPr>
              <a:buClr>
                <a:srgbClr val="1A1A2E"/>
              </a:buClr>
              <a:buSzPts val="1000"/>
            </a:pPr>
            <a:r>
              <a:rPr lang="en-US" sz="1333" dirty="0">
                <a:solidFill>
                  <a:srgbClr val="1A1A2E"/>
                </a:solidFill>
                <a:latin typeface="Calibri"/>
                <a:ea typeface="Calibri"/>
                <a:cs typeface="Calibri"/>
                <a:sym typeface="Calibri"/>
              </a:rPr>
              <a:t>Validar </a:t>
            </a:r>
            <a:r>
              <a:rPr lang="en-US" sz="1333" dirty="0" err="1">
                <a:solidFill>
                  <a:srgbClr val="1A1A2E"/>
                </a:solidFill>
                <a:latin typeface="Calibri"/>
                <a:ea typeface="Calibri"/>
                <a:cs typeface="Calibri"/>
                <a:sym typeface="Calibri"/>
              </a:rPr>
              <a:t>siempre</a:t>
            </a:r>
            <a:r>
              <a:rPr lang="en-US" sz="1333" dirty="0">
                <a:solidFill>
                  <a:srgbClr val="1A1A2E"/>
                </a:solidFill>
                <a:latin typeface="Calibri"/>
                <a:ea typeface="Calibri"/>
                <a:cs typeface="Calibri"/>
                <a:sym typeface="Calibri"/>
              </a:rPr>
              <a:t> la </a:t>
            </a:r>
            <a:r>
              <a:rPr lang="en-US" sz="1333" dirty="0" err="1">
                <a:solidFill>
                  <a:srgbClr val="1A1A2E"/>
                </a:solidFill>
                <a:latin typeface="Calibri"/>
                <a:ea typeface="Calibri"/>
                <a:cs typeface="Calibri"/>
                <a:sym typeface="Calibri"/>
              </a:rPr>
              <a:t>salida</a:t>
            </a:r>
            <a:r>
              <a:rPr lang="en-US" sz="1333" dirty="0">
                <a:solidFill>
                  <a:srgbClr val="1A1A2E"/>
                </a:solidFill>
                <a:latin typeface="Calibri"/>
                <a:ea typeface="Calibri"/>
                <a:cs typeface="Calibri"/>
                <a:sym typeface="Calibri"/>
              </a:rPr>
              <a:t> con </a:t>
            </a:r>
            <a:r>
              <a:rPr lang="en-US" sz="1333" dirty="0" err="1">
                <a:solidFill>
                  <a:srgbClr val="1A1A2E"/>
                </a:solidFill>
                <a:latin typeface="Calibri"/>
                <a:ea typeface="Calibri"/>
                <a:cs typeface="Calibri"/>
                <a:sym typeface="Calibri"/>
              </a:rPr>
              <a:t>nodos</a:t>
            </a:r>
            <a:r>
              <a:rPr lang="en-US" sz="1333" dirty="0">
                <a:solidFill>
                  <a:srgbClr val="1A1A2E"/>
                </a:solidFill>
                <a:latin typeface="Calibri"/>
                <a:ea typeface="Calibri"/>
                <a:cs typeface="Calibri"/>
                <a:sym typeface="Calibri"/>
              </a:rPr>
              <a:t> KNIME</a:t>
            </a:r>
            <a:endParaRPr sz="1333" dirty="0">
              <a:solidFill>
                <a:schemeClr val="dk1"/>
              </a:solidFill>
              <a:latin typeface="Calibri"/>
              <a:ea typeface="Calibri"/>
              <a:cs typeface="Calibri"/>
              <a:sym typeface="Calibri"/>
            </a:endParaRPr>
          </a:p>
          <a:p>
            <a:pPr>
              <a:buClr>
                <a:srgbClr val="1A1A2E"/>
              </a:buClr>
              <a:buSzPts val="1000"/>
            </a:pPr>
            <a:r>
              <a:rPr lang="en-US" sz="1333" dirty="0">
                <a:solidFill>
                  <a:srgbClr val="1A1A2E"/>
                </a:solidFill>
                <a:latin typeface="Calibri"/>
                <a:ea typeface="Calibri"/>
                <a:cs typeface="Calibri"/>
                <a:sym typeface="Calibri"/>
              </a:rPr>
              <a:t>Los LLMs no </a:t>
            </a:r>
            <a:r>
              <a:rPr lang="en-US" sz="1333" dirty="0" err="1">
                <a:solidFill>
                  <a:srgbClr val="1A1A2E"/>
                </a:solidFill>
                <a:latin typeface="Calibri"/>
                <a:ea typeface="Calibri"/>
                <a:cs typeface="Calibri"/>
                <a:sym typeface="Calibri"/>
              </a:rPr>
              <a:t>tienen</a:t>
            </a:r>
            <a:r>
              <a:rPr lang="en-US" sz="1333" dirty="0">
                <a:solidFill>
                  <a:srgbClr val="1A1A2E"/>
                </a:solidFill>
                <a:latin typeface="Calibri"/>
                <a:ea typeface="Calibri"/>
                <a:cs typeface="Calibri"/>
                <a:sym typeface="Calibri"/>
              </a:rPr>
              <a:t> </a:t>
            </a:r>
            <a:r>
              <a:rPr lang="en-US" sz="1333" dirty="0" err="1">
                <a:solidFill>
                  <a:srgbClr val="1A1A2E"/>
                </a:solidFill>
                <a:latin typeface="Calibri"/>
                <a:ea typeface="Calibri"/>
                <a:cs typeface="Calibri"/>
                <a:sym typeface="Calibri"/>
              </a:rPr>
              <a:t>comprensión</a:t>
            </a:r>
            <a:r>
              <a:rPr lang="en-US" sz="1333" dirty="0">
                <a:solidFill>
                  <a:srgbClr val="1A1A2E"/>
                </a:solidFill>
                <a:latin typeface="Calibri"/>
                <a:ea typeface="Calibri"/>
                <a:cs typeface="Calibri"/>
                <a:sym typeface="Calibri"/>
              </a:rPr>
              <a:t> </a:t>
            </a:r>
            <a:r>
              <a:rPr lang="en-US" sz="1333" dirty="0" err="1">
                <a:solidFill>
                  <a:srgbClr val="1A1A2E"/>
                </a:solidFill>
                <a:latin typeface="Calibri"/>
                <a:ea typeface="Calibri"/>
                <a:cs typeface="Calibri"/>
                <a:sym typeface="Calibri"/>
              </a:rPr>
              <a:t>semántica</a:t>
            </a:r>
            <a:r>
              <a:rPr lang="en-US" sz="1333" dirty="0">
                <a:solidFill>
                  <a:srgbClr val="1A1A2E"/>
                </a:solidFill>
                <a:latin typeface="Calibri"/>
                <a:ea typeface="Calibri"/>
                <a:cs typeface="Calibri"/>
                <a:sym typeface="Calibri"/>
              </a:rPr>
              <a:t> real</a:t>
            </a:r>
            <a:endParaRPr sz="1333" dirty="0">
              <a:solidFill>
                <a:schemeClr val="dk1"/>
              </a:solidFill>
              <a:latin typeface="Calibri"/>
              <a:ea typeface="Calibri"/>
              <a:cs typeface="Calibri"/>
              <a:sym typeface="Calibri"/>
            </a:endParaRPr>
          </a:p>
        </p:txBody>
      </p:sp>
      <p:sp>
        <p:nvSpPr>
          <p:cNvPr id="407" name="Google Shape;407;p13"/>
          <p:cNvSpPr/>
          <p:nvPr/>
        </p:nvSpPr>
        <p:spPr>
          <a:xfrm>
            <a:off x="6339840" y="5120640"/>
            <a:ext cx="146304" cy="341376"/>
          </a:xfrm>
          <a:prstGeom prst="rect">
            <a:avLst/>
          </a:prstGeom>
          <a:noFill/>
          <a:ln>
            <a:noFill/>
          </a:ln>
        </p:spPr>
        <p:txBody>
          <a:bodyPr spcFirstLastPara="1" wrap="square" lIns="0" tIns="0" rIns="0" bIns="0" anchor="ctr" anchorCtr="0">
            <a:noAutofit/>
          </a:bodyPr>
          <a:lstStyle/>
          <a:p>
            <a:pPr>
              <a:buClr>
                <a:srgbClr val="02C39A"/>
              </a:buClr>
              <a:buSzPts val="1000"/>
            </a:pPr>
            <a:r>
              <a:rPr lang="en-US" sz="1333">
                <a:solidFill>
                  <a:srgbClr val="02C39A"/>
                </a:solidFill>
                <a:latin typeface="Calibri"/>
                <a:ea typeface="Calibri"/>
                <a:cs typeface="Calibri"/>
                <a:sym typeface="Calibri"/>
              </a:rPr>
              <a:t>•</a:t>
            </a:r>
            <a:endParaRPr sz="1333">
              <a:solidFill>
                <a:schemeClr val="dk1"/>
              </a:solidFill>
              <a:latin typeface="Calibri"/>
              <a:ea typeface="Calibri"/>
              <a:cs typeface="Calibri"/>
              <a:sym typeface="Calibri"/>
            </a:endParaRPr>
          </a:p>
        </p:txBody>
      </p:sp>
      <p:sp>
        <p:nvSpPr>
          <p:cNvPr id="409" name="Google Shape;409;p13"/>
          <p:cNvSpPr/>
          <p:nvPr/>
        </p:nvSpPr>
        <p:spPr>
          <a:xfrm>
            <a:off x="6339840" y="5498592"/>
            <a:ext cx="146304" cy="341376"/>
          </a:xfrm>
          <a:prstGeom prst="rect">
            <a:avLst/>
          </a:prstGeom>
          <a:noFill/>
          <a:ln>
            <a:noFill/>
          </a:ln>
        </p:spPr>
        <p:txBody>
          <a:bodyPr spcFirstLastPara="1" wrap="square" lIns="0" tIns="0" rIns="0" bIns="0" anchor="ctr" anchorCtr="0">
            <a:noAutofit/>
          </a:bodyPr>
          <a:lstStyle/>
          <a:p>
            <a:pPr>
              <a:buClr>
                <a:srgbClr val="02C39A"/>
              </a:buClr>
              <a:buSzPts val="1000"/>
            </a:pPr>
            <a:r>
              <a:rPr lang="en-US" sz="1333">
                <a:solidFill>
                  <a:srgbClr val="02C39A"/>
                </a:solidFill>
                <a:latin typeface="Calibri"/>
                <a:ea typeface="Calibri"/>
                <a:cs typeface="Calibri"/>
                <a:sym typeface="Calibri"/>
              </a:rPr>
              <a:t>•</a:t>
            </a:r>
            <a:endParaRPr sz="1333">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8062666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grpSp>
        <p:nvGrpSpPr>
          <p:cNvPr id="4" name="Grupo 3">
            <a:extLst>
              <a:ext uri="{FF2B5EF4-FFF2-40B4-BE49-F238E27FC236}">
                <a16:creationId xmlns:a16="http://schemas.microsoft.com/office/drawing/2014/main" id="{93BCF510-F601-1229-54E3-DDC86E56A90A}"/>
              </a:ext>
            </a:extLst>
          </p:cNvPr>
          <p:cNvGrpSpPr/>
          <p:nvPr/>
        </p:nvGrpSpPr>
        <p:grpSpPr>
          <a:xfrm>
            <a:off x="777240" y="1565910"/>
            <a:ext cx="10321290" cy="4686300"/>
            <a:chOff x="365760" y="1158240"/>
            <a:chExt cx="11521440" cy="5657088"/>
          </a:xfrm>
        </p:grpSpPr>
        <p:sp>
          <p:nvSpPr>
            <p:cNvPr id="52" name="Google Shape;52;p4"/>
            <p:cNvSpPr/>
            <p:nvPr/>
          </p:nvSpPr>
          <p:spPr>
            <a:xfrm>
              <a:off x="365760" y="1158240"/>
              <a:ext cx="5608320" cy="1158240"/>
            </a:xfrm>
            <a:prstGeom prst="rect">
              <a:avLst/>
            </a:prstGeom>
            <a:solidFill>
              <a:srgbClr val="0D2137"/>
            </a:solidFill>
            <a:ln w="9525" cap="flat" cmpd="sng">
              <a:solidFill>
                <a:srgbClr val="1A4060"/>
              </a:solidFill>
              <a:prstDash val="solid"/>
              <a:round/>
              <a:headEnd type="none" w="sm" len="sm"/>
              <a:tailEnd type="none" w="sm" len="sm"/>
            </a:ln>
            <a:effectLst>
              <a:outerShdw blurRad="101600" dist="38100" dir="8100000" algn="bl" rotWithShape="0">
                <a:srgbClr val="000000">
                  <a:alpha val="18039"/>
                </a:srgbClr>
              </a:outerShdw>
            </a:effectLst>
          </p:spPr>
          <p:txBody>
            <a:bodyPr spcFirstLastPara="1" wrap="square" lIns="121900" tIns="121900" rIns="121900" bIns="121900" anchor="ctr" anchorCtr="0">
              <a:noAutofit/>
            </a:bodyPr>
            <a:lstStyle/>
            <a:p>
              <a:endParaRPr sz="2400"/>
            </a:p>
          </p:txBody>
        </p:sp>
        <p:sp>
          <p:nvSpPr>
            <p:cNvPr id="53" name="Google Shape;53;p4"/>
            <p:cNvSpPr/>
            <p:nvPr/>
          </p:nvSpPr>
          <p:spPr>
            <a:xfrm>
              <a:off x="365760" y="1158240"/>
              <a:ext cx="670560" cy="1158240"/>
            </a:xfrm>
            <a:prstGeom prst="rect">
              <a:avLst/>
            </a:prstGeom>
            <a:solidFill>
              <a:srgbClr val="0E7C7B"/>
            </a:solidFill>
            <a:ln>
              <a:noFill/>
            </a:ln>
          </p:spPr>
          <p:txBody>
            <a:bodyPr spcFirstLastPara="1" wrap="square" lIns="121900" tIns="121900" rIns="121900" bIns="121900" anchor="ctr" anchorCtr="0">
              <a:noAutofit/>
            </a:bodyPr>
            <a:lstStyle/>
            <a:p>
              <a:endParaRPr sz="2400"/>
            </a:p>
          </p:txBody>
        </p:sp>
        <p:sp>
          <p:nvSpPr>
            <p:cNvPr id="54" name="Google Shape;54;p4"/>
            <p:cNvSpPr/>
            <p:nvPr/>
          </p:nvSpPr>
          <p:spPr>
            <a:xfrm>
              <a:off x="365760" y="1158240"/>
              <a:ext cx="670560" cy="1158240"/>
            </a:xfrm>
            <a:prstGeom prst="rect">
              <a:avLst/>
            </a:prstGeom>
            <a:noFill/>
            <a:ln>
              <a:noFill/>
            </a:ln>
          </p:spPr>
          <p:txBody>
            <a:bodyPr spcFirstLastPara="1" wrap="square" lIns="0" tIns="0" rIns="0" bIns="0" anchor="ctr" anchorCtr="0">
              <a:noAutofit/>
            </a:bodyPr>
            <a:lstStyle/>
            <a:p>
              <a:pPr algn="ctr">
                <a:buClr>
                  <a:srgbClr val="FFFFFF"/>
                </a:buClr>
                <a:buSzPts val="1800"/>
              </a:pPr>
              <a:r>
                <a:rPr lang="en-US" sz="2400" b="1">
                  <a:latin typeface="Calibri"/>
                  <a:ea typeface="Calibri"/>
                  <a:cs typeface="Calibri"/>
                  <a:sym typeface="Calibri"/>
                </a:rPr>
                <a:t>01</a:t>
              </a:r>
              <a:endParaRPr sz="2400">
                <a:latin typeface="Calibri"/>
                <a:ea typeface="Calibri"/>
                <a:cs typeface="Calibri"/>
                <a:sym typeface="Calibri"/>
              </a:endParaRPr>
            </a:p>
          </p:txBody>
        </p:sp>
        <p:sp>
          <p:nvSpPr>
            <p:cNvPr id="55" name="Google Shape;55;p4"/>
            <p:cNvSpPr/>
            <p:nvPr/>
          </p:nvSpPr>
          <p:spPr>
            <a:xfrm>
              <a:off x="1158240" y="1280160"/>
              <a:ext cx="4693920" cy="463296"/>
            </a:xfrm>
            <a:prstGeom prst="rect">
              <a:avLst/>
            </a:prstGeom>
            <a:noFill/>
            <a:ln>
              <a:noFill/>
            </a:ln>
          </p:spPr>
          <p:txBody>
            <a:bodyPr spcFirstLastPara="1" wrap="square" lIns="0" tIns="0" rIns="0" bIns="0" anchor="ctr" anchorCtr="0">
              <a:noAutofit/>
            </a:bodyPr>
            <a:lstStyle/>
            <a:p>
              <a:pPr>
                <a:buClr>
                  <a:srgbClr val="FFFFFF"/>
                </a:buClr>
                <a:buSzPts val="1050"/>
              </a:pPr>
              <a:r>
                <a:rPr lang="en-US" sz="1400" b="1">
                  <a:latin typeface="Calibri"/>
                  <a:ea typeface="Calibri"/>
                  <a:cs typeface="Calibri"/>
                  <a:sym typeface="Calibri"/>
                </a:rPr>
                <a:t>El Paradigma IA Generativa → Agentes</a:t>
              </a:r>
              <a:endParaRPr sz="1400">
                <a:latin typeface="Calibri"/>
                <a:ea typeface="Calibri"/>
                <a:cs typeface="Calibri"/>
                <a:sym typeface="Calibri"/>
              </a:endParaRPr>
            </a:p>
          </p:txBody>
        </p:sp>
        <p:sp>
          <p:nvSpPr>
            <p:cNvPr id="56" name="Google Shape;56;p4"/>
            <p:cNvSpPr/>
            <p:nvPr/>
          </p:nvSpPr>
          <p:spPr>
            <a:xfrm>
              <a:off x="1158240" y="1792224"/>
              <a:ext cx="4693920" cy="426720"/>
            </a:xfrm>
            <a:prstGeom prst="rect">
              <a:avLst/>
            </a:prstGeom>
            <a:noFill/>
            <a:ln>
              <a:noFill/>
            </a:ln>
          </p:spPr>
          <p:txBody>
            <a:bodyPr spcFirstLastPara="1" wrap="square" lIns="0" tIns="0" rIns="0" bIns="0" anchor="ctr" anchorCtr="0">
              <a:noAutofit/>
            </a:bodyPr>
            <a:lstStyle/>
            <a:p>
              <a:pPr>
                <a:buClr>
                  <a:srgbClr val="7BA7BC"/>
                </a:buClr>
                <a:buSzPts val="900"/>
              </a:pPr>
              <a:r>
                <a:rPr lang="en-US" sz="1200">
                  <a:latin typeface="Calibri"/>
                  <a:ea typeface="Calibri"/>
                  <a:cs typeface="Calibri"/>
                  <a:sym typeface="Calibri"/>
                </a:rPr>
                <a:t>Del modelo estático al sistema autónomo</a:t>
              </a:r>
              <a:endParaRPr sz="1200">
                <a:latin typeface="Calibri"/>
                <a:ea typeface="Calibri"/>
                <a:cs typeface="Calibri"/>
                <a:sym typeface="Calibri"/>
              </a:endParaRPr>
            </a:p>
          </p:txBody>
        </p:sp>
        <p:sp>
          <p:nvSpPr>
            <p:cNvPr id="57" name="Google Shape;57;p4"/>
            <p:cNvSpPr/>
            <p:nvPr/>
          </p:nvSpPr>
          <p:spPr>
            <a:xfrm>
              <a:off x="365760" y="2523744"/>
              <a:ext cx="5608320" cy="1158240"/>
            </a:xfrm>
            <a:prstGeom prst="rect">
              <a:avLst/>
            </a:prstGeom>
            <a:solidFill>
              <a:srgbClr val="0D2137"/>
            </a:solidFill>
            <a:ln w="9525" cap="flat" cmpd="sng">
              <a:solidFill>
                <a:srgbClr val="1A4060"/>
              </a:solidFill>
              <a:prstDash val="solid"/>
              <a:round/>
              <a:headEnd type="none" w="sm" len="sm"/>
              <a:tailEnd type="none" w="sm" len="sm"/>
            </a:ln>
            <a:effectLst>
              <a:outerShdw blurRad="101600" dist="38100" dir="8100000" algn="bl" rotWithShape="0">
                <a:srgbClr val="000000">
                  <a:alpha val="18039"/>
                </a:srgbClr>
              </a:outerShdw>
            </a:effectLst>
          </p:spPr>
          <p:txBody>
            <a:bodyPr spcFirstLastPara="1" wrap="square" lIns="121900" tIns="121900" rIns="121900" bIns="121900" anchor="ctr" anchorCtr="0">
              <a:noAutofit/>
            </a:bodyPr>
            <a:lstStyle/>
            <a:p>
              <a:endParaRPr sz="2400"/>
            </a:p>
          </p:txBody>
        </p:sp>
        <p:sp>
          <p:nvSpPr>
            <p:cNvPr id="58" name="Google Shape;58;p4"/>
            <p:cNvSpPr/>
            <p:nvPr/>
          </p:nvSpPr>
          <p:spPr>
            <a:xfrm>
              <a:off x="365760" y="2523744"/>
              <a:ext cx="670560" cy="1158240"/>
            </a:xfrm>
            <a:prstGeom prst="rect">
              <a:avLst/>
            </a:prstGeom>
            <a:solidFill>
              <a:srgbClr val="0E7C7B"/>
            </a:solidFill>
            <a:ln>
              <a:noFill/>
            </a:ln>
          </p:spPr>
          <p:txBody>
            <a:bodyPr spcFirstLastPara="1" wrap="square" lIns="121900" tIns="121900" rIns="121900" bIns="121900" anchor="ctr" anchorCtr="0">
              <a:noAutofit/>
            </a:bodyPr>
            <a:lstStyle/>
            <a:p>
              <a:endParaRPr sz="2400"/>
            </a:p>
          </p:txBody>
        </p:sp>
        <p:sp>
          <p:nvSpPr>
            <p:cNvPr id="59" name="Google Shape;59;p4"/>
            <p:cNvSpPr/>
            <p:nvPr/>
          </p:nvSpPr>
          <p:spPr>
            <a:xfrm>
              <a:off x="365760" y="2523744"/>
              <a:ext cx="670560" cy="1158240"/>
            </a:xfrm>
            <a:prstGeom prst="rect">
              <a:avLst/>
            </a:prstGeom>
            <a:noFill/>
            <a:ln>
              <a:noFill/>
            </a:ln>
          </p:spPr>
          <p:txBody>
            <a:bodyPr spcFirstLastPara="1" wrap="square" lIns="0" tIns="0" rIns="0" bIns="0" anchor="ctr" anchorCtr="0">
              <a:noAutofit/>
            </a:bodyPr>
            <a:lstStyle/>
            <a:p>
              <a:pPr algn="ctr">
                <a:buClr>
                  <a:srgbClr val="FFFFFF"/>
                </a:buClr>
                <a:buSzPts val="1800"/>
              </a:pPr>
              <a:r>
                <a:rPr lang="en-US" sz="2400" b="1">
                  <a:latin typeface="Calibri"/>
                  <a:ea typeface="Calibri"/>
                  <a:cs typeface="Calibri"/>
                  <a:sym typeface="Calibri"/>
                </a:rPr>
                <a:t>02</a:t>
              </a:r>
              <a:endParaRPr sz="2400">
                <a:latin typeface="Calibri"/>
                <a:ea typeface="Calibri"/>
                <a:cs typeface="Calibri"/>
                <a:sym typeface="Calibri"/>
              </a:endParaRPr>
            </a:p>
          </p:txBody>
        </p:sp>
        <p:sp>
          <p:nvSpPr>
            <p:cNvPr id="60" name="Google Shape;60;p4"/>
            <p:cNvSpPr/>
            <p:nvPr/>
          </p:nvSpPr>
          <p:spPr>
            <a:xfrm>
              <a:off x="1158240" y="2645664"/>
              <a:ext cx="4693920" cy="463296"/>
            </a:xfrm>
            <a:prstGeom prst="rect">
              <a:avLst/>
            </a:prstGeom>
            <a:noFill/>
            <a:ln>
              <a:noFill/>
            </a:ln>
          </p:spPr>
          <p:txBody>
            <a:bodyPr spcFirstLastPara="1" wrap="square" lIns="0" tIns="0" rIns="0" bIns="0" anchor="ctr" anchorCtr="0">
              <a:noAutofit/>
            </a:bodyPr>
            <a:lstStyle/>
            <a:p>
              <a:pPr>
                <a:buClr>
                  <a:srgbClr val="FFFFFF"/>
                </a:buClr>
                <a:buSzPts val="1050"/>
              </a:pPr>
              <a:r>
                <a:rPr lang="en-US" sz="1400" b="1">
                  <a:latin typeface="Calibri"/>
                  <a:ea typeface="Calibri"/>
                  <a:cs typeface="Calibri"/>
                  <a:sym typeface="Calibri"/>
                </a:rPr>
                <a:t>¿Qué es un Agente? Componentes Clave</a:t>
              </a:r>
              <a:endParaRPr sz="1400">
                <a:latin typeface="Calibri"/>
                <a:ea typeface="Calibri"/>
                <a:cs typeface="Calibri"/>
                <a:sym typeface="Calibri"/>
              </a:endParaRPr>
            </a:p>
          </p:txBody>
        </p:sp>
        <p:sp>
          <p:nvSpPr>
            <p:cNvPr id="61" name="Google Shape;61;p4"/>
            <p:cNvSpPr/>
            <p:nvPr/>
          </p:nvSpPr>
          <p:spPr>
            <a:xfrm>
              <a:off x="1158240" y="3157728"/>
              <a:ext cx="4693920" cy="426720"/>
            </a:xfrm>
            <a:prstGeom prst="rect">
              <a:avLst/>
            </a:prstGeom>
            <a:noFill/>
            <a:ln>
              <a:noFill/>
            </a:ln>
          </p:spPr>
          <p:txBody>
            <a:bodyPr spcFirstLastPara="1" wrap="square" lIns="0" tIns="0" rIns="0" bIns="0" anchor="ctr" anchorCtr="0">
              <a:noAutofit/>
            </a:bodyPr>
            <a:lstStyle/>
            <a:p>
              <a:pPr>
                <a:buClr>
                  <a:srgbClr val="7BA7BC"/>
                </a:buClr>
                <a:buSzPts val="900"/>
              </a:pPr>
              <a:r>
                <a:rPr lang="en-US" sz="1200">
                  <a:latin typeface="Calibri"/>
                  <a:ea typeface="Calibri"/>
                  <a:cs typeface="Calibri"/>
                  <a:sym typeface="Calibri"/>
                </a:rPr>
                <a:t>Definición, memoria, herramientas, planificación</a:t>
              </a:r>
              <a:endParaRPr sz="1200">
                <a:latin typeface="Calibri"/>
                <a:ea typeface="Calibri"/>
                <a:cs typeface="Calibri"/>
                <a:sym typeface="Calibri"/>
              </a:endParaRPr>
            </a:p>
          </p:txBody>
        </p:sp>
        <p:sp>
          <p:nvSpPr>
            <p:cNvPr id="62" name="Google Shape;62;p4"/>
            <p:cNvSpPr/>
            <p:nvPr/>
          </p:nvSpPr>
          <p:spPr>
            <a:xfrm>
              <a:off x="365760" y="3889248"/>
              <a:ext cx="5608320" cy="1158240"/>
            </a:xfrm>
            <a:prstGeom prst="rect">
              <a:avLst/>
            </a:prstGeom>
            <a:solidFill>
              <a:srgbClr val="0D2137"/>
            </a:solidFill>
            <a:ln w="9525" cap="flat" cmpd="sng">
              <a:solidFill>
                <a:srgbClr val="1A4060"/>
              </a:solidFill>
              <a:prstDash val="solid"/>
              <a:round/>
              <a:headEnd type="none" w="sm" len="sm"/>
              <a:tailEnd type="none" w="sm" len="sm"/>
            </a:ln>
            <a:effectLst>
              <a:outerShdw blurRad="101600" dist="38100" dir="8100000" algn="bl" rotWithShape="0">
                <a:srgbClr val="000000">
                  <a:alpha val="18039"/>
                </a:srgbClr>
              </a:outerShdw>
            </a:effectLst>
          </p:spPr>
          <p:txBody>
            <a:bodyPr spcFirstLastPara="1" wrap="square" lIns="121900" tIns="121900" rIns="121900" bIns="121900" anchor="ctr" anchorCtr="0">
              <a:noAutofit/>
            </a:bodyPr>
            <a:lstStyle/>
            <a:p>
              <a:endParaRPr sz="2400"/>
            </a:p>
          </p:txBody>
        </p:sp>
        <p:sp>
          <p:nvSpPr>
            <p:cNvPr id="63" name="Google Shape;63;p4"/>
            <p:cNvSpPr/>
            <p:nvPr/>
          </p:nvSpPr>
          <p:spPr>
            <a:xfrm>
              <a:off x="365760" y="3889248"/>
              <a:ext cx="670560" cy="1158240"/>
            </a:xfrm>
            <a:prstGeom prst="rect">
              <a:avLst/>
            </a:prstGeom>
            <a:solidFill>
              <a:srgbClr val="0E7C7B"/>
            </a:solidFill>
            <a:ln>
              <a:noFill/>
            </a:ln>
          </p:spPr>
          <p:txBody>
            <a:bodyPr spcFirstLastPara="1" wrap="square" lIns="121900" tIns="121900" rIns="121900" bIns="121900" anchor="ctr" anchorCtr="0">
              <a:noAutofit/>
            </a:bodyPr>
            <a:lstStyle/>
            <a:p>
              <a:endParaRPr sz="2400"/>
            </a:p>
          </p:txBody>
        </p:sp>
        <p:sp>
          <p:nvSpPr>
            <p:cNvPr id="64" name="Google Shape;64;p4"/>
            <p:cNvSpPr/>
            <p:nvPr/>
          </p:nvSpPr>
          <p:spPr>
            <a:xfrm>
              <a:off x="365760" y="3889248"/>
              <a:ext cx="670560" cy="1158240"/>
            </a:xfrm>
            <a:prstGeom prst="rect">
              <a:avLst/>
            </a:prstGeom>
            <a:noFill/>
            <a:ln>
              <a:noFill/>
            </a:ln>
          </p:spPr>
          <p:txBody>
            <a:bodyPr spcFirstLastPara="1" wrap="square" lIns="0" tIns="0" rIns="0" bIns="0" anchor="ctr" anchorCtr="0">
              <a:noAutofit/>
            </a:bodyPr>
            <a:lstStyle/>
            <a:p>
              <a:pPr algn="ctr">
                <a:buClr>
                  <a:srgbClr val="FFFFFF"/>
                </a:buClr>
                <a:buSzPts val="1800"/>
              </a:pPr>
              <a:r>
                <a:rPr lang="en-US" sz="2400" b="1">
                  <a:latin typeface="Calibri"/>
                  <a:ea typeface="Calibri"/>
                  <a:cs typeface="Calibri"/>
                  <a:sym typeface="Calibri"/>
                </a:rPr>
                <a:t>03</a:t>
              </a:r>
              <a:endParaRPr sz="2400">
                <a:latin typeface="Calibri"/>
                <a:ea typeface="Calibri"/>
                <a:cs typeface="Calibri"/>
                <a:sym typeface="Calibri"/>
              </a:endParaRPr>
            </a:p>
          </p:txBody>
        </p:sp>
        <p:sp>
          <p:nvSpPr>
            <p:cNvPr id="65" name="Google Shape;65;p4"/>
            <p:cNvSpPr/>
            <p:nvPr/>
          </p:nvSpPr>
          <p:spPr>
            <a:xfrm>
              <a:off x="1158240" y="4011168"/>
              <a:ext cx="4693920" cy="463296"/>
            </a:xfrm>
            <a:prstGeom prst="rect">
              <a:avLst/>
            </a:prstGeom>
            <a:noFill/>
            <a:ln>
              <a:noFill/>
            </a:ln>
          </p:spPr>
          <p:txBody>
            <a:bodyPr spcFirstLastPara="1" wrap="square" lIns="0" tIns="0" rIns="0" bIns="0" anchor="ctr" anchorCtr="0">
              <a:noAutofit/>
            </a:bodyPr>
            <a:lstStyle/>
            <a:p>
              <a:pPr>
                <a:buClr>
                  <a:srgbClr val="FFFFFF"/>
                </a:buClr>
                <a:buSzPts val="1050"/>
              </a:pPr>
              <a:r>
                <a:rPr lang="en-US" sz="1400" b="1">
                  <a:latin typeface="Calibri"/>
                  <a:ea typeface="Calibri"/>
                  <a:cs typeface="Calibri"/>
                  <a:sym typeface="Calibri"/>
                </a:rPr>
                <a:t>Agente vs Agentic — La Diferencia Crítica</a:t>
              </a:r>
              <a:endParaRPr sz="1400">
                <a:latin typeface="Calibri"/>
                <a:ea typeface="Calibri"/>
                <a:cs typeface="Calibri"/>
                <a:sym typeface="Calibri"/>
              </a:endParaRPr>
            </a:p>
          </p:txBody>
        </p:sp>
        <p:sp>
          <p:nvSpPr>
            <p:cNvPr id="66" name="Google Shape;66;p4"/>
            <p:cNvSpPr/>
            <p:nvPr/>
          </p:nvSpPr>
          <p:spPr>
            <a:xfrm>
              <a:off x="1158240" y="4523232"/>
              <a:ext cx="4693920" cy="426720"/>
            </a:xfrm>
            <a:prstGeom prst="rect">
              <a:avLst/>
            </a:prstGeom>
            <a:noFill/>
            <a:ln>
              <a:noFill/>
            </a:ln>
          </p:spPr>
          <p:txBody>
            <a:bodyPr spcFirstLastPara="1" wrap="square" lIns="0" tIns="0" rIns="0" bIns="0" anchor="ctr" anchorCtr="0">
              <a:noAutofit/>
            </a:bodyPr>
            <a:lstStyle/>
            <a:p>
              <a:pPr>
                <a:buClr>
                  <a:srgbClr val="7BA7BC"/>
                </a:buClr>
                <a:buSzPts val="900"/>
              </a:pPr>
              <a:r>
                <a:rPr lang="en-US" sz="1200">
                  <a:latin typeface="Calibri"/>
                  <a:ea typeface="Calibri"/>
                  <a:cs typeface="Calibri"/>
                  <a:sym typeface="Calibri"/>
                </a:rPr>
                <a:t>Cuando el sistema actúa, no solo responde</a:t>
              </a:r>
              <a:endParaRPr sz="1200">
                <a:latin typeface="Calibri"/>
                <a:ea typeface="Calibri"/>
                <a:cs typeface="Calibri"/>
                <a:sym typeface="Calibri"/>
              </a:endParaRPr>
            </a:p>
          </p:txBody>
        </p:sp>
        <p:sp>
          <p:nvSpPr>
            <p:cNvPr id="67" name="Google Shape;67;p4"/>
            <p:cNvSpPr/>
            <p:nvPr/>
          </p:nvSpPr>
          <p:spPr>
            <a:xfrm>
              <a:off x="365760" y="5254752"/>
              <a:ext cx="5608320" cy="1158240"/>
            </a:xfrm>
            <a:prstGeom prst="rect">
              <a:avLst/>
            </a:prstGeom>
            <a:solidFill>
              <a:srgbClr val="0D2137"/>
            </a:solidFill>
            <a:ln w="9525" cap="flat" cmpd="sng">
              <a:solidFill>
                <a:srgbClr val="1A4060"/>
              </a:solidFill>
              <a:prstDash val="solid"/>
              <a:round/>
              <a:headEnd type="none" w="sm" len="sm"/>
              <a:tailEnd type="none" w="sm" len="sm"/>
            </a:ln>
            <a:effectLst>
              <a:outerShdw blurRad="101600" dist="38100" dir="8100000" algn="bl" rotWithShape="0">
                <a:srgbClr val="000000">
                  <a:alpha val="18039"/>
                </a:srgbClr>
              </a:outerShdw>
            </a:effectLst>
          </p:spPr>
          <p:txBody>
            <a:bodyPr spcFirstLastPara="1" wrap="square" lIns="121900" tIns="121900" rIns="121900" bIns="121900" anchor="ctr" anchorCtr="0">
              <a:noAutofit/>
            </a:bodyPr>
            <a:lstStyle/>
            <a:p>
              <a:endParaRPr sz="2400"/>
            </a:p>
          </p:txBody>
        </p:sp>
        <p:sp>
          <p:nvSpPr>
            <p:cNvPr id="68" name="Google Shape;68;p4"/>
            <p:cNvSpPr/>
            <p:nvPr/>
          </p:nvSpPr>
          <p:spPr>
            <a:xfrm>
              <a:off x="365760" y="5254752"/>
              <a:ext cx="670560" cy="1158240"/>
            </a:xfrm>
            <a:prstGeom prst="rect">
              <a:avLst/>
            </a:prstGeom>
            <a:solidFill>
              <a:srgbClr val="0E7C7B"/>
            </a:solidFill>
            <a:ln>
              <a:noFill/>
            </a:ln>
          </p:spPr>
          <p:txBody>
            <a:bodyPr spcFirstLastPara="1" wrap="square" lIns="121900" tIns="121900" rIns="121900" bIns="121900" anchor="ctr" anchorCtr="0">
              <a:noAutofit/>
            </a:bodyPr>
            <a:lstStyle/>
            <a:p>
              <a:endParaRPr sz="2400"/>
            </a:p>
          </p:txBody>
        </p:sp>
        <p:sp>
          <p:nvSpPr>
            <p:cNvPr id="69" name="Google Shape;69;p4"/>
            <p:cNvSpPr/>
            <p:nvPr/>
          </p:nvSpPr>
          <p:spPr>
            <a:xfrm>
              <a:off x="365760" y="5254752"/>
              <a:ext cx="670560" cy="1158240"/>
            </a:xfrm>
            <a:prstGeom prst="rect">
              <a:avLst/>
            </a:prstGeom>
            <a:noFill/>
            <a:ln>
              <a:noFill/>
            </a:ln>
          </p:spPr>
          <p:txBody>
            <a:bodyPr spcFirstLastPara="1" wrap="square" lIns="0" tIns="0" rIns="0" bIns="0" anchor="ctr" anchorCtr="0">
              <a:noAutofit/>
            </a:bodyPr>
            <a:lstStyle/>
            <a:p>
              <a:pPr algn="ctr">
                <a:buClr>
                  <a:srgbClr val="FFFFFF"/>
                </a:buClr>
                <a:buSzPts val="1800"/>
              </a:pPr>
              <a:r>
                <a:rPr lang="en-US" sz="2400" b="1">
                  <a:latin typeface="Calibri"/>
                  <a:ea typeface="Calibri"/>
                  <a:cs typeface="Calibri"/>
                  <a:sym typeface="Calibri"/>
                </a:rPr>
                <a:t>04</a:t>
              </a:r>
              <a:endParaRPr sz="2400">
                <a:latin typeface="Calibri"/>
                <a:ea typeface="Calibri"/>
                <a:cs typeface="Calibri"/>
                <a:sym typeface="Calibri"/>
              </a:endParaRPr>
            </a:p>
          </p:txBody>
        </p:sp>
        <p:sp>
          <p:nvSpPr>
            <p:cNvPr id="70" name="Google Shape;70;p4"/>
            <p:cNvSpPr/>
            <p:nvPr/>
          </p:nvSpPr>
          <p:spPr>
            <a:xfrm>
              <a:off x="1158240" y="5376672"/>
              <a:ext cx="4693920" cy="463296"/>
            </a:xfrm>
            <a:prstGeom prst="rect">
              <a:avLst/>
            </a:prstGeom>
            <a:noFill/>
            <a:ln>
              <a:noFill/>
            </a:ln>
          </p:spPr>
          <p:txBody>
            <a:bodyPr spcFirstLastPara="1" wrap="square" lIns="0" tIns="0" rIns="0" bIns="0" anchor="ctr" anchorCtr="0">
              <a:noAutofit/>
            </a:bodyPr>
            <a:lstStyle/>
            <a:p>
              <a:pPr>
                <a:buClr>
                  <a:srgbClr val="FFFFFF"/>
                </a:buClr>
                <a:buSzPts val="1050"/>
              </a:pPr>
              <a:r>
                <a:rPr lang="en-US" sz="1400" b="1">
                  <a:latin typeface="Calibri"/>
                  <a:ea typeface="Calibri"/>
                  <a:cs typeface="Calibri"/>
                  <a:sym typeface="Calibri"/>
                </a:rPr>
                <a:t>Patrones de Diseño de Agentes</a:t>
              </a:r>
              <a:endParaRPr sz="1400">
                <a:latin typeface="Calibri"/>
                <a:ea typeface="Calibri"/>
                <a:cs typeface="Calibri"/>
                <a:sym typeface="Calibri"/>
              </a:endParaRPr>
            </a:p>
          </p:txBody>
        </p:sp>
        <p:sp>
          <p:nvSpPr>
            <p:cNvPr id="71" name="Google Shape;71;p4"/>
            <p:cNvSpPr/>
            <p:nvPr/>
          </p:nvSpPr>
          <p:spPr>
            <a:xfrm>
              <a:off x="1158240" y="5888736"/>
              <a:ext cx="4693920" cy="426720"/>
            </a:xfrm>
            <a:prstGeom prst="rect">
              <a:avLst/>
            </a:prstGeom>
            <a:noFill/>
            <a:ln>
              <a:noFill/>
            </a:ln>
          </p:spPr>
          <p:txBody>
            <a:bodyPr spcFirstLastPara="1" wrap="square" lIns="0" tIns="0" rIns="0" bIns="0" anchor="ctr" anchorCtr="0">
              <a:noAutofit/>
            </a:bodyPr>
            <a:lstStyle/>
            <a:p>
              <a:pPr>
                <a:buClr>
                  <a:srgbClr val="7BA7BC"/>
                </a:buClr>
                <a:buSzPts val="900"/>
              </a:pPr>
              <a:r>
                <a:rPr lang="en-US" sz="1200">
                  <a:latin typeface="Calibri"/>
                  <a:ea typeface="Calibri"/>
                  <a:cs typeface="Calibri"/>
                  <a:sym typeface="Calibri"/>
                </a:rPr>
                <a:t>ReAct, CoT, ToT, Sequential, Multi-step</a:t>
              </a:r>
              <a:endParaRPr sz="1200">
                <a:latin typeface="Calibri"/>
                <a:ea typeface="Calibri"/>
                <a:cs typeface="Calibri"/>
                <a:sym typeface="Calibri"/>
              </a:endParaRPr>
            </a:p>
          </p:txBody>
        </p:sp>
        <p:sp>
          <p:nvSpPr>
            <p:cNvPr id="72" name="Google Shape;72;p4"/>
            <p:cNvSpPr/>
            <p:nvPr/>
          </p:nvSpPr>
          <p:spPr>
            <a:xfrm>
              <a:off x="6278880" y="1158240"/>
              <a:ext cx="5608320" cy="1158240"/>
            </a:xfrm>
            <a:prstGeom prst="rect">
              <a:avLst/>
            </a:prstGeom>
            <a:solidFill>
              <a:srgbClr val="0D2137"/>
            </a:solidFill>
            <a:ln w="9525" cap="flat" cmpd="sng">
              <a:solidFill>
                <a:srgbClr val="1A4060"/>
              </a:solidFill>
              <a:prstDash val="solid"/>
              <a:round/>
              <a:headEnd type="none" w="sm" len="sm"/>
              <a:tailEnd type="none" w="sm" len="sm"/>
            </a:ln>
            <a:effectLst>
              <a:outerShdw blurRad="101600" dist="38100" dir="8100000" algn="bl" rotWithShape="0">
                <a:srgbClr val="000000">
                  <a:alpha val="18039"/>
                </a:srgbClr>
              </a:outerShdw>
            </a:effectLst>
          </p:spPr>
          <p:txBody>
            <a:bodyPr spcFirstLastPara="1" wrap="square" lIns="121900" tIns="121900" rIns="121900" bIns="121900" anchor="ctr" anchorCtr="0">
              <a:noAutofit/>
            </a:bodyPr>
            <a:lstStyle/>
            <a:p>
              <a:endParaRPr sz="2400"/>
            </a:p>
          </p:txBody>
        </p:sp>
        <p:sp>
          <p:nvSpPr>
            <p:cNvPr id="73" name="Google Shape;73;p4"/>
            <p:cNvSpPr/>
            <p:nvPr/>
          </p:nvSpPr>
          <p:spPr>
            <a:xfrm>
              <a:off x="6278880" y="1158240"/>
              <a:ext cx="670560" cy="1158240"/>
            </a:xfrm>
            <a:prstGeom prst="rect">
              <a:avLst/>
            </a:prstGeom>
            <a:solidFill>
              <a:srgbClr val="0F3460"/>
            </a:solidFill>
            <a:ln>
              <a:noFill/>
            </a:ln>
          </p:spPr>
          <p:txBody>
            <a:bodyPr spcFirstLastPara="1" wrap="square" lIns="121900" tIns="121900" rIns="121900" bIns="121900" anchor="ctr" anchorCtr="0">
              <a:noAutofit/>
            </a:bodyPr>
            <a:lstStyle/>
            <a:p>
              <a:endParaRPr sz="2400"/>
            </a:p>
          </p:txBody>
        </p:sp>
        <p:sp>
          <p:nvSpPr>
            <p:cNvPr id="74" name="Google Shape;74;p4"/>
            <p:cNvSpPr/>
            <p:nvPr/>
          </p:nvSpPr>
          <p:spPr>
            <a:xfrm>
              <a:off x="6278880" y="1158240"/>
              <a:ext cx="670560" cy="1158240"/>
            </a:xfrm>
            <a:prstGeom prst="rect">
              <a:avLst/>
            </a:prstGeom>
            <a:noFill/>
            <a:ln>
              <a:noFill/>
            </a:ln>
          </p:spPr>
          <p:txBody>
            <a:bodyPr spcFirstLastPara="1" wrap="square" lIns="0" tIns="0" rIns="0" bIns="0" anchor="ctr" anchorCtr="0">
              <a:noAutofit/>
            </a:bodyPr>
            <a:lstStyle/>
            <a:p>
              <a:pPr algn="ctr">
                <a:buClr>
                  <a:srgbClr val="FFFFFF"/>
                </a:buClr>
                <a:buSzPts val="1800"/>
              </a:pPr>
              <a:r>
                <a:rPr lang="en-US" sz="2400" b="1">
                  <a:latin typeface="Calibri"/>
                  <a:ea typeface="Calibri"/>
                  <a:cs typeface="Calibri"/>
                  <a:sym typeface="Calibri"/>
                </a:rPr>
                <a:t>05</a:t>
              </a:r>
              <a:endParaRPr sz="2400">
                <a:latin typeface="Calibri"/>
                <a:ea typeface="Calibri"/>
                <a:cs typeface="Calibri"/>
                <a:sym typeface="Calibri"/>
              </a:endParaRPr>
            </a:p>
          </p:txBody>
        </p:sp>
        <p:sp>
          <p:nvSpPr>
            <p:cNvPr id="75" name="Google Shape;75;p4"/>
            <p:cNvSpPr/>
            <p:nvPr/>
          </p:nvSpPr>
          <p:spPr>
            <a:xfrm>
              <a:off x="7071360" y="1280160"/>
              <a:ext cx="4693920" cy="463296"/>
            </a:xfrm>
            <a:prstGeom prst="rect">
              <a:avLst/>
            </a:prstGeom>
            <a:noFill/>
            <a:ln>
              <a:noFill/>
            </a:ln>
          </p:spPr>
          <p:txBody>
            <a:bodyPr spcFirstLastPara="1" wrap="square" lIns="0" tIns="0" rIns="0" bIns="0" anchor="ctr" anchorCtr="0">
              <a:noAutofit/>
            </a:bodyPr>
            <a:lstStyle/>
            <a:p>
              <a:pPr>
                <a:buClr>
                  <a:srgbClr val="FFFFFF"/>
                </a:buClr>
                <a:buSzPts val="1050"/>
              </a:pPr>
              <a:r>
                <a:rPr lang="en-US" sz="1400" b="1">
                  <a:latin typeface="Calibri"/>
                  <a:ea typeface="Calibri"/>
                  <a:cs typeface="Calibri"/>
                  <a:sym typeface="Calibri"/>
                </a:rPr>
                <a:t>Sistemas Multi-Agente</a:t>
              </a:r>
              <a:endParaRPr sz="1400">
                <a:latin typeface="Calibri"/>
                <a:ea typeface="Calibri"/>
                <a:cs typeface="Calibri"/>
                <a:sym typeface="Calibri"/>
              </a:endParaRPr>
            </a:p>
          </p:txBody>
        </p:sp>
        <p:sp>
          <p:nvSpPr>
            <p:cNvPr id="76" name="Google Shape;76;p4"/>
            <p:cNvSpPr/>
            <p:nvPr/>
          </p:nvSpPr>
          <p:spPr>
            <a:xfrm>
              <a:off x="7071360" y="1792224"/>
              <a:ext cx="4693920" cy="426720"/>
            </a:xfrm>
            <a:prstGeom prst="rect">
              <a:avLst/>
            </a:prstGeom>
            <a:noFill/>
            <a:ln>
              <a:noFill/>
            </a:ln>
          </p:spPr>
          <p:txBody>
            <a:bodyPr spcFirstLastPara="1" wrap="square" lIns="0" tIns="0" rIns="0" bIns="0" anchor="ctr" anchorCtr="0">
              <a:noAutofit/>
            </a:bodyPr>
            <a:lstStyle/>
            <a:p>
              <a:pPr>
                <a:buClr>
                  <a:srgbClr val="7BA7BC"/>
                </a:buClr>
                <a:buSzPts val="900"/>
              </a:pPr>
              <a:r>
                <a:rPr lang="en-US" sz="1200">
                  <a:latin typeface="Calibri"/>
                  <a:ea typeface="Calibri"/>
                  <a:cs typeface="Calibri"/>
                  <a:sym typeface="Calibri"/>
                </a:rPr>
                <a:t>Orquestación, roles, comunicación entre agentes</a:t>
              </a:r>
              <a:endParaRPr sz="1200">
                <a:latin typeface="Calibri"/>
                <a:ea typeface="Calibri"/>
                <a:cs typeface="Calibri"/>
                <a:sym typeface="Calibri"/>
              </a:endParaRPr>
            </a:p>
          </p:txBody>
        </p:sp>
        <p:sp>
          <p:nvSpPr>
            <p:cNvPr id="77" name="Google Shape;77;p4"/>
            <p:cNvSpPr/>
            <p:nvPr/>
          </p:nvSpPr>
          <p:spPr>
            <a:xfrm>
              <a:off x="6278880" y="2523744"/>
              <a:ext cx="5608320" cy="1158240"/>
            </a:xfrm>
            <a:prstGeom prst="rect">
              <a:avLst/>
            </a:prstGeom>
            <a:solidFill>
              <a:srgbClr val="0D2137"/>
            </a:solidFill>
            <a:ln w="9525" cap="flat" cmpd="sng">
              <a:solidFill>
                <a:srgbClr val="1A4060"/>
              </a:solidFill>
              <a:prstDash val="solid"/>
              <a:round/>
              <a:headEnd type="none" w="sm" len="sm"/>
              <a:tailEnd type="none" w="sm" len="sm"/>
            </a:ln>
            <a:effectLst>
              <a:outerShdw blurRad="101600" dist="38100" dir="8100000" algn="bl" rotWithShape="0">
                <a:srgbClr val="000000">
                  <a:alpha val="18039"/>
                </a:srgbClr>
              </a:outerShdw>
            </a:effectLst>
          </p:spPr>
          <p:txBody>
            <a:bodyPr spcFirstLastPara="1" wrap="square" lIns="121900" tIns="121900" rIns="121900" bIns="121900" anchor="ctr" anchorCtr="0">
              <a:noAutofit/>
            </a:bodyPr>
            <a:lstStyle/>
            <a:p>
              <a:endParaRPr sz="2400"/>
            </a:p>
          </p:txBody>
        </p:sp>
        <p:sp>
          <p:nvSpPr>
            <p:cNvPr id="78" name="Google Shape;78;p4"/>
            <p:cNvSpPr/>
            <p:nvPr/>
          </p:nvSpPr>
          <p:spPr>
            <a:xfrm>
              <a:off x="6278880" y="2523744"/>
              <a:ext cx="670560" cy="1158240"/>
            </a:xfrm>
            <a:prstGeom prst="rect">
              <a:avLst/>
            </a:prstGeom>
            <a:solidFill>
              <a:srgbClr val="0F3460"/>
            </a:solidFill>
            <a:ln>
              <a:noFill/>
            </a:ln>
          </p:spPr>
          <p:txBody>
            <a:bodyPr spcFirstLastPara="1" wrap="square" lIns="121900" tIns="121900" rIns="121900" bIns="121900" anchor="ctr" anchorCtr="0">
              <a:noAutofit/>
            </a:bodyPr>
            <a:lstStyle/>
            <a:p>
              <a:endParaRPr sz="2400"/>
            </a:p>
          </p:txBody>
        </p:sp>
        <p:sp>
          <p:nvSpPr>
            <p:cNvPr id="79" name="Google Shape;79;p4"/>
            <p:cNvSpPr/>
            <p:nvPr/>
          </p:nvSpPr>
          <p:spPr>
            <a:xfrm>
              <a:off x="6278880" y="2523744"/>
              <a:ext cx="670560" cy="1158240"/>
            </a:xfrm>
            <a:prstGeom prst="rect">
              <a:avLst/>
            </a:prstGeom>
            <a:noFill/>
            <a:ln>
              <a:noFill/>
            </a:ln>
          </p:spPr>
          <p:txBody>
            <a:bodyPr spcFirstLastPara="1" wrap="square" lIns="0" tIns="0" rIns="0" bIns="0" anchor="ctr" anchorCtr="0">
              <a:noAutofit/>
            </a:bodyPr>
            <a:lstStyle/>
            <a:p>
              <a:pPr algn="ctr">
                <a:buClr>
                  <a:srgbClr val="FFFFFF"/>
                </a:buClr>
                <a:buSzPts val="1800"/>
              </a:pPr>
              <a:r>
                <a:rPr lang="en-US" sz="2400" b="1">
                  <a:latin typeface="Calibri"/>
                  <a:ea typeface="Calibri"/>
                  <a:cs typeface="Calibri"/>
                  <a:sym typeface="Calibri"/>
                </a:rPr>
                <a:t>06</a:t>
              </a:r>
              <a:endParaRPr sz="2400">
                <a:latin typeface="Calibri"/>
                <a:ea typeface="Calibri"/>
                <a:cs typeface="Calibri"/>
                <a:sym typeface="Calibri"/>
              </a:endParaRPr>
            </a:p>
          </p:txBody>
        </p:sp>
        <p:sp>
          <p:nvSpPr>
            <p:cNvPr id="80" name="Google Shape;80;p4"/>
            <p:cNvSpPr/>
            <p:nvPr/>
          </p:nvSpPr>
          <p:spPr>
            <a:xfrm>
              <a:off x="7071360" y="2645664"/>
              <a:ext cx="4693920" cy="463296"/>
            </a:xfrm>
            <a:prstGeom prst="rect">
              <a:avLst/>
            </a:prstGeom>
            <a:noFill/>
            <a:ln>
              <a:noFill/>
            </a:ln>
          </p:spPr>
          <p:txBody>
            <a:bodyPr spcFirstLastPara="1" wrap="square" lIns="0" tIns="0" rIns="0" bIns="0" anchor="ctr" anchorCtr="0">
              <a:noAutofit/>
            </a:bodyPr>
            <a:lstStyle/>
            <a:p>
              <a:pPr>
                <a:buClr>
                  <a:srgbClr val="FFFFFF"/>
                </a:buClr>
                <a:buSzPts val="1050"/>
              </a:pPr>
              <a:r>
                <a:rPr lang="en-US" sz="1400" b="1">
                  <a:latin typeface="Calibri"/>
                  <a:ea typeface="Calibri"/>
                  <a:cs typeface="Calibri"/>
                  <a:sym typeface="Calibri"/>
                </a:rPr>
                <a:t>Orquestadores: n8n, Langflow, CrewAI…</a:t>
              </a:r>
              <a:endParaRPr sz="1400">
                <a:latin typeface="Calibri"/>
                <a:ea typeface="Calibri"/>
                <a:cs typeface="Calibri"/>
                <a:sym typeface="Calibri"/>
              </a:endParaRPr>
            </a:p>
          </p:txBody>
        </p:sp>
        <p:sp>
          <p:nvSpPr>
            <p:cNvPr id="81" name="Google Shape;81;p4"/>
            <p:cNvSpPr/>
            <p:nvPr/>
          </p:nvSpPr>
          <p:spPr>
            <a:xfrm>
              <a:off x="7071360" y="3157728"/>
              <a:ext cx="4693920" cy="426720"/>
            </a:xfrm>
            <a:prstGeom prst="rect">
              <a:avLst/>
            </a:prstGeom>
            <a:noFill/>
            <a:ln>
              <a:noFill/>
            </a:ln>
          </p:spPr>
          <p:txBody>
            <a:bodyPr spcFirstLastPara="1" wrap="square" lIns="0" tIns="0" rIns="0" bIns="0" anchor="ctr" anchorCtr="0">
              <a:noAutofit/>
            </a:bodyPr>
            <a:lstStyle/>
            <a:p>
              <a:pPr>
                <a:buClr>
                  <a:srgbClr val="7BA7BC"/>
                </a:buClr>
                <a:buSzPts val="900"/>
              </a:pPr>
              <a:r>
                <a:rPr lang="en-US" sz="1200">
                  <a:latin typeface="Calibri"/>
                  <a:ea typeface="Calibri"/>
                  <a:cs typeface="Calibri"/>
                  <a:sym typeface="Calibri"/>
                </a:rPr>
                <a:t>Comparativa y cuándo usar cada uno</a:t>
              </a:r>
              <a:endParaRPr sz="1200">
                <a:latin typeface="Calibri"/>
                <a:ea typeface="Calibri"/>
                <a:cs typeface="Calibri"/>
                <a:sym typeface="Calibri"/>
              </a:endParaRPr>
            </a:p>
          </p:txBody>
        </p:sp>
        <p:sp>
          <p:nvSpPr>
            <p:cNvPr id="82" name="Google Shape;82;p4"/>
            <p:cNvSpPr/>
            <p:nvPr/>
          </p:nvSpPr>
          <p:spPr>
            <a:xfrm>
              <a:off x="6278880" y="3889248"/>
              <a:ext cx="5608320" cy="1158240"/>
            </a:xfrm>
            <a:prstGeom prst="rect">
              <a:avLst/>
            </a:prstGeom>
            <a:solidFill>
              <a:srgbClr val="0D2137"/>
            </a:solidFill>
            <a:ln w="9525" cap="flat" cmpd="sng">
              <a:solidFill>
                <a:srgbClr val="1A4060"/>
              </a:solidFill>
              <a:prstDash val="solid"/>
              <a:round/>
              <a:headEnd type="none" w="sm" len="sm"/>
              <a:tailEnd type="none" w="sm" len="sm"/>
            </a:ln>
            <a:effectLst>
              <a:outerShdw blurRad="101600" dist="38100" dir="8100000" algn="bl" rotWithShape="0">
                <a:srgbClr val="000000">
                  <a:alpha val="18039"/>
                </a:srgbClr>
              </a:outerShdw>
            </a:effectLst>
          </p:spPr>
          <p:txBody>
            <a:bodyPr spcFirstLastPara="1" wrap="square" lIns="121900" tIns="121900" rIns="121900" bIns="121900" anchor="ctr" anchorCtr="0">
              <a:noAutofit/>
            </a:bodyPr>
            <a:lstStyle/>
            <a:p>
              <a:endParaRPr sz="2400"/>
            </a:p>
          </p:txBody>
        </p:sp>
        <p:sp>
          <p:nvSpPr>
            <p:cNvPr id="83" name="Google Shape;83;p4"/>
            <p:cNvSpPr/>
            <p:nvPr/>
          </p:nvSpPr>
          <p:spPr>
            <a:xfrm>
              <a:off x="6278880" y="3889248"/>
              <a:ext cx="670560" cy="1158240"/>
            </a:xfrm>
            <a:prstGeom prst="rect">
              <a:avLst/>
            </a:prstGeom>
            <a:solidFill>
              <a:srgbClr val="0F3460"/>
            </a:solidFill>
            <a:ln>
              <a:noFill/>
            </a:ln>
          </p:spPr>
          <p:txBody>
            <a:bodyPr spcFirstLastPara="1" wrap="square" lIns="121900" tIns="121900" rIns="121900" bIns="121900" anchor="ctr" anchorCtr="0">
              <a:noAutofit/>
            </a:bodyPr>
            <a:lstStyle/>
            <a:p>
              <a:endParaRPr sz="2400"/>
            </a:p>
          </p:txBody>
        </p:sp>
        <p:sp>
          <p:nvSpPr>
            <p:cNvPr id="84" name="Google Shape;84;p4"/>
            <p:cNvSpPr/>
            <p:nvPr/>
          </p:nvSpPr>
          <p:spPr>
            <a:xfrm>
              <a:off x="6278880" y="3889248"/>
              <a:ext cx="670560" cy="1158240"/>
            </a:xfrm>
            <a:prstGeom prst="rect">
              <a:avLst/>
            </a:prstGeom>
            <a:noFill/>
            <a:ln>
              <a:noFill/>
            </a:ln>
          </p:spPr>
          <p:txBody>
            <a:bodyPr spcFirstLastPara="1" wrap="square" lIns="0" tIns="0" rIns="0" bIns="0" anchor="ctr" anchorCtr="0">
              <a:noAutofit/>
            </a:bodyPr>
            <a:lstStyle/>
            <a:p>
              <a:pPr algn="ctr">
                <a:buClr>
                  <a:srgbClr val="FFFFFF"/>
                </a:buClr>
                <a:buSzPts val="1800"/>
              </a:pPr>
              <a:r>
                <a:rPr lang="en-US" sz="2400" b="1">
                  <a:latin typeface="Calibri"/>
                  <a:ea typeface="Calibri"/>
                  <a:cs typeface="Calibri"/>
                  <a:sym typeface="Calibri"/>
                </a:rPr>
                <a:t>07</a:t>
              </a:r>
              <a:endParaRPr sz="2400">
                <a:latin typeface="Calibri"/>
                <a:ea typeface="Calibri"/>
                <a:cs typeface="Calibri"/>
                <a:sym typeface="Calibri"/>
              </a:endParaRPr>
            </a:p>
          </p:txBody>
        </p:sp>
        <p:sp>
          <p:nvSpPr>
            <p:cNvPr id="85" name="Google Shape;85;p4"/>
            <p:cNvSpPr/>
            <p:nvPr/>
          </p:nvSpPr>
          <p:spPr>
            <a:xfrm>
              <a:off x="7071360" y="4011168"/>
              <a:ext cx="4693920" cy="463296"/>
            </a:xfrm>
            <a:prstGeom prst="rect">
              <a:avLst/>
            </a:prstGeom>
            <a:noFill/>
            <a:ln>
              <a:noFill/>
            </a:ln>
          </p:spPr>
          <p:txBody>
            <a:bodyPr spcFirstLastPara="1" wrap="square" lIns="0" tIns="0" rIns="0" bIns="0" anchor="ctr" anchorCtr="0">
              <a:noAutofit/>
            </a:bodyPr>
            <a:lstStyle/>
            <a:p>
              <a:pPr>
                <a:buClr>
                  <a:srgbClr val="FFFFFF"/>
                </a:buClr>
                <a:buSzPts val="1050"/>
              </a:pPr>
              <a:r>
                <a:rPr lang="en-US" sz="1400" b="1">
                  <a:latin typeface="Calibri"/>
                  <a:ea typeface="Calibri"/>
                  <a:cs typeface="Calibri"/>
                  <a:sym typeface="Calibri"/>
                </a:rPr>
                <a:t>Plataformas: OpenAI, Gemini, Perplexity…</a:t>
              </a:r>
              <a:endParaRPr sz="1400">
                <a:latin typeface="Calibri"/>
                <a:ea typeface="Calibri"/>
                <a:cs typeface="Calibri"/>
                <a:sym typeface="Calibri"/>
              </a:endParaRPr>
            </a:p>
          </p:txBody>
        </p:sp>
        <p:sp>
          <p:nvSpPr>
            <p:cNvPr id="86" name="Google Shape;86;p4"/>
            <p:cNvSpPr/>
            <p:nvPr/>
          </p:nvSpPr>
          <p:spPr>
            <a:xfrm>
              <a:off x="7071360" y="4523232"/>
              <a:ext cx="4693920" cy="426720"/>
            </a:xfrm>
            <a:prstGeom prst="rect">
              <a:avLst/>
            </a:prstGeom>
            <a:noFill/>
            <a:ln>
              <a:noFill/>
            </a:ln>
          </p:spPr>
          <p:txBody>
            <a:bodyPr spcFirstLastPara="1" wrap="square" lIns="0" tIns="0" rIns="0" bIns="0" anchor="ctr" anchorCtr="0">
              <a:noAutofit/>
            </a:bodyPr>
            <a:lstStyle/>
            <a:p>
              <a:pPr>
                <a:buClr>
                  <a:srgbClr val="7BA7BC"/>
                </a:buClr>
                <a:buSzPts val="900"/>
              </a:pPr>
              <a:r>
                <a:rPr lang="en-US" sz="1200">
                  <a:latin typeface="Calibri"/>
                  <a:ea typeface="Calibri"/>
                  <a:cs typeface="Calibri"/>
                  <a:sym typeface="Calibri"/>
                </a:rPr>
                <a:t>Agentes integrados vs programáticos</a:t>
              </a:r>
              <a:endParaRPr sz="1200">
                <a:latin typeface="Calibri"/>
                <a:ea typeface="Calibri"/>
                <a:cs typeface="Calibri"/>
                <a:sym typeface="Calibri"/>
              </a:endParaRPr>
            </a:p>
          </p:txBody>
        </p:sp>
        <p:sp>
          <p:nvSpPr>
            <p:cNvPr id="87" name="Google Shape;87;p4"/>
            <p:cNvSpPr/>
            <p:nvPr/>
          </p:nvSpPr>
          <p:spPr>
            <a:xfrm>
              <a:off x="6278880" y="5254752"/>
              <a:ext cx="5608320" cy="1158240"/>
            </a:xfrm>
            <a:prstGeom prst="rect">
              <a:avLst/>
            </a:prstGeom>
            <a:solidFill>
              <a:srgbClr val="0D2137"/>
            </a:solidFill>
            <a:ln w="9525" cap="flat" cmpd="sng">
              <a:solidFill>
                <a:srgbClr val="1A4060"/>
              </a:solidFill>
              <a:prstDash val="solid"/>
              <a:round/>
              <a:headEnd type="none" w="sm" len="sm"/>
              <a:tailEnd type="none" w="sm" len="sm"/>
            </a:ln>
            <a:effectLst>
              <a:outerShdw blurRad="101600" dist="38100" dir="8100000" algn="bl" rotWithShape="0">
                <a:srgbClr val="000000">
                  <a:alpha val="18039"/>
                </a:srgbClr>
              </a:outerShdw>
            </a:effectLst>
          </p:spPr>
          <p:txBody>
            <a:bodyPr spcFirstLastPara="1" wrap="square" lIns="121900" tIns="121900" rIns="121900" bIns="121900" anchor="ctr" anchorCtr="0">
              <a:noAutofit/>
            </a:bodyPr>
            <a:lstStyle/>
            <a:p>
              <a:endParaRPr sz="2400"/>
            </a:p>
          </p:txBody>
        </p:sp>
        <p:sp>
          <p:nvSpPr>
            <p:cNvPr id="88" name="Google Shape;88;p4"/>
            <p:cNvSpPr/>
            <p:nvPr/>
          </p:nvSpPr>
          <p:spPr>
            <a:xfrm>
              <a:off x="6278880" y="5254752"/>
              <a:ext cx="670560" cy="1158240"/>
            </a:xfrm>
            <a:prstGeom prst="rect">
              <a:avLst/>
            </a:prstGeom>
            <a:solidFill>
              <a:srgbClr val="0F3460"/>
            </a:solidFill>
            <a:ln>
              <a:noFill/>
            </a:ln>
          </p:spPr>
          <p:txBody>
            <a:bodyPr spcFirstLastPara="1" wrap="square" lIns="121900" tIns="121900" rIns="121900" bIns="121900" anchor="ctr" anchorCtr="0">
              <a:noAutofit/>
            </a:bodyPr>
            <a:lstStyle/>
            <a:p>
              <a:endParaRPr sz="2400"/>
            </a:p>
          </p:txBody>
        </p:sp>
        <p:sp>
          <p:nvSpPr>
            <p:cNvPr id="89" name="Google Shape;89;p4"/>
            <p:cNvSpPr/>
            <p:nvPr/>
          </p:nvSpPr>
          <p:spPr>
            <a:xfrm>
              <a:off x="6278880" y="5254752"/>
              <a:ext cx="670560" cy="1158240"/>
            </a:xfrm>
            <a:prstGeom prst="rect">
              <a:avLst/>
            </a:prstGeom>
            <a:noFill/>
            <a:ln>
              <a:noFill/>
            </a:ln>
          </p:spPr>
          <p:txBody>
            <a:bodyPr spcFirstLastPara="1" wrap="square" lIns="0" tIns="0" rIns="0" bIns="0" anchor="ctr" anchorCtr="0">
              <a:noAutofit/>
            </a:bodyPr>
            <a:lstStyle/>
            <a:p>
              <a:pPr algn="ctr">
                <a:buClr>
                  <a:srgbClr val="FFFFFF"/>
                </a:buClr>
                <a:buSzPts val="1800"/>
              </a:pPr>
              <a:r>
                <a:rPr lang="en-US" sz="2400" b="1">
                  <a:latin typeface="Calibri"/>
                  <a:ea typeface="Calibri"/>
                  <a:cs typeface="Calibri"/>
                  <a:sym typeface="Calibri"/>
                </a:rPr>
                <a:t>08</a:t>
              </a:r>
              <a:endParaRPr sz="2400">
                <a:latin typeface="Calibri"/>
                <a:ea typeface="Calibri"/>
                <a:cs typeface="Calibri"/>
                <a:sym typeface="Calibri"/>
              </a:endParaRPr>
            </a:p>
          </p:txBody>
        </p:sp>
        <p:sp>
          <p:nvSpPr>
            <p:cNvPr id="90" name="Google Shape;90;p4"/>
            <p:cNvSpPr/>
            <p:nvPr/>
          </p:nvSpPr>
          <p:spPr>
            <a:xfrm>
              <a:off x="7071360" y="5376672"/>
              <a:ext cx="4693920" cy="463296"/>
            </a:xfrm>
            <a:prstGeom prst="rect">
              <a:avLst/>
            </a:prstGeom>
            <a:noFill/>
            <a:ln>
              <a:noFill/>
            </a:ln>
          </p:spPr>
          <p:txBody>
            <a:bodyPr spcFirstLastPara="1" wrap="square" lIns="0" tIns="0" rIns="0" bIns="0" anchor="ctr" anchorCtr="0">
              <a:noAutofit/>
            </a:bodyPr>
            <a:lstStyle/>
            <a:p>
              <a:pPr>
                <a:buClr>
                  <a:srgbClr val="FFFFFF"/>
                </a:buClr>
                <a:buSzPts val="1050"/>
              </a:pPr>
              <a:r>
                <a:rPr lang="en-US" sz="1400" b="1">
                  <a:latin typeface="Calibri"/>
                  <a:ea typeface="Calibri"/>
                  <a:cs typeface="Calibri"/>
                  <a:sym typeface="Calibri"/>
                </a:rPr>
                <a:t>Casos de Uso y Aplicaciones Prácticas</a:t>
              </a:r>
              <a:endParaRPr sz="1400">
                <a:latin typeface="Calibri"/>
                <a:ea typeface="Calibri"/>
                <a:cs typeface="Calibri"/>
                <a:sym typeface="Calibri"/>
              </a:endParaRPr>
            </a:p>
          </p:txBody>
        </p:sp>
        <p:sp>
          <p:nvSpPr>
            <p:cNvPr id="91" name="Google Shape;91;p4"/>
            <p:cNvSpPr/>
            <p:nvPr/>
          </p:nvSpPr>
          <p:spPr>
            <a:xfrm>
              <a:off x="7071360" y="5888736"/>
              <a:ext cx="4693920" cy="426720"/>
            </a:xfrm>
            <a:prstGeom prst="rect">
              <a:avLst/>
            </a:prstGeom>
            <a:noFill/>
            <a:ln>
              <a:noFill/>
            </a:ln>
          </p:spPr>
          <p:txBody>
            <a:bodyPr spcFirstLastPara="1" wrap="square" lIns="0" tIns="0" rIns="0" bIns="0" anchor="ctr" anchorCtr="0">
              <a:noAutofit/>
            </a:bodyPr>
            <a:lstStyle/>
            <a:p>
              <a:pPr>
                <a:buClr>
                  <a:srgbClr val="7BA7BC"/>
                </a:buClr>
                <a:buSzPts val="900"/>
              </a:pPr>
              <a:r>
                <a:rPr lang="en-US" sz="1200">
                  <a:latin typeface="Calibri"/>
                  <a:ea typeface="Calibri"/>
                  <a:cs typeface="Calibri"/>
                  <a:sym typeface="Calibri"/>
                </a:rPr>
                <a:t>Chatbots, automatización, análisis de datos</a:t>
              </a:r>
              <a:endParaRPr sz="1200">
                <a:latin typeface="Calibri"/>
                <a:ea typeface="Calibri"/>
                <a:cs typeface="Calibri"/>
                <a:sym typeface="Calibri"/>
              </a:endParaRPr>
            </a:p>
          </p:txBody>
        </p:sp>
        <p:sp>
          <p:nvSpPr>
            <p:cNvPr id="93" name="Google Shape;93;p4"/>
            <p:cNvSpPr/>
            <p:nvPr/>
          </p:nvSpPr>
          <p:spPr>
            <a:xfrm>
              <a:off x="1302326" y="6425184"/>
              <a:ext cx="10158153" cy="390144"/>
            </a:xfrm>
            <a:prstGeom prst="rect">
              <a:avLst/>
            </a:prstGeom>
            <a:noFill/>
            <a:ln>
              <a:noFill/>
            </a:ln>
          </p:spPr>
          <p:txBody>
            <a:bodyPr spcFirstLastPara="1" wrap="square" lIns="0" tIns="0" rIns="0" bIns="0" anchor="ctr" anchorCtr="0">
              <a:noAutofit/>
            </a:bodyPr>
            <a:lstStyle/>
            <a:p>
              <a:pPr>
                <a:buClr>
                  <a:srgbClr val="7BA7BC"/>
                </a:buClr>
                <a:buSzPts val="900"/>
              </a:pPr>
              <a:r>
                <a:rPr lang="en-US" sz="1200" i="1" dirty="0" err="1">
                  <a:latin typeface="Calibri"/>
                  <a:ea typeface="Calibri"/>
                  <a:cs typeface="Calibri"/>
                  <a:sym typeface="Calibri"/>
                </a:rPr>
                <a:t>Conferencia</a:t>
              </a:r>
              <a:r>
                <a:rPr lang="en-US" sz="1200" i="1" dirty="0">
                  <a:latin typeface="Calibri"/>
                  <a:ea typeface="Calibri"/>
                  <a:cs typeface="Calibri"/>
                  <a:sym typeface="Calibri"/>
                </a:rPr>
                <a:t>: </a:t>
              </a:r>
              <a:r>
                <a:rPr lang="en-US" sz="1200" i="1" dirty="0" err="1">
                  <a:latin typeface="Calibri"/>
                  <a:ea typeface="Calibri"/>
                  <a:cs typeface="Calibri"/>
                  <a:sym typeface="Calibri"/>
                </a:rPr>
                <a:t>Agentes</a:t>
              </a:r>
              <a:r>
                <a:rPr lang="en-US" sz="1200" i="1" dirty="0">
                  <a:latin typeface="Calibri"/>
                  <a:ea typeface="Calibri"/>
                  <a:cs typeface="Calibri"/>
                  <a:sym typeface="Calibri"/>
                </a:rPr>
                <a:t> de IA — </a:t>
              </a:r>
              <a:r>
                <a:rPr lang="en-US" sz="1200" i="1" dirty="0" err="1">
                  <a:latin typeface="Calibri"/>
                  <a:ea typeface="Calibri"/>
                  <a:cs typeface="Calibri"/>
                  <a:sym typeface="Calibri"/>
                </a:rPr>
                <a:t>Maestría</a:t>
              </a:r>
              <a:r>
                <a:rPr lang="en-US" sz="1200" i="1" dirty="0">
                  <a:latin typeface="Calibri"/>
                  <a:ea typeface="Calibri"/>
                  <a:cs typeface="Calibri"/>
                  <a:sym typeface="Calibri"/>
                </a:rPr>
                <a:t> </a:t>
              </a:r>
              <a:r>
                <a:rPr lang="en-US" sz="1200" i="1" dirty="0" err="1">
                  <a:latin typeface="Calibri"/>
                  <a:ea typeface="Calibri"/>
                  <a:cs typeface="Calibri"/>
                  <a:sym typeface="Calibri"/>
                </a:rPr>
                <a:t>en</a:t>
              </a:r>
              <a:r>
                <a:rPr lang="en-US" sz="1200" i="1" dirty="0">
                  <a:latin typeface="Calibri"/>
                  <a:ea typeface="Calibri"/>
                  <a:cs typeface="Calibri"/>
                  <a:sym typeface="Calibri"/>
                </a:rPr>
                <a:t> Ciencia de Datos- Smart regions Center</a:t>
              </a:r>
              <a:endParaRPr sz="1200" dirty="0">
                <a:latin typeface="Calibri"/>
                <a:ea typeface="Calibri"/>
                <a:cs typeface="Calibri"/>
                <a:sym typeface="Calibri"/>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grpSp>
        <p:nvGrpSpPr>
          <p:cNvPr id="4" name="Grupo 3">
            <a:extLst>
              <a:ext uri="{FF2B5EF4-FFF2-40B4-BE49-F238E27FC236}">
                <a16:creationId xmlns:a16="http://schemas.microsoft.com/office/drawing/2014/main" id="{5B7BBEA8-7A29-6A72-E051-E9B1D2480C9A}"/>
              </a:ext>
            </a:extLst>
          </p:cNvPr>
          <p:cNvGrpSpPr/>
          <p:nvPr/>
        </p:nvGrpSpPr>
        <p:grpSpPr>
          <a:xfrm>
            <a:off x="982980" y="1520190"/>
            <a:ext cx="9624060" cy="4834890"/>
            <a:chOff x="365760" y="1097280"/>
            <a:chExt cx="11631168" cy="5718048"/>
          </a:xfrm>
        </p:grpSpPr>
        <p:sp>
          <p:nvSpPr>
            <p:cNvPr id="527" name="Google Shape;527;p13"/>
            <p:cNvSpPr/>
            <p:nvPr/>
          </p:nvSpPr>
          <p:spPr>
            <a:xfrm>
              <a:off x="365760" y="1097280"/>
              <a:ext cx="3755136" cy="2560320"/>
            </a:xfrm>
            <a:prstGeom prst="rect">
              <a:avLst/>
            </a:prstGeom>
            <a:solidFill>
              <a:srgbClr val="0D2137"/>
            </a:solidFill>
            <a:ln w="9525" cap="flat" cmpd="sng">
              <a:solidFill>
                <a:srgbClr val="1A4060"/>
              </a:solidFill>
              <a:prstDash val="solid"/>
              <a:round/>
              <a:headEnd type="none" w="sm" len="sm"/>
              <a:tailEnd type="none" w="sm" len="sm"/>
            </a:ln>
            <a:effectLst>
              <a:outerShdw blurRad="101600" dist="38100" dir="8100000" algn="bl" rotWithShape="0">
                <a:srgbClr val="000000">
                  <a:alpha val="18039"/>
                </a:srgbClr>
              </a:outerShdw>
            </a:effectLst>
          </p:spPr>
          <p:txBody>
            <a:bodyPr spcFirstLastPara="1" wrap="square" lIns="121900" tIns="121900" rIns="121900" bIns="121900" anchor="ctr" anchorCtr="0">
              <a:noAutofit/>
            </a:bodyPr>
            <a:lstStyle/>
            <a:p>
              <a:endParaRPr sz="2400"/>
            </a:p>
          </p:txBody>
        </p:sp>
        <p:sp>
          <p:nvSpPr>
            <p:cNvPr id="528" name="Google Shape;528;p13"/>
            <p:cNvSpPr/>
            <p:nvPr/>
          </p:nvSpPr>
          <p:spPr>
            <a:xfrm>
              <a:off x="365760" y="1097280"/>
              <a:ext cx="3755136" cy="85344"/>
            </a:xfrm>
            <a:prstGeom prst="rect">
              <a:avLst/>
            </a:prstGeom>
            <a:solidFill>
              <a:srgbClr val="1A6B3C"/>
            </a:solidFill>
            <a:ln>
              <a:noFill/>
            </a:ln>
          </p:spPr>
          <p:txBody>
            <a:bodyPr spcFirstLastPara="1" wrap="square" lIns="121900" tIns="121900" rIns="121900" bIns="121900" anchor="ctr" anchorCtr="0">
              <a:noAutofit/>
            </a:bodyPr>
            <a:lstStyle/>
            <a:p>
              <a:endParaRPr sz="2400"/>
            </a:p>
          </p:txBody>
        </p:sp>
        <p:pic>
          <p:nvPicPr>
            <p:cNvPr id="529" name="Google Shape;529;p13" descr="preencoded.png"/>
            <p:cNvPicPr preferRelativeResize="0"/>
            <p:nvPr/>
          </p:nvPicPr>
          <p:blipFill rotWithShape="1">
            <a:blip r:embed="rId3">
              <a:alphaModFix/>
            </a:blip>
            <a:srcRect/>
            <a:stretch/>
          </p:blipFill>
          <p:spPr>
            <a:xfrm>
              <a:off x="512064" y="1316736"/>
              <a:ext cx="487680" cy="487680"/>
            </a:xfrm>
            <a:prstGeom prst="rect">
              <a:avLst/>
            </a:prstGeom>
            <a:noFill/>
            <a:ln>
              <a:noFill/>
            </a:ln>
          </p:spPr>
        </p:pic>
        <p:sp>
          <p:nvSpPr>
            <p:cNvPr id="530" name="Google Shape;530;p13"/>
            <p:cNvSpPr/>
            <p:nvPr/>
          </p:nvSpPr>
          <p:spPr>
            <a:xfrm>
              <a:off x="1072896" y="1316736"/>
              <a:ext cx="2974848" cy="512064"/>
            </a:xfrm>
            <a:prstGeom prst="rect">
              <a:avLst/>
            </a:prstGeom>
            <a:noFill/>
            <a:ln>
              <a:noFill/>
            </a:ln>
          </p:spPr>
          <p:txBody>
            <a:bodyPr spcFirstLastPara="1" wrap="square" lIns="0" tIns="0" rIns="0" bIns="0" anchor="ctr" anchorCtr="0">
              <a:noAutofit/>
            </a:bodyPr>
            <a:lstStyle/>
            <a:p>
              <a:pPr>
                <a:buClr>
                  <a:srgbClr val="FFFFFF"/>
                </a:buClr>
                <a:buSzPts val="1000"/>
              </a:pPr>
              <a:r>
                <a:rPr lang="en-US" sz="1400" b="1">
                  <a:solidFill>
                    <a:srgbClr val="FFFFFF"/>
                  </a:solidFill>
                  <a:latin typeface="Calibri"/>
                  <a:ea typeface="Calibri"/>
                  <a:cs typeface="Calibri"/>
                  <a:sym typeface="Calibri"/>
                </a:rPr>
                <a:t>Chatbot Inteligente de Datos</a:t>
              </a:r>
              <a:endParaRPr sz="1400">
                <a:solidFill>
                  <a:schemeClr val="dk1"/>
                </a:solidFill>
                <a:latin typeface="Calibri"/>
                <a:ea typeface="Calibri"/>
                <a:cs typeface="Calibri"/>
                <a:sym typeface="Calibri"/>
              </a:endParaRPr>
            </a:p>
          </p:txBody>
        </p:sp>
        <p:sp>
          <p:nvSpPr>
            <p:cNvPr id="531" name="Google Shape;531;p13"/>
            <p:cNvSpPr/>
            <p:nvPr/>
          </p:nvSpPr>
          <p:spPr>
            <a:xfrm>
              <a:off x="512064" y="1926336"/>
              <a:ext cx="3474720" cy="914400"/>
            </a:xfrm>
            <a:prstGeom prst="rect">
              <a:avLst/>
            </a:prstGeom>
            <a:noFill/>
            <a:ln>
              <a:noFill/>
            </a:ln>
          </p:spPr>
          <p:txBody>
            <a:bodyPr spcFirstLastPara="1" wrap="square" lIns="0" tIns="0" rIns="0" bIns="0" anchor="ctr" anchorCtr="0">
              <a:noAutofit/>
            </a:bodyPr>
            <a:lstStyle/>
            <a:p>
              <a:pPr>
                <a:buClr>
                  <a:srgbClr val="C8E6F0"/>
                </a:buClr>
                <a:buSzPts val="900"/>
              </a:pPr>
              <a:r>
                <a:rPr lang="en-US" sz="1333" dirty="0" err="1">
                  <a:solidFill>
                    <a:srgbClr val="C8E6F0"/>
                  </a:solidFill>
                  <a:latin typeface="Calibri"/>
                  <a:ea typeface="Calibri"/>
                  <a:cs typeface="Calibri"/>
                  <a:sym typeface="Calibri"/>
                </a:rPr>
                <a:t>Agente</a:t>
              </a:r>
              <a:r>
                <a:rPr lang="en-US" sz="1333" dirty="0">
                  <a:solidFill>
                    <a:srgbClr val="C8E6F0"/>
                  </a:solidFill>
                  <a:latin typeface="Calibri"/>
                  <a:ea typeface="Calibri"/>
                  <a:cs typeface="Calibri"/>
                  <a:sym typeface="Calibri"/>
                </a:rPr>
                <a:t> que </a:t>
              </a:r>
              <a:r>
                <a:rPr lang="en-US" sz="1333" dirty="0" err="1">
                  <a:solidFill>
                    <a:srgbClr val="C8E6F0"/>
                  </a:solidFill>
                  <a:latin typeface="Calibri"/>
                  <a:ea typeface="Calibri"/>
                  <a:cs typeface="Calibri"/>
                  <a:sym typeface="Calibri"/>
                </a:rPr>
                <a:t>responde</a:t>
              </a:r>
              <a:r>
                <a:rPr lang="en-US" sz="1333" dirty="0">
                  <a:solidFill>
                    <a:srgbClr val="C8E6F0"/>
                  </a:solidFill>
                  <a:latin typeface="Calibri"/>
                  <a:ea typeface="Calibri"/>
                  <a:cs typeface="Calibri"/>
                  <a:sym typeface="Calibri"/>
                </a:rPr>
                <a:t> </a:t>
              </a:r>
              <a:r>
                <a:rPr lang="en-US" sz="1333" dirty="0" err="1">
                  <a:solidFill>
                    <a:srgbClr val="C8E6F0"/>
                  </a:solidFill>
                  <a:latin typeface="Calibri"/>
                  <a:ea typeface="Calibri"/>
                  <a:cs typeface="Calibri"/>
                  <a:sym typeface="Calibri"/>
                </a:rPr>
                <a:t>preguntas</a:t>
              </a:r>
              <a:r>
                <a:rPr lang="en-US" sz="1333" dirty="0">
                  <a:solidFill>
                    <a:srgbClr val="C8E6F0"/>
                  </a:solidFill>
                  <a:latin typeface="Calibri"/>
                  <a:ea typeface="Calibri"/>
                  <a:cs typeface="Calibri"/>
                  <a:sym typeface="Calibri"/>
                </a:rPr>
                <a:t> </a:t>
              </a:r>
              <a:r>
                <a:rPr lang="en-US" sz="1333" dirty="0" err="1">
                  <a:solidFill>
                    <a:srgbClr val="C8E6F0"/>
                  </a:solidFill>
                  <a:latin typeface="Calibri"/>
                  <a:ea typeface="Calibri"/>
                  <a:cs typeface="Calibri"/>
                  <a:sym typeface="Calibri"/>
                </a:rPr>
                <a:t>sobre</a:t>
              </a:r>
              <a:r>
                <a:rPr lang="en-US" sz="1333" dirty="0">
                  <a:solidFill>
                    <a:srgbClr val="C8E6F0"/>
                  </a:solidFill>
                  <a:latin typeface="Calibri"/>
                  <a:ea typeface="Calibri"/>
                  <a:cs typeface="Calibri"/>
                  <a:sym typeface="Calibri"/>
                </a:rPr>
                <a:t> datasets </a:t>
              </a:r>
              <a:r>
                <a:rPr lang="en-US" sz="1333" dirty="0" err="1">
                  <a:solidFill>
                    <a:srgbClr val="C8E6F0"/>
                  </a:solidFill>
                  <a:latin typeface="Calibri"/>
                  <a:ea typeface="Calibri"/>
                  <a:cs typeface="Calibri"/>
                  <a:sym typeface="Calibri"/>
                </a:rPr>
                <a:t>en</a:t>
              </a:r>
              <a:r>
                <a:rPr lang="en-US" sz="1333" dirty="0">
                  <a:solidFill>
                    <a:srgbClr val="C8E6F0"/>
                  </a:solidFill>
                  <a:latin typeface="Calibri"/>
                  <a:ea typeface="Calibri"/>
                  <a:cs typeface="Calibri"/>
                  <a:sym typeface="Calibri"/>
                </a:rPr>
                <a:t> </a:t>
              </a:r>
              <a:r>
                <a:rPr lang="en-US" sz="1333" dirty="0" err="1">
                  <a:solidFill>
                    <a:srgbClr val="C8E6F0"/>
                  </a:solidFill>
                  <a:latin typeface="Calibri"/>
                  <a:ea typeface="Calibri"/>
                  <a:cs typeface="Calibri"/>
                  <a:sym typeface="Calibri"/>
                </a:rPr>
                <a:t>lenguaje</a:t>
              </a:r>
              <a:r>
                <a:rPr lang="en-US" sz="1333" dirty="0">
                  <a:solidFill>
                    <a:srgbClr val="C8E6F0"/>
                  </a:solidFill>
                  <a:latin typeface="Calibri"/>
                  <a:ea typeface="Calibri"/>
                  <a:cs typeface="Calibri"/>
                  <a:sym typeface="Calibri"/>
                </a:rPr>
                <a:t> natural, genera </a:t>
              </a:r>
              <a:r>
                <a:rPr lang="en-US" sz="1333" dirty="0" err="1">
                  <a:solidFill>
                    <a:srgbClr val="C8E6F0"/>
                  </a:solidFill>
                  <a:latin typeface="Calibri"/>
                  <a:ea typeface="Calibri"/>
                  <a:cs typeface="Calibri"/>
                  <a:sym typeface="Calibri"/>
                </a:rPr>
                <a:t>visualizaciones</a:t>
              </a:r>
              <a:r>
                <a:rPr lang="en-US" sz="1333" dirty="0">
                  <a:solidFill>
                    <a:srgbClr val="C8E6F0"/>
                  </a:solidFill>
                  <a:latin typeface="Calibri"/>
                  <a:ea typeface="Calibri"/>
                  <a:cs typeface="Calibri"/>
                  <a:sym typeface="Calibri"/>
                </a:rPr>
                <a:t> y </a:t>
              </a:r>
              <a:r>
                <a:rPr lang="en-US" sz="1333" dirty="0" err="1">
                  <a:solidFill>
                    <a:srgbClr val="C8E6F0"/>
                  </a:solidFill>
                  <a:latin typeface="Calibri"/>
                  <a:ea typeface="Calibri"/>
                  <a:cs typeface="Calibri"/>
                  <a:sym typeface="Calibri"/>
                </a:rPr>
                <a:t>ejecuta</a:t>
              </a:r>
              <a:r>
                <a:rPr lang="en-US" sz="1333" dirty="0">
                  <a:solidFill>
                    <a:srgbClr val="C8E6F0"/>
                  </a:solidFill>
                  <a:latin typeface="Calibri"/>
                  <a:ea typeface="Calibri"/>
                  <a:cs typeface="Calibri"/>
                  <a:sym typeface="Calibri"/>
                </a:rPr>
                <a:t> </a:t>
              </a:r>
              <a:r>
                <a:rPr lang="en-US" sz="1333" dirty="0" err="1">
                  <a:solidFill>
                    <a:srgbClr val="C8E6F0"/>
                  </a:solidFill>
                  <a:latin typeface="Calibri"/>
                  <a:ea typeface="Calibri"/>
                  <a:cs typeface="Calibri"/>
                  <a:sym typeface="Calibri"/>
                </a:rPr>
                <a:t>análisis</a:t>
              </a:r>
              <a:r>
                <a:rPr lang="en-US" sz="1333" dirty="0">
                  <a:solidFill>
                    <a:srgbClr val="C8E6F0"/>
                  </a:solidFill>
                  <a:latin typeface="Calibri"/>
                  <a:ea typeface="Calibri"/>
                  <a:cs typeface="Calibri"/>
                  <a:sym typeface="Calibri"/>
                </a:rPr>
                <a:t> ad-hoc.</a:t>
              </a:r>
              <a:endParaRPr sz="1333" dirty="0">
                <a:solidFill>
                  <a:schemeClr val="dk1"/>
                </a:solidFill>
                <a:latin typeface="Calibri"/>
                <a:ea typeface="Calibri"/>
                <a:cs typeface="Calibri"/>
                <a:sym typeface="Calibri"/>
              </a:endParaRPr>
            </a:p>
          </p:txBody>
        </p:sp>
        <p:sp>
          <p:nvSpPr>
            <p:cNvPr id="532" name="Google Shape;532;p13"/>
            <p:cNvSpPr/>
            <p:nvPr/>
          </p:nvSpPr>
          <p:spPr>
            <a:xfrm>
              <a:off x="512064" y="2926080"/>
              <a:ext cx="1645920" cy="560832"/>
            </a:xfrm>
            <a:prstGeom prst="rect">
              <a:avLst/>
            </a:prstGeom>
            <a:solidFill>
              <a:srgbClr val="0A1E38"/>
            </a:solidFill>
            <a:ln>
              <a:noFill/>
            </a:ln>
          </p:spPr>
          <p:txBody>
            <a:bodyPr spcFirstLastPara="1" wrap="square" lIns="121900" tIns="121900" rIns="121900" bIns="121900" anchor="ctr" anchorCtr="0">
              <a:noAutofit/>
            </a:bodyPr>
            <a:lstStyle/>
            <a:p>
              <a:endParaRPr sz="2667"/>
            </a:p>
          </p:txBody>
        </p:sp>
        <p:sp>
          <p:nvSpPr>
            <p:cNvPr id="533" name="Google Shape;533;p13"/>
            <p:cNvSpPr/>
            <p:nvPr/>
          </p:nvSpPr>
          <p:spPr>
            <a:xfrm>
              <a:off x="585216" y="2950464"/>
              <a:ext cx="1524000" cy="512064"/>
            </a:xfrm>
            <a:prstGeom prst="rect">
              <a:avLst/>
            </a:prstGeom>
            <a:noFill/>
            <a:ln>
              <a:noFill/>
            </a:ln>
          </p:spPr>
          <p:txBody>
            <a:bodyPr spcFirstLastPara="1" wrap="square" lIns="0" tIns="0" rIns="0" bIns="0" anchor="ctr" anchorCtr="0">
              <a:noAutofit/>
            </a:bodyPr>
            <a:lstStyle/>
            <a:p>
              <a:pPr>
                <a:buClr>
                  <a:srgbClr val="7BA7BC"/>
                </a:buClr>
                <a:buSzPts val="800"/>
              </a:pPr>
              <a:r>
                <a:rPr lang="en-US" sz="1200">
                  <a:solidFill>
                    <a:srgbClr val="7BA7BC"/>
                  </a:solidFill>
                  <a:latin typeface="Calibri"/>
                  <a:ea typeface="Calibri"/>
                  <a:cs typeface="Calibri"/>
                  <a:sym typeface="Calibri"/>
                </a:rPr>
                <a:t>Tools: Pandas, SQL, Plotly, código</a:t>
              </a:r>
              <a:endParaRPr sz="1200">
                <a:solidFill>
                  <a:schemeClr val="dk1"/>
                </a:solidFill>
                <a:latin typeface="Calibri"/>
                <a:ea typeface="Calibri"/>
                <a:cs typeface="Calibri"/>
                <a:sym typeface="Calibri"/>
              </a:endParaRPr>
            </a:p>
          </p:txBody>
        </p:sp>
        <p:sp>
          <p:nvSpPr>
            <p:cNvPr id="534" name="Google Shape;534;p13"/>
            <p:cNvSpPr/>
            <p:nvPr/>
          </p:nvSpPr>
          <p:spPr>
            <a:xfrm>
              <a:off x="2255520" y="2926080"/>
              <a:ext cx="1706880" cy="560832"/>
            </a:xfrm>
            <a:prstGeom prst="rect">
              <a:avLst/>
            </a:prstGeom>
            <a:solidFill>
              <a:srgbClr val="1A6B3C"/>
            </a:solidFill>
            <a:ln>
              <a:noFill/>
            </a:ln>
          </p:spPr>
          <p:txBody>
            <a:bodyPr spcFirstLastPara="1" wrap="square" lIns="121900" tIns="121900" rIns="121900" bIns="121900" anchor="ctr" anchorCtr="0">
              <a:noAutofit/>
            </a:bodyPr>
            <a:lstStyle/>
            <a:p>
              <a:endParaRPr sz="2667"/>
            </a:p>
          </p:txBody>
        </p:sp>
        <p:sp>
          <p:nvSpPr>
            <p:cNvPr id="535" name="Google Shape;535;p13"/>
            <p:cNvSpPr/>
            <p:nvPr/>
          </p:nvSpPr>
          <p:spPr>
            <a:xfrm>
              <a:off x="2328672" y="2950464"/>
              <a:ext cx="1584960" cy="512064"/>
            </a:xfrm>
            <a:prstGeom prst="rect">
              <a:avLst/>
            </a:prstGeom>
            <a:noFill/>
            <a:ln>
              <a:noFill/>
            </a:ln>
          </p:spPr>
          <p:txBody>
            <a:bodyPr spcFirstLastPara="1" wrap="square" lIns="0" tIns="0" rIns="0" bIns="0" anchor="ctr" anchorCtr="0">
              <a:noAutofit/>
            </a:bodyPr>
            <a:lstStyle/>
            <a:p>
              <a:pPr>
                <a:buClr>
                  <a:srgbClr val="FFFFFF"/>
                </a:buClr>
                <a:buSzPts val="800"/>
              </a:pPr>
              <a:r>
                <a:rPr lang="en-US" sz="1200">
                  <a:solidFill>
                    <a:srgbClr val="FFFFFF"/>
                  </a:solidFill>
                  <a:latin typeface="Calibri"/>
                  <a:ea typeface="Calibri"/>
                  <a:cs typeface="Calibri"/>
                  <a:sym typeface="Calibri"/>
                </a:rPr>
                <a:t>Stack: OpenAI Assistants o LangChain</a:t>
              </a:r>
              <a:endParaRPr sz="1200">
                <a:solidFill>
                  <a:schemeClr val="dk1"/>
                </a:solidFill>
                <a:latin typeface="Calibri"/>
                <a:ea typeface="Calibri"/>
                <a:cs typeface="Calibri"/>
                <a:sym typeface="Calibri"/>
              </a:endParaRPr>
            </a:p>
          </p:txBody>
        </p:sp>
        <p:sp>
          <p:nvSpPr>
            <p:cNvPr id="536" name="Google Shape;536;p13"/>
            <p:cNvSpPr/>
            <p:nvPr/>
          </p:nvSpPr>
          <p:spPr>
            <a:xfrm>
              <a:off x="4303776" y="1097280"/>
              <a:ext cx="3755136" cy="2560320"/>
            </a:xfrm>
            <a:prstGeom prst="rect">
              <a:avLst/>
            </a:prstGeom>
            <a:solidFill>
              <a:srgbClr val="0D2137"/>
            </a:solidFill>
            <a:ln w="9525" cap="flat" cmpd="sng">
              <a:solidFill>
                <a:srgbClr val="1A4060"/>
              </a:solidFill>
              <a:prstDash val="solid"/>
              <a:round/>
              <a:headEnd type="none" w="sm" len="sm"/>
              <a:tailEnd type="none" w="sm" len="sm"/>
            </a:ln>
            <a:effectLst>
              <a:outerShdw blurRad="101600" dist="38100" dir="8100000" algn="bl" rotWithShape="0">
                <a:srgbClr val="000000">
                  <a:alpha val="18039"/>
                </a:srgbClr>
              </a:outerShdw>
            </a:effectLst>
          </p:spPr>
          <p:txBody>
            <a:bodyPr spcFirstLastPara="1" wrap="square" lIns="121900" tIns="121900" rIns="121900" bIns="121900" anchor="ctr" anchorCtr="0">
              <a:noAutofit/>
            </a:bodyPr>
            <a:lstStyle/>
            <a:p>
              <a:endParaRPr sz="2400"/>
            </a:p>
          </p:txBody>
        </p:sp>
        <p:sp>
          <p:nvSpPr>
            <p:cNvPr id="537" name="Google Shape;537;p13"/>
            <p:cNvSpPr/>
            <p:nvPr/>
          </p:nvSpPr>
          <p:spPr>
            <a:xfrm>
              <a:off x="4303776" y="1097280"/>
              <a:ext cx="3755136" cy="85344"/>
            </a:xfrm>
            <a:prstGeom prst="rect">
              <a:avLst/>
            </a:prstGeom>
            <a:solidFill>
              <a:srgbClr val="0F3460"/>
            </a:solidFill>
            <a:ln>
              <a:noFill/>
            </a:ln>
          </p:spPr>
          <p:txBody>
            <a:bodyPr spcFirstLastPara="1" wrap="square" lIns="121900" tIns="121900" rIns="121900" bIns="121900" anchor="ctr" anchorCtr="0">
              <a:noAutofit/>
            </a:bodyPr>
            <a:lstStyle/>
            <a:p>
              <a:endParaRPr sz="2400"/>
            </a:p>
          </p:txBody>
        </p:sp>
        <p:pic>
          <p:nvPicPr>
            <p:cNvPr id="538" name="Google Shape;538;p13" descr="preencoded.png"/>
            <p:cNvPicPr preferRelativeResize="0"/>
            <p:nvPr/>
          </p:nvPicPr>
          <p:blipFill rotWithShape="1">
            <a:blip r:embed="rId4">
              <a:alphaModFix/>
            </a:blip>
            <a:srcRect/>
            <a:stretch/>
          </p:blipFill>
          <p:spPr>
            <a:xfrm>
              <a:off x="4450080" y="1316736"/>
              <a:ext cx="487680" cy="487680"/>
            </a:xfrm>
            <a:prstGeom prst="rect">
              <a:avLst/>
            </a:prstGeom>
            <a:noFill/>
            <a:ln>
              <a:noFill/>
            </a:ln>
          </p:spPr>
        </p:pic>
        <p:sp>
          <p:nvSpPr>
            <p:cNvPr id="539" name="Google Shape;539;p13"/>
            <p:cNvSpPr/>
            <p:nvPr/>
          </p:nvSpPr>
          <p:spPr>
            <a:xfrm>
              <a:off x="5010912" y="1316736"/>
              <a:ext cx="2974848" cy="512064"/>
            </a:xfrm>
            <a:prstGeom prst="rect">
              <a:avLst/>
            </a:prstGeom>
            <a:noFill/>
            <a:ln>
              <a:noFill/>
            </a:ln>
          </p:spPr>
          <p:txBody>
            <a:bodyPr spcFirstLastPara="1" wrap="square" lIns="0" tIns="0" rIns="0" bIns="0" anchor="ctr" anchorCtr="0">
              <a:noAutofit/>
            </a:bodyPr>
            <a:lstStyle/>
            <a:p>
              <a:pPr>
                <a:buClr>
                  <a:srgbClr val="FFFFFF"/>
                </a:buClr>
                <a:buSzPts val="1000"/>
              </a:pPr>
              <a:r>
                <a:rPr lang="en-US" sz="1400" b="1">
                  <a:solidFill>
                    <a:srgbClr val="FFFFFF"/>
                  </a:solidFill>
                  <a:latin typeface="Calibri"/>
                  <a:ea typeface="Calibri"/>
                  <a:cs typeface="Calibri"/>
                  <a:sym typeface="Calibri"/>
                </a:rPr>
                <a:t>Automatización de Reportes</a:t>
              </a:r>
              <a:endParaRPr sz="1400">
                <a:solidFill>
                  <a:schemeClr val="dk1"/>
                </a:solidFill>
                <a:latin typeface="Calibri"/>
                <a:ea typeface="Calibri"/>
                <a:cs typeface="Calibri"/>
                <a:sym typeface="Calibri"/>
              </a:endParaRPr>
            </a:p>
          </p:txBody>
        </p:sp>
        <p:sp>
          <p:nvSpPr>
            <p:cNvPr id="540" name="Google Shape;540;p13"/>
            <p:cNvSpPr/>
            <p:nvPr/>
          </p:nvSpPr>
          <p:spPr>
            <a:xfrm>
              <a:off x="4450080" y="1926336"/>
              <a:ext cx="3474720" cy="914400"/>
            </a:xfrm>
            <a:prstGeom prst="rect">
              <a:avLst/>
            </a:prstGeom>
            <a:noFill/>
            <a:ln>
              <a:noFill/>
            </a:ln>
          </p:spPr>
          <p:txBody>
            <a:bodyPr spcFirstLastPara="1" wrap="square" lIns="0" tIns="0" rIns="0" bIns="0" anchor="ctr" anchorCtr="0">
              <a:noAutofit/>
            </a:bodyPr>
            <a:lstStyle/>
            <a:p>
              <a:pPr>
                <a:buClr>
                  <a:srgbClr val="C8E6F0"/>
                </a:buClr>
                <a:buSzPts val="900"/>
              </a:pPr>
              <a:r>
                <a:rPr lang="en-US" sz="1333">
                  <a:solidFill>
                    <a:srgbClr val="C8E6F0"/>
                  </a:solidFill>
                  <a:latin typeface="Calibri"/>
                  <a:ea typeface="Calibri"/>
                  <a:cs typeface="Calibri"/>
                  <a:sym typeface="Calibri"/>
                </a:rPr>
                <a:t>Agente que extrae datos de fuentes múltiples, analiza tendencias y genera reportes semanales automáticamente.</a:t>
              </a:r>
              <a:endParaRPr sz="1333">
                <a:solidFill>
                  <a:schemeClr val="dk1"/>
                </a:solidFill>
                <a:latin typeface="Calibri"/>
                <a:ea typeface="Calibri"/>
                <a:cs typeface="Calibri"/>
                <a:sym typeface="Calibri"/>
              </a:endParaRPr>
            </a:p>
          </p:txBody>
        </p:sp>
        <p:sp>
          <p:nvSpPr>
            <p:cNvPr id="541" name="Google Shape;541;p13"/>
            <p:cNvSpPr/>
            <p:nvPr/>
          </p:nvSpPr>
          <p:spPr>
            <a:xfrm>
              <a:off x="4450080" y="2926080"/>
              <a:ext cx="1645920" cy="560832"/>
            </a:xfrm>
            <a:prstGeom prst="rect">
              <a:avLst/>
            </a:prstGeom>
            <a:solidFill>
              <a:srgbClr val="0A1E38"/>
            </a:solidFill>
            <a:ln>
              <a:noFill/>
            </a:ln>
          </p:spPr>
          <p:txBody>
            <a:bodyPr spcFirstLastPara="1" wrap="square" lIns="121900" tIns="121900" rIns="121900" bIns="121900" anchor="ctr" anchorCtr="0">
              <a:noAutofit/>
            </a:bodyPr>
            <a:lstStyle/>
            <a:p>
              <a:endParaRPr sz="2667"/>
            </a:p>
          </p:txBody>
        </p:sp>
        <p:sp>
          <p:nvSpPr>
            <p:cNvPr id="542" name="Google Shape;542;p13"/>
            <p:cNvSpPr/>
            <p:nvPr/>
          </p:nvSpPr>
          <p:spPr>
            <a:xfrm>
              <a:off x="4523232" y="2950464"/>
              <a:ext cx="1524000" cy="512064"/>
            </a:xfrm>
            <a:prstGeom prst="rect">
              <a:avLst/>
            </a:prstGeom>
            <a:noFill/>
            <a:ln>
              <a:noFill/>
            </a:ln>
          </p:spPr>
          <p:txBody>
            <a:bodyPr spcFirstLastPara="1" wrap="square" lIns="0" tIns="0" rIns="0" bIns="0" anchor="ctr" anchorCtr="0">
              <a:noAutofit/>
            </a:bodyPr>
            <a:lstStyle/>
            <a:p>
              <a:pPr>
                <a:buClr>
                  <a:srgbClr val="7BA7BC"/>
                </a:buClr>
                <a:buSzPts val="800"/>
              </a:pPr>
              <a:r>
                <a:rPr lang="en-US" sz="1200">
                  <a:solidFill>
                    <a:srgbClr val="7BA7BC"/>
                  </a:solidFill>
                  <a:latin typeface="Calibri"/>
                  <a:ea typeface="Calibri"/>
                  <a:cs typeface="Calibri"/>
                  <a:sym typeface="Calibri"/>
                </a:rPr>
                <a:t>Tools: Web scraping, APIs, Excel</a:t>
              </a:r>
              <a:endParaRPr sz="1200">
                <a:solidFill>
                  <a:schemeClr val="dk1"/>
                </a:solidFill>
                <a:latin typeface="Calibri"/>
                <a:ea typeface="Calibri"/>
                <a:cs typeface="Calibri"/>
                <a:sym typeface="Calibri"/>
              </a:endParaRPr>
            </a:p>
          </p:txBody>
        </p:sp>
        <p:sp>
          <p:nvSpPr>
            <p:cNvPr id="543" name="Google Shape;543;p13"/>
            <p:cNvSpPr/>
            <p:nvPr/>
          </p:nvSpPr>
          <p:spPr>
            <a:xfrm>
              <a:off x="6193536" y="2926080"/>
              <a:ext cx="1706880" cy="560832"/>
            </a:xfrm>
            <a:prstGeom prst="rect">
              <a:avLst/>
            </a:prstGeom>
            <a:solidFill>
              <a:srgbClr val="0F3460"/>
            </a:solidFill>
            <a:ln>
              <a:noFill/>
            </a:ln>
          </p:spPr>
          <p:txBody>
            <a:bodyPr spcFirstLastPara="1" wrap="square" lIns="121900" tIns="121900" rIns="121900" bIns="121900" anchor="ctr" anchorCtr="0">
              <a:noAutofit/>
            </a:bodyPr>
            <a:lstStyle/>
            <a:p>
              <a:endParaRPr sz="2667"/>
            </a:p>
          </p:txBody>
        </p:sp>
        <p:sp>
          <p:nvSpPr>
            <p:cNvPr id="544" name="Google Shape;544;p13"/>
            <p:cNvSpPr/>
            <p:nvPr/>
          </p:nvSpPr>
          <p:spPr>
            <a:xfrm>
              <a:off x="6266688" y="2950464"/>
              <a:ext cx="1584960" cy="512064"/>
            </a:xfrm>
            <a:prstGeom prst="rect">
              <a:avLst/>
            </a:prstGeom>
            <a:noFill/>
            <a:ln>
              <a:noFill/>
            </a:ln>
          </p:spPr>
          <p:txBody>
            <a:bodyPr spcFirstLastPara="1" wrap="square" lIns="0" tIns="0" rIns="0" bIns="0" anchor="ctr" anchorCtr="0">
              <a:noAutofit/>
            </a:bodyPr>
            <a:lstStyle/>
            <a:p>
              <a:pPr>
                <a:buClr>
                  <a:srgbClr val="FFFFFF"/>
                </a:buClr>
                <a:buSzPts val="800"/>
              </a:pPr>
              <a:r>
                <a:rPr lang="en-US" sz="1200">
                  <a:solidFill>
                    <a:srgbClr val="FFFFFF"/>
                  </a:solidFill>
                  <a:latin typeface="Calibri"/>
                  <a:ea typeface="Calibri"/>
                  <a:cs typeface="Calibri"/>
                  <a:sym typeface="Calibri"/>
                </a:rPr>
                <a:t>Stack: n8n + Claude o GPT-4</a:t>
              </a:r>
              <a:endParaRPr sz="1200">
                <a:solidFill>
                  <a:schemeClr val="dk1"/>
                </a:solidFill>
                <a:latin typeface="Calibri"/>
                <a:ea typeface="Calibri"/>
                <a:cs typeface="Calibri"/>
                <a:sym typeface="Calibri"/>
              </a:endParaRPr>
            </a:p>
          </p:txBody>
        </p:sp>
        <p:sp>
          <p:nvSpPr>
            <p:cNvPr id="545" name="Google Shape;545;p13"/>
            <p:cNvSpPr/>
            <p:nvPr/>
          </p:nvSpPr>
          <p:spPr>
            <a:xfrm>
              <a:off x="8241792" y="1097280"/>
              <a:ext cx="3755136" cy="2560320"/>
            </a:xfrm>
            <a:prstGeom prst="rect">
              <a:avLst/>
            </a:prstGeom>
            <a:solidFill>
              <a:srgbClr val="0D2137"/>
            </a:solidFill>
            <a:ln w="9525" cap="flat" cmpd="sng">
              <a:solidFill>
                <a:srgbClr val="1A4060"/>
              </a:solidFill>
              <a:prstDash val="solid"/>
              <a:round/>
              <a:headEnd type="none" w="sm" len="sm"/>
              <a:tailEnd type="none" w="sm" len="sm"/>
            </a:ln>
            <a:effectLst>
              <a:outerShdw blurRad="101600" dist="38100" dir="8100000" algn="bl" rotWithShape="0">
                <a:srgbClr val="000000">
                  <a:alpha val="18039"/>
                </a:srgbClr>
              </a:outerShdw>
            </a:effectLst>
          </p:spPr>
          <p:txBody>
            <a:bodyPr spcFirstLastPara="1" wrap="square" lIns="121900" tIns="121900" rIns="121900" bIns="121900" anchor="ctr" anchorCtr="0">
              <a:noAutofit/>
            </a:bodyPr>
            <a:lstStyle/>
            <a:p>
              <a:endParaRPr sz="2400"/>
            </a:p>
          </p:txBody>
        </p:sp>
        <p:sp>
          <p:nvSpPr>
            <p:cNvPr id="546" name="Google Shape;546;p13"/>
            <p:cNvSpPr/>
            <p:nvPr/>
          </p:nvSpPr>
          <p:spPr>
            <a:xfrm>
              <a:off x="8241792" y="1097280"/>
              <a:ext cx="3755136" cy="85344"/>
            </a:xfrm>
            <a:prstGeom prst="rect">
              <a:avLst/>
            </a:prstGeom>
            <a:solidFill>
              <a:srgbClr val="4A2A8A"/>
            </a:solidFill>
            <a:ln>
              <a:noFill/>
            </a:ln>
          </p:spPr>
          <p:txBody>
            <a:bodyPr spcFirstLastPara="1" wrap="square" lIns="121900" tIns="121900" rIns="121900" bIns="121900" anchor="ctr" anchorCtr="0">
              <a:noAutofit/>
            </a:bodyPr>
            <a:lstStyle/>
            <a:p>
              <a:endParaRPr sz="2400"/>
            </a:p>
          </p:txBody>
        </p:sp>
        <p:pic>
          <p:nvPicPr>
            <p:cNvPr id="547" name="Google Shape;547;p13" descr="preencoded.png"/>
            <p:cNvPicPr preferRelativeResize="0"/>
            <p:nvPr/>
          </p:nvPicPr>
          <p:blipFill rotWithShape="1">
            <a:blip r:embed="rId5">
              <a:alphaModFix/>
            </a:blip>
            <a:srcRect/>
            <a:stretch/>
          </p:blipFill>
          <p:spPr>
            <a:xfrm>
              <a:off x="8388096" y="1316736"/>
              <a:ext cx="487680" cy="487680"/>
            </a:xfrm>
            <a:prstGeom prst="rect">
              <a:avLst/>
            </a:prstGeom>
            <a:noFill/>
            <a:ln>
              <a:noFill/>
            </a:ln>
          </p:spPr>
        </p:pic>
        <p:sp>
          <p:nvSpPr>
            <p:cNvPr id="548" name="Google Shape;548;p13"/>
            <p:cNvSpPr/>
            <p:nvPr/>
          </p:nvSpPr>
          <p:spPr>
            <a:xfrm>
              <a:off x="8948928" y="1316736"/>
              <a:ext cx="2974848" cy="512064"/>
            </a:xfrm>
            <a:prstGeom prst="rect">
              <a:avLst/>
            </a:prstGeom>
            <a:noFill/>
            <a:ln>
              <a:noFill/>
            </a:ln>
          </p:spPr>
          <p:txBody>
            <a:bodyPr spcFirstLastPara="1" wrap="square" lIns="0" tIns="0" rIns="0" bIns="0" anchor="ctr" anchorCtr="0">
              <a:noAutofit/>
            </a:bodyPr>
            <a:lstStyle/>
            <a:p>
              <a:pPr>
                <a:buClr>
                  <a:srgbClr val="FFFFFF"/>
                </a:buClr>
                <a:buSzPts val="1000"/>
              </a:pPr>
              <a:r>
                <a:rPr lang="en-US" sz="1400" b="1">
                  <a:solidFill>
                    <a:srgbClr val="FFFFFF"/>
                  </a:solidFill>
                  <a:latin typeface="Calibri"/>
                  <a:ea typeface="Calibri"/>
                  <a:cs typeface="Calibri"/>
                  <a:sym typeface="Calibri"/>
                </a:rPr>
                <a:t>Research Agent</a:t>
              </a:r>
              <a:endParaRPr sz="1400">
                <a:solidFill>
                  <a:schemeClr val="dk1"/>
                </a:solidFill>
                <a:latin typeface="Calibri"/>
                <a:ea typeface="Calibri"/>
                <a:cs typeface="Calibri"/>
                <a:sym typeface="Calibri"/>
              </a:endParaRPr>
            </a:p>
          </p:txBody>
        </p:sp>
        <p:sp>
          <p:nvSpPr>
            <p:cNvPr id="549" name="Google Shape;549;p13"/>
            <p:cNvSpPr/>
            <p:nvPr/>
          </p:nvSpPr>
          <p:spPr>
            <a:xfrm>
              <a:off x="8388096" y="1926336"/>
              <a:ext cx="3474720" cy="914400"/>
            </a:xfrm>
            <a:prstGeom prst="rect">
              <a:avLst/>
            </a:prstGeom>
            <a:noFill/>
            <a:ln>
              <a:noFill/>
            </a:ln>
          </p:spPr>
          <p:txBody>
            <a:bodyPr spcFirstLastPara="1" wrap="square" lIns="0" tIns="0" rIns="0" bIns="0" anchor="ctr" anchorCtr="0">
              <a:noAutofit/>
            </a:bodyPr>
            <a:lstStyle/>
            <a:p>
              <a:pPr>
                <a:buClr>
                  <a:srgbClr val="C8E6F0"/>
                </a:buClr>
                <a:buSzPts val="900"/>
              </a:pPr>
              <a:r>
                <a:rPr lang="en-US" sz="1333">
                  <a:solidFill>
                    <a:srgbClr val="C8E6F0"/>
                  </a:solidFill>
                  <a:latin typeface="Calibri"/>
                  <a:ea typeface="Calibri"/>
                  <a:cs typeface="Calibri"/>
                  <a:sym typeface="Calibri"/>
                </a:rPr>
                <a:t>Agente que investiga papers, artículos y fuentes para construir una síntesis actualizada sobre cualquier tema técnico.</a:t>
              </a:r>
              <a:endParaRPr sz="1333">
                <a:solidFill>
                  <a:schemeClr val="dk1"/>
                </a:solidFill>
                <a:latin typeface="Calibri"/>
                <a:ea typeface="Calibri"/>
                <a:cs typeface="Calibri"/>
                <a:sym typeface="Calibri"/>
              </a:endParaRPr>
            </a:p>
          </p:txBody>
        </p:sp>
        <p:sp>
          <p:nvSpPr>
            <p:cNvPr id="550" name="Google Shape;550;p13"/>
            <p:cNvSpPr/>
            <p:nvPr/>
          </p:nvSpPr>
          <p:spPr>
            <a:xfrm>
              <a:off x="8388096" y="2926080"/>
              <a:ext cx="1645920" cy="560832"/>
            </a:xfrm>
            <a:prstGeom prst="rect">
              <a:avLst/>
            </a:prstGeom>
            <a:solidFill>
              <a:srgbClr val="0A1E38"/>
            </a:solidFill>
            <a:ln>
              <a:noFill/>
            </a:ln>
          </p:spPr>
          <p:txBody>
            <a:bodyPr spcFirstLastPara="1" wrap="square" lIns="121900" tIns="121900" rIns="121900" bIns="121900" anchor="ctr" anchorCtr="0">
              <a:noAutofit/>
            </a:bodyPr>
            <a:lstStyle/>
            <a:p>
              <a:endParaRPr sz="2667"/>
            </a:p>
          </p:txBody>
        </p:sp>
        <p:sp>
          <p:nvSpPr>
            <p:cNvPr id="551" name="Google Shape;551;p13"/>
            <p:cNvSpPr/>
            <p:nvPr/>
          </p:nvSpPr>
          <p:spPr>
            <a:xfrm>
              <a:off x="8461248" y="2950464"/>
              <a:ext cx="1524000" cy="512064"/>
            </a:xfrm>
            <a:prstGeom prst="rect">
              <a:avLst/>
            </a:prstGeom>
            <a:noFill/>
            <a:ln>
              <a:noFill/>
            </a:ln>
          </p:spPr>
          <p:txBody>
            <a:bodyPr spcFirstLastPara="1" wrap="square" lIns="0" tIns="0" rIns="0" bIns="0" anchor="ctr" anchorCtr="0">
              <a:noAutofit/>
            </a:bodyPr>
            <a:lstStyle/>
            <a:p>
              <a:pPr>
                <a:buClr>
                  <a:srgbClr val="7BA7BC"/>
                </a:buClr>
                <a:buSzPts val="800"/>
              </a:pPr>
              <a:r>
                <a:rPr lang="en-US" sz="1200">
                  <a:solidFill>
                    <a:srgbClr val="7BA7BC"/>
                  </a:solidFill>
                  <a:latin typeface="Calibri"/>
                  <a:ea typeface="Calibri"/>
                  <a:cs typeface="Calibri"/>
                  <a:sym typeface="Calibri"/>
                </a:rPr>
                <a:t>Tools: Web search, PDF reader, citas</a:t>
              </a:r>
              <a:endParaRPr sz="1200">
                <a:solidFill>
                  <a:schemeClr val="dk1"/>
                </a:solidFill>
                <a:latin typeface="Calibri"/>
                <a:ea typeface="Calibri"/>
                <a:cs typeface="Calibri"/>
                <a:sym typeface="Calibri"/>
              </a:endParaRPr>
            </a:p>
          </p:txBody>
        </p:sp>
        <p:sp>
          <p:nvSpPr>
            <p:cNvPr id="552" name="Google Shape;552;p13"/>
            <p:cNvSpPr/>
            <p:nvPr/>
          </p:nvSpPr>
          <p:spPr>
            <a:xfrm>
              <a:off x="10131552" y="2926080"/>
              <a:ext cx="1706880" cy="560832"/>
            </a:xfrm>
            <a:prstGeom prst="rect">
              <a:avLst/>
            </a:prstGeom>
            <a:solidFill>
              <a:srgbClr val="4A2A8A"/>
            </a:solidFill>
            <a:ln>
              <a:noFill/>
            </a:ln>
          </p:spPr>
          <p:txBody>
            <a:bodyPr spcFirstLastPara="1" wrap="square" lIns="121900" tIns="121900" rIns="121900" bIns="121900" anchor="ctr" anchorCtr="0">
              <a:noAutofit/>
            </a:bodyPr>
            <a:lstStyle/>
            <a:p>
              <a:endParaRPr sz="2667"/>
            </a:p>
          </p:txBody>
        </p:sp>
        <p:sp>
          <p:nvSpPr>
            <p:cNvPr id="553" name="Google Shape;553;p13"/>
            <p:cNvSpPr/>
            <p:nvPr/>
          </p:nvSpPr>
          <p:spPr>
            <a:xfrm>
              <a:off x="10204704" y="2950464"/>
              <a:ext cx="1584960" cy="512064"/>
            </a:xfrm>
            <a:prstGeom prst="rect">
              <a:avLst/>
            </a:prstGeom>
            <a:noFill/>
            <a:ln>
              <a:noFill/>
            </a:ln>
          </p:spPr>
          <p:txBody>
            <a:bodyPr spcFirstLastPara="1" wrap="square" lIns="0" tIns="0" rIns="0" bIns="0" anchor="ctr" anchorCtr="0">
              <a:noAutofit/>
            </a:bodyPr>
            <a:lstStyle/>
            <a:p>
              <a:pPr>
                <a:buClr>
                  <a:srgbClr val="FFFFFF"/>
                </a:buClr>
                <a:buSzPts val="800"/>
              </a:pPr>
              <a:r>
                <a:rPr lang="en-US" sz="1200">
                  <a:solidFill>
                    <a:srgbClr val="FFFFFF"/>
                  </a:solidFill>
                  <a:latin typeface="Calibri"/>
                  <a:ea typeface="Calibri"/>
                  <a:cs typeface="Calibri"/>
                  <a:sym typeface="Calibri"/>
                </a:rPr>
                <a:t>Stack: Perplexity API o CrewAI</a:t>
              </a:r>
              <a:endParaRPr sz="1200">
                <a:solidFill>
                  <a:schemeClr val="dk1"/>
                </a:solidFill>
                <a:latin typeface="Calibri"/>
                <a:ea typeface="Calibri"/>
                <a:cs typeface="Calibri"/>
                <a:sym typeface="Calibri"/>
              </a:endParaRPr>
            </a:p>
          </p:txBody>
        </p:sp>
        <p:sp>
          <p:nvSpPr>
            <p:cNvPr id="554" name="Google Shape;554;p13"/>
            <p:cNvSpPr/>
            <p:nvPr/>
          </p:nvSpPr>
          <p:spPr>
            <a:xfrm>
              <a:off x="365760" y="3840480"/>
              <a:ext cx="3755136" cy="2560320"/>
            </a:xfrm>
            <a:prstGeom prst="rect">
              <a:avLst/>
            </a:prstGeom>
            <a:solidFill>
              <a:srgbClr val="0D2137"/>
            </a:solidFill>
            <a:ln w="9525" cap="flat" cmpd="sng">
              <a:solidFill>
                <a:srgbClr val="1A4060"/>
              </a:solidFill>
              <a:prstDash val="solid"/>
              <a:round/>
              <a:headEnd type="none" w="sm" len="sm"/>
              <a:tailEnd type="none" w="sm" len="sm"/>
            </a:ln>
            <a:effectLst>
              <a:outerShdw blurRad="101600" dist="38100" dir="8100000" algn="bl" rotWithShape="0">
                <a:srgbClr val="000000">
                  <a:alpha val="18039"/>
                </a:srgbClr>
              </a:outerShdw>
            </a:effectLst>
          </p:spPr>
          <p:txBody>
            <a:bodyPr spcFirstLastPara="1" wrap="square" lIns="121900" tIns="121900" rIns="121900" bIns="121900" anchor="ctr" anchorCtr="0">
              <a:noAutofit/>
            </a:bodyPr>
            <a:lstStyle/>
            <a:p>
              <a:endParaRPr sz="2667"/>
            </a:p>
          </p:txBody>
        </p:sp>
        <p:pic>
          <p:nvPicPr>
            <p:cNvPr id="556" name="Google Shape;556;p13" descr="preencoded.png"/>
            <p:cNvPicPr preferRelativeResize="0"/>
            <p:nvPr/>
          </p:nvPicPr>
          <p:blipFill rotWithShape="1">
            <a:blip r:embed="rId6">
              <a:alphaModFix/>
            </a:blip>
            <a:srcRect/>
            <a:stretch/>
          </p:blipFill>
          <p:spPr>
            <a:xfrm>
              <a:off x="512064" y="4059936"/>
              <a:ext cx="487680" cy="487680"/>
            </a:xfrm>
            <a:prstGeom prst="rect">
              <a:avLst/>
            </a:prstGeom>
            <a:noFill/>
            <a:ln>
              <a:noFill/>
            </a:ln>
          </p:spPr>
        </p:pic>
        <p:sp>
          <p:nvSpPr>
            <p:cNvPr id="557" name="Google Shape;557;p13"/>
            <p:cNvSpPr/>
            <p:nvPr/>
          </p:nvSpPr>
          <p:spPr>
            <a:xfrm>
              <a:off x="1072896" y="4059936"/>
              <a:ext cx="2974848" cy="512064"/>
            </a:xfrm>
            <a:prstGeom prst="rect">
              <a:avLst/>
            </a:prstGeom>
            <a:noFill/>
            <a:ln>
              <a:noFill/>
            </a:ln>
          </p:spPr>
          <p:txBody>
            <a:bodyPr spcFirstLastPara="1" wrap="square" lIns="0" tIns="0" rIns="0" bIns="0" anchor="ctr" anchorCtr="0">
              <a:noAutofit/>
            </a:bodyPr>
            <a:lstStyle/>
            <a:p>
              <a:pPr>
                <a:buClr>
                  <a:srgbClr val="FFFFFF"/>
                </a:buClr>
                <a:buSzPts val="1000"/>
              </a:pPr>
              <a:r>
                <a:rPr lang="en-US" sz="1400" b="1">
                  <a:solidFill>
                    <a:srgbClr val="FFFFFF"/>
                  </a:solidFill>
                  <a:latin typeface="Calibri"/>
                  <a:ea typeface="Calibri"/>
                  <a:cs typeface="Calibri"/>
                  <a:sym typeface="Calibri"/>
                </a:rPr>
                <a:t>Data Pipeline Inteligente</a:t>
              </a:r>
              <a:endParaRPr sz="1400">
                <a:solidFill>
                  <a:schemeClr val="dk1"/>
                </a:solidFill>
                <a:latin typeface="Calibri"/>
                <a:ea typeface="Calibri"/>
                <a:cs typeface="Calibri"/>
                <a:sym typeface="Calibri"/>
              </a:endParaRPr>
            </a:p>
          </p:txBody>
        </p:sp>
        <p:sp>
          <p:nvSpPr>
            <p:cNvPr id="558" name="Google Shape;558;p13"/>
            <p:cNvSpPr/>
            <p:nvPr/>
          </p:nvSpPr>
          <p:spPr>
            <a:xfrm>
              <a:off x="512064" y="4669536"/>
              <a:ext cx="3474720" cy="914400"/>
            </a:xfrm>
            <a:prstGeom prst="rect">
              <a:avLst/>
            </a:prstGeom>
            <a:noFill/>
            <a:ln>
              <a:noFill/>
            </a:ln>
          </p:spPr>
          <p:txBody>
            <a:bodyPr spcFirstLastPara="1" wrap="square" lIns="0" tIns="0" rIns="0" bIns="0" anchor="ctr" anchorCtr="0">
              <a:noAutofit/>
            </a:bodyPr>
            <a:lstStyle/>
            <a:p>
              <a:pPr>
                <a:buClr>
                  <a:srgbClr val="C8E6F0"/>
                </a:buClr>
                <a:buSzPts val="900"/>
              </a:pPr>
              <a:r>
                <a:rPr lang="en-US" sz="1333">
                  <a:solidFill>
                    <a:srgbClr val="C8E6F0"/>
                  </a:solidFill>
                  <a:latin typeface="Calibri"/>
                  <a:ea typeface="Calibri"/>
                  <a:cs typeface="Calibri"/>
                  <a:sym typeface="Calibri"/>
                </a:rPr>
                <a:t>Agente que detecta anomalías en datos, sugiere correcciones y decide qué transformaciones aplicar dinámicamente.</a:t>
              </a:r>
              <a:endParaRPr sz="1333">
                <a:solidFill>
                  <a:schemeClr val="dk1"/>
                </a:solidFill>
                <a:latin typeface="Calibri"/>
                <a:ea typeface="Calibri"/>
                <a:cs typeface="Calibri"/>
                <a:sym typeface="Calibri"/>
              </a:endParaRPr>
            </a:p>
          </p:txBody>
        </p:sp>
        <p:sp>
          <p:nvSpPr>
            <p:cNvPr id="559" name="Google Shape;559;p13"/>
            <p:cNvSpPr/>
            <p:nvPr/>
          </p:nvSpPr>
          <p:spPr>
            <a:xfrm>
              <a:off x="512064" y="5669280"/>
              <a:ext cx="1645920" cy="560832"/>
            </a:xfrm>
            <a:prstGeom prst="rect">
              <a:avLst/>
            </a:prstGeom>
            <a:solidFill>
              <a:srgbClr val="0A1E38"/>
            </a:solidFill>
            <a:ln>
              <a:noFill/>
            </a:ln>
          </p:spPr>
          <p:txBody>
            <a:bodyPr spcFirstLastPara="1" wrap="square" lIns="121900" tIns="121900" rIns="121900" bIns="121900" anchor="ctr" anchorCtr="0">
              <a:noAutofit/>
            </a:bodyPr>
            <a:lstStyle/>
            <a:p>
              <a:endParaRPr sz="2667"/>
            </a:p>
          </p:txBody>
        </p:sp>
        <p:sp>
          <p:nvSpPr>
            <p:cNvPr id="560" name="Google Shape;560;p13"/>
            <p:cNvSpPr/>
            <p:nvPr/>
          </p:nvSpPr>
          <p:spPr>
            <a:xfrm>
              <a:off x="585216" y="5693664"/>
              <a:ext cx="1524000" cy="512064"/>
            </a:xfrm>
            <a:prstGeom prst="rect">
              <a:avLst/>
            </a:prstGeom>
            <a:noFill/>
            <a:ln>
              <a:noFill/>
            </a:ln>
          </p:spPr>
          <p:txBody>
            <a:bodyPr spcFirstLastPara="1" wrap="square" lIns="0" tIns="0" rIns="0" bIns="0" anchor="ctr" anchorCtr="0">
              <a:noAutofit/>
            </a:bodyPr>
            <a:lstStyle/>
            <a:p>
              <a:pPr>
                <a:buClr>
                  <a:srgbClr val="7BA7BC"/>
                </a:buClr>
                <a:buSzPts val="800"/>
              </a:pPr>
              <a:r>
                <a:rPr lang="en-US" sz="1200">
                  <a:solidFill>
                    <a:srgbClr val="7BA7BC"/>
                  </a:solidFill>
                  <a:latin typeface="Calibri"/>
                  <a:ea typeface="Calibri"/>
                  <a:cs typeface="Calibri"/>
                  <a:sym typeface="Calibri"/>
                </a:rPr>
                <a:t>Tools: SQL, Python, MLflow</a:t>
              </a:r>
              <a:endParaRPr sz="1200">
                <a:solidFill>
                  <a:schemeClr val="dk1"/>
                </a:solidFill>
                <a:latin typeface="Calibri"/>
                <a:ea typeface="Calibri"/>
                <a:cs typeface="Calibri"/>
                <a:sym typeface="Calibri"/>
              </a:endParaRPr>
            </a:p>
          </p:txBody>
        </p:sp>
        <p:sp>
          <p:nvSpPr>
            <p:cNvPr id="561" name="Google Shape;561;p13"/>
            <p:cNvSpPr/>
            <p:nvPr/>
          </p:nvSpPr>
          <p:spPr>
            <a:xfrm>
              <a:off x="2255520" y="5669280"/>
              <a:ext cx="1706880" cy="560832"/>
            </a:xfrm>
            <a:prstGeom prst="rect">
              <a:avLst/>
            </a:prstGeom>
            <a:solidFill>
              <a:srgbClr val="6B3A1A"/>
            </a:solidFill>
            <a:ln>
              <a:noFill/>
            </a:ln>
          </p:spPr>
          <p:txBody>
            <a:bodyPr spcFirstLastPara="1" wrap="square" lIns="121900" tIns="121900" rIns="121900" bIns="121900" anchor="ctr" anchorCtr="0">
              <a:noAutofit/>
            </a:bodyPr>
            <a:lstStyle/>
            <a:p>
              <a:endParaRPr sz="2667"/>
            </a:p>
          </p:txBody>
        </p:sp>
        <p:sp>
          <p:nvSpPr>
            <p:cNvPr id="562" name="Google Shape;562;p13"/>
            <p:cNvSpPr/>
            <p:nvPr/>
          </p:nvSpPr>
          <p:spPr>
            <a:xfrm>
              <a:off x="2328672" y="5693664"/>
              <a:ext cx="1584960" cy="512064"/>
            </a:xfrm>
            <a:prstGeom prst="rect">
              <a:avLst/>
            </a:prstGeom>
            <a:noFill/>
            <a:ln>
              <a:noFill/>
            </a:ln>
          </p:spPr>
          <p:txBody>
            <a:bodyPr spcFirstLastPara="1" wrap="square" lIns="0" tIns="0" rIns="0" bIns="0" anchor="ctr" anchorCtr="0">
              <a:noAutofit/>
            </a:bodyPr>
            <a:lstStyle/>
            <a:p>
              <a:pPr>
                <a:buClr>
                  <a:srgbClr val="FFFFFF"/>
                </a:buClr>
                <a:buSzPts val="800"/>
              </a:pPr>
              <a:r>
                <a:rPr lang="en-US" sz="1200">
                  <a:solidFill>
                    <a:srgbClr val="FFFFFF"/>
                  </a:solidFill>
                  <a:latin typeface="Calibri"/>
                  <a:ea typeface="Calibri"/>
                  <a:cs typeface="Calibri"/>
                  <a:sym typeface="Calibri"/>
                </a:rPr>
                <a:t>Stack: AutoGen + Langflow</a:t>
              </a:r>
              <a:endParaRPr sz="1200">
                <a:solidFill>
                  <a:schemeClr val="dk1"/>
                </a:solidFill>
                <a:latin typeface="Calibri"/>
                <a:ea typeface="Calibri"/>
                <a:cs typeface="Calibri"/>
                <a:sym typeface="Calibri"/>
              </a:endParaRPr>
            </a:p>
          </p:txBody>
        </p:sp>
        <p:sp>
          <p:nvSpPr>
            <p:cNvPr id="563" name="Google Shape;563;p13"/>
            <p:cNvSpPr/>
            <p:nvPr/>
          </p:nvSpPr>
          <p:spPr>
            <a:xfrm>
              <a:off x="4303776" y="3840480"/>
              <a:ext cx="3755136" cy="2560320"/>
            </a:xfrm>
            <a:prstGeom prst="rect">
              <a:avLst/>
            </a:prstGeom>
            <a:solidFill>
              <a:srgbClr val="0D2137"/>
            </a:solidFill>
            <a:ln w="9525" cap="flat" cmpd="sng">
              <a:solidFill>
                <a:srgbClr val="1A4060"/>
              </a:solidFill>
              <a:prstDash val="solid"/>
              <a:round/>
              <a:headEnd type="none" w="sm" len="sm"/>
              <a:tailEnd type="none" w="sm" len="sm"/>
            </a:ln>
            <a:effectLst>
              <a:outerShdw blurRad="101600" dist="38100" dir="8100000" algn="bl" rotWithShape="0">
                <a:srgbClr val="000000">
                  <a:alpha val="18039"/>
                </a:srgbClr>
              </a:outerShdw>
            </a:effectLst>
          </p:spPr>
          <p:txBody>
            <a:bodyPr spcFirstLastPara="1" wrap="square" lIns="121900" tIns="121900" rIns="121900" bIns="121900" anchor="ctr" anchorCtr="0">
              <a:noAutofit/>
            </a:bodyPr>
            <a:lstStyle/>
            <a:p>
              <a:endParaRPr sz="2667"/>
            </a:p>
          </p:txBody>
        </p:sp>
        <p:sp>
          <p:nvSpPr>
            <p:cNvPr id="564" name="Google Shape;564;p13"/>
            <p:cNvSpPr/>
            <p:nvPr/>
          </p:nvSpPr>
          <p:spPr>
            <a:xfrm>
              <a:off x="4303776" y="3840480"/>
              <a:ext cx="3755136" cy="85344"/>
            </a:xfrm>
            <a:prstGeom prst="rect">
              <a:avLst/>
            </a:prstGeom>
            <a:solidFill>
              <a:srgbClr val="1A5A5A"/>
            </a:solidFill>
            <a:ln>
              <a:noFill/>
            </a:ln>
          </p:spPr>
          <p:txBody>
            <a:bodyPr spcFirstLastPara="1" wrap="square" lIns="121900" tIns="121900" rIns="121900" bIns="121900" anchor="ctr" anchorCtr="0">
              <a:noAutofit/>
            </a:bodyPr>
            <a:lstStyle/>
            <a:p>
              <a:endParaRPr sz="2667"/>
            </a:p>
          </p:txBody>
        </p:sp>
        <p:pic>
          <p:nvPicPr>
            <p:cNvPr id="565" name="Google Shape;565;p13" descr="preencoded.png"/>
            <p:cNvPicPr preferRelativeResize="0"/>
            <p:nvPr/>
          </p:nvPicPr>
          <p:blipFill rotWithShape="1">
            <a:blip r:embed="rId7">
              <a:alphaModFix/>
            </a:blip>
            <a:srcRect/>
            <a:stretch/>
          </p:blipFill>
          <p:spPr>
            <a:xfrm>
              <a:off x="4450080" y="4059936"/>
              <a:ext cx="487680" cy="487680"/>
            </a:xfrm>
            <a:prstGeom prst="rect">
              <a:avLst/>
            </a:prstGeom>
            <a:noFill/>
            <a:ln>
              <a:noFill/>
            </a:ln>
          </p:spPr>
        </p:pic>
        <p:sp>
          <p:nvSpPr>
            <p:cNvPr id="566" name="Google Shape;566;p13"/>
            <p:cNvSpPr/>
            <p:nvPr/>
          </p:nvSpPr>
          <p:spPr>
            <a:xfrm>
              <a:off x="5010912" y="4059936"/>
              <a:ext cx="2974848" cy="512064"/>
            </a:xfrm>
            <a:prstGeom prst="rect">
              <a:avLst/>
            </a:prstGeom>
            <a:noFill/>
            <a:ln>
              <a:noFill/>
            </a:ln>
          </p:spPr>
          <p:txBody>
            <a:bodyPr spcFirstLastPara="1" wrap="square" lIns="0" tIns="0" rIns="0" bIns="0" anchor="ctr" anchorCtr="0">
              <a:noAutofit/>
            </a:bodyPr>
            <a:lstStyle/>
            <a:p>
              <a:pPr>
                <a:buClr>
                  <a:srgbClr val="FFFFFF"/>
                </a:buClr>
                <a:buSzPts val="1000"/>
              </a:pPr>
              <a:r>
                <a:rPr lang="en-US" sz="1400" b="1">
                  <a:solidFill>
                    <a:srgbClr val="FFFFFF"/>
                  </a:solidFill>
                  <a:latin typeface="Calibri"/>
                  <a:ea typeface="Calibri"/>
                  <a:cs typeface="Calibri"/>
                  <a:sym typeface="Calibri"/>
                </a:rPr>
                <a:t>Monitor de Modelos ML</a:t>
              </a:r>
              <a:endParaRPr sz="1400">
                <a:solidFill>
                  <a:schemeClr val="dk1"/>
                </a:solidFill>
                <a:latin typeface="Calibri"/>
                <a:ea typeface="Calibri"/>
                <a:cs typeface="Calibri"/>
                <a:sym typeface="Calibri"/>
              </a:endParaRPr>
            </a:p>
          </p:txBody>
        </p:sp>
        <p:sp>
          <p:nvSpPr>
            <p:cNvPr id="567" name="Google Shape;567;p13"/>
            <p:cNvSpPr/>
            <p:nvPr/>
          </p:nvSpPr>
          <p:spPr>
            <a:xfrm>
              <a:off x="4450080" y="4669536"/>
              <a:ext cx="3474720" cy="914400"/>
            </a:xfrm>
            <a:prstGeom prst="rect">
              <a:avLst/>
            </a:prstGeom>
            <a:noFill/>
            <a:ln>
              <a:noFill/>
            </a:ln>
          </p:spPr>
          <p:txBody>
            <a:bodyPr spcFirstLastPara="1" wrap="square" lIns="0" tIns="0" rIns="0" bIns="0" anchor="ctr" anchorCtr="0">
              <a:noAutofit/>
            </a:bodyPr>
            <a:lstStyle/>
            <a:p>
              <a:pPr>
                <a:buClr>
                  <a:srgbClr val="C8E6F0"/>
                </a:buClr>
                <a:buSzPts val="900"/>
              </a:pPr>
              <a:r>
                <a:rPr lang="en-US" sz="1333">
                  <a:solidFill>
                    <a:srgbClr val="C8E6F0"/>
                  </a:solidFill>
                  <a:latin typeface="Calibri"/>
                  <a:ea typeface="Calibri"/>
                  <a:cs typeface="Calibri"/>
                  <a:sym typeface="Calibri"/>
                </a:rPr>
                <a:t>Agente que monitorea el drift de modelos en producción y genera alertas o re-entrena automáticamente si es necesario.</a:t>
              </a:r>
              <a:endParaRPr sz="1333">
                <a:solidFill>
                  <a:schemeClr val="dk1"/>
                </a:solidFill>
                <a:latin typeface="Calibri"/>
                <a:ea typeface="Calibri"/>
                <a:cs typeface="Calibri"/>
                <a:sym typeface="Calibri"/>
              </a:endParaRPr>
            </a:p>
          </p:txBody>
        </p:sp>
        <p:sp>
          <p:nvSpPr>
            <p:cNvPr id="568" name="Google Shape;568;p13"/>
            <p:cNvSpPr/>
            <p:nvPr/>
          </p:nvSpPr>
          <p:spPr>
            <a:xfrm>
              <a:off x="4450080" y="5669280"/>
              <a:ext cx="1645920" cy="560832"/>
            </a:xfrm>
            <a:prstGeom prst="rect">
              <a:avLst/>
            </a:prstGeom>
            <a:solidFill>
              <a:srgbClr val="0A1E38"/>
            </a:solidFill>
            <a:ln>
              <a:noFill/>
            </a:ln>
          </p:spPr>
          <p:txBody>
            <a:bodyPr spcFirstLastPara="1" wrap="square" lIns="121900" tIns="121900" rIns="121900" bIns="121900" anchor="ctr" anchorCtr="0">
              <a:noAutofit/>
            </a:bodyPr>
            <a:lstStyle/>
            <a:p>
              <a:endParaRPr sz="2667"/>
            </a:p>
          </p:txBody>
        </p:sp>
        <p:sp>
          <p:nvSpPr>
            <p:cNvPr id="569" name="Google Shape;569;p13"/>
            <p:cNvSpPr/>
            <p:nvPr/>
          </p:nvSpPr>
          <p:spPr>
            <a:xfrm>
              <a:off x="4523232" y="5693664"/>
              <a:ext cx="1524000" cy="512064"/>
            </a:xfrm>
            <a:prstGeom prst="rect">
              <a:avLst/>
            </a:prstGeom>
            <a:noFill/>
            <a:ln>
              <a:noFill/>
            </a:ln>
          </p:spPr>
          <p:txBody>
            <a:bodyPr spcFirstLastPara="1" wrap="square" lIns="0" tIns="0" rIns="0" bIns="0" anchor="ctr" anchorCtr="0">
              <a:noAutofit/>
            </a:bodyPr>
            <a:lstStyle/>
            <a:p>
              <a:pPr>
                <a:buClr>
                  <a:srgbClr val="7BA7BC"/>
                </a:buClr>
                <a:buSzPts val="800"/>
              </a:pPr>
              <a:r>
                <a:rPr lang="en-US" sz="1200">
                  <a:solidFill>
                    <a:srgbClr val="7BA7BC"/>
                  </a:solidFill>
                  <a:latin typeface="Calibri"/>
                  <a:ea typeface="Calibri"/>
                  <a:cs typeface="Calibri"/>
                  <a:sym typeface="Calibri"/>
                </a:rPr>
                <a:t>Tools: MLflow, Evidently, métricas</a:t>
              </a:r>
              <a:endParaRPr sz="1200">
                <a:solidFill>
                  <a:schemeClr val="dk1"/>
                </a:solidFill>
                <a:latin typeface="Calibri"/>
                <a:ea typeface="Calibri"/>
                <a:cs typeface="Calibri"/>
                <a:sym typeface="Calibri"/>
              </a:endParaRPr>
            </a:p>
          </p:txBody>
        </p:sp>
        <p:sp>
          <p:nvSpPr>
            <p:cNvPr id="570" name="Google Shape;570;p13"/>
            <p:cNvSpPr/>
            <p:nvPr/>
          </p:nvSpPr>
          <p:spPr>
            <a:xfrm>
              <a:off x="6193536" y="5669280"/>
              <a:ext cx="1706880" cy="560832"/>
            </a:xfrm>
            <a:prstGeom prst="rect">
              <a:avLst/>
            </a:prstGeom>
            <a:solidFill>
              <a:srgbClr val="1A5A5A"/>
            </a:solidFill>
            <a:ln>
              <a:noFill/>
            </a:ln>
          </p:spPr>
          <p:txBody>
            <a:bodyPr spcFirstLastPara="1" wrap="square" lIns="121900" tIns="121900" rIns="121900" bIns="121900" anchor="ctr" anchorCtr="0">
              <a:noAutofit/>
            </a:bodyPr>
            <a:lstStyle/>
            <a:p>
              <a:endParaRPr sz="2667"/>
            </a:p>
          </p:txBody>
        </p:sp>
        <p:sp>
          <p:nvSpPr>
            <p:cNvPr id="571" name="Google Shape;571;p13"/>
            <p:cNvSpPr/>
            <p:nvPr/>
          </p:nvSpPr>
          <p:spPr>
            <a:xfrm>
              <a:off x="6266688" y="5693664"/>
              <a:ext cx="1584960" cy="512064"/>
            </a:xfrm>
            <a:prstGeom prst="rect">
              <a:avLst/>
            </a:prstGeom>
            <a:noFill/>
            <a:ln>
              <a:noFill/>
            </a:ln>
          </p:spPr>
          <p:txBody>
            <a:bodyPr spcFirstLastPara="1" wrap="square" lIns="0" tIns="0" rIns="0" bIns="0" anchor="ctr" anchorCtr="0">
              <a:noAutofit/>
            </a:bodyPr>
            <a:lstStyle/>
            <a:p>
              <a:pPr>
                <a:buClr>
                  <a:srgbClr val="FFFFFF"/>
                </a:buClr>
                <a:buSzPts val="800"/>
              </a:pPr>
              <a:r>
                <a:rPr lang="en-US" sz="1200">
                  <a:solidFill>
                    <a:srgbClr val="FFFFFF"/>
                  </a:solidFill>
                  <a:latin typeface="Calibri"/>
                  <a:ea typeface="Calibri"/>
                  <a:cs typeface="Calibri"/>
                  <a:sym typeface="Calibri"/>
                </a:rPr>
                <a:t>Stack: CrewAI + API interna</a:t>
              </a:r>
              <a:endParaRPr sz="1200">
                <a:solidFill>
                  <a:schemeClr val="dk1"/>
                </a:solidFill>
                <a:latin typeface="Calibri"/>
                <a:ea typeface="Calibri"/>
                <a:cs typeface="Calibri"/>
                <a:sym typeface="Calibri"/>
              </a:endParaRPr>
            </a:p>
          </p:txBody>
        </p:sp>
        <p:sp>
          <p:nvSpPr>
            <p:cNvPr id="572" name="Google Shape;572;p13"/>
            <p:cNvSpPr/>
            <p:nvPr/>
          </p:nvSpPr>
          <p:spPr>
            <a:xfrm>
              <a:off x="8241792" y="3840480"/>
              <a:ext cx="3755136" cy="2560320"/>
            </a:xfrm>
            <a:prstGeom prst="rect">
              <a:avLst/>
            </a:prstGeom>
            <a:solidFill>
              <a:srgbClr val="0D2137"/>
            </a:solidFill>
            <a:ln w="9525" cap="flat" cmpd="sng">
              <a:solidFill>
                <a:srgbClr val="1A4060"/>
              </a:solidFill>
              <a:prstDash val="solid"/>
              <a:round/>
              <a:headEnd type="none" w="sm" len="sm"/>
              <a:tailEnd type="none" w="sm" len="sm"/>
            </a:ln>
            <a:effectLst>
              <a:outerShdw blurRad="101600" dist="38100" dir="8100000" algn="bl" rotWithShape="0">
                <a:srgbClr val="000000">
                  <a:alpha val="18039"/>
                </a:srgbClr>
              </a:outerShdw>
            </a:effectLst>
          </p:spPr>
          <p:txBody>
            <a:bodyPr spcFirstLastPara="1" wrap="square" lIns="121900" tIns="121900" rIns="121900" bIns="121900" anchor="ctr" anchorCtr="0">
              <a:noAutofit/>
            </a:bodyPr>
            <a:lstStyle/>
            <a:p>
              <a:endParaRPr sz="2667"/>
            </a:p>
          </p:txBody>
        </p:sp>
        <p:sp>
          <p:nvSpPr>
            <p:cNvPr id="573" name="Google Shape;573;p13"/>
            <p:cNvSpPr/>
            <p:nvPr/>
          </p:nvSpPr>
          <p:spPr>
            <a:xfrm>
              <a:off x="8241792" y="3840480"/>
              <a:ext cx="3755136" cy="85344"/>
            </a:xfrm>
            <a:prstGeom prst="rect">
              <a:avLst/>
            </a:prstGeom>
            <a:solidFill>
              <a:srgbClr val="3A1A3A"/>
            </a:solidFill>
            <a:ln>
              <a:noFill/>
            </a:ln>
          </p:spPr>
          <p:txBody>
            <a:bodyPr spcFirstLastPara="1" wrap="square" lIns="121900" tIns="121900" rIns="121900" bIns="121900" anchor="ctr" anchorCtr="0">
              <a:noAutofit/>
            </a:bodyPr>
            <a:lstStyle/>
            <a:p>
              <a:endParaRPr sz="2667"/>
            </a:p>
          </p:txBody>
        </p:sp>
        <p:pic>
          <p:nvPicPr>
            <p:cNvPr id="574" name="Google Shape;574;p13" descr="preencoded.png"/>
            <p:cNvPicPr preferRelativeResize="0"/>
            <p:nvPr/>
          </p:nvPicPr>
          <p:blipFill rotWithShape="1">
            <a:blip r:embed="rId8">
              <a:alphaModFix/>
            </a:blip>
            <a:srcRect/>
            <a:stretch/>
          </p:blipFill>
          <p:spPr>
            <a:xfrm>
              <a:off x="8388096" y="4059936"/>
              <a:ext cx="487680" cy="487680"/>
            </a:xfrm>
            <a:prstGeom prst="rect">
              <a:avLst/>
            </a:prstGeom>
            <a:noFill/>
            <a:ln>
              <a:noFill/>
            </a:ln>
          </p:spPr>
        </p:pic>
        <p:sp>
          <p:nvSpPr>
            <p:cNvPr id="575" name="Google Shape;575;p13"/>
            <p:cNvSpPr/>
            <p:nvPr/>
          </p:nvSpPr>
          <p:spPr>
            <a:xfrm>
              <a:off x="8948928" y="4059936"/>
              <a:ext cx="2974848" cy="512064"/>
            </a:xfrm>
            <a:prstGeom prst="rect">
              <a:avLst/>
            </a:prstGeom>
            <a:noFill/>
            <a:ln>
              <a:noFill/>
            </a:ln>
          </p:spPr>
          <p:txBody>
            <a:bodyPr spcFirstLastPara="1" wrap="square" lIns="0" tIns="0" rIns="0" bIns="0" anchor="ctr" anchorCtr="0">
              <a:noAutofit/>
            </a:bodyPr>
            <a:lstStyle/>
            <a:p>
              <a:pPr>
                <a:buClr>
                  <a:srgbClr val="FFFFFF"/>
                </a:buClr>
                <a:buSzPts val="1000"/>
              </a:pPr>
              <a:r>
                <a:rPr lang="en-US" sz="1400" b="1">
                  <a:solidFill>
                    <a:srgbClr val="FFFFFF"/>
                  </a:solidFill>
                  <a:latin typeface="Calibri"/>
                  <a:ea typeface="Calibri"/>
                  <a:cs typeface="Calibri"/>
                  <a:sym typeface="Calibri"/>
                </a:rPr>
                <a:t>Asistente de KNIME/Low-Code</a:t>
              </a:r>
              <a:endParaRPr sz="1400">
                <a:solidFill>
                  <a:schemeClr val="dk1"/>
                </a:solidFill>
                <a:latin typeface="Calibri"/>
                <a:ea typeface="Calibri"/>
                <a:cs typeface="Calibri"/>
                <a:sym typeface="Calibri"/>
              </a:endParaRPr>
            </a:p>
          </p:txBody>
        </p:sp>
        <p:sp>
          <p:nvSpPr>
            <p:cNvPr id="576" name="Google Shape;576;p13"/>
            <p:cNvSpPr/>
            <p:nvPr/>
          </p:nvSpPr>
          <p:spPr>
            <a:xfrm>
              <a:off x="8388096" y="4669536"/>
              <a:ext cx="3474720" cy="914400"/>
            </a:xfrm>
            <a:prstGeom prst="rect">
              <a:avLst/>
            </a:prstGeom>
            <a:noFill/>
            <a:ln>
              <a:noFill/>
            </a:ln>
          </p:spPr>
          <p:txBody>
            <a:bodyPr spcFirstLastPara="1" wrap="square" lIns="0" tIns="0" rIns="0" bIns="0" anchor="ctr" anchorCtr="0">
              <a:noAutofit/>
            </a:bodyPr>
            <a:lstStyle/>
            <a:p>
              <a:pPr>
                <a:buClr>
                  <a:srgbClr val="C8E6F0"/>
                </a:buClr>
                <a:buSzPts val="900"/>
              </a:pPr>
              <a:r>
                <a:rPr lang="en-US" sz="1333">
                  <a:solidFill>
                    <a:srgbClr val="C8E6F0"/>
                  </a:solidFill>
                  <a:latin typeface="Calibri"/>
                  <a:ea typeface="Calibri"/>
                  <a:cs typeface="Calibri"/>
                  <a:sym typeface="Calibri"/>
                </a:rPr>
                <a:t>Agente que genera flujos de KNIME o Langflow a partir de descripciones en lenguaje natural.</a:t>
              </a:r>
              <a:endParaRPr sz="1333">
                <a:solidFill>
                  <a:schemeClr val="dk1"/>
                </a:solidFill>
                <a:latin typeface="Calibri"/>
                <a:ea typeface="Calibri"/>
                <a:cs typeface="Calibri"/>
                <a:sym typeface="Calibri"/>
              </a:endParaRPr>
            </a:p>
          </p:txBody>
        </p:sp>
        <p:sp>
          <p:nvSpPr>
            <p:cNvPr id="577" name="Google Shape;577;p13"/>
            <p:cNvSpPr/>
            <p:nvPr/>
          </p:nvSpPr>
          <p:spPr>
            <a:xfrm>
              <a:off x="8388096" y="5669280"/>
              <a:ext cx="1645920" cy="560832"/>
            </a:xfrm>
            <a:prstGeom prst="rect">
              <a:avLst/>
            </a:prstGeom>
            <a:solidFill>
              <a:srgbClr val="0A1E38"/>
            </a:solidFill>
            <a:ln>
              <a:noFill/>
            </a:ln>
          </p:spPr>
          <p:txBody>
            <a:bodyPr spcFirstLastPara="1" wrap="square" lIns="121900" tIns="121900" rIns="121900" bIns="121900" anchor="ctr" anchorCtr="0">
              <a:noAutofit/>
            </a:bodyPr>
            <a:lstStyle/>
            <a:p>
              <a:endParaRPr sz="2667"/>
            </a:p>
          </p:txBody>
        </p:sp>
        <p:sp>
          <p:nvSpPr>
            <p:cNvPr id="578" name="Google Shape;578;p13"/>
            <p:cNvSpPr/>
            <p:nvPr/>
          </p:nvSpPr>
          <p:spPr>
            <a:xfrm>
              <a:off x="8461248" y="5693664"/>
              <a:ext cx="1524000" cy="512064"/>
            </a:xfrm>
            <a:prstGeom prst="rect">
              <a:avLst/>
            </a:prstGeom>
            <a:noFill/>
            <a:ln>
              <a:noFill/>
            </a:ln>
          </p:spPr>
          <p:txBody>
            <a:bodyPr spcFirstLastPara="1" wrap="square" lIns="0" tIns="0" rIns="0" bIns="0" anchor="ctr" anchorCtr="0">
              <a:noAutofit/>
            </a:bodyPr>
            <a:lstStyle/>
            <a:p>
              <a:pPr>
                <a:buClr>
                  <a:srgbClr val="7BA7BC"/>
                </a:buClr>
                <a:buSzPts val="800"/>
              </a:pPr>
              <a:r>
                <a:rPr lang="en-US" sz="1200">
                  <a:solidFill>
                    <a:srgbClr val="7BA7BC"/>
                  </a:solidFill>
                  <a:latin typeface="Calibri"/>
                  <a:ea typeface="Calibri"/>
                  <a:cs typeface="Calibri"/>
                  <a:sym typeface="Calibri"/>
                </a:rPr>
                <a:t>Tools: KNIME API, plantillas, eval</a:t>
              </a:r>
              <a:endParaRPr sz="1200">
                <a:solidFill>
                  <a:schemeClr val="dk1"/>
                </a:solidFill>
                <a:latin typeface="Calibri"/>
                <a:ea typeface="Calibri"/>
                <a:cs typeface="Calibri"/>
                <a:sym typeface="Calibri"/>
              </a:endParaRPr>
            </a:p>
          </p:txBody>
        </p:sp>
        <p:sp>
          <p:nvSpPr>
            <p:cNvPr id="579" name="Google Shape;579;p13"/>
            <p:cNvSpPr/>
            <p:nvPr/>
          </p:nvSpPr>
          <p:spPr>
            <a:xfrm>
              <a:off x="10131552" y="5669280"/>
              <a:ext cx="1706880" cy="560832"/>
            </a:xfrm>
            <a:prstGeom prst="rect">
              <a:avLst/>
            </a:prstGeom>
            <a:solidFill>
              <a:srgbClr val="3A1A3A"/>
            </a:solidFill>
            <a:ln>
              <a:noFill/>
            </a:ln>
          </p:spPr>
          <p:txBody>
            <a:bodyPr spcFirstLastPara="1" wrap="square" lIns="121900" tIns="121900" rIns="121900" bIns="121900" anchor="ctr" anchorCtr="0">
              <a:noAutofit/>
            </a:bodyPr>
            <a:lstStyle/>
            <a:p>
              <a:endParaRPr sz="2667"/>
            </a:p>
          </p:txBody>
        </p:sp>
        <p:sp>
          <p:nvSpPr>
            <p:cNvPr id="580" name="Google Shape;580;p13"/>
            <p:cNvSpPr/>
            <p:nvPr/>
          </p:nvSpPr>
          <p:spPr>
            <a:xfrm>
              <a:off x="10204704" y="5693664"/>
              <a:ext cx="1584960" cy="512064"/>
            </a:xfrm>
            <a:prstGeom prst="rect">
              <a:avLst/>
            </a:prstGeom>
            <a:noFill/>
            <a:ln>
              <a:noFill/>
            </a:ln>
          </p:spPr>
          <p:txBody>
            <a:bodyPr spcFirstLastPara="1" wrap="square" lIns="0" tIns="0" rIns="0" bIns="0" anchor="ctr" anchorCtr="0">
              <a:noAutofit/>
            </a:bodyPr>
            <a:lstStyle/>
            <a:p>
              <a:pPr>
                <a:buClr>
                  <a:srgbClr val="FFFFFF"/>
                </a:buClr>
                <a:buSzPts val="800"/>
              </a:pPr>
              <a:r>
                <a:rPr lang="en-US" sz="1200">
                  <a:solidFill>
                    <a:srgbClr val="FFFFFF"/>
                  </a:solidFill>
                  <a:latin typeface="Calibri"/>
                  <a:ea typeface="Calibri"/>
                  <a:cs typeface="Calibri"/>
                  <a:sym typeface="Calibri"/>
                </a:rPr>
                <a:t>Stack: Claude API + function calling</a:t>
              </a:r>
              <a:endParaRPr sz="1200">
                <a:solidFill>
                  <a:schemeClr val="dk1"/>
                </a:solidFill>
                <a:latin typeface="Calibri"/>
                <a:ea typeface="Calibri"/>
                <a:cs typeface="Calibri"/>
                <a:sym typeface="Calibri"/>
              </a:endParaRPr>
            </a:p>
          </p:txBody>
        </p:sp>
        <p:sp>
          <p:nvSpPr>
            <p:cNvPr id="582" name="Google Shape;582;p13"/>
            <p:cNvSpPr/>
            <p:nvPr/>
          </p:nvSpPr>
          <p:spPr>
            <a:xfrm>
              <a:off x="999744" y="6425184"/>
              <a:ext cx="10460736" cy="390144"/>
            </a:xfrm>
            <a:prstGeom prst="rect">
              <a:avLst/>
            </a:prstGeom>
            <a:noFill/>
            <a:ln>
              <a:noFill/>
            </a:ln>
          </p:spPr>
          <p:txBody>
            <a:bodyPr spcFirstLastPara="1" wrap="square" lIns="0" tIns="0" rIns="0" bIns="0" anchor="ctr" anchorCtr="0">
              <a:noAutofit/>
            </a:bodyPr>
            <a:lstStyle/>
            <a:p>
              <a:pPr>
                <a:buClr>
                  <a:srgbClr val="7BA7BC"/>
                </a:buClr>
                <a:buSzPts val="900"/>
              </a:pPr>
              <a:r>
                <a:rPr lang="en-US" sz="1333" i="1" dirty="0">
                  <a:solidFill>
                    <a:srgbClr val="7BA7BC"/>
                  </a:solidFill>
                  <a:latin typeface="Calibri"/>
                  <a:ea typeface="Calibri"/>
                  <a:cs typeface="Calibri"/>
                  <a:sym typeface="Calibri"/>
                </a:rPr>
                <a:t>08 — Casos de Uso para Data Scientists</a:t>
              </a:r>
              <a:endParaRPr sz="1333" dirty="0">
                <a:solidFill>
                  <a:schemeClr val="dk1"/>
                </a:solidFill>
                <a:latin typeface="Calibri"/>
                <a:ea typeface="Calibri"/>
                <a:cs typeface="Calibri"/>
                <a:sym typeface="Calibri"/>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87"/>
        <p:cNvGrpSpPr/>
        <p:nvPr/>
      </p:nvGrpSpPr>
      <p:grpSpPr>
        <a:xfrm>
          <a:off x="0" y="0"/>
          <a:ext cx="0" cy="0"/>
          <a:chOff x="0" y="0"/>
          <a:chExt cx="0" cy="0"/>
        </a:xfrm>
      </p:grpSpPr>
      <p:sp>
        <p:nvSpPr>
          <p:cNvPr id="590" name="Google Shape;590;p14"/>
          <p:cNvSpPr/>
          <p:nvPr/>
        </p:nvSpPr>
        <p:spPr>
          <a:xfrm>
            <a:off x="6495288" y="456438"/>
            <a:ext cx="10972800" cy="548640"/>
          </a:xfrm>
          <a:prstGeom prst="rect">
            <a:avLst/>
          </a:prstGeom>
          <a:noFill/>
          <a:ln>
            <a:noFill/>
          </a:ln>
        </p:spPr>
        <p:txBody>
          <a:bodyPr spcFirstLastPara="1" wrap="square" lIns="0" tIns="0" rIns="0" bIns="0" anchor="ctr" anchorCtr="0">
            <a:noAutofit/>
          </a:bodyPr>
          <a:lstStyle/>
          <a:p>
            <a:pPr>
              <a:buClr>
                <a:srgbClr val="7BA7BC"/>
              </a:buClr>
              <a:buSzPts val="1300"/>
            </a:pPr>
            <a:r>
              <a:rPr lang="en-US" sz="1733" b="1" dirty="0">
                <a:latin typeface="Calibri"/>
                <a:ea typeface="Calibri"/>
                <a:cs typeface="Calibri"/>
                <a:sym typeface="Calibri"/>
              </a:rPr>
              <a:t>TU ROADMAP — DE DATA SCIENTIST A AGENTE BUILDER</a:t>
            </a:r>
            <a:endParaRPr sz="1733" dirty="0">
              <a:latin typeface="Calibri"/>
              <a:ea typeface="Calibri"/>
              <a:cs typeface="Calibri"/>
              <a:sym typeface="Calibri"/>
            </a:endParaRPr>
          </a:p>
        </p:txBody>
      </p:sp>
      <p:grpSp>
        <p:nvGrpSpPr>
          <p:cNvPr id="4" name="Grupo 3">
            <a:extLst>
              <a:ext uri="{FF2B5EF4-FFF2-40B4-BE49-F238E27FC236}">
                <a16:creationId xmlns:a16="http://schemas.microsoft.com/office/drawing/2014/main" id="{D6D51AC1-4D2B-CD2C-7FB9-048081551B66}"/>
              </a:ext>
            </a:extLst>
          </p:cNvPr>
          <p:cNvGrpSpPr/>
          <p:nvPr/>
        </p:nvGrpSpPr>
        <p:grpSpPr>
          <a:xfrm>
            <a:off x="813816" y="1798320"/>
            <a:ext cx="10369296" cy="3882390"/>
            <a:chOff x="512064" y="1158240"/>
            <a:chExt cx="11460480" cy="4596384"/>
          </a:xfrm>
        </p:grpSpPr>
        <p:sp>
          <p:nvSpPr>
            <p:cNvPr id="591" name="Google Shape;591;p14"/>
            <p:cNvSpPr/>
            <p:nvPr/>
          </p:nvSpPr>
          <p:spPr>
            <a:xfrm>
              <a:off x="609600" y="1158240"/>
              <a:ext cx="2072640" cy="2926080"/>
            </a:xfrm>
            <a:prstGeom prst="rect">
              <a:avLst/>
            </a:prstGeom>
            <a:solidFill>
              <a:srgbClr val="0D2137"/>
            </a:solidFill>
            <a:ln w="9525" cap="flat" cmpd="sng">
              <a:solidFill>
                <a:srgbClr val="1A4060"/>
              </a:solidFill>
              <a:prstDash val="solid"/>
              <a:round/>
              <a:headEnd type="none" w="sm" len="sm"/>
              <a:tailEnd type="none" w="sm" len="sm"/>
            </a:ln>
            <a:effectLst>
              <a:outerShdw blurRad="101600" dist="38100" dir="8100000" algn="bl" rotWithShape="0">
                <a:srgbClr val="000000">
                  <a:alpha val="18039"/>
                </a:srgbClr>
              </a:outerShdw>
            </a:effectLst>
          </p:spPr>
          <p:txBody>
            <a:bodyPr spcFirstLastPara="1" wrap="square" lIns="121900" tIns="121900" rIns="121900" bIns="121900" anchor="ctr" anchorCtr="0">
              <a:noAutofit/>
            </a:bodyPr>
            <a:lstStyle/>
            <a:p>
              <a:endParaRPr sz="2400"/>
            </a:p>
          </p:txBody>
        </p:sp>
        <p:sp>
          <p:nvSpPr>
            <p:cNvPr id="592" name="Google Shape;592;p14"/>
            <p:cNvSpPr/>
            <p:nvPr/>
          </p:nvSpPr>
          <p:spPr>
            <a:xfrm>
              <a:off x="609600" y="1158240"/>
              <a:ext cx="2072640" cy="85344"/>
            </a:xfrm>
            <a:prstGeom prst="rect">
              <a:avLst/>
            </a:prstGeom>
            <a:solidFill>
              <a:srgbClr val="0E7C7B"/>
            </a:solidFill>
            <a:ln>
              <a:noFill/>
            </a:ln>
          </p:spPr>
          <p:txBody>
            <a:bodyPr spcFirstLastPara="1" wrap="square" lIns="121900" tIns="121900" rIns="121900" bIns="121900" anchor="ctr" anchorCtr="0">
              <a:noAutofit/>
            </a:bodyPr>
            <a:lstStyle/>
            <a:p>
              <a:endParaRPr sz="2400"/>
            </a:p>
          </p:txBody>
        </p:sp>
        <p:sp>
          <p:nvSpPr>
            <p:cNvPr id="593" name="Google Shape;593;p14"/>
            <p:cNvSpPr/>
            <p:nvPr/>
          </p:nvSpPr>
          <p:spPr>
            <a:xfrm>
              <a:off x="1341120" y="1341120"/>
              <a:ext cx="609600" cy="609600"/>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0000" y="0"/>
                  </a:moveTo>
                  <a:close/>
                  <a:lnTo>
                    <a:pt x="-10000" y="120000"/>
                  </a:lnTo>
                </a:path>
                <a:path w="120000" h="120000" fill="none" extrusionOk="0">
                  <a:moveTo>
                    <a:pt x="-10000" y="22500"/>
                  </a:moveTo>
                  <a:lnTo>
                    <a:pt x="-46000" y="135000"/>
                  </a:lnTo>
                </a:path>
              </a:pathLst>
            </a:custGeom>
            <a:solidFill>
              <a:srgbClr val="0E7C7B"/>
            </a:solidFill>
            <a:ln>
              <a:noFill/>
            </a:ln>
            <a:effectLst>
              <a:outerShdw blurRad="101600" dist="38100" dir="8100000" algn="bl" rotWithShape="0">
                <a:srgbClr val="000000">
                  <a:alpha val="18039"/>
                </a:srgbClr>
              </a:outerShdw>
            </a:effectLst>
          </p:spPr>
          <p:txBody>
            <a:bodyPr spcFirstLastPara="1" wrap="square" lIns="121900" tIns="121900" rIns="121900" bIns="121900" anchor="ctr" anchorCtr="0">
              <a:noAutofit/>
            </a:bodyPr>
            <a:lstStyle/>
            <a:p>
              <a:endParaRPr sz="2400"/>
            </a:p>
          </p:txBody>
        </p:sp>
        <p:sp>
          <p:nvSpPr>
            <p:cNvPr id="594" name="Google Shape;594;p14"/>
            <p:cNvSpPr/>
            <p:nvPr/>
          </p:nvSpPr>
          <p:spPr>
            <a:xfrm>
              <a:off x="1341120" y="1341120"/>
              <a:ext cx="609600" cy="609600"/>
            </a:xfrm>
            <a:prstGeom prst="rect">
              <a:avLst/>
            </a:prstGeom>
            <a:noFill/>
            <a:ln>
              <a:noFill/>
            </a:ln>
          </p:spPr>
          <p:txBody>
            <a:bodyPr spcFirstLastPara="1" wrap="square" lIns="0" tIns="0" rIns="0" bIns="0" anchor="ctr" anchorCtr="0">
              <a:noAutofit/>
            </a:bodyPr>
            <a:lstStyle/>
            <a:p>
              <a:pPr algn="ctr">
                <a:buClr>
                  <a:srgbClr val="FFFFFF"/>
                </a:buClr>
                <a:buSzPts val="1600"/>
              </a:pPr>
              <a:r>
                <a:rPr lang="en-US" sz="2133" b="1">
                  <a:solidFill>
                    <a:srgbClr val="FFFFFF"/>
                  </a:solidFill>
                  <a:latin typeface="Calibri"/>
                  <a:ea typeface="Calibri"/>
                  <a:cs typeface="Calibri"/>
                  <a:sym typeface="Calibri"/>
                </a:rPr>
                <a:t>1</a:t>
              </a:r>
              <a:endParaRPr sz="2133">
                <a:solidFill>
                  <a:schemeClr val="dk1"/>
                </a:solidFill>
                <a:latin typeface="Calibri"/>
                <a:ea typeface="Calibri"/>
                <a:cs typeface="Calibri"/>
                <a:sym typeface="Calibri"/>
              </a:endParaRPr>
            </a:p>
          </p:txBody>
        </p:sp>
        <p:sp>
          <p:nvSpPr>
            <p:cNvPr id="595" name="Google Shape;595;p14"/>
            <p:cNvSpPr/>
            <p:nvPr/>
          </p:nvSpPr>
          <p:spPr>
            <a:xfrm>
              <a:off x="609600" y="2097024"/>
              <a:ext cx="2072640" cy="585216"/>
            </a:xfrm>
            <a:prstGeom prst="rect">
              <a:avLst/>
            </a:prstGeom>
            <a:noFill/>
            <a:ln>
              <a:noFill/>
            </a:ln>
          </p:spPr>
          <p:txBody>
            <a:bodyPr spcFirstLastPara="1" wrap="square" lIns="0" tIns="0" rIns="0" bIns="0" anchor="ctr" anchorCtr="0">
              <a:noAutofit/>
            </a:bodyPr>
            <a:lstStyle/>
            <a:p>
              <a:pPr algn="ctr">
                <a:buClr>
                  <a:srgbClr val="FFFFFF"/>
                </a:buClr>
                <a:buSzPts val="1000"/>
              </a:pPr>
              <a:r>
                <a:rPr lang="en-US" sz="1333" b="1">
                  <a:solidFill>
                    <a:srgbClr val="FFFFFF"/>
                  </a:solidFill>
                  <a:latin typeface="Calibri"/>
                  <a:ea typeface="Calibri"/>
                  <a:cs typeface="Calibri"/>
                  <a:sym typeface="Calibri"/>
                </a:rPr>
                <a:t>Experimenta</a:t>
              </a:r>
              <a:endParaRPr sz="1333">
                <a:solidFill>
                  <a:schemeClr val="dk1"/>
                </a:solidFill>
                <a:latin typeface="Calibri"/>
                <a:ea typeface="Calibri"/>
                <a:cs typeface="Calibri"/>
                <a:sym typeface="Calibri"/>
              </a:endParaRPr>
            </a:p>
            <a:p>
              <a:pPr algn="ctr">
                <a:buClr>
                  <a:srgbClr val="FFFFFF"/>
                </a:buClr>
                <a:buSzPts val="1000"/>
              </a:pPr>
              <a:r>
                <a:rPr lang="en-US" sz="1333" b="1">
                  <a:solidFill>
                    <a:srgbClr val="FFFFFF"/>
                  </a:solidFill>
                  <a:latin typeface="Calibri"/>
                  <a:ea typeface="Calibri"/>
                  <a:cs typeface="Calibri"/>
                  <a:sym typeface="Calibri"/>
                </a:rPr>
                <a:t>con APIs</a:t>
              </a:r>
              <a:endParaRPr sz="1333">
                <a:solidFill>
                  <a:schemeClr val="dk1"/>
                </a:solidFill>
                <a:latin typeface="Calibri"/>
                <a:ea typeface="Calibri"/>
                <a:cs typeface="Calibri"/>
                <a:sym typeface="Calibri"/>
              </a:endParaRPr>
            </a:p>
          </p:txBody>
        </p:sp>
        <p:sp>
          <p:nvSpPr>
            <p:cNvPr id="596" name="Google Shape;596;p14"/>
            <p:cNvSpPr/>
            <p:nvPr/>
          </p:nvSpPr>
          <p:spPr>
            <a:xfrm>
              <a:off x="609600" y="2743200"/>
              <a:ext cx="2072640" cy="1158240"/>
            </a:xfrm>
            <a:prstGeom prst="rect">
              <a:avLst/>
            </a:prstGeom>
            <a:noFill/>
            <a:ln>
              <a:noFill/>
            </a:ln>
          </p:spPr>
          <p:txBody>
            <a:bodyPr spcFirstLastPara="1" wrap="square" lIns="0" tIns="0" rIns="0" bIns="0" anchor="ctr" anchorCtr="0">
              <a:noAutofit/>
            </a:bodyPr>
            <a:lstStyle/>
            <a:p>
              <a:pPr algn="ctr">
                <a:buClr>
                  <a:srgbClr val="7BA7BC"/>
                </a:buClr>
                <a:buSzPts val="900"/>
              </a:pPr>
              <a:r>
                <a:rPr lang="en-US" sz="1200">
                  <a:solidFill>
                    <a:srgbClr val="7BA7BC"/>
                  </a:solidFill>
                  <a:latin typeface="Calibri"/>
                  <a:ea typeface="Calibri"/>
                  <a:cs typeface="Calibri"/>
                  <a:sym typeface="Calibri"/>
                </a:rPr>
                <a:t>OpenAI Playground</a:t>
              </a:r>
              <a:endParaRPr sz="1200">
                <a:solidFill>
                  <a:schemeClr val="dk1"/>
                </a:solidFill>
                <a:latin typeface="Calibri"/>
                <a:ea typeface="Calibri"/>
                <a:cs typeface="Calibri"/>
                <a:sym typeface="Calibri"/>
              </a:endParaRPr>
            </a:p>
            <a:p>
              <a:pPr algn="ctr">
                <a:buClr>
                  <a:srgbClr val="7BA7BC"/>
                </a:buClr>
                <a:buSzPts val="900"/>
              </a:pPr>
              <a:r>
                <a:rPr lang="en-US" sz="1200">
                  <a:solidFill>
                    <a:srgbClr val="7BA7BC"/>
                  </a:solidFill>
                  <a:latin typeface="Calibri"/>
                  <a:ea typeface="Calibri"/>
                  <a:cs typeface="Calibri"/>
                  <a:sym typeface="Calibri"/>
                </a:rPr>
                <a:t>Anthropic Claude API</a:t>
              </a:r>
              <a:endParaRPr sz="1200">
                <a:solidFill>
                  <a:schemeClr val="dk1"/>
                </a:solidFill>
                <a:latin typeface="Calibri"/>
                <a:ea typeface="Calibri"/>
                <a:cs typeface="Calibri"/>
                <a:sym typeface="Calibri"/>
              </a:endParaRPr>
            </a:p>
          </p:txBody>
        </p:sp>
        <p:sp>
          <p:nvSpPr>
            <p:cNvPr id="597" name="Google Shape;597;p14"/>
            <p:cNvSpPr/>
            <p:nvPr/>
          </p:nvSpPr>
          <p:spPr>
            <a:xfrm>
              <a:off x="2682240" y="2255520"/>
              <a:ext cx="219456" cy="365760"/>
            </a:xfrm>
            <a:prstGeom prst="rect">
              <a:avLst/>
            </a:prstGeom>
            <a:noFill/>
            <a:ln>
              <a:noFill/>
            </a:ln>
          </p:spPr>
          <p:txBody>
            <a:bodyPr spcFirstLastPara="1" wrap="square" lIns="0" tIns="0" rIns="0" bIns="0" anchor="ctr" anchorCtr="0">
              <a:noAutofit/>
            </a:bodyPr>
            <a:lstStyle/>
            <a:p>
              <a:pPr algn="ctr">
                <a:buClr>
                  <a:srgbClr val="00E5CF"/>
                </a:buClr>
                <a:buSzPts val="1600"/>
              </a:pPr>
              <a:r>
                <a:rPr lang="en-US" sz="2133">
                  <a:solidFill>
                    <a:srgbClr val="00E5CF"/>
                  </a:solidFill>
                  <a:latin typeface="Calibri"/>
                  <a:ea typeface="Calibri"/>
                  <a:cs typeface="Calibri"/>
                  <a:sym typeface="Calibri"/>
                </a:rPr>
                <a:t>→</a:t>
              </a:r>
              <a:endParaRPr sz="2133">
                <a:solidFill>
                  <a:schemeClr val="dk1"/>
                </a:solidFill>
                <a:latin typeface="Calibri"/>
                <a:ea typeface="Calibri"/>
                <a:cs typeface="Calibri"/>
                <a:sym typeface="Calibri"/>
              </a:endParaRPr>
            </a:p>
          </p:txBody>
        </p:sp>
        <p:sp>
          <p:nvSpPr>
            <p:cNvPr id="598" name="Google Shape;598;p14"/>
            <p:cNvSpPr/>
            <p:nvPr/>
          </p:nvSpPr>
          <p:spPr>
            <a:xfrm>
              <a:off x="2901696" y="1158240"/>
              <a:ext cx="2072640" cy="2926080"/>
            </a:xfrm>
            <a:prstGeom prst="rect">
              <a:avLst/>
            </a:prstGeom>
            <a:solidFill>
              <a:srgbClr val="0D2137"/>
            </a:solidFill>
            <a:ln w="9525" cap="flat" cmpd="sng">
              <a:solidFill>
                <a:srgbClr val="1A4060"/>
              </a:solidFill>
              <a:prstDash val="solid"/>
              <a:round/>
              <a:headEnd type="none" w="sm" len="sm"/>
              <a:tailEnd type="none" w="sm" len="sm"/>
            </a:ln>
            <a:effectLst>
              <a:outerShdw blurRad="101600" dist="38100" dir="8100000" algn="bl" rotWithShape="0">
                <a:srgbClr val="000000">
                  <a:alpha val="18039"/>
                </a:srgbClr>
              </a:outerShdw>
            </a:effectLst>
          </p:spPr>
          <p:txBody>
            <a:bodyPr spcFirstLastPara="1" wrap="square" lIns="121900" tIns="121900" rIns="121900" bIns="121900" anchor="ctr" anchorCtr="0">
              <a:noAutofit/>
            </a:bodyPr>
            <a:lstStyle/>
            <a:p>
              <a:endParaRPr sz="2400"/>
            </a:p>
          </p:txBody>
        </p:sp>
        <p:sp>
          <p:nvSpPr>
            <p:cNvPr id="599" name="Google Shape;599;p14"/>
            <p:cNvSpPr/>
            <p:nvPr/>
          </p:nvSpPr>
          <p:spPr>
            <a:xfrm>
              <a:off x="2901696" y="1158240"/>
              <a:ext cx="2072640" cy="85344"/>
            </a:xfrm>
            <a:prstGeom prst="rect">
              <a:avLst/>
            </a:prstGeom>
            <a:solidFill>
              <a:srgbClr val="0F3460"/>
            </a:solidFill>
            <a:ln>
              <a:noFill/>
            </a:ln>
          </p:spPr>
          <p:txBody>
            <a:bodyPr spcFirstLastPara="1" wrap="square" lIns="121900" tIns="121900" rIns="121900" bIns="121900" anchor="ctr" anchorCtr="0">
              <a:noAutofit/>
            </a:bodyPr>
            <a:lstStyle/>
            <a:p>
              <a:endParaRPr sz="2400"/>
            </a:p>
          </p:txBody>
        </p:sp>
        <p:sp>
          <p:nvSpPr>
            <p:cNvPr id="600" name="Google Shape;600;p14"/>
            <p:cNvSpPr/>
            <p:nvPr/>
          </p:nvSpPr>
          <p:spPr>
            <a:xfrm>
              <a:off x="3633216" y="1341120"/>
              <a:ext cx="609600" cy="609600"/>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0000" y="0"/>
                  </a:moveTo>
                  <a:close/>
                  <a:lnTo>
                    <a:pt x="-10000" y="120000"/>
                  </a:lnTo>
                </a:path>
                <a:path w="120000" h="120000" fill="none" extrusionOk="0">
                  <a:moveTo>
                    <a:pt x="-10000" y="22500"/>
                  </a:moveTo>
                  <a:lnTo>
                    <a:pt x="-46000" y="135000"/>
                  </a:lnTo>
                </a:path>
              </a:pathLst>
            </a:custGeom>
            <a:solidFill>
              <a:srgbClr val="0F3460"/>
            </a:solidFill>
            <a:ln>
              <a:noFill/>
            </a:ln>
            <a:effectLst>
              <a:outerShdw blurRad="101600" dist="38100" dir="8100000" algn="bl" rotWithShape="0">
                <a:srgbClr val="000000">
                  <a:alpha val="18039"/>
                </a:srgbClr>
              </a:outerShdw>
            </a:effectLst>
          </p:spPr>
          <p:txBody>
            <a:bodyPr spcFirstLastPara="1" wrap="square" lIns="121900" tIns="121900" rIns="121900" bIns="121900" anchor="ctr" anchorCtr="0">
              <a:noAutofit/>
            </a:bodyPr>
            <a:lstStyle/>
            <a:p>
              <a:endParaRPr sz="2400"/>
            </a:p>
          </p:txBody>
        </p:sp>
        <p:sp>
          <p:nvSpPr>
            <p:cNvPr id="601" name="Google Shape;601;p14"/>
            <p:cNvSpPr/>
            <p:nvPr/>
          </p:nvSpPr>
          <p:spPr>
            <a:xfrm>
              <a:off x="3633216" y="1341120"/>
              <a:ext cx="609600" cy="609600"/>
            </a:xfrm>
            <a:prstGeom prst="rect">
              <a:avLst/>
            </a:prstGeom>
            <a:noFill/>
            <a:ln>
              <a:noFill/>
            </a:ln>
          </p:spPr>
          <p:txBody>
            <a:bodyPr spcFirstLastPara="1" wrap="square" lIns="0" tIns="0" rIns="0" bIns="0" anchor="ctr" anchorCtr="0">
              <a:noAutofit/>
            </a:bodyPr>
            <a:lstStyle/>
            <a:p>
              <a:pPr algn="ctr">
                <a:buClr>
                  <a:srgbClr val="FFFFFF"/>
                </a:buClr>
                <a:buSzPts val="1600"/>
              </a:pPr>
              <a:r>
                <a:rPr lang="en-US" sz="2133" b="1">
                  <a:solidFill>
                    <a:srgbClr val="FFFFFF"/>
                  </a:solidFill>
                  <a:latin typeface="Calibri"/>
                  <a:ea typeface="Calibri"/>
                  <a:cs typeface="Calibri"/>
                  <a:sym typeface="Calibri"/>
                </a:rPr>
                <a:t>2</a:t>
              </a:r>
              <a:endParaRPr sz="2133">
                <a:solidFill>
                  <a:schemeClr val="dk1"/>
                </a:solidFill>
                <a:latin typeface="Calibri"/>
                <a:ea typeface="Calibri"/>
                <a:cs typeface="Calibri"/>
                <a:sym typeface="Calibri"/>
              </a:endParaRPr>
            </a:p>
          </p:txBody>
        </p:sp>
        <p:sp>
          <p:nvSpPr>
            <p:cNvPr id="602" name="Google Shape;602;p14"/>
            <p:cNvSpPr/>
            <p:nvPr/>
          </p:nvSpPr>
          <p:spPr>
            <a:xfrm>
              <a:off x="2901696" y="2097024"/>
              <a:ext cx="2072640" cy="585216"/>
            </a:xfrm>
            <a:prstGeom prst="rect">
              <a:avLst/>
            </a:prstGeom>
            <a:noFill/>
            <a:ln>
              <a:noFill/>
            </a:ln>
          </p:spPr>
          <p:txBody>
            <a:bodyPr spcFirstLastPara="1" wrap="square" lIns="0" tIns="0" rIns="0" bIns="0" anchor="ctr" anchorCtr="0">
              <a:noAutofit/>
            </a:bodyPr>
            <a:lstStyle/>
            <a:p>
              <a:pPr algn="ctr">
                <a:buClr>
                  <a:srgbClr val="FFFFFF"/>
                </a:buClr>
                <a:buSzPts val="1000"/>
              </a:pPr>
              <a:r>
                <a:rPr lang="en-US" sz="1333" b="1">
                  <a:solidFill>
                    <a:srgbClr val="FFFFFF"/>
                  </a:solidFill>
                  <a:latin typeface="Calibri"/>
                  <a:ea typeface="Calibri"/>
                  <a:cs typeface="Calibri"/>
                  <a:sym typeface="Calibri"/>
                </a:rPr>
                <a:t>Construye un</a:t>
              </a:r>
              <a:endParaRPr sz="1333">
                <a:solidFill>
                  <a:schemeClr val="dk1"/>
                </a:solidFill>
                <a:latin typeface="Calibri"/>
                <a:ea typeface="Calibri"/>
                <a:cs typeface="Calibri"/>
                <a:sym typeface="Calibri"/>
              </a:endParaRPr>
            </a:p>
            <a:p>
              <a:pPr algn="ctr">
                <a:buClr>
                  <a:srgbClr val="FFFFFF"/>
                </a:buClr>
                <a:buSzPts val="1000"/>
              </a:pPr>
              <a:r>
                <a:rPr lang="en-US" sz="1333" b="1">
                  <a:solidFill>
                    <a:srgbClr val="FFFFFF"/>
                  </a:solidFill>
                  <a:latin typeface="Calibri"/>
                  <a:ea typeface="Calibri"/>
                  <a:cs typeface="Calibri"/>
                  <a:sym typeface="Calibri"/>
                </a:rPr>
                <a:t>Chatbot RAG</a:t>
              </a:r>
              <a:endParaRPr sz="1333">
                <a:solidFill>
                  <a:schemeClr val="dk1"/>
                </a:solidFill>
                <a:latin typeface="Calibri"/>
                <a:ea typeface="Calibri"/>
                <a:cs typeface="Calibri"/>
                <a:sym typeface="Calibri"/>
              </a:endParaRPr>
            </a:p>
          </p:txBody>
        </p:sp>
        <p:sp>
          <p:nvSpPr>
            <p:cNvPr id="603" name="Google Shape;603;p14"/>
            <p:cNvSpPr/>
            <p:nvPr/>
          </p:nvSpPr>
          <p:spPr>
            <a:xfrm>
              <a:off x="2901696" y="2743200"/>
              <a:ext cx="2072640" cy="1158240"/>
            </a:xfrm>
            <a:prstGeom prst="rect">
              <a:avLst/>
            </a:prstGeom>
            <a:noFill/>
            <a:ln>
              <a:noFill/>
            </a:ln>
          </p:spPr>
          <p:txBody>
            <a:bodyPr spcFirstLastPara="1" wrap="square" lIns="0" tIns="0" rIns="0" bIns="0" anchor="ctr" anchorCtr="0">
              <a:noAutofit/>
            </a:bodyPr>
            <a:lstStyle/>
            <a:p>
              <a:pPr algn="ctr">
                <a:buClr>
                  <a:srgbClr val="7BA7BC"/>
                </a:buClr>
                <a:buSzPts val="900"/>
              </a:pPr>
              <a:r>
                <a:rPr lang="en-US" sz="1200">
                  <a:solidFill>
                    <a:srgbClr val="7BA7BC"/>
                  </a:solidFill>
                  <a:latin typeface="Calibri"/>
                  <a:ea typeface="Calibri"/>
                  <a:cs typeface="Calibri"/>
                  <a:sym typeface="Calibri"/>
                </a:rPr>
                <a:t>LangChain + Chroma</a:t>
              </a:r>
              <a:endParaRPr sz="1200">
                <a:solidFill>
                  <a:schemeClr val="dk1"/>
                </a:solidFill>
                <a:latin typeface="Calibri"/>
                <a:ea typeface="Calibri"/>
                <a:cs typeface="Calibri"/>
                <a:sym typeface="Calibri"/>
              </a:endParaRPr>
            </a:p>
            <a:p>
              <a:pPr algn="ctr">
                <a:buClr>
                  <a:srgbClr val="7BA7BC"/>
                </a:buClr>
                <a:buSzPts val="900"/>
              </a:pPr>
              <a:r>
                <a:rPr lang="en-US" sz="1200">
                  <a:solidFill>
                    <a:srgbClr val="7BA7BC"/>
                  </a:solidFill>
                  <a:latin typeface="Calibri"/>
                  <a:ea typeface="Calibri"/>
                  <a:cs typeface="Calibri"/>
                  <a:sym typeface="Calibri"/>
                </a:rPr>
                <a:t>o Langflow visual</a:t>
              </a:r>
              <a:endParaRPr sz="1200">
                <a:solidFill>
                  <a:schemeClr val="dk1"/>
                </a:solidFill>
                <a:latin typeface="Calibri"/>
                <a:ea typeface="Calibri"/>
                <a:cs typeface="Calibri"/>
                <a:sym typeface="Calibri"/>
              </a:endParaRPr>
            </a:p>
          </p:txBody>
        </p:sp>
        <p:sp>
          <p:nvSpPr>
            <p:cNvPr id="604" name="Google Shape;604;p14"/>
            <p:cNvSpPr/>
            <p:nvPr/>
          </p:nvSpPr>
          <p:spPr>
            <a:xfrm>
              <a:off x="4974336" y="2255520"/>
              <a:ext cx="219456" cy="365760"/>
            </a:xfrm>
            <a:prstGeom prst="rect">
              <a:avLst/>
            </a:prstGeom>
            <a:noFill/>
            <a:ln>
              <a:noFill/>
            </a:ln>
          </p:spPr>
          <p:txBody>
            <a:bodyPr spcFirstLastPara="1" wrap="square" lIns="0" tIns="0" rIns="0" bIns="0" anchor="ctr" anchorCtr="0">
              <a:noAutofit/>
            </a:bodyPr>
            <a:lstStyle/>
            <a:p>
              <a:pPr algn="ctr">
                <a:buClr>
                  <a:srgbClr val="00E5CF"/>
                </a:buClr>
                <a:buSzPts val="1600"/>
              </a:pPr>
              <a:r>
                <a:rPr lang="en-US" sz="2133">
                  <a:solidFill>
                    <a:srgbClr val="00E5CF"/>
                  </a:solidFill>
                  <a:latin typeface="Calibri"/>
                  <a:ea typeface="Calibri"/>
                  <a:cs typeface="Calibri"/>
                  <a:sym typeface="Calibri"/>
                </a:rPr>
                <a:t>→</a:t>
              </a:r>
              <a:endParaRPr sz="2133">
                <a:solidFill>
                  <a:schemeClr val="dk1"/>
                </a:solidFill>
                <a:latin typeface="Calibri"/>
                <a:ea typeface="Calibri"/>
                <a:cs typeface="Calibri"/>
                <a:sym typeface="Calibri"/>
              </a:endParaRPr>
            </a:p>
          </p:txBody>
        </p:sp>
        <p:sp>
          <p:nvSpPr>
            <p:cNvPr id="605" name="Google Shape;605;p14"/>
            <p:cNvSpPr/>
            <p:nvPr/>
          </p:nvSpPr>
          <p:spPr>
            <a:xfrm>
              <a:off x="5193792" y="1158240"/>
              <a:ext cx="2072640" cy="2926080"/>
            </a:xfrm>
            <a:prstGeom prst="rect">
              <a:avLst/>
            </a:prstGeom>
            <a:solidFill>
              <a:srgbClr val="0D2137"/>
            </a:solidFill>
            <a:ln w="9525" cap="flat" cmpd="sng">
              <a:solidFill>
                <a:srgbClr val="1A4060"/>
              </a:solidFill>
              <a:prstDash val="solid"/>
              <a:round/>
              <a:headEnd type="none" w="sm" len="sm"/>
              <a:tailEnd type="none" w="sm" len="sm"/>
            </a:ln>
            <a:effectLst>
              <a:outerShdw blurRad="101600" dist="38100" dir="8100000" algn="bl" rotWithShape="0">
                <a:srgbClr val="000000">
                  <a:alpha val="18039"/>
                </a:srgbClr>
              </a:outerShdw>
            </a:effectLst>
          </p:spPr>
          <p:txBody>
            <a:bodyPr spcFirstLastPara="1" wrap="square" lIns="121900" tIns="121900" rIns="121900" bIns="121900" anchor="ctr" anchorCtr="0">
              <a:noAutofit/>
            </a:bodyPr>
            <a:lstStyle/>
            <a:p>
              <a:endParaRPr sz="2400"/>
            </a:p>
          </p:txBody>
        </p:sp>
        <p:sp>
          <p:nvSpPr>
            <p:cNvPr id="606" name="Google Shape;606;p14"/>
            <p:cNvSpPr/>
            <p:nvPr/>
          </p:nvSpPr>
          <p:spPr>
            <a:xfrm>
              <a:off x="5193792" y="1158240"/>
              <a:ext cx="2072640" cy="85344"/>
            </a:xfrm>
            <a:prstGeom prst="rect">
              <a:avLst/>
            </a:prstGeom>
            <a:solidFill>
              <a:srgbClr val="8B5CF6"/>
            </a:solidFill>
            <a:ln>
              <a:noFill/>
            </a:ln>
          </p:spPr>
          <p:txBody>
            <a:bodyPr spcFirstLastPara="1" wrap="square" lIns="121900" tIns="121900" rIns="121900" bIns="121900" anchor="ctr" anchorCtr="0">
              <a:noAutofit/>
            </a:bodyPr>
            <a:lstStyle/>
            <a:p>
              <a:endParaRPr sz="2400"/>
            </a:p>
          </p:txBody>
        </p:sp>
        <p:sp>
          <p:nvSpPr>
            <p:cNvPr id="607" name="Google Shape;607;p14"/>
            <p:cNvSpPr/>
            <p:nvPr/>
          </p:nvSpPr>
          <p:spPr>
            <a:xfrm>
              <a:off x="5925312" y="1341120"/>
              <a:ext cx="609600" cy="609600"/>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0000" y="0"/>
                  </a:moveTo>
                  <a:close/>
                  <a:lnTo>
                    <a:pt x="-10000" y="120000"/>
                  </a:lnTo>
                </a:path>
                <a:path w="120000" h="120000" fill="none" extrusionOk="0">
                  <a:moveTo>
                    <a:pt x="-10000" y="22500"/>
                  </a:moveTo>
                  <a:lnTo>
                    <a:pt x="-46000" y="135000"/>
                  </a:lnTo>
                </a:path>
              </a:pathLst>
            </a:custGeom>
            <a:solidFill>
              <a:srgbClr val="8B5CF6"/>
            </a:solidFill>
            <a:ln>
              <a:noFill/>
            </a:ln>
            <a:effectLst>
              <a:outerShdw blurRad="101600" dist="38100" dir="8100000" algn="bl" rotWithShape="0">
                <a:srgbClr val="000000">
                  <a:alpha val="18039"/>
                </a:srgbClr>
              </a:outerShdw>
            </a:effectLst>
          </p:spPr>
          <p:txBody>
            <a:bodyPr spcFirstLastPara="1" wrap="square" lIns="121900" tIns="121900" rIns="121900" bIns="121900" anchor="ctr" anchorCtr="0">
              <a:noAutofit/>
            </a:bodyPr>
            <a:lstStyle/>
            <a:p>
              <a:endParaRPr sz="2400"/>
            </a:p>
          </p:txBody>
        </p:sp>
        <p:sp>
          <p:nvSpPr>
            <p:cNvPr id="608" name="Google Shape;608;p14"/>
            <p:cNvSpPr/>
            <p:nvPr/>
          </p:nvSpPr>
          <p:spPr>
            <a:xfrm>
              <a:off x="5925312" y="1341120"/>
              <a:ext cx="609600" cy="609600"/>
            </a:xfrm>
            <a:prstGeom prst="rect">
              <a:avLst/>
            </a:prstGeom>
            <a:noFill/>
            <a:ln>
              <a:noFill/>
            </a:ln>
          </p:spPr>
          <p:txBody>
            <a:bodyPr spcFirstLastPara="1" wrap="square" lIns="0" tIns="0" rIns="0" bIns="0" anchor="ctr" anchorCtr="0">
              <a:noAutofit/>
            </a:bodyPr>
            <a:lstStyle/>
            <a:p>
              <a:pPr algn="ctr">
                <a:buClr>
                  <a:srgbClr val="FFFFFF"/>
                </a:buClr>
                <a:buSzPts val="1600"/>
              </a:pPr>
              <a:r>
                <a:rPr lang="en-US" sz="2133" b="1">
                  <a:solidFill>
                    <a:srgbClr val="FFFFFF"/>
                  </a:solidFill>
                  <a:latin typeface="Calibri"/>
                  <a:ea typeface="Calibri"/>
                  <a:cs typeface="Calibri"/>
                  <a:sym typeface="Calibri"/>
                </a:rPr>
                <a:t>3</a:t>
              </a:r>
              <a:endParaRPr sz="2133">
                <a:solidFill>
                  <a:schemeClr val="dk1"/>
                </a:solidFill>
                <a:latin typeface="Calibri"/>
                <a:ea typeface="Calibri"/>
                <a:cs typeface="Calibri"/>
                <a:sym typeface="Calibri"/>
              </a:endParaRPr>
            </a:p>
          </p:txBody>
        </p:sp>
        <p:sp>
          <p:nvSpPr>
            <p:cNvPr id="609" name="Google Shape;609;p14"/>
            <p:cNvSpPr/>
            <p:nvPr/>
          </p:nvSpPr>
          <p:spPr>
            <a:xfrm>
              <a:off x="5193792" y="2097024"/>
              <a:ext cx="2072640" cy="585216"/>
            </a:xfrm>
            <a:prstGeom prst="rect">
              <a:avLst/>
            </a:prstGeom>
            <a:noFill/>
            <a:ln>
              <a:noFill/>
            </a:ln>
          </p:spPr>
          <p:txBody>
            <a:bodyPr spcFirstLastPara="1" wrap="square" lIns="0" tIns="0" rIns="0" bIns="0" anchor="ctr" anchorCtr="0">
              <a:noAutofit/>
            </a:bodyPr>
            <a:lstStyle/>
            <a:p>
              <a:pPr algn="ctr">
                <a:buClr>
                  <a:srgbClr val="FFFFFF"/>
                </a:buClr>
                <a:buSzPts val="1000"/>
              </a:pPr>
              <a:r>
                <a:rPr lang="en-US" sz="1333" b="1">
                  <a:solidFill>
                    <a:srgbClr val="FFFFFF"/>
                  </a:solidFill>
                  <a:latin typeface="Calibri"/>
                  <a:ea typeface="Calibri"/>
                  <a:cs typeface="Calibri"/>
                  <a:sym typeface="Calibri"/>
                </a:rPr>
                <a:t>Agrega</a:t>
              </a:r>
              <a:endParaRPr sz="1333">
                <a:solidFill>
                  <a:schemeClr val="dk1"/>
                </a:solidFill>
                <a:latin typeface="Calibri"/>
                <a:ea typeface="Calibri"/>
                <a:cs typeface="Calibri"/>
                <a:sym typeface="Calibri"/>
              </a:endParaRPr>
            </a:p>
            <a:p>
              <a:pPr algn="ctr">
                <a:buClr>
                  <a:srgbClr val="FFFFFF"/>
                </a:buClr>
                <a:buSzPts val="1000"/>
              </a:pPr>
              <a:r>
                <a:rPr lang="en-US" sz="1333" b="1">
                  <a:solidFill>
                    <a:srgbClr val="FFFFFF"/>
                  </a:solidFill>
                  <a:latin typeface="Calibri"/>
                  <a:ea typeface="Calibri"/>
                  <a:cs typeface="Calibri"/>
                  <a:sym typeface="Calibri"/>
                </a:rPr>
                <a:t>Herramientas</a:t>
              </a:r>
              <a:endParaRPr sz="1333">
                <a:solidFill>
                  <a:schemeClr val="dk1"/>
                </a:solidFill>
                <a:latin typeface="Calibri"/>
                <a:ea typeface="Calibri"/>
                <a:cs typeface="Calibri"/>
                <a:sym typeface="Calibri"/>
              </a:endParaRPr>
            </a:p>
          </p:txBody>
        </p:sp>
        <p:sp>
          <p:nvSpPr>
            <p:cNvPr id="610" name="Google Shape;610;p14"/>
            <p:cNvSpPr/>
            <p:nvPr/>
          </p:nvSpPr>
          <p:spPr>
            <a:xfrm>
              <a:off x="5193792" y="2743200"/>
              <a:ext cx="2072640" cy="1158240"/>
            </a:xfrm>
            <a:prstGeom prst="rect">
              <a:avLst/>
            </a:prstGeom>
            <a:noFill/>
            <a:ln>
              <a:noFill/>
            </a:ln>
          </p:spPr>
          <p:txBody>
            <a:bodyPr spcFirstLastPara="1" wrap="square" lIns="0" tIns="0" rIns="0" bIns="0" anchor="ctr" anchorCtr="0">
              <a:noAutofit/>
            </a:bodyPr>
            <a:lstStyle/>
            <a:p>
              <a:pPr algn="ctr">
                <a:buClr>
                  <a:srgbClr val="7BA7BC"/>
                </a:buClr>
                <a:buSzPts val="900"/>
              </a:pPr>
              <a:r>
                <a:rPr lang="en-US" sz="1200">
                  <a:solidFill>
                    <a:srgbClr val="7BA7BC"/>
                  </a:solidFill>
                  <a:latin typeface="Calibri"/>
                  <a:ea typeface="Calibri"/>
                  <a:cs typeface="Calibri"/>
                  <a:sym typeface="Calibri"/>
                </a:rPr>
                <a:t>Function calling</a:t>
              </a:r>
              <a:endParaRPr sz="1200">
                <a:solidFill>
                  <a:schemeClr val="dk1"/>
                </a:solidFill>
                <a:latin typeface="Calibri"/>
                <a:ea typeface="Calibri"/>
                <a:cs typeface="Calibri"/>
                <a:sym typeface="Calibri"/>
              </a:endParaRPr>
            </a:p>
            <a:p>
              <a:pPr algn="ctr">
                <a:buClr>
                  <a:srgbClr val="7BA7BC"/>
                </a:buClr>
                <a:buSzPts val="900"/>
              </a:pPr>
              <a:r>
                <a:rPr lang="en-US" sz="1200">
                  <a:solidFill>
                    <a:srgbClr val="7BA7BC"/>
                  </a:solidFill>
                  <a:latin typeface="Calibri"/>
                  <a:ea typeface="Calibri"/>
                  <a:cs typeface="Calibri"/>
                  <a:sym typeface="Calibri"/>
                </a:rPr>
                <a:t>Searchs y código</a:t>
              </a:r>
              <a:endParaRPr sz="1200">
                <a:solidFill>
                  <a:schemeClr val="dk1"/>
                </a:solidFill>
                <a:latin typeface="Calibri"/>
                <a:ea typeface="Calibri"/>
                <a:cs typeface="Calibri"/>
                <a:sym typeface="Calibri"/>
              </a:endParaRPr>
            </a:p>
          </p:txBody>
        </p:sp>
        <p:sp>
          <p:nvSpPr>
            <p:cNvPr id="611" name="Google Shape;611;p14"/>
            <p:cNvSpPr/>
            <p:nvPr/>
          </p:nvSpPr>
          <p:spPr>
            <a:xfrm>
              <a:off x="7266432" y="2255520"/>
              <a:ext cx="219456" cy="365760"/>
            </a:xfrm>
            <a:prstGeom prst="rect">
              <a:avLst/>
            </a:prstGeom>
            <a:noFill/>
            <a:ln>
              <a:noFill/>
            </a:ln>
          </p:spPr>
          <p:txBody>
            <a:bodyPr spcFirstLastPara="1" wrap="square" lIns="0" tIns="0" rIns="0" bIns="0" anchor="ctr" anchorCtr="0">
              <a:noAutofit/>
            </a:bodyPr>
            <a:lstStyle/>
            <a:p>
              <a:pPr algn="ctr">
                <a:buClr>
                  <a:srgbClr val="00E5CF"/>
                </a:buClr>
                <a:buSzPts val="1600"/>
              </a:pPr>
              <a:r>
                <a:rPr lang="en-US" sz="2133">
                  <a:solidFill>
                    <a:srgbClr val="00E5CF"/>
                  </a:solidFill>
                  <a:latin typeface="Calibri"/>
                  <a:ea typeface="Calibri"/>
                  <a:cs typeface="Calibri"/>
                  <a:sym typeface="Calibri"/>
                </a:rPr>
                <a:t>→</a:t>
              </a:r>
              <a:endParaRPr sz="2133">
                <a:solidFill>
                  <a:schemeClr val="dk1"/>
                </a:solidFill>
                <a:latin typeface="Calibri"/>
                <a:ea typeface="Calibri"/>
                <a:cs typeface="Calibri"/>
                <a:sym typeface="Calibri"/>
              </a:endParaRPr>
            </a:p>
          </p:txBody>
        </p:sp>
        <p:sp>
          <p:nvSpPr>
            <p:cNvPr id="612" name="Google Shape;612;p14"/>
            <p:cNvSpPr/>
            <p:nvPr/>
          </p:nvSpPr>
          <p:spPr>
            <a:xfrm>
              <a:off x="7485888" y="1158240"/>
              <a:ext cx="2072640" cy="2926080"/>
            </a:xfrm>
            <a:prstGeom prst="rect">
              <a:avLst/>
            </a:prstGeom>
            <a:solidFill>
              <a:srgbClr val="0D2137"/>
            </a:solidFill>
            <a:ln w="9525" cap="flat" cmpd="sng">
              <a:solidFill>
                <a:srgbClr val="1A4060"/>
              </a:solidFill>
              <a:prstDash val="solid"/>
              <a:round/>
              <a:headEnd type="none" w="sm" len="sm"/>
              <a:tailEnd type="none" w="sm" len="sm"/>
            </a:ln>
            <a:effectLst>
              <a:outerShdw blurRad="101600" dist="38100" dir="8100000" algn="bl" rotWithShape="0">
                <a:srgbClr val="000000">
                  <a:alpha val="18039"/>
                </a:srgbClr>
              </a:outerShdw>
            </a:effectLst>
          </p:spPr>
          <p:txBody>
            <a:bodyPr spcFirstLastPara="1" wrap="square" lIns="121900" tIns="121900" rIns="121900" bIns="121900" anchor="ctr" anchorCtr="0">
              <a:noAutofit/>
            </a:bodyPr>
            <a:lstStyle/>
            <a:p>
              <a:endParaRPr sz="2400"/>
            </a:p>
          </p:txBody>
        </p:sp>
        <p:sp>
          <p:nvSpPr>
            <p:cNvPr id="613" name="Google Shape;613;p14"/>
            <p:cNvSpPr/>
            <p:nvPr/>
          </p:nvSpPr>
          <p:spPr>
            <a:xfrm>
              <a:off x="7485888" y="1158240"/>
              <a:ext cx="2072640" cy="85344"/>
            </a:xfrm>
            <a:prstGeom prst="rect">
              <a:avLst/>
            </a:prstGeom>
            <a:solidFill>
              <a:srgbClr val="1A7A3C"/>
            </a:solidFill>
            <a:ln>
              <a:noFill/>
            </a:ln>
          </p:spPr>
          <p:txBody>
            <a:bodyPr spcFirstLastPara="1" wrap="square" lIns="121900" tIns="121900" rIns="121900" bIns="121900" anchor="ctr" anchorCtr="0">
              <a:noAutofit/>
            </a:bodyPr>
            <a:lstStyle/>
            <a:p>
              <a:endParaRPr sz="2400"/>
            </a:p>
          </p:txBody>
        </p:sp>
        <p:sp>
          <p:nvSpPr>
            <p:cNvPr id="614" name="Google Shape;614;p14"/>
            <p:cNvSpPr/>
            <p:nvPr/>
          </p:nvSpPr>
          <p:spPr>
            <a:xfrm>
              <a:off x="8217408" y="1341120"/>
              <a:ext cx="609600" cy="609600"/>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0000" y="0"/>
                  </a:moveTo>
                  <a:close/>
                  <a:lnTo>
                    <a:pt x="-10000" y="120000"/>
                  </a:lnTo>
                </a:path>
                <a:path w="120000" h="120000" fill="none" extrusionOk="0">
                  <a:moveTo>
                    <a:pt x="-10000" y="22500"/>
                  </a:moveTo>
                  <a:lnTo>
                    <a:pt x="-46000" y="135000"/>
                  </a:lnTo>
                </a:path>
              </a:pathLst>
            </a:custGeom>
            <a:solidFill>
              <a:srgbClr val="1A7A3C"/>
            </a:solidFill>
            <a:ln>
              <a:noFill/>
            </a:ln>
            <a:effectLst>
              <a:outerShdw blurRad="101600" dist="38100" dir="8100000" algn="bl" rotWithShape="0">
                <a:srgbClr val="000000">
                  <a:alpha val="18039"/>
                </a:srgbClr>
              </a:outerShdw>
            </a:effectLst>
          </p:spPr>
          <p:txBody>
            <a:bodyPr spcFirstLastPara="1" wrap="square" lIns="121900" tIns="121900" rIns="121900" bIns="121900" anchor="ctr" anchorCtr="0">
              <a:noAutofit/>
            </a:bodyPr>
            <a:lstStyle/>
            <a:p>
              <a:endParaRPr sz="2400"/>
            </a:p>
          </p:txBody>
        </p:sp>
        <p:sp>
          <p:nvSpPr>
            <p:cNvPr id="615" name="Google Shape;615;p14"/>
            <p:cNvSpPr/>
            <p:nvPr/>
          </p:nvSpPr>
          <p:spPr>
            <a:xfrm>
              <a:off x="8217408" y="1341120"/>
              <a:ext cx="609600" cy="609600"/>
            </a:xfrm>
            <a:prstGeom prst="rect">
              <a:avLst/>
            </a:prstGeom>
            <a:noFill/>
            <a:ln>
              <a:noFill/>
            </a:ln>
          </p:spPr>
          <p:txBody>
            <a:bodyPr spcFirstLastPara="1" wrap="square" lIns="0" tIns="0" rIns="0" bIns="0" anchor="ctr" anchorCtr="0">
              <a:noAutofit/>
            </a:bodyPr>
            <a:lstStyle/>
            <a:p>
              <a:pPr algn="ctr">
                <a:buClr>
                  <a:srgbClr val="FFFFFF"/>
                </a:buClr>
                <a:buSzPts val="1600"/>
              </a:pPr>
              <a:r>
                <a:rPr lang="en-US" sz="2133" b="1">
                  <a:solidFill>
                    <a:srgbClr val="FFFFFF"/>
                  </a:solidFill>
                  <a:latin typeface="Calibri"/>
                  <a:ea typeface="Calibri"/>
                  <a:cs typeface="Calibri"/>
                  <a:sym typeface="Calibri"/>
                </a:rPr>
                <a:t>4</a:t>
              </a:r>
              <a:endParaRPr sz="2133">
                <a:solidFill>
                  <a:schemeClr val="dk1"/>
                </a:solidFill>
                <a:latin typeface="Calibri"/>
                <a:ea typeface="Calibri"/>
                <a:cs typeface="Calibri"/>
                <a:sym typeface="Calibri"/>
              </a:endParaRPr>
            </a:p>
          </p:txBody>
        </p:sp>
        <p:sp>
          <p:nvSpPr>
            <p:cNvPr id="616" name="Google Shape;616;p14"/>
            <p:cNvSpPr/>
            <p:nvPr/>
          </p:nvSpPr>
          <p:spPr>
            <a:xfrm>
              <a:off x="7485888" y="2097024"/>
              <a:ext cx="2072640" cy="585216"/>
            </a:xfrm>
            <a:prstGeom prst="rect">
              <a:avLst/>
            </a:prstGeom>
            <a:noFill/>
            <a:ln>
              <a:noFill/>
            </a:ln>
          </p:spPr>
          <p:txBody>
            <a:bodyPr spcFirstLastPara="1" wrap="square" lIns="0" tIns="0" rIns="0" bIns="0" anchor="ctr" anchorCtr="0">
              <a:noAutofit/>
            </a:bodyPr>
            <a:lstStyle/>
            <a:p>
              <a:pPr algn="ctr">
                <a:buClr>
                  <a:srgbClr val="FFFFFF"/>
                </a:buClr>
                <a:buSzPts val="1000"/>
              </a:pPr>
              <a:r>
                <a:rPr lang="en-US" sz="1333" b="1">
                  <a:solidFill>
                    <a:srgbClr val="FFFFFF"/>
                  </a:solidFill>
                  <a:latin typeface="Calibri"/>
                  <a:ea typeface="Calibri"/>
                  <a:cs typeface="Calibri"/>
                  <a:sym typeface="Calibri"/>
                </a:rPr>
                <a:t>ReAct</a:t>
              </a:r>
              <a:endParaRPr sz="1333">
                <a:solidFill>
                  <a:schemeClr val="dk1"/>
                </a:solidFill>
                <a:latin typeface="Calibri"/>
                <a:ea typeface="Calibri"/>
                <a:cs typeface="Calibri"/>
                <a:sym typeface="Calibri"/>
              </a:endParaRPr>
            </a:p>
            <a:p>
              <a:pPr algn="ctr">
                <a:buClr>
                  <a:srgbClr val="FFFFFF"/>
                </a:buClr>
                <a:buSzPts val="1000"/>
              </a:pPr>
              <a:r>
                <a:rPr lang="en-US" sz="1333" b="1">
                  <a:solidFill>
                    <a:srgbClr val="FFFFFF"/>
                  </a:solidFill>
                  <a:latin typeface="Calibri"/>
                  <a:ea typeface="Calibri"/>
                  <a:cs typeface="Calibri"/>
                  <a:sym typeface="Calibri"/>
                </a:rPr>
                <a:t>Agent</a:t>
              </a:r>
              <a:endParaRPr sz="1333">
                <a:solidFill>
                  <a:schemeClr val="dk1"/>
                </a:solidFill>
                <a:latin typeface="Calibri"/>
                <a:ea typeface="Calibri"/>
                <a:cs typeface="Calibri"/>
                <a:sym typeface="Calibri"/>
              </a:endParaRPr>
            </a:p>
          </p:txBody>
        </p:sp>
        <p:sp>
          <p:nvSpPr>
            <p:cNvPr id="617" name="Google Shape;617;p14"/>
            <p:cNvSpPr/>
            <p:nvPr/>
          </p:nvSpPr>
          <p:spPr>
            <a:xfrm>
              <a:off x="7485888" y="2743200"/>
              <a:ext cx="2072640" cy="1158240"/>
            </a:xfrm>
            <a:prstGeom prst="rect">
              <a:avLst/>
            </a:prstGeom>
            <a:noFill/>
            <a:ln>
              <a:noFill/>
            </a:ln>
          </p:spPr>
          <p:txBody>
            <a:bodyPr spcFirstLastPara="1" wrap="square" lIns="0" tIns="0" rIns="0" bIns="0" anchor="ctr" anchorCtr="0">
              <a:noAutofit/>
            </a:bodyPr>
            <a:lstStyle/>
            <a:p>
              <a:pPr algn="ctr">
                <a:buClr>
                  <a:srgbClr val="7BA7BC"/>
                </a:buClr>
                <a:buSzPts val="900"/>
              </a:pPr>
              <a:r>
                <a:rPr lang="en-US" sz="1200">
                  <a:solidFill>
                    <a:srgbClr val="7BA7BC"/>
                  </a:solidFill>
                  <a:latin typeface="Calibri"/>
                  <a:ea typeface="Calibri"/>
                  <a:cs typeface="Calibri"/>
                  <a:sym typeface="Calibri"/>
                </a:rPr>
                <a:t>Loop completo</a:t>
              </a:r>
              <a:endParaRPr sz="1200">
                <a:solidFill>
                  <a:schemeClr val="dk1"/>
                </a:solidFill>
                <a:latin typeface="Calibri"/>
                <a:ea typeface="Calibri"/>
                <a:cs typeface="Calibri"/>
                <a:sym typeface="Calibri"/>
              </a:endParaRPr>
            </a:p>
            <a:p>
              <a:pPr algn="ctr">
                <a:buClr>
                  <a:srgbClr val="7BA7BC"/>
                </a:buClr>
                <a:buSzPts val="900"/>
              </a:pPr>
              <a:r>
                <a:rPr lang="en-US" sz="1200">
                  <a:solidFill>
                    <a:srgbClr val="7BA7BC"/>
                  </a:solidFill>
                  <a:latin typeface="Calibri"/>
                  <a:ea typeface="Calibri"/>
                  <a:cs typeface="Calibri"/>
                  <a:sym typeface="Calibri"/>
                </a:rPr>
                <a:t>con observaciones</a:t>
              </a:r>
              <a:endParaRPr sz="1200">
                <a:solidFill>
                  <a:schemeClr val="dk1"/>
                </a:solidFill>
                <a:latin typeface="Calibri"/>
                <a:ea typeface="Calibri"/>
                <a:cs typeface="Calibri"/>
                <a:sym typeface="Calibri"/>
              </a:endParaRPr>
            </a:p>
          </p:txBody>
        </p:sp>
        <p:sp>
          <p:nvSpPr>
            <p:cNvPr id="618" name="Google Shape;618;p14"/>
            <p:cNvSpPr/>
            <p:nvPr/>
          </p:nvSpPr>
          <p:spPr>
            <a:xfrm>
              <a:off x="9558528" y="2255520"/>
              <a:ext cx="219456" cy="365760"/>
            </a:xfrm>
            <a:prstGeom prst="rect">
              <a:avLst/>
            </a:prstGeom>
            <a:noFill/>
            <a:ln>
              <a:noFill/>
            </a:ln>
          </p:spPr>
          <p:txBody>
            <a:bodyPr spcFirstLastPara="1" wrap="square" lIns="0" tIns="0" rIns="0" bIns="0" anchor="ctr" anchorCtr="0">
              <a:noAutofit/>
            </a:bodyPr>
            <a:lstStyle/>
            <a:p>
              <a:pPr algn="ctr">
                <a:buClr>
                  <a:srgbClr val="00E5CF"/>
                </a:buClr>
                <a:buSzPts val="1600"/>
              </a:pPr>
              <a:r>
                <a:rPr lang="en-US" sz="2133">
                  <a:solidFill>
                    <a:srgbClr val="00E5CF"/>
                  </a:solidFill>
                  <a:latin typeface="Calibri"/>
                  <a:ea typeface="Calibri"/>
                  <a:cs typeface="Calibri"/>
                  <a:sym typeface="Calibri"/>
                </a:rPr>
                <a:t>→</a:t>
              </a:r>
              <a:endParaRPr sz="2133">
                <a:solidFill>
                  <a:schemeClr val="dk1"/>
                </a:solidFill>
                <a:latin typeface="Calibri"/>
                <a:ea typeface="Calibri"/>
                <a:cs typeface="Calibri"/>
                <a:sym typeface="Calibri"/>
              </a:endParaRPr>
            </a:p>
          </p:txBody>
        </p:sp>
        <p:sp>
          <p:nvSpPr>
            <p:cNvPr id="619" name="Google Shape;619;p14"/>
            <p:cNvSpPr/>
            <p:nvPr/>
          </p:nvSpPr>
          <p:spPr>
            <a:xfrm>
              <a:off x="9777984" y="1158240"/>
              <a:ext cx="2072640" cy="2926080"/>
            </a:xfrm>
            <a:prstGeom prst="rect">
              <a:avLst/>
            </a:prstGeom>
            <a:solidFill>
              <a:srgbClr val="0D2137"/>
            </a:solidFill>
            <a:ln w="9525" cap="flat" cmpd="sng">
              <a:solidFill>
                <a:srgbClr val="1A4060"/>
              </a:solidFill>
              <a:prstDash val="solid"/>
              <a:round/>
              <a:headEnd type="none" w="sm" len="sm"/>
              <a:tailEnd type="none" w="sm" len="sm"/>
            </a:ln>
            <a:effectLst>
              <a:outerShdw blurRad="101600" dist="38100" dir="8100000" algn="bl" rotWithShape="0">
                <a:srgbClr val="000000">
                  <a:alpha val="18039"/>
                </a:srgbClr>
              </a:outerShdw>
            </a:effectLst>
          </p:spPr>
          <p:txBody>
            <a:bodyPr spcFirstLastPara="1" wrap="square" lIns="121900" tIns="121900" rIns="121900" bIns="121900" anchor="ctr" anchorCtr="0">
              <a:noAutofit/>
            </a:bodyPr>
            <a:lstStyle/>
            <a:p>
              <a:endParaRPr sz="2400"/>
            </a:p>
          </p:txBody>
        </p:sp>
        <p:sp>
          <p:nvSpPr>
            <p:cNvPr id="620" name="Google Shape;620;p14"/>
            <p:cNvSpPr/>
            <p:nvPr/>
          </p:nvSpPr>
          <p:spPr>
            <a:xfrm>
              <a:off x="9777984" y="1158240"/>
              <a:ext cx="2072640" cy="85344"/>
            </a:xfrm>
            <a:prstGeom prst="rect">
              <a:avLst/>
            </a:prstGeom>
            <a:solidFill>
              <a:srgbClr val="E67E22"/>
            </a:solidFill>
            <a:ln>
              <a:noFill/>
            </a:ln>
          </p:spPr>
          <p:txBody>
            <a:bodyPr spcFirstLastPara="1" wrap="square" lIns="121900" tIns="121900" rIns="121900" bIns="121900" anchor="ctr" anchorCtr="0">
              <a:noAutofit/>
            </a:bodyPr>
            <a:lstStyle/>
            <a:p>
              <a:endParaRPr sz="2400"/>
            </a:p>
          </p:txBody>
        </p:sp>
        <p:sp>
          <p:nvSpPr>
            <p:cNvPr id="621" name="Google Shape;621;p14"/>
            <p:cNvSpPr/>
            <p:nvPr/>
          </p:nvSpPr>
          <p:spPr>
            <a:xfrm>
              <a:off x="10509504" y="1341120"/>
              <a:ext cx="609600" cy="609600"/>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0000" y="0"/>
                  </a:moveTo>
                  <a:close/>
                  <a:lnTo>
                    <a:pt x="-10000" y="120000"/>
                  </a:lnTo>
                </a:path>
                <a:path w="120000" h="120000" fill="none" extrusionOk="0">
                  <a:moveTo>
                    <a:pt x="-10000" y="22500"/>
                  </a:moveTo>
                  <a:lnTo>
                    <a:pt x="-46000" y="135000"/>
                  </a:lnTo>
                </a:path>
              </a:pathLst>
            </a:custGeom>
            <a:solidFill>
              <a:srgbClr val="E67E22"/>
            </a:solidFill>
            <a:ln>
              <a:noFill/>
            </a:ln>
            <a:effectLst>
              <a:outerShdw blurRad="101600" dist="38100" dir="8100000" algn="bl" rotWithShape="0">
                <a:srgbClr val="000000">
                  <a:alpha val="18039"/>
                </a:srgbClr>
              </a:outerShdw>
            </a:effectLst>
          </p:spPr>
          <p:txBody>
            <a:bodyPr spcFirstLastPara="1" wrap="square" lIns="121900" tIns="121900" rIns="121900" bIns="121900" anchor="ctr" anchorCtr="0">
              <a:noAutofit/>
            </a:bodyPr>
            <a:lstStyle/>
            <a:p>
              <a:endParaRPr sz="2400"/>
            </a:p>
          </p:txBody>
        </p:sp>
        <p:sp>
          <p:nvSpPr>
            <p:cNvPr id="622" name="Google Shape;622;p14"/>
            <p:cNvSpPr/>
            <p:nvPr/>
          </p:nvSpPr>
          <p:spPr>
            <a:xfrm>
              <a:off x="10509504" y="1341120"/>
              <a:ext cx="609600" cy="609600"/>
            </a:xfrm>
            <a:prstGeom prst="rect">
              <a:avLst/>
            </a:prstGeom>
            <a:noFill/>
            <a:ln>
              <a:noFill/>
            </a:ln>
          </p:spPr>
          <p:txBody>
            <a:bodyPr spcFirstLastPara="1" wrap="square" lIns="0" tIns="0" rIns="0" bIns="0" anchor="ctr" anchorCtr="0">
              <a:noAutofit/>
            </a:bodyPr>
            <a:lstStyle/>
            <a:p>
              <a:pPr algn="ctr">
                <a:buClr>
                  <a:srgbClr val="FFFFFF"/>
                </a:buClr>
                <a:buSzPts val="1600"/>
              </a:pPr>
              <a:r>
                <a:rPr lang="en-US" sz="2133" b="1">
                  <a:solidFill>
                    <a:srgbClr val="FFFFFF"/>
                  </a:solidFill>
                  <a:latin typeface="Calibri"/>
                  <a:ea typeface="Calibri"/>
                  <a:cs typeface="Calibri"/>
                  <a:sym typeface="Calibri"/>
                </a:rPr>
                <a:t>5</a:t>
              </a:r>
              <a:endParaRPr sz="2133">
                <a:solidFill>
                  <a:schemeClr val="dk1"/>
                </a:solidFill>
                <a:latin typeface="Calibri"/>
                <a:ea typeface="Calibri"/>
                <a:cs typeface="Calibri"/>
                <a:sym typeface="Calibri"/>
              </a:endParaRPr>
            </a:p>
          </p:txBody>
        </p:sp>
        <p:sp>
          <p:nvSpPr>
            <p:cNvPr id="623" name="Google Shape;623;p14"/>
            <p:cNvSpPr/>
            <p:nvPr/>
          </p:nvSpPr>
          <p:spPr>
            <a:xfrm>
              <a:off x="9777984" y="2097024"/>
              <a:ext cx="2072640" cy="585216"/>
            </a:xfrm>
            <a:prstGeom prst="rect">
              <a:avLst/>
            </a:prstGeom>
            <a:noFill/>
            <a:ln>
              <a:noFill/>
            </a:ln>
          </p:spPr>
          <p:txBody>
            <a:bodyPr spcFirstLastPara="1" wrap="square" lIns="0" tIns="0" rIns="0" bIns="0" anchor="ctr" anchorCtr="0">
              <a:noAutofit/>
            </a:bodyPr>
            <a:lstStyle/>
            <a:p>
              <a:pPr algn="ctr">
                <a:buClr>
                  <a:srgbClr val="FFFFFF"/>
                </a:buClr>
                <a:buSzPts val="1000"/>
              </a:pPr>
              <a:r>
                <a:rPr lang="en-US" sz="1333" b="1">
                  <a:solidFill>
                    <a:srgbClr val="FFFFFF"/>
                  </a:solidFill>
                  <a:latin typeface="Calibri"/>
                  <a:ea typeface="Calibri"/>
                  <a:cs typeface="Calibri"/>
                  <a:sym typeface="Calibri"/>
                </a:rPr>
                <a:t>Multi-Agent</a:t>
              </a:r>
              <a:endParaRPr sz="1333">
                <a:solidFill>
                  <a:schemeClr val="dk1"/>
                </a:solidFill>
                <a:latin typeface="Calibri"/>
                <a:ea typeface="Calibri"/>
                <a:cs typeface="Calibri"/>
                <a:sym typeface="Calibri"/>
              </a:endParaRPr>
            </a:p>
            <a:p>
              <a:pPr algn="ctr">
                <a:buClr>
                  <a:srgbClr val="FFFFFF"/>
                </a:buClr>
                <a:buSzPts val="1000"/>
              </a:pPr>
              <a:r>
                <a:rPr lang="en-US" sz="1333" b="1">
                  <a:solidFill>
                    <a:srgbClr val="FFFFFF"/>
                  </a:solidFill>
                  <a:latin typeface="Calibri"/>
                  <a:ea typeface="Calibri"/>
                  <a:cs typeface="Calibri"/>
                  <a:sym typeface="Calibri"/>
                </a:rPr>
                <a:t>System</a:t>
              </a:r>
              <a:endParaRPr sz="1333">
                <a:solidFill>
                  <a:schemeClr val="dk1"/>
                </a:solidFill>
                <a:latin typeface="Calibri"/>
                <a:ea typeface="Calibri"/>
                <a:cs typeface="Calibri"/>
                <a:sym typeface="Calibri"/>
              </a:endParaRPr>
            </a:p>
          </p:txBody>
        </p:sp>
        <p:sp>
          <p:nvSpPr>
            <p:cNvPr id="624" name="Google Shape;624;p14"/>
            <p:cNvSpPr/>
            <p:nvPr/>
          </p:nvSpPr>
          <p:spPr>
            <a:xfrm>
              <a:off x="9777984" y="2743200"/>
              <a:ext cx="2072640" cy="1158240"/>
            </a:xfrm>
            <a:prstGeom prst="rect">
              <a:avLst/>
            </a:prstGeom>
            <a:noFill/>
            <a:ln>
              <a:noFill/>
            </a:ln>
          </p:spPr>
          <p:txBody>
            <a:bodyPr spcFirstLastPara="1" wrap="square" lIns="0" tIns="0" rIns="0" bIns="0" anchor="ctr" anchorCtr="0">
              <a:noAutofit/>
            </a:bodyPr>
            <a:lstStyle/>
            <a:p>
              <a:pPr algn="ctr">
                <a:buClr>
                  <a:srgbClr val="7BA7BC"/>
                </a:buClr>
                <a:buSzPts val="900"/>
              </a:pPr>
              <a:r>
                <a:rPr lang="en-US" sz="1200">
                  <a:solidFill>
                    <a:srgbClr val="7BA7BC"/>
                  </a:solidFill>
                  <a:latin typeface="Calibri"/>
                  <a:ea typeface="Calibri"/>
                  <a:cs typeface="Calibri"/>
                  <a:sym typeface="Calibri"/>
                </a:rPr>
                <a:t>CrewAI / AutoGen</a:t>
              </a:r>
              <a:endParaRPr sz="1200">
                <a:solidFill>
                  <a:schemeClr val="dk1"/>
                </a:solidFill>
                <a:latin typeface="Calibri"/>
                <a:ea typeface="Calibri"/>
                <a:cs typeface="Calibri"/>
                <a:sym typeface="Calibri"/>
              </a:endParaRPr>
            </a:p>
            <a:p>
              <a:pPr algn="ctr">
                <a:buClr>
                  <a:srgbClr val="7BA7BC"/>
                </a:buClr>
                <a:buSzPts val="900"/>
              </a:pPr>
              <a:r>
                <a:rPr lang="en-US" sz="1200">
                  <a:solidFill>
                    <a:srgbClr val="7BA7BC"/>
                  </a:solidFill>
                  <a:latin typeface="Calibri"/>
                  <a:ea typeface="Calibri"/>
                  <a:cs typeface="Calibri"/>
                  <a:sym typeface="Calibri"/>
                </a:rPr>
                <a:t>Roles especializados</a:t>
              </a:r>
              <a:endParaRPr sz="1200">
                <a:solidFill>
                  <a:schemeClr val="dk1"/>
                </a:solidFill>
                <a:latin typeface="Calibri"/>
                <a:ea typeface="Calibri"/>
                <a:cs typeface="Calibri"/>
                <a:sym typeface="Calibri"/>
              </a:endParaRPr>
            </a:p>
          </p:txBody>
        </p:sp>
        <p:sp>
          <p:nvSpPr>
            <p:cNvPr id="625" name="Google Shape;625;p14"/>
            <p:cNvSpPr/>
            <p:nvPr/>
          </p:nvSpPr>
          <p:spPr>
            <a:xfrm>
              <a:off x="669059" y="4023359"/>
              <a:ext cx="3657600" cy="365761"/>
            </a:xfrm>
            <a:prstGeom prst="rect">
              <a:avLst/>
            </a:prstGeom>
            <a:noFill/>
            <a:ln>
              <a:noFill/>
            </a:ln>
          </p:spPr>
          <p:txBody>
            <a:bodyPr spcFirstLastPara="1" wrap="square" lIns="0" tIns="0" rIns="0" bIns="0" anchor="ctr" anchorCtr="0">
              <a:noAutofit/>
            </a:bodyPr>
            <a:lstStyle/>
            <a:p>
              <a:pPr>
                <a:buClr>
                  <a:srgbClr val="FFFFFF"/>
                </a:buClr>
                <a:buSzPts val="1100"/>
              </a:pPr>
              <a:r>
                <a:rPr lang="en-US" sz="1467" b="1" dirty="0" err="1">
                  <a:solidFill>
                    <a:schemeClr val="bg1"/>
                  </a:solidFill>
                  <a:latin typeface="Calibri"/>
                  <a:ea typeface="Calibri"/>
                  <a:cs typeface="Calibri"/>
                  <a:sym typeface="Calibri"/>
                </a:rPr>
                <a:t>Recursos</a:t>
              </a:r>
              <a:r>
                <a:rPr lang="en-US" sz="1467" b="1" dirty="0">
                  <a:solidFill>
                    <a:schemeClr val="bg1"/>
                  </a:solidFill>
                  <a:latin typeface="Calibri"/>
                  <a:ea typeface="Calibri"/>
                  <a:cs typeface="Calibri"/>
                  <a:sym typeface="Calibri"/>
                </a:rPr>
                <a:t> </a:t>
              </a:r>
              <a:r>
                <a:rPr lang="en-US" sz="1467" b="1" dirty="0" err="1">
                  <a:solidFill>
                    <a:schemeClr val="bg1"/>
                  </a:solidFill>
                  <a:latin typeface="Calibri"/>
                  <a:ea typeface="Calibri"/>
                  <a:cs typeface="Calibri"/>
                  <a:sym typeface="Calibri"/>
                </a:rPr>
                <a:t>Esenciales</a:t>
              </a:r>
              <a:r>
                <a:rPr lang="en-US" sz="1467" b="1" dirty="0">
                  <a:solidFill>
                    <a:schemeClr val="bg1"/>
                  </a:solidFill>
                  <a:latin typeface="Calibri"/>
                  <a:ea typeface="Calibri"/>
                  <a:cs typeface="Calibri"/>
                  <a:sym typeface="Calibri"/>
                </a:rPr>
                <a:t>:</a:t>
              </a:r>
              <a:endParaRPr sz="1467" dirty="0">
                <a:solidFill>
                  <a:schemeClr val="bg1"/>
                </a:solidFill>
                <a:latin typeface="Calibri"/>
                <a:ea typeface="Calibri"/>
                <a:cs typeface="Calibri"/>
                <a:sym typeface="Calibri"/>
              </a:endParaRPr>
            </a:p>
          </p:txBody>
        </p:sp>
        <p:sp>
          <p:nvSpPr>
            <p:cNvPr id="626" name="Google Shape;626;p14"/>
            <p:cNvSpPr/>
            <p:nvPr/>
          </p:nvSpPr>
          <p:spPr>
            <a:xfrm>
              <a:off x="512064" y="4328160"/>
              <a:ext cx="5608320" cy="670560"/>
            </a:xfrm>
            <a:prstGeom prst="rect">
              <a:avLst/>
            </a:prstGeom>
            <a:solidFill>
              <a:srgbClr val="0D2137"/>
            </a:solidFill>
            <a:ln w="9525" cap="flat" cmpd="sng">
              <a:solidFill>
                <a:srgbClr val="1A4060"/>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27" name="Google Shape;627;p14"/>
            <p:cNvSpPr/>
            <p:nvPr/>
          </p:nvSpPr>
          <p:spPr>
            <a:xfrm>
              <a:off x="633984" y="4328160"/>
              <a:ext cx="1463040" cy="670560"/>
            </a:xfrm>
            <a:prstGeom prst="rect">
              <a:avLst/>
            </a:prstGeom>
            <a:noFill/>
            <a:ln>
              <a:noFill/>
            </a:ln>
          </p:spPr>
          <p:txBody>
            <a:bodyPr spcFirstLastPara="1" wrap="square" lIns="67733" tIns="67733" rIns="67733" bIns="67733" anchor="ctr" anchorCtr="0">
              <a:noAutofit/>
            </a:bodyPr>
            <a:lstStyle/>
            <a:p>
              <a:pPr>
                <a:buClr>
                  <a:srgbClr val="00E5CF"/>
                </a:buClr>
                <a:buSzPts val="1000"/>
              </a:pPr>
              <a:r>
                <a:rPr lang="en-US" sz="1333" b="1">
                  <a:solidFill>
                    <a:srgbClr val="00E5CF"/>
                  </a:solidFill>
                  <a:latin typeface="Calibri"/>
                  <a:ea typeface="Calibri"/>
                  <a:cs typeface="Calibri"/>
                  <a:sym typeface="Calibri"/>
                </a:rPr>
                <a:t>📚 Documentación</a:t>
              </a:r>
              <a:endParaRPr sz="1333">
                <a:solidFill>
                  <a:schemeClr val="dk1"/>
                </a:solidFill>
                <a:latin typeface="Calibri"/>
                <a:ea typeface="Calibri"/>
                <a:cs typeface="Calibri"/>
                <a:sym typeface="Calibri"/>
              </a:endParaRPr>
            </a:p>
          </p:txBody>
        </p:sp>
        <p:sp>
          <p:nvSpPr>
            <p:cNvPr id="628" name="Google Shape;628;p14"/>
            <p:cNvSpPr/>
            <p:nvPr/>
          </p:nvSpPr>
          <p:spPr>
            <a:xfrm>
              <a:off x="2097024" y="4328160"/>
              <a:ext cx="3901440" cy="670560"/>
            </a:xfrm>
            <a:prstGeom prst="rect">
              <a:avLst/>
            </a:prstGeom>
            <a:noFill/>
            <a:ln>
              <a:noFill/>
            </a:ln>
          </p:spPr>
          <p:txBody>
            <a:bodyPr spcFirstLastPara="1" wrap="square" lIns="67733" tIns="67733" rIns="67733" bIns="67733" anchor="ctr" anchorCtr="0">
              <a:noAutofit/>
            </a:bodyPr>
            <a:lstStyle/>
            <a:p>
              <a:pPr>
                <a:buClr>
                  <a:srgbClr val="C8E6F0"/>
                </a:buClr>
                <a:buSzPts val="900"/>
              </a:pPr>
              <a:r>
                <a:rPr lang="en-US" sz="1200">
                  <a:solidFill>
                    <a:srgbClr val="C8E6F0"/>
                  </a:solidFill>
                  <a:latin typeface="Calibri"/>
                  <a:ea typeface="Calibri"/>
                  <a:cs typeface="Calibri"/>
                  <a:sym typeface="Calibri"/>
                </a:rPr>
                <a:t>LangChain Docs, Anthropic Docs, OpenAI Cookbook</a:t>
              </a:r>
              <a:endParaRPr sz="1200">
                <a:solidFill>
                  <a:schemeClr val="dk1"/>
                </a:solidFill>
                <a:latin typeface="Calibri"/>
                <a:ea typeface="Calibri"/>
                <a:cs typeface="Calibri"/>
                <a:sym typeface="Calibri"/>
              </a:endParaRPr>
            </a:p>
          </p:txBody>
        </p:sp>
        <p:sp>
          <p:nvSpPr>
            <p:cNvPr id="629" name="Google Shape;629;p14"/>
            <p:cNvSpPr/>
            <p:nvPr/>
          </p:nvSpPr>
          <p:spPr>
            <a:xfrm>
              <a:off x="6364224" y="4328160"/>
              <a:ext cx="5608320" cy="670560"/>
            </a:xfrm>
            <a:prstGeom prst="rect">
              <a:avLst/>
            </a:prstGeom>
            <a:solidFill>
              <a:srgbClr val="0D2137"/>
            </a:solidFill>
            <a:ln w="9525" cap="flat" cmpd="sng">
              <a:solidFill>
                <a:srgbClr val="1A4060"/>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30" name="Google Shape;630;p14"/>
            <p:cNvSpPr/>
            <p:nvPr/>
          </p:nvSpPr>
          <p:spPr>
            <a:xfrm>
              <a:off x="6486144" y="4328160"/>
              <a:ext cx="1463040" cy="670560"/>
            </a:xfrm>
            <a:prstGeom prst="rect">
              <a:avLst/>
            </a:prstGeom>
            <a:noFill/>
            <a:ln>
              <a:noFill/>
            </a:ln>
          </p:spPr>
          <p:txBody>
            <a:bodyPr spcFirstLastPara="1" wrap="square" lIns="67733" tIns="67733" rIns="67733" bIns="67733" anchor="ctr" anchorCtr="0">
              <a:noAutofit/>
            </a:bodyPr>
            <a:lstStyle/>
            <a:p>
              <a:pPr>
                <a:buClr>
                  <a:srgbClr val="00E5CF"/>
                </a:buClr>
                <a:buSzPts val="1000"/>
              </a:pPr>
              <a:r>
                <a:rPr lang="en-US" sz="1333" b="1">
                  <a:solidFill>
                    <a:srgbClr val="00E5CF"/>
                  </a:solidFill>
                  <a:latin typeface="Calibri"/>
                  <a:ea typeface="Calibri"/>
                  <a:cs typeface="Calibri"/>
                  <a:sym typeface="Calibri"/>
                </a:rPr>
                <a:t>🛠️ Frameworks</a:t>
              </a:r>
              <a:endParaRPr sz="1333">
                <a:solidFill>
                  <a:schemeClr val="dk1"/>
                </a:solidFill>
                <a:latin typeface="Calibri"/>
                <a:ea typeface="Calibri"/>
                <a:cs typeface="Calibri"/>
                <a:sym typeface="Calibri"/>
              </a:endParaRPr>
            </a:p>
          </p:txBody>
        </p:sp>
        <p:sp>
          <p:nvSpPr>
            <p:cNvPr id="631" name="Google Shape;631;p14"/>
            <p:cNvSpPr/>
            <p:nvPr/>
          </p:nvSpPr>
          <p:spPr>
            <a:xfrm>
              <a:off x="7949184" y="4328160"/>
              <a:ext cx="3901440" cy="670560"/>
            </a:xfrm>
            <a:prstGeom prst="rect">
              <a:avLst/>
            </a:prstGeom>
            <a:noFill/>
            <a:ln>
              <a:noFill/>
            </a:ln>
          </p:spPr>
          <p:txBody>
            <a:bodyPr spcFirstLastPara="1" wrap="square" lIns="67733" tIns="67733" rIns="67733" bIns="67733" anchor="ctr" anchorCtr="0">
              <a:noAutofit/>
            </a:bodyPr>
            <a:lstStyle/>
            <a:p>
              <a:pPr>
                <a:buClr>
                  <a:srgbClr val="C8E6F0"/>
                </a:buClr>
                <a:buSzPts val="900"/>
              </a:pPr>
              <a:r>
                <a:rPr lang="en-US" sz="1200">
                  <a:solidFill>
                    <a:srgbClr val="C8E6F0"/>
                  </a:solidFill>
                  <a:latin typeface="Calibri"/>
                  <a:ea typeface="Calibri"/>
                  <a:cs typeface="Calibri"/>
                  <a:sym typeface="Calibri"/>
                </a:rPr>
                <a:t>LangGraph, CrewAI, AutoGen, LlamaIndex, Semantic Kernel</a:t>
              </a:r>
              <a:endParaRPr sz="1200">
                <a:solidFill>
                  <a:schemeClr val="dk1"/>
                </a:solidFill>
                <a:latin typeface="Calibri"/>
                <a:ea typeface="Calibri"/>
                <a:cs typeface="Calibri"/>
                <a:sym typeface="Calibri"/>
              </a:endParaRPr>
            </a:p>
          </p:txBody>
        </p:sp>
        <p:sp>
          <p:nvSpPr>
            <p:cNvPr id="632" name="Google Shape;632;p14"/>
            <p:cNvSpPr/>
            <p:nvPr/>
          </p:nvSpPr>
          <p:spPr>
            <a:xfrm>
              <a:off x="512064" y="5084064"/>
              <a:ext cx="5608320" cy="670560"/>
            </a:xfrm>
            <a:prstGeom prst="rect">
              <a:avLst/>
            </a:prstGeom>
            <a:solidFill>
              <a:srgbClr val="0D2137"/>
            </a:solidFill>
            <a:ln w="9525" cap="flat" cmpd="sng">
              <a:solidFill>
                <a:srgbClr val="1A4060"/>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33" name="Google Shape;633;p14"/>
            <p:cNvSpPr/>
            <p:nvPr/>
          </p:nvSpPr>
          <p:spPr>
            <a:xfrm>
              <a:off x="633984" y="5084064"/>
              <a:ext cx="1463040" cy="670560"/>
            </a:xfrm>
            <a:prstGeom prst="rect">
              <a:avLst/>
            </a:prstGeom>
            <a:noFill/>
            <a:ln>
              <a:noFill/>
            </a:ln>
          </p:spPr>
          <p:txBody>
            <a:bodyPr spcFirstLastPara="1" wrap="square" lIns="67733" tIns="67733" rIns="67733" bIns="67733" anchor="ctr" anchorCtr="0">
              <a:noAutofit/>
            </a:bodyPr>
            <a:lstStyle/>
            <a:p>
              <a:pPr>
                <a:buClr>
                  <a:srgbClr val="00E5CF"/>
                </a:buClr>
                <a:buSzPts val="1000"/>
              </a:pPr>
              <a:r>
                <a:rPr lang="en-US" sz="1333" b="1">
                  <a:solidFill>
                    <a:srgbClr val="00E5CF"/>
                  </a:solidFill>
                  <a:latin typeface="Calibri"/>
                  <a:ea typeface="Calibri"/>
                  <a:cs typeface="Calibri"/>
                  <a:sym typeface="Calibri"/>
                </a:rPr>
                <a:t>🎓 Cursos</a:t>
              </a:r>
              <a:endParaRPr sz="1333">
                <a:solidFill>
                  <a:schemeClr val="dk1"/>
                </a:solidFill>
                <a:latin typeface="Calibri"/>
                <a:ea typeface="Calibri"/>
                <a:cs typeface="Calibri"/>
                <a:sym typeface="Calibri"/>
              </a:endParaRPr>
            </a:p>
          </p:txBody>
        </p:sp>
        <p:sp>
          <p:nvSpPr>
            <p:cNvPr id="634" name="Google Shape;634;p14"/>
            <p:cNvSpPr/>
            <p:nvPr/>
          </p:nvSpPr>
          <p:spPr>
            <a:xfrm>
              <a:off x="2097024" y="5084064"/>
              <a:ext cx="3901440" cy="670560"/>
            </a:xfrm>
            <a:prstGeom prst="rect">
              <a:avLst/>
            </a:prstGeom>
            <a:noFill/>
            <a:ln>
              <a:noFill/>
            </a:ln>
          </p:spPr>
          <p:txBody>
            <a:bodyPr spcFirstLastPara="1" wrap="square" lIns="67733" tIns="67733" rIns="67733" bIns="67733" anchor="ctr" anchorCtr="0">
              <a:noAutofit/>
            </a:bodyPr>
            <a:lstStyle/>
            <a:p>
              <a:pPr>
                <a:buClr>
                  <a:srgbClr val="C8E6F0"/>
                </a:buClr>
                <a:buSzPts val="900"/>
              </a:pPr>
              <a:r>
                <a:rPr lang="en-US" sz="1200">
                  <a:solidFill>
                    <a:srgbClr val="C8E6F0"/>
                  </a:solidFill>
                  <a:latin typeface="Calibri"/>
                  <a:ea typeface="Calibri"/>
                  <a:cs typeface="Calibri"/>
                  <a:sym typeface="Calibri"/>
                </a:rPr>
                <a:t>DeepLearning.AI — 'AI Agents in LangGraph', 'Multi AI Agent Systems'</a:t>
              </a:r>
              <a:endParaRPr sz="1200">
                <a:solidFill>
                  <a:schemeClr val="dk1"/>
                </a:solidFill>
                <a:latin typeface="Calibri"/>
                <a:ea typeface="Calibri"/>
                <a:cs typeface="Calibri"/>
                <a:sym typeface="Calibri"/>
              </a:endParaRPr>
            </a:p>
          </p:txBody>
        </p:sp>
        <p:sp>
          <p:nvSpPr>
            <p:cNvPr id="635" name="Google Shape;635;p14"/>
            <p:cNvSpPr/>
            <p:nvPr/>
          </p:nvSpPr>
          <p:spPr>
            <a:xfrm>
              <a:off x="6364224" y="5084064"/>
              <a:ext cx="5608320" cy="670560"/>
            </a:xfrm>
            <a:prstGeom prst="rect">
              <a:avLst/>
            </a:prstGeom>
            <a:solidFill>
              <a:srgbClr val="0D2137"/>
            </a:solidFill>
            <a:ln w="9525" cap="flat" cmpd="sng">
              <a:solidFill>
                <a:srgbClr val="1A4060"/>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36" name="Google Shape;636;p14"/>
            <p:cNvSpPr/>
            <p:nvPr/>
          </p:nvSpPr>
          <p:spPr>
            <a:xfrm>
              <a:off x="6486144" y="5084064"/>
              <a:ext cx="1463040" cy="670560"/>
            </a:xfrm>
            <a:prstGeom prst="rect">
              <a:avLst/>
            </a:prstGeom>
            <a:noFill/>
            <a:ln>
              <a:noFill/>
            </a:ln>
          </p:spPr>
          <p:txBody>
            <a:bodyPr spcFirstLastPara="1" wrap="square" lIns="67733" tIns="67733" rIns="67733" bIns="67733" anchor="ctr" anchorCtr="0">
              <a:noAutofit/>
            </a:bodyPr>
            <a:lstStyle/>
            <a:p>
              <a:pPr>
                <a:buClr>
                  <a:srgbClr val="00E5CF"/>
                </a:buClr>
                <a:buSzPts val="1000"/>
              </a:pPr>
              <a:r>
                <a:rPr lang="en-US" sz="1333" b="1">
                  <a:solidFill>
                    <a:srgbClr val="00E5CF"/>
                  </a:solidFill>
                  <a:latin typeface="Calibri"/>
                  <a:ea typeface="Calibri"/>
                  <a:cs typeface="Calibri"/>
                  <a:sym typeface="Calibri"/>
                </a:rPr>
                <a:t>🧪 Práctica</a:t>
              </a:r>
              <a:endParaRPr sz="1333">
                <a:solidFill>
                  <a:schemeClr val="dk1"/>
                </a:solidFill>
                <a:latin typeface="Calibri"/>
                <a:ea typeface="Calibri"/>
                <a:cs typeface="Calibri"/>
                <a:sym typeface="Calibri"/>
              </a:endParaRPr>
            </a:p>
          </p:txBody>
        </p:sp>
        <p:sp>
          <p:nvSpPr>
            <p:cNvPr id="637" name="Google Shape;637;p14"/>
            <p:cNvSpPr/>
            <p:nvPr/>
          </p:nvSpPr>
          <p:spPr>
            <a:xfrm>
              <a:off x="7949184" y="5084064"/>
              <a:ext cx="3901440" cy="670560"/>
            </a:xfrm>
            <a:prstGeom prst="rect">
              <a:avLst/>
            </a:prstGeom>
            <a:noFill/>
            <a:ln>
              <a:noFill/>
            </a:ln>
          </p:spPr>
          <p:txBody>
            <a:bodyPr spcFirstLastPara="1" wrap="square" lIns="67733" tIns="67733" rIns="67733" bIns="67733" anchor="ctr" anchorCtr="0">
              <a:noAutofit/>
            </a:bodyPr>
            <a:lstStyle/>
            <a:p>
              <a:pPr>
                <a:buClr>
                  <a:srgbClr val="C8E6F0"/>
                </a:buClr>
                <a:buSzPts val="900"/>
              </a:pPr>
              <a:r>
                <a:rPr lang="en-US" sz="1200">
                  <a:solidFill>
                    <a:srgbClr val="C8E6F0"/>
                  </a:solidFill>
                  <a:latin typeface="Calibri"/>
                  <a:ea typeface="Calibri"/>
                  <a:cs typeface="Calibri"/>
                  <a:sym typeface="Calibri"/>
                </a:rPr>
                <a:t>Construye un agente de análisis de datos sobre tus propios datasets</a:t>
              </a:r>
              <a:endParaRPr sz="1200">
                <a:solidFill>
                  <a:schemeClr val="dk1"/>
                </a:solidFill>
                <a:latin typeface="Calibri"/>
                <a:ea typeface="Calibri"/>
                <a:cs typeface="Calibri"/>
                <a:sym typeface="Calibri"/>
              </a:endParaRPr>
            </a:p>
          </p:txBody>
        </p:sp>
      </p:grpSp>
      <p:sp>
        <p:nvSpPr>
          <p:cNvPr id="639" name="Google Shape;639;p14"/>
          <p:cNvSpPr/>
          <p:nvPr/>
        </p:nvSpPr>
        <p:spPr>
          <a:xfrm>
            <a:off x="512064" y="5937504"/>
            <a:ext cx="10972800" cy="390144"/>
          </a:xfrm>
          <a:prstGeom prst="rect">
            <a:avLst/>
          </a:prstGeom>
          <a:noFill/>
          <a:ln>
            <a:noFill/>
          </a:ln>
        </p:spPr>
        <p:txBody>
          <a:bodyPr spcFirstLastPara="1" wrap="square" lIns="0" tIns="0" rIns="0" bIns="0" anchor="ctr" anchorCtr="0">
            <a:noAutofit/>
          </a:bodyPr>
          <a:lstStyle/>
          <a:p>
            <a:pPr>
              <a:buClr>
                <a:srgbClr val="7BA7BC"/>
              </a:buClr>
              <a:buSzPts val="900"/>
            </a:pPr>
            <a:r>
              <a:rPr lang="en-US" sz="1200" i="1">
                <a:solidFill>
                  <a:srgbClr val="7BA7BC"/>
                </a:solidFill>
                <a:latin typeface="Calibri"/>
                <a:ea typeface="Calibri"/>
                <a:cs typeface="Calibri"/>
                <a:sym typeface="Calibri"/>
              </a:rPr>
              <a:t>Roadmap — Data Scientist → Agent Builder</a:t>
            </a:r>
            <a:endParaRPr sz="12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1645920"/>
            <a:ext cx="10972800" cy="685800"/>
          </a:xfrm>
        </p:spPr>
        <p:txBody>
          <a:bodyPr/>
          <a:lstStyle/>
          <a:p>
            <a:r>
              <a:rPr sz="3000">
                <a:solidFill>
                  <a:srgbClr val="182A46"/>
                </a:solidFill>
              </a:rPr>
              <a:t>Del chatbot al sistema multiagente</a:t>
            </a:r>
          </a:p>
        </p:txBody>
      </p:sp>
      <p:sp>
        <p:nvSpPr>
          <p:cNvPr id="3" name="Rounded Rectangle 2"/>
          <p:cNvSpPr/>
          <p:nvPr/>
        </p:nvSpPr>
        <p:spPr>
          <a:xfrm>
            <a:off x="594360" y="3200400"/>
            <a:ext cx="1920240" cy="1554480"/>
          </a:xfrm>
          <a:prstGeom prst="roundRect">
            <a:avLst>
              <a:gd name="adj" fmla="val 7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l">
              <a:spcAft>
                <a:spcPts val="400"/>
              </a:spcAft>
            </a:pPr>
            <a:r>
              <a:rPr sz="1800" b="1">
                <a:solidFill>
                  <a:srgbClr val="182A46"/>
                </a:solidFill>
              </a:rPr>
              <a:t>Usuario</a:t>
            </a:r>
          </a:p>
          <a:p>
            <a:pPr algn="l">
              <a:spcAft>
                <a:spcPts val="400"/>
              </a:spcAft>
            </a:pPr>
            <a:r>
              <a:rPr sz="1400" b="0">
                <a:solidFill>
                  <a:srgbClr val="182A46"/>
                </a:solidFill>
              </a:rPr>
              <a:t>App móvil / Telegram</a:t>
            </a:r>
          </a:p>
        </p:txBody>
      </p:sp>
      <p:sp>
        <p:nvSpPr>
          <p:cNvPr id="4" name="Right Arrow 3"/>
          <p:cNvSpPr/>
          <p:nvPr/>
        </p:nvSpPr>
        <p:spPr>
          <a:xfrm>
            <a:off x="2606040" y="3794760"/>
            <a:ext cx="320040" cy="274320"/>
          </a:xfrm>
          <a:prstGeom prst="rightArrow">
            <a:avLst/>
          </a:prstGeom>
          <a:solidFill>
            <a:srgbClr val="2A9DD6"/>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ctr"/>
            <a:endParaRPr/>
          </a:p>
        </p:txBody>
      </p:sp>
      <p:sp>
        <p:nvSpPr>
          <p:cNvPr id="5" name="Rounded Rectangle 4"/>
          <p:cNvSpPr/>
          <p:nvPr/>
        </p:nvSpPr>
        <p:spPr>
          <a:xfrm>
            <a:off x="3017520" y="2651760"/>
            <a:ext cx="2468880" cy="2651760"/>
          </a:xfrm>
          <a:prstGeom prst="roundRect">
            <a:avLst>
              <a:gd name="adj" fmla="val 7000"/>
            </a:avLst>
          </a:prstGeom>
          <a:solidFill>
            <a:srgbClr val="182A46"/>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l">
              <a:spcAft>
                <a:spcPts val="400"/>
              </a:spcAft>
            </a:pPr>
            <a:r>
              <a:rPr sz="1800" b="1">
                <a:solidFill>
                  <a:srgbClr val="FFFFFF"/>
                </a:solidFill>
              </a:rPr>
              <a:t>Agente orquestador</a:t>
            </a:r>
          </a:p>
          <a:p>
            <a:pPr algn="l">
              <a:spcAft>
                <a:spcPts val="400"/>
              </a:spcAft>
            </a:pPr>
            <a:r>
              <a:rPr sz="1400" b="0">
                <a:solidFill>
                  <a:srgbClr val="FFFFFF"/>
                </a:solidFill>
              </a:rPr>
              <a:t>Interpreta la intención y decide a quién delegar</a:t>
            </a:r>
          </a:p>
        </p:txBody>
      </p:sp>
      <p:sp>
        <p:nvSpPr>
          <p:cNvPr id="6" name="Right Arrow 5"/>
          <p:cNvSpPr/>
          <p:nvPr/>
        </p:nvSpPr>
        <p:spPr>
          <a:xfrm>
            <a:off x="5577840" y="3794760"/>
            <a:ext cx="320040" cy="274320"/>
          </a:xfrm>
          <a:prstGeom prst="rightArrow">
            <a:avLst/>
          </a:prstGeom>
          <a:solidFill>
            <a:srgbClr val="2A9DD6"/>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ctr"/>
            <a:endParaRPr/>
          </a:p>
        </p:txBody>
      </p:sp>
      <p:sp>
        <p:nvSpPr>
          <p:cNvPr id="7" name="Rounded Rectangle 6"/>
          <p:cNvSpPr/>
          <p:nvPr/>
        </p:nvSpPr>
        <p:spPr>
          <a:xfrm>
            <a:off x="5989320" y="2560320"/>
            <a:ext cx="2926080" cy="914400"/>
          </a:xfrm>
          <a:prstGeom prst="roundRect">
            <a:avLst>
              <a:gd name="adj" fmla="val 7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l">
              <a:spcAft>
                <a:spcPts val="400"/>
              </a:spcAft>
            </a:pPr>
            <a:r>
              <a:rPr sz="1600" b="1">
                <a:solidFill>
                  <a:srgbClr val="182A46"/>
                </a:solidFill>
              </a:rPr>
              <a:t>Agente RAG</a:t>
            </a:r>
          </a:p>
          <a:p>
            <a:pPr algn="l">
              <a:spcAft>
                <a:spcPts val="400"/>
              </a:spcAft>
            </a:pPr>
            <a:r>
              <a:rPr sz="1400" b="0">
                <a:solidFill>
                  <a:srgbClr val="182A46"/>
                </a:solidFill>
              </a:rPr>
              <a:t>Conocimiento en documentos</a:t>
            </a:r>
          </a:p>
        </p:txBody>
      </p:sp>
      <p:sp>
        <p:nvSpPr>
          <p:cNvPr id="8" name="Rounded Rectangle 7"/>
          <p:cNvSpPr/>
          <p:nvPr/>
        </p:nvSpPr>
        <p:spPr>
          <a:xfrm>
            <a:off x="5989320" y="3584448"/>
            <a:ext cx="2926080" cy="914400"/>
          </a:xfrm>
          <a:prstGeom prst="roundRect">
            <a:avLst>
              <a:gd name="adj" fmla="val 7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l">
              <a:spcAft>
                <a:spcPts val="400"/>
              </a:spcAft>
            </a:pPr>
            <a:r>
              <a:rPr sz="1600" b="1">
                <a:solidFill>
                  <a:srgbClr val="182A46"/>
                </a:solidFill>
              </a:rPr>
              <a:t>Agente SQL</a:t>
            </a:r>
          </a:p>
          <a:p>
            <a:pPr algn="l">
              <a:spcAft>
                <a:spcPts val="400"/>
              </a:spcAft>
            </a:pPr>
            <a:r>
              <a:rPr sz="1400" b="0">
                <a:solidFill>
                  <a:srgbClr val="182A46"/>
                </a:solidFill>
              </a:rPr>
              <a:t>Datos del estudiante</a:t>
            </a:r>
          </a:p>
        </p:txBody>
      </p:sp>
      <p:sp>
        <p:nvSpPr>
          <p:cNvPr id="9" name="Rounded Rectangle 8"/>
          <p:cNvSpPr/>
          <p:nvPr/>
        </p:nvSpPr>
        <p:spPr>
          <a:xfrm>
            <a:off x="5989320" y="4608576"/>
            <a:ext cx="2926080" cy="914400"/>
          </a:xfrm>
          <a:prstGeom prst="roundRect">
            <a:avLst>
              <a:gd name="adj" fmla="val 7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l">
              <a:spcAft>
                <a:spcPts val="400"/>
              </a:spcAft>
            </a:pPr>
            <a:r>
              <a:rPr sz="1600" b="1">
                <a:solidFill>
                  <a:srgbClr val="182A46"/>
                </a:solidFill>
              </a:rPr>
              <a:t>Agente solicitudes</a:t>
            </a:r>
          </a:p>
          <a:p>
            <a:pPr algn="l">
              <a:spcAft>
                <a:spcPts val="400"/>
              </a:spcAft>
            </a:pPr>
            <a:r>
              <a:rPr sz="1400" b="0">
                <a:solidFill>
                  <a:srgbClr val="182A46"/>
                </a:solidFill>
              </a:rPr>
              <a:t>Registro en Google Sheets</a:t>
            </a:r>
          </a:p>
        </p:txBody>
      </p:sp>
      <p:sp>
        <p:nvSpPr>
          <p:cNvPr id="10" name="Right Arrow 9"/>
          <p:cNvSpPr/>
          <p:nvPr/>
        </p:nvSpPr>
        <p:spPr>
          <a:xfrm>
            <a:off x="9006840" y="3794760"/>
            <a:ext cx="320040" cy="274320"/>
          </a:xfrm>
          <a:prstGeom prst="rightArrow">
            <a:avLst/>
          </a:prstGeom>
          <a:solidFill>
            <a:srgbClr val="2A9DD6"/>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ctr"/>
            <a:endParaRPr/>
          </a:p>
        </p:txBody>
      </p:sp>
      <p:sp>
        <p:nvSpPr>
          <p:cNvPr id="11" name="Rounded Rectangle 10"/>
          <p:cNvSpPr/>
          <p:nvPr/>
        </p:nvSpPr>
        <p:spPr>
          <a:xfrm>
            <a:off x="9418320" y="3200400"/>
            <a:ext cx="2148840" cy="1554480"/>
          </a:xfrm>
          <a:prstGeom prst="roundRect">
            <a:avLst>
              <a:gd name="adj" fmla="val 7000"/>
            </a:avLst>
          </a:prstGeom>
          <a:solidFill>
            <a:srgbClr val="2A9DD6"/>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l">
              <a:spcAft>
                <a:spcPts val="400"/>
              </a:spcAft>
            </a:pPr>
            <a:r>
              <a:rPr sz="1800" b="1">
                <a:solidFill>
                  <a:srgbClr val="FFFFFF"/>
                </a:solidFill>
              </a:rPr>
              <a:t>Respuesta</a:t>
            </a:r>
          </a:p>
          <a:p>
            <a:pPr algn="l">
              <a:spcAft>
                <a:spcPts val="400"/>
              </a:spcAft>
            </a:pPr>
            <a:r>
              <a:rPr sz="1400" b="0">
                <a:solidFill>
                  <a:srgbClr val="FFFFFF"/>
                </a:solidFill>
              </a:rPr>
              <a:t>al usuario en el móvil</a:t>
            </a:r>
          </a:p>
        </p:txBody>
      </p:sp>
      <p:sp>
        <p:nvSpPr>
          <p:cNvPr id="13" name="CuadroTexto 12">
            <a:extLst>
              <a:ext uri="{FF2B5EF4-FFF2-40B4-BE49-F238E27FC236}">
                <a16:creationId xmlns:a16="http://schemas.microsoft.com/office/drawing/2014/main" id="{235CEBD2-61C7-92AB-0C67-123CBA4F567D}"/>
              </a:ext>
            </a:extLst>
          </p:cNvPr>
          <p:cNvSpPr txBox="1"/>
          <p:nvPr/>
        </p:nvSpPr>
        <p:spPr>
          <a:xfrm>
            <a:off x="3048953" y="3244334"/>
            <a:ext cx="6097904" cy="369332"/>
          </a:xfrm>
          <a:prstGeom prst="rect">
            <a:avLst/>
          </a:prstGeom>
          <a:noFill/>
        </p:spPr>
        <p:txBody>
          <a:bodyPr wrap="square">
            <a:spAutoFit/>
          </a:bodyPr>
          <a:lstStyle/>
          <a:p>
            <a:r>
              <a:rPr lang="es-CO" b="0" dirty="0">
                <a:effectLst/>
              </a:rPr>
              <a:t> </a:t>
            </a:r>
            <a:endParaRPr lang="es-CO" dirty="0"/>
          </a:p>
        </p:txBody>
      </p:sp>
      <p:sp>
        <p:nvSpPr>
          <p:cNvPr id="15" name="CuadroTexto 14">
            <a:extLst>
              <a:ext uri="{FF2B5EF4-FFF2-40B4-BE49-F238E27FC236}">
                <a16:creationId xmlns:a16="http://schemas.microsoft.com/office/drawing/2014/main" id="{FE03AD80-6D7A-D0F4-7A64-2C8216F7D1AF}"/>
              </a:ext>
            </a:extLst>
          </p:cNvPr>
          <p:cNvSpPr txBox="1"/>
          <p:nvPr/>
        </p:nvSpPr>
        <p:spPr>
          <a:xfrm>
            <a:off x="3048953" y="3244334"/>
            <a:ext cx="6097904" cy="369332"/>
          </a:xfrm>
          <a:prstGeom prst="rect">
            <a:avLst/>
          </a:prstGeom>
          <a:noFill/>
        </p:spPr>
        <p:txBody>
          <a:bodyPr wrap="square">
            <a:spAutoFit/>
          </a:bodyPr>
          <a:lstStyle/>
          <a:p>
            <a:r>
              <a:rPr lang="es-CO" b="0" dirty="0">
                <a:effectLst/>
              </a:rPr>
              <a:t> </a:t>
            </a:r>
            <a:endParaRPr lang="es-CO"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A336304B-4657-9393-4BB8-3CB4B6309EFC}"/>
              </a:ext>
            </a:extLst>
          </p:cNvPr>
          <p:cNvSpPr txBox="1"/>
          <p:nvPr/>
        </p:nvSpPr>
        <p:spPr>
          <a:xfrm>
            <a:off x="800100" y="560070"/>
            <a:ext cx="2643672" cy="830997"/>
          </a:xfrm>
          <a:prstGeom prst="rect">
            <a:avLst/>
          </a:prstGeom>
          <a:noFill/>
        </p:spPr>
        <p:txBody>
          <a:bodyPr wrap="none" rtlCol="0">
            <a:spAutoFit/>
          </a:bodyPr>
          <a:lstStyle/>
          <a:p>
            <a:r>
              <a:rPr lang="es-ES" sz="4800" dirty="0"/>
              <a:t>TALLER 1</a:t>
            </a:r>
            <a:endParaRPr lang="es-CO" sz="4800" dirty="0"/>
          </a:p>
        </p:txBody>
      </p:sp>
      <p:sp>
        <p:nvSpPr>
          <p:cNvPr id="4" name="CuadroTexto 3">
            <a:extLst>
              <a:ext uri="{FF2B5EF4-FFF2-40B4-BE49-F238E27FC236}">
                <a16:creationId xmlns:a16="http://schemas.microsoft.com/office/drawing/2014/main" id="{5E23F3E4-50BF-FB0E-A151-AABA614A33B6}"/>
              </a:ext>
            </a:extLst>
          </p:cNvPr>
          <p:cNvSpPr txBox="1"/>
          <p:nvPr/>
        </p:nvSpPr>
        <p:spPr>
          <a:xfrm>
            <a:off x="3863339" y="560070"/>
            <a:ext cx="5272087" cy="964367"/>
          </a:xfrm>
          <a:prstGeom prst="rect">
            <a:avLst/>
          </a:prstGeom>
          <a:noFill/>
        </p:spPr>
        <p:txBody>
          <a:bodyPr wrap="square">
            <a:spAutoFit/>
          </a:bodyPr>
          <a:lstStyle/>
          <a:p>
            <a:pPr algn="l">
              <a:lnSpc>
                <a:spcPts val="2310"/>
              </a:lnSpc>
            </a:pPr>
            <a:r>
              <a:rPr lang="es-ES" sz="1800" b="0" i="0" u="none" dirty="0">
                <a:latin typeface="Plus Jakarta Sans"/>
              </a:rPr>
              <a:t>Aprende a conectar un modelo de lenguaje con herramientas externas en tiempo real sin escribir código complejo.</a:t>
            </a:r>
          </a:p>
        </p:txBody>
      </p:sp>
    </p:spTree>
    <p:extLst>
      <p:ext uri="{BB962C8B-B14F-4D97-AF65-F5344CB8AC3E}">
        <p14:creationId xmlns:p14="http://schemas.microsoft.com/office/powerpoint/2010/main" val="9606522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609600" y="457200"/>
            <a:ext cx="2376487" cy="285750"/>
          </a:xfrm>
          <a:prstGeom prst="roundRect">
            <a:avLst>
              <a:gd name="adj" fmla="val 20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09600" y="3040409"/>
            <a:ext cx="2600325" cy="2116187"/>
          </a:xfrm>
          <a:prstGeom prst="roundRect">
            <a:avLst>
              <a:gd name="adj" fmla="val 5401"/>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3400425" y="3040409"/>
            <a:ext cx="2600325" cy="2116187"/>
          </a:xfrm>
          <a:prstGeom prst="roundRect">
            <a:avLst>
              <a:gd name="adj" fmla="val 5401"/>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191250" y="3040409"/>
            <a:ext cx="2600325" cy="2116187"/>
          </a:xfrm>
          <a:prstGeom prst="roundRect">
            <a:avLst>
              <a:gd name="adj" fmla="val 5401"/>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8982075" y="3040409"/>
            <a:ext cx="2600325" cy="2116187"/>
          </a:xfrm>
          <a:prstGeom prst="roundRect">
            <a:avLst>
              <a:gd name="adj" fmla="val 5401"/>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image.png"/>
          <p:cNvPicPr>
            <a:picLocks noChangeAspect="1"/>
          </p:cNvPicPr>
          <p:nvPr/>
        </p:nvPicPr>
        <p:blipFill>
          <a:blip r:embed="rId2"/>
          <a:stretch>
            <a:fillRect/>
          </a:stretch>
        </p:blipFill>
        <p:spPr>
          <a:xfrm>
            <a:off x="885825" y="3316634"/>
            <a:ext cx="457200" cy="457200"/>
          </a:xfrm>
          <a:prstGeom prst="rect">
            <a:avLst/>
          </a:prstGeom>
        </p:spPr>
      </p:pic>
      <p:pic>
        <p:nvPicPr>
          <p:cNvPr id="8" name="Picture 7" descr="image.png"/>
          <p:cNvPicPr>
            <a:picLocks noChangeAspect="1"/>
          </p:cNvPicPr>
          <p:nvPr/>
        </p:nvPicPr>
        <p:blipFill>
          <a:blip r:embed="rId3"/>
          <a:stretch>
            <a:fillRect/>
          </a:stretch>
        </p:blipFill>
        <p:spPr>
          <a:xfrm>
            <a:off x="3676650" y="3316634"/>
            <a:ext cx="457200" cy="457200"/>
          </a:xfrm>
          <a:prstGeom prst="rect">
            <a:avLst/>
          </a:prstGeom>
        </p:spPr>
      </p:pic>
      <p:pic>
        <p:nvPicPr>
          <p:cNvPr id="9" name="Picture 8" descr="image.png"/>
          <p:cNvPicPr>
            <a:picLocks noChangeAspect="1"/>
          </p:cNvPicPr>
          <p:nvPr/>
        </p:nvPicPr>
        <p:blipFill>
          <a:blip r:embed="rId4"/>
          <a:stretch>
            <a:fillRect/>
          </a:stretch>
        </p:blipFill>
        <p:spPr>
          <a:xfrm>
            <a:off x="6467475" y="3316634"/>
            <a:ext cx="457200" cy="457200"/>
          </a:xfrm>
          <a:prstGeom prst="rect">
            <a:avLst/>
          </a:prstGeom>
        </p:spPr>
      </p:pic>
      <p:pic>
        <p:nvPicPr>
          <p:cNvPr id="10" name="Picture 9" descr="image.png"/>
          <p:cNvPicPr>
            <a:picLocks noChangeAspect="1"/>
          </p:cNvPicPr>
          <p:nvPr/>
        </p:nvPicPr>
        <p:blipFill>
          <a:blip r:embed="rId5"/>
          <a:stretch>
            <a:fillRect/>
          </a:stretch>
        </p:blipFill>
        <p:spPr>
          <a:xfrm>
            <a:off x="9258300" y="3316634"/>
            <a:ext cx="457200" cy="457200"/>
          </a:xfrm>
          <a:prstGeom prst="rect">
            <a:avLst/>
          </a:prstGeom>
        </p:spPr>
      </p:pic>
      <p:pic>
        <p:nvPicPr>
          <p:cNvPr id="11" name="Picture 10" descr="image.png"/>
          <p:cNvPicPr>
            <a:picLocks noChangeAspect="1"/>
          </p:cNvPicPr>
          <p:nvPr/>
        </p:nvPicPr>
        <p:blipFill>
          <a:blip r:embed="rId6"/>
          <a:stretch>
            <a:fillRect/>
          </a:stretch>
        </p:blipFill>
        <p:spPr>
          <a:xfrm>
            <a:off x="981075" y="3440459"/>
            <a:ext cx="266700" cy="209550"/>
          </a:xfrm>
          <a:prstGeom prst="rect">
            <a:avLst/>
          </a:prstGeom>
        </p:spPr>
      </p:pic>
      <p:pic>
        <p:nvPicPr>
          <p:cNvPr id="12" name="Picture 11" descr="image.png"/>
          <p:cNvPicPr>
            <a:picLocks noChangeAspect="1"/>
          </p:cNvPicPr>
          <p:nvPr/>
        </p:nvPicPr>
        <p:blipFill>
          <a:blip r:embed="rId7"/>
          <a:stretch>
            <a:fillRect/>
          </a:stretch>
        </p:blipFill>
        <p:spPr>
          <a:xfrm>
            <a:off x="3800475" y="3440459"/>
            <a:ext cx="209550" cy="209550"/>
          </a:xfrm>
          <a:prstGeom prst="rect">
            <a:avLst/>
          </a:prstGeom>
        </p:spPr>
      </p:pic>
      <p:pic>
        <p:nvPicPr>
          <p:cNvPr id="13" name="Picture 12" descr="image.png"/>
          <p:cNvPicPr>
            <a:picLocks noChangeAspect="1"/>
          </p:cNvPicPr>
          <p:nvPr/>
        </p:nvPicPr>
        <p:blipFill>
          <a:blip r:embed="rId8"/>
          <a:stretch>
            <a:fillRect/>
          </a:stretch>
        </p:blipFill>
        <p:spPr>
          <a:xfrm>
            <a:off x="6577012" y="3440459"/>
            <a:ext cx="238125" cy="209550"/>
          </a:xfrm>
          <a:prstGeom prst="rect">
            <a:avLst/>
          </a:prstGeom>
        </p:spPr>
      </p:pic>
      <p:pic>
        <p:nvPicPr>
          <p:cNvPr id="14" name="Picture 13" descr="image.png"/>
          <p:cNvPicPr>
            <a:picLocks noChangeAspect="1"/>
          </p:cNvPicPr>
          <p:nvPr/>
        </p:nvPicPr>
        <p:blipFill>
          <a:blip r:embed="rId9"/>
          <a:stretch>
            <a:fillRect/>
          </a:stretch>
        </p:blipFill>
        <p:spPr>
          <a:xfrm>
            <a:off x="9353550" y="3440459"/>
            <a:ext cx="266700" cy="209550"/>
          </a:xfrm>
          <a:prstGeom prst="rect">
            <a:avLst/>
          </a:prstGeom>
        </p:spPr>
      </p:pic>
      <p:sp>
        <p:nvSpPr>
          <p:cNvPr id="15" name="TextBox 14"/>
          <p:cNvSpPr txBox="1"/>
          <p:nvPr/>
        </p:nvSpPr>
        <p:spPr>
          <a:xfrm>
            <a:off x="742950" y="514350"/>
            <a:ext cx="2205037" cy="171450"/>
          </a:xfrm>
          <a:prstGeom prst="rect">
            <a:avLst/>
          </a:prstGeom>
          <a:noFill/>
        </p:spPr>
        <p:txBody>
          <a:bodyPr wrap="square" lIns="0" tIns="0" rIns="0" bIns="0" anchor="t">
            <a:spAutoFit/>
          </a:bodyPr>
          <a:lstStyle/>
          <a:p>
            <a:pPr algn="l"/>
            <a:r>
              <a:rPr sz="1050" b="1" i="0" u="none">
                <a:solidFill>
                  <a:srgbClr val="0284C7"/>
                </a:solidFill>
                <a:latin typeface="Space Grotesk"/>
              </a:rPr>
              <a:t>COMPONENTES DEL SISTEMA</a:t>
            </a:r>
          </a:p>
        </p:txBody>
      </p:sp>
      <p:sp>
        <p:nvSpPr>
          <p:cNvPr id="16" name="TextBox 15"/>
          <p:cNvSpPr txBox="1"/>
          <p:nvPr/>
        </p:nvSpPr>
        <p:spPr>
          <a:xfrm>
            <a:off x="609600" y="895350"/>
            <a:ext cx="11582400" cy="481905"/>
          </a:xfrm>
          <a:prstGeom prst="rect">
            <a:avLst/>
          </a:prstGeom>
          <a:noFill/>
        </p:spPr>
        <p:txBody>
          <a:bodyPr wrap="none" lIns="0" tIns="0" rIns="0" bIns="0" anchor="t">
            <a:spAutoFit/>
          </a:bodyPr>
          <a:lstStyle/>
          <a:p>
            <a:pPr algn="l">
              <a:lnSpc>
                <a:spcPts val="3795"/>
              </a:lnSpc>
            </a:pPr>
            <a:r>
              <a:rPr sz="3300" b="1" i="0" u="none">
                <a:solidFill>
                  <a:srgbClr val="0F172A"/>
                </a:solidFill>
                <a:latin typeface="Plus Jakarta Sans"/>
              </a:rPr>
              <a:t>¿Cómo Funciona el Agente?</a:t>
            </a:r>
          </a:p>
        </p:txBody>
      </p:sp>
      <p:sp>
        <p:nvSpPr>
          <p:cNvPr id="17" name="TextBox 16"/>
          <p:cNvSpPr txBox="1"/>
          <p:nvPr/>
        </p:nvSpPr>
        <p:spPr>
          <a:xfrm>
            <a:off x="885825" y="3926234"/>
            <a:ext cx="2687835" cy="238125"/>
          </a:xfrm>
          <a:prstGeom prst="rect">
            <a:avLst/>
          </a:prstGeom>
          <a:noFill/>
        </p:spPr>
        <p:txBody>
          <a:bodyPr wrap="none" lIns="0" tIns="0" rIns="0" bIns="0" anchor="t">
            <a:spAutoFit/>
          </a:bodyPr>
          <a:lstStyle/>
          <a:p>
            <a:pPr algn="l"/>
            <a:r>
              <a:rPr sz="1500" b="1" i="0" u="none">
                <a:solidFill>
                  <a:srgbClr val="0F172A"/>
                </a:solidFill>
                <a:latin typeface="Plus Jakarta Sans"/>
              </a:rPr>
              <a:t>1. Trigger Chat</a:t>
            </a:r>
          </a:p>
        </p:txBody>
      </p:sp>
      <p:sp>
        <p:nvSpPr>
          <p:cNvPr id="18" name="TextBox 17"/>
          <p:cNvSpPr txBox="1"/>
          <p:nvPr/>
        </p:nvSpPr>
        <p:spPr>
          <a:xfrm>
            <a:off x="885825" y="4240559"/>
            <a:ext cx="2143125" cy="639812"/>
          </a:xfrm>
          <a:prstGeom prst="rect">
            <a:avLst/>
          </a:prstGeom>
          <a:noFill/>
        </p:spPr>
        <p:txBody>
          <a:bodyPr wrap="square" lIns="0" tIns="0" rIns="0" bIns="0" anchor="t">
            <a:spAutoFit/>
          </a:bodyPr>
          <a:lstStyle/>
          <a:p>
            <a:pPr algn="l">
              <a:lnSpc>
                <a:spcPts val="1679"/>
              </a:lnSpc>
            </a:pPr>
            <a:r>
              <a:rPr sz="1200" b="0" i="0" u="none">
                <a:solidFill>
                  <a:srgbClr val="64748B"/>
                </a:solidFill>
                <a:latin typeface="Plus Jakarta Sans"/>
              </a:rPr>
              <a:t>Interfaz de usuario que recibe las preguntas en tiempo real.</a:t>
            </a:r>
          </a:p>
        </p:txBody>
      </p:sp>
      <p:sp>
        <p:nvSpPr>
          <p:cNvPr id="19" name="TextBox 18"/>
          <p:cNvSpPr txBox="1"/>
          <p:nvPr/>
        </p:nvSpPr>
        <p:spPr>
          <a:xfrm>
            <a:off x="3676650" y="3926234"/>
            <a:ext cx="2687835" cy="238125"/>
          </a:xfrm>
          <a:prstGeom prst="rect">
            <a:avLst/>
          </a:prstGeom>
          <a:noFill/>
        </p:spPr>
        <p:txBody>
          <a:bodyPr wrap="none" lIns="0" tIns="0" rIns="0" bIns="0" anchor="t">
            <a:spAutoFit/>
          </a:bodyPr>
          <a:lstStyle/>
          <a:p>
            <a:pPr algn="l"/>
            <a:r>
              <a:rPr sz="1500" b="1" i="0" u="none">
                <a:solidFill>
                  <a:srgbClr val="0F172A"/>
                </a:solidFill>
                <a:latin typeface="Plus Jakarta Sans"/>
              </a:rPr>
              <a:t>2. AI Agent Core</a:t>
            </a:r>
          </a:p>
        </p:txBody>
      </p:sp>
      <p:sp>
        <p:nvSpPr>
          <p:cNvPr id="20" name="TextBox 19"/>
          <p:cNvSpPr txBox="1"/>
          <p:nvPr/>
        </p:nvSpPr>
        <p:spPr>
          <a:xfrm>
            <a:off x="3676650" y="4240559"/>
            <a:ext cx="2143125" cy="639812"/>
          </a:xfrm>
          <a:prstGeom prst="rect">
            <a:avLst/>
          </a:prstGeom>
          <a:noFill/>
        </p:spPr>
        <p:txBody>
          <a:bodyPr wrap="square" lIns="0" tIns="0" rIns="0" bIns="0" anchor="t">
            <a:spAutoFit/>
          </a:bodyPr>
          <a:lstStyle/>
          <a:p>
            <a:pPr algn="l">
              <a:lnSpc>
                <a:spcPts val="1679"/>
              </a:lnSpc>
            </a:pPr>
            <a:r>
              <a:rPr sz="1200" b="0" i="0" u="none">
                <a:solidFill>
                  <a:srgbClr val="64748B"/>
                </a:solidFill>
                <a:latin typeface="Plus Jakarta Sans"/>
              </a:rPr>
              <a:t>Toma de decisiones mediante el prompt del sistema y LLM.</a:t>
            </a:r>
          </a:p>
        </p:txBody>
      </p:sp>
      <p:sp>
        <p:nvSpPr>
          <p:cNvPr id="21" name="TextBox 20"/>
          <p:cNvSpPr txBox="1"/>
          <p:nvPr/>
        </p:nvSpPr>
        <p:spPr>
          <a:xfrm>
            <a:off x="6467475" y="3926234"/>
            <a:ext cx="2687835" cy="238125"/>
          </a:xfrm>
          <a:prstGeom prst="rect">
            <a:avLst/>
          </a:prstGeom>
          <a:noFill/>
        </p:spPr>
        <p:txBody>
          <a:bodyPr wrap="none" lIns="0" tIns="0" rIns="0" bIns="0" anchor="t">
            <a:spAutoFit/>
          </a:bodyPr>
          <a:lstStyle/>
          <a:p>
            <a:pPr algn="l"/>
            <a:r>
              <a:rPr sz="1500" b="1" i="0" u="none">
                <a:solidFill>
                  <a:srgbClr val="0F172A"/>
                </a:solidFill>
                <a:latin typeface="Plus Jakarta Sans"/>
              </a:rPr>
              <a:t>3. Memory Buffer</a:t>
            </a:r>
          </a:p>
        </p:txBody>
      </p:sp>
      <p:sp>
        <p:nvSpPr>
          <p:cNvPr id="22" name="TextBox 21"/>
          <p:cNvSpPr txBox="1"/>
          <p:nvPr/>
        </p:nvSpPr>
        <p:spPr>
          <a:xfrm>
            <a:off x="6467475" y="4240559"/>
            <a:ext cx="2143125" cy="639812"/>
          </a:xfrm>
          <a:prstGeom prst="rect">
            <a:avLst/>
          </a:prstGeom>
          <a:noFill/>
        </p:spPr>
        <p:txBody>
          <a:bodyPr wrap="square" lIns="0" tIns="0" rIns="0" bIns="0" anchor="t">
            <a:spAutoFit/>
          </a:bodyPr>
          <a:lstStyle/>
          <a:p>
            <a:pPr algn="l">
              <a:lnSpc>
                <a:spcPts val="1679"/>
              </a:lnSpc>
            </a:pPr>
            <a:r>
              <a:rPr sz="1200" b="0" i="0" u="none">
                <a:solidFill>
                  <a:srgbClr val="64748B"/>
                </a:solidFill>
                <a:latin typeface="Plus Jakarta Sans"/>
              </a:rPr>
              <a:t>Mantiene contexto reteniendo los últimos 30 mensajes.</a:t>
            </a:r>
          </a:p>
        </p:txBody>
      </p:sp>
      <p:sp>
        <p:nvSpPr>
          <p:cNvPr id="23" name="TextBox 22"/>
          <p:cNvSpPr txBox="1"/>
          <p:nvPr/>
        </p:nvSpPr>
        <p:spPr>
          <a:xfrm>
            <a:off x="9258300" y="3926234"/>
            <a:ext cx="2687835" cy="238125"/>
          </a:xfrm>
          <a:prstGeom prst="rect">
            <a:avLst/>
          </a:prstGeom>
          <a:noFill/>
        </p:spPr>
        <p:txBody>
          <a:bodyPr wrap="none" lIns="0" tIns="0" rIns="0" bIns="0" anchor="t">
            <a:spAutoFit/>
          </a:bodyPr>
          <a:lstStyle/>
          <a:p>
            <a:pPr algn="l"/>
            <a:r>
              <a:rPr sz="1500" b="1" i="0" u="none">
                <a:solidFill>
                  <a:srgbClr val="0F172A"/>
                </a:solidFill>
                <a:latin typeface="Plus Jakarta Sans"/>
              </a:rPr>
              <a:t>4. Get Weather Tool</a:t>
            </a:r>
          </a:p>
        </p:txBody>
      </p:sp>
      <p:sp>
        <p:nvSpPr>
          <p:cNvPr id="24" name="TextBox 23"/>
          <p:cNvSpPr txBox="1"/>
          <p:nvPr/>
        </p:nvSpPr>
        <p:spPr>
          <a:xfrm>
            <a:off x="9258300" y="4240559"/>
            <a:ext cx="2143125" cy="639812"/>
          </a:xfrm>
          <a:prstGeom prst="rect">
            <a:avLst/>
          </a:prstGeom>
          <a:noFill/>
        </p:spPr>
        <p:txBody>
          <a:bodyPr wrap="square" lIns="0" tIns="0" rIns="0" bIns="0" anchor="t">
            <a:spAutoFit/>
          </a:bodyPr>
          <a:lstStyle/>
          <a:p>
            <a:pPr algn="l">
              <a:lnSpc>
                <a:spcPts val="1679"/>
              </a:lnSpc>
            </a:pPr>
            <a:r>
              <a:rPr sz="1200" b="0" i="0" u="none">
                <a:solidFill>
                  <a:srgbClr val="64748B"/>
                </a:solidFill>
                <a:latin typeface="Plus Jakarta Sans"/>
              </a:rPr>
              <a:t>Consulta la API de Open-Meteo con coordenadas exactas.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609600" y="457200"/>
            <a:ext cx="2185987" cy="285750"/>
          </a:xfrm>
          <a:prstGeom prst="roundRect">
            <a:avLst>
              <a:gd name="adj" fmla="val 20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296025" y="2884140"/>
            <a:ext cx="5286375" cy="6572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296025" y="3731865"/>
            <a:ext cx="5286375" cy="6572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296025" y="4579590"/>
            <a:ext cx="5286375" cy="6572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296025" y="2884140"/>
            <a:ext cx="38100" cy="657225"/>
          </a:xfrm>
          <a:prstGeom prst="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296025" y="3731865"/>
            <a:ext cx="38100" cy="657225"/>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296025" y="4579590"/>
            <a:ext cx="38100" cy="65722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image.png"/>
          <p:cNvPicPr>
            <a:picLocks noChangeAspect="1"/>
          </p:cNvPicPr>
          <p:nvPr/>
        </p:nvPicPr>
        <p:blipFill>
          <a:blip r:embed="rId2"/>
          <a:stretch>
            <a:fillRect/>
          </a:stretch>
        </p:blipFill>
        <p:spPr>
          <a:xfrm>
            <a:off x="609600" y="2250727"/>
            <a:ext cx="5305425" cy="3619500"/>
          </a:xfrm>
          <a:prstGeom prst="rect">
            <a:avLst/>
          </a:prstGeom>
        </p:spPr>
      </p:pic>
      <p:pic>
        <p:nvPicPr>
          <p:cNvPr id="10" name="Picture 9" descr="image.png"/>
          <p:cNvPicPr>
            <a:picLocks noChangeAspect="1"/>
          </p:cNvPicPr>
          <p:nvPr/>
        </p:nvPicPr>
        <p:blipFill>
          <a:blip r:embed="rId3"/>
          <a:stretch>
            <a:fillRect/>
          </a:stretch>
        </p:blipFill>
        <p:spPr>
          <a:xfrm>
            <a:off x="619125" y="2260252"/>
            <a:ext cx="5286375" cy="3600450"/>
          </a:xfrm>
          <a:prstGeom prst="rect">
            <a:avLst/>
          </a:prstGeom>
        </p:spPr>
      </p:pic>
      <p:sp>
        <p:nvSpPr>
          <p:cNvPr id="11" name="TextBox 10"/>
          <p:cNvSpPr txBox="1"/>
          <p:nvPr/>
        </p:nvSpPr>
        <p:spPr>
          <a:xfrm>
            <a:off x="742950" y="514350"/>
            <a:ext cx="2014537" cy="171450"/>
          </a:xfrm>
          <a:prstGeom prst="rect">
            <a:avLst/>
          </a:prstGeom>
          <a:noFill/>
        </p:spPr>
        <p:txBody>
          <a:bodyPr wrap="square" lIns="0" tIns="0" rIns="0" bIns="0" anchor="t">
            <a:spAutoFit/>
          </a:bodyPr>
          <a:lstStyle/>
          <a:p>
            <a:pPr algn="l"/>
            <a:r>
              <a:rPr sz="1050" b="1" i="0" u="none">
                <a:solidFill>
                  <a:srgbClr val="475569"/>
                </a:solidFill>
                <a:latin typeface="Space Grotesk"/>
              </a:rPr>
              <a:t>DEMOSTRACIÓN EN FLUJO</a:t>
            </a:r>
          </a:p>
        </p:txBody>
      </p:sp>
      <p:sp>
        <p:nvSpPr>
          <p:cNvPr id="12" name="TextBox 11"/>
          <p:cNvSpPr txBox="1"/>
          <p:nvPr/>
        </p:nvSpPr>
        <p:spPr>
          <a:xfrm>
            <a:off x="609600" y="895350"/>
            <a:ext cx="11582400" cy="481905"/>
          </a:xfrm>
          <a:prstGeom prst="rect">
            <a:avLst/>
          </a:prstGeom>
          <a:noFill/>
        </p:spPr>
        <p:txBody>
          <a:bodyPr wrap="none" lIns="0" tIns="0" rIns="0" bIns="0" anchor="t">
            <a:spAutoFit/>
          </a:bodyPr>
          <a:lstStyle/>
          <a:p>
            <a:pPr algn="l">
              <a:lnSpc>
                <a:spcPts val="3795"/>
              </a:lnSpc>
            </a:pPr>
            <a:r>
              <a:rPr sz="3300" b="1" i="0" u="none">
                <a:solidFill>
                  <a:srgbClr val="0F172A"/>
                </a:solidFill>
                <a:latin typeface="Plus Jakarta Sans"/>
              </a:rPr>
              <a:t>Conexión de Herramientas Dinámicas</a:t>
            </a:r>
          </a:p>
        </p:txBody>
      </p:sp>
      <p:sp>
        <p:nvSpPr>
          <p:cNvPr id="13" name="TextBox 12"/>
          <p:cNvSpPr txBox="1"/>
          <p:nvPr/>
        </p:nvSpPr>
        <p:spPr>
          <a:xfrm>
            <a:off x="6486525" y="2884140"/>
            <a:ext cx="5705475" cy="219075"/>
          </a:xfrm>
          <a:prstGeom prst="rect">
            <a:avLst/>
          </a:prstGeom>
          <a:noFill/>
        </p:spPr>
        <p:txBody>
          <a:bodyPr wrap="none" lIns="0" tIns="0" rIns="0" bIns="0" anchor="t">
            <a:spAutoFit/>
          </a:bodyPr>
          <a:lstStyle/>
          <a:p>
            <a:pPr algn="l"/>
            <a:r>
              <a:rPr sz="1350" b="1" i="0" u="none">
                <a:solidFill>
                  <a:srgbClr val="0F172A"/>
                </a:solidFill>
                <a:latin typeface="Plus Jakarta Sans"/>
              </a:rPr>
              <a:t>Inferencia Automática</a:t>
            </a:r>
          </a:p>
        </p:txBody>
      </p:sp>
      <p:sp>
        <p:nvSpPr>
          <p:cNvPr id="14" name="TextBox 13"/>
          <p:cNvSpPr txBox="1"/>
          <p:nvPr/>
        </p:nvSpPr>
        <p:spPr>
          <a:xfrm>
            <a:off x="6486525" y="3141315"/>
            <a:ext cx="5191125" cy="400050"/>
          </a:xfrm>
          <a:prstGeom prst="rect">
            <a:avLst/>
          </a:prstGeom>
          <a:noFill/>
        </p:spPr>
        <p:txBody>
          <a:bodyPr wrap="square" lIns="0" tIns="0" rIns="0" bIns="0" anchor="t">
            <a:spAutoFit/>
          </a:bodyPr>
          <a:lstStyle/>
          <a:p>
            <a:pPr algn="l"/>
            <a:r>
              <a:rPr sz="1200" b="0" i="0" u="none">
                <a:solidFill>
                  <a:srgbClr val="64748B"/>
                </a:solidFill>
                <a:latin typeface="Plus Jakarta Sans"/>
              </a:rPr>
              <a:t>El modelo convierte la ciudad mencionada en latitud y longitud sin pedir datos al usuario.</a:t>
            </a:r>
          </a:p>
        </p:txBody>
      </p:sp>
      <p:sp>
        <p:nvSpPr>
          <p:cNvPr id="15" name="TextBox 14"/>
          <p:cNvSpPr txBox="1"/>
          <p:nvPr/>
        </p:nvSpPr>
        <p:spPr>
          <a:xfrm>
            <a:off x="6486525" y="3731865"/>
            <a:ext cx="5705475" cy="219075"/>
          </a:xfrm>
          <a:prstGeom prst="rect">
            <a:avLst/>
          </a:prstGeom>
          <a:noFill/>
        </p:spPr>
        <p:txBody>
          <a:bodyPr wrap="none" lIns="0" tIns="0" rIns="0" bIns="0" anchor="t">
            <a:spAutoFit/>
          </a:bodyPr>
          <a:lstStyle/>
          <a:p>
            <a:pPr algn="l"/>
            <a:r>
              <a:rPr sz="1350" b="1" i="0" u="none">
                <a:solidFill>
                  <a:srgbClr val="0F172A"/>
                </a:solidFill>
                <a:latin typeface="Plus Jakarta Sans"/>
              </a:rPr>
              <a:t>Invocación de API Externa</a:t>
            </a:r>
          </a:p>
        </p:txBody>
      </p:sp>
      <p:sp>
        <p:nvSpPr>
          <p:cNvPr id="16" name="TextBox 15"/>
          <p:cNvSpPr txBox="1"/>
          <p:nvPr/>
        </p:nvSpPr>
        <p:spPr>
          <a:xfrm>
            <a:off x="6486525" y="3989040"/>
            <a:ext cx="5191125" cy="400050"/>
          </a:xfrm>
          <a:prstGeom prst="rect">
            <a:avLst/>
          </a:prstGeom>
          <a:noFill/>
        </p:spPr>
        <p:txBody>
          <a:bodyPr wrap="square" lIns="0" tIns="0" rIns="0" bIns="0" anchor="t">
            <a:spAutoFit/>
          </a:bodyPr>
          <a:lstStyle/>
          <a:p>
            <a:pPr algn="l"/>
            <a:r>
              <a:rPr sz="1200" b="0" i="0" u="none">
                <a:solidFill>
                  <a:srgbClr val="64748B"/>
                </a:solidFill>
                <a:latin typeface="Plus Jakarta Sans"/>
              </a:rPr>
              <a:t>Llama a la herramienta HTTP cuando detecta la intención del clima en la consulta.</a:t>
            </a:r>
          </a:p>
        </p:txBody>
      </p:sp>
      <p:sp>
        <p:nvSpPr>
          <p:cNvPr id="17" name="TextBox 16"/>
          <p:cNvSpPr txBox="1"/>
          <p:nvPr/>
        </p:nvSpPr>
        <p:spPr>
          <a:xfrm>
            <a:off x="6486525" y="4579590"/>
            <a:ext cx="5705475" cy="219075"/>
          </a:xfrm>
          <a:prstGeom prst="rect">
            <a:avLst/>
          </a:prstGeom>
          <a:noFill/>
        </p:spPr>
        <p:txBody>
          <a:bodyPr wrap="none" lIns="0" tIns="0" rIns="0" bIns="0" anchor="t">
            <a:spAutoFit/>
          </a:bodyPr>
          <a:lstStyle/>
          <a:p>
            <a:pPr algn="l"/>
            <a:r>
              <a:rPr sz="1350" b="1" i="0" u="none">
                <a:solidFill>
                  <a:srgbClr val="0F172A"/>
                </a:solidFill>
                <a:latin typeface="Plus Jakarta Sans"/>
              </a:rPr>
              <a:t>Respuesta Estructurada</a:t>
            </a:r>
          </a:p>
        </p:txBody>
      </p:sp>
      <p:sp>
        <p:nvSpPr>
          <p:cNvPr id="18" name="TextBox 17"/>
          <p:cNvSpPr txBox="1"/>
          <p:nvPr/>
        </p:nvSpPr>
        <p:spPr>
          <a:xfrm>
            <a:off x="6486525" y="4836765"/>
            <a:ext cx="5191125" cy="400050"/>
          </a:xfrm>
          <a:prstGeom prst="rect">
            <a:avLst/>
          </a:prstGeom>
          <a:noFill/>
        </p:spPr>
        <p:txBody>
          <a:bodyPr wrap="square" lIns="0" tIns="0" rIns="0" bIns="0" anchor="t">
            <a:spAutoFit/>
          </a:bodyPr>
          <a:lstStyle/>
          <a:p>
            <a:pPr algn="l"/>
            <a:r>
              <a:rPr sz="1200" b="0" i="0" u="none">
                <a:solidFill>
                  <a:srgbClr val="64748B"/>
                </a:solidFill>
                <a:latin typeface="Plus Jakarta Sans"/>
              </a:rPr>
              <a:t>Transforma los JSON de datos meteorológicos en un mensaje claro y amigable.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5283993" y="2091630"/>
            <a:ext cx="1624012" cy="304800"/>
          </a:xfrm>
          <a:prstGeom prst="roundRect">
            <a:avLst>
              <a:gd name="adj" fmla="val 18750"/>
            </a:avLst>
          </a:prstGeom>
          <a:solidFill>
            <a:srgbClr val="153049"/>
          </a:solidFill>
          <a:ln w="952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2652712" y="4070895"/>
            <a:ext cx="6886575" cy="695325"/>
          </a:xfrm>
          <a:prstGeom prst="roundRect">
            <a:avLst>
              <a:gd name="adj" fmla="val 16438"/>
            </a:avLst>
          </a:prstGeom>
          <a:solidFill>
            <a:srgbClr val="1E293B"/>
          </a:solidFill>
          <a:ln w="9525">
            <a:solidFill>
              <a:srgbClr val="4755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2"/>
          <a:stretch>
            <a:fillRect/>
          </a:stretch>
        </p:blipFill>
        <p:spPr>
          <a:xfrm>
            <a:off x="3005137" y="4332833"/>
            <a:ext cx="190500" cy="171450"/>
          </a:xfrm>
          <a:prstGeom prst="rect">
            <a:avLst/>
          </a:prstGeom>
        </p:spPr>
      </p:pic>
      <p:pic>
        <p:nvPicPr>
          <p:cNvPr id="5" name="Picture 4" descr="image.png"/>
          <p:cNvPicPr>
            <a:picLocks noChangeAspect="1"/>
          </p:cNvPicPr>
          <p:nvPr/>
        </p:nvPicPr>
        <p:blipFill>
          <a:blip r:embed="rId3"/>
          <a:stretch>
            <a:fillRect/>
          </a:stretch>
        </p:blipFill>
        <p:spPr>
          <a:xfrm>
            <a:off x="6100762" y="4332833"/>
            <a:ext cx="190500" cy="171450"/>
          </a:xfrm>
          <a:prstGeom prst="rect">
            <a:avLst/>
          </a:prstGeom>
        </p:spPr>
      </p:pic>
      <p:sp>
        <p:nvSpPr>
          <p:cNvPr id="6" name="TextBox 5"/>
          <p:cNvSpPr txBox="1"/>
          <p:nvPr/>
        </p:nvSpPr>
        <p:spPr>
          <a:xfrm>
            <a:off x="5214342" y="2148780"/>
            <a:ext cx="1763315" cy="190500"/>
          </a:xfrm>
          <a:prstGeom prst="rect">
            <a:avLst/>
          </a:prstGeom>
          <a:noFill/>
        </p:spPr>
        <p:txBody>
          <a:bodyPr wrap="square" lIns="0" tIns="0" rIns="0" bIns="0" anchor="t">
            <a:spAutoFit/>
          </a:bodyPr>
          <a:lstStyle/>
          <a:p>
            <a:pPr algn="ctr"/>
            <a:r>
              <a:rPr sz="1050" b="1" i="0" u="none">
                <a:solidFill>
                  <a:srgbClr val="38BDF8"/>
                </a:solidFill>
                <a:latin typeface="Space Grotesk"/>
              </a:rPr>
              <a:t>PRÁCTICA GUIADA</a:t>
            </a:r>
          </a:p>
        </p:txBody>
      </p:sp>
      <p:sp>
        <p:nvSpPr>
          <p:cNvPr id="7" name="TextBox 6"/>
          <p:cNvSpPr txBox="1"/>
          <p:nvPr/>
        </p:nvSpPr>
        <p:spPr>
          <a:xfrm>
            <a:off x="1592312" y="2625030"/>
            <a:ext cx="9007375" cy="569565"/>
          </a:xfrm>
          <a:prstGeom prst="rect">
            <a:avLst/>
          </a:prstGeom>
          <a:noFill/>
        </p:spPr>
        <p:txBody>
          <a:bodyPr wrap="none" lIns="0" tIns="0" rIns="0" bIns="0" anchor="t">
            <a:spAutoFit/>
          </a:bodyPr>
          <a:lstStyle/>
          <a:p>
            <a:pPr algn="ctr">
              <a:lnSpc>
                <a:spcPts val="4484"/>
              </a:lnSpc>
            </a:pPr>
            <a:r>
              <a:rPr sz="3900" b="1" i="0" u="none">
                <a:solidFill>
                  <a:srgbClr val="FFFFFF"/>
                </a:solidFill>
                <a:latin typeface="Plus Jakarta Sans"/>
              </a:rPr>
              <a:t>¡Es hora de probar el Agente!</a:t>
            </a:r>
          </a:p>
        </p:txBody>
      </p:sp>
      <p:sp>
        <p:nvSpPr>
          <p:cNvPr id="8" name="TextBox 7"/>
          <p:cNvSpPr txBox="1"/>
          <p:nvPr/>
        </p:nvSpPr>
        <p:spPr>
          <a:xfrm>
            <a:off x="3741188" y="3423195"/>
            <a:ext cx="4709623" cy="252762"/>
          </a:xfrm>
          <a:prstGeom prst="rect">
            <a:avLst/>
          </a:prstGeom>
          <a:noFill/>
        </p:spPr>
        <p:txBody>
          <a:bodyPr wrap="none" lIns="0" tIns="0" rIns="0" bIns="0" anchor="t">
            <a:spAutoFit/>
          </a:bodyPr>
          <a:lstStyle/>
          <a:p>
            <a:pPr algn="ctr">
              <a:lnSpc>
                <a:spcPts val="2100"/>
              </a:lnSpc>
            </a:pPr>
            <a:r>
              <a:rPr sz="1500" b="0" i="0" u="none" dirty="0">
                <a:solidFill>
                  <a:schemeClr val="bg1"/>
                </a:solidFill>
                <a:latin typeface="Plus Jakarta Sans"/>
              </a:rPr>
              <a:t>Abre la consola de chat en n8n y realiza tu primera consulta.</a:t>
            </a:r>
          </a:p>
        </p:txBody>
      </p:sp>
      <p:sp>
        <p:nvSpPr>
          <p:cNvPr id="9" name="TextBox 8"/>
          <p:cNvSpPr txBox="1"/>
          <p:nvPr/>
        </p:nvSpPr>
        <p:spPr>
          <a:xfrm>
            <a:off x="3309937" y="4309020"/>
            <a:ext cx="3107531" cy="219075"/>
          </a:xfrm>
          <a:prstGeom prst="rect">
            <a:avLst/>
          </a:prstGeom>
          <a:noFill/>
        </p:spPr>
        <p:txBody>
          <a:bodyPr wrap="none" lIns="0" tIns="0" rIns="0" bIns="0" anchor="t">
            <a:spAutoFit/>
          </a:bodyPr>
          <a:lstStyle/>
          <a:p>
            <a:pPr algn="l"/>
            <a:r>
              <a:rPr sz="1350" b="0" i="0" u="none">
                <a:solidFill>
                  <a:srgbClr val="F8FAFC"/>
                </a:solidFill>
                <a:latin typeface="Plus Jakarta Sans"/>
              </a:rPr>
              <a:t>“¿Cómo está el clima en París?”</a:t>
            </a:r>
          </a:p>
        </p:txBody>
      </p:sp>
      <p:sp>
        <p:nvSpPr>
          <p:cNvPr id="10" name="TextBox 9"/>
          <p:cNvSpPr txBox="1"/>
          <p:nvPr/>
        </p:nvSpPr>
        <p:spPr>
          <a:xfrm>
            <a:off x="6405562" y="4309020"/>
            <a:ext cx="3476625" cy="219075"/>
          </a:xfrm>
          <a:prstGeom prst="rect">
            <a:avLst/>
          </a:prstGeom>
          <a:noFill/>
        </p:spPr>
        <p:txBody>
          <a:bodyPr wrap="none" lIns="0" tIns="0" rIns="0" bIns="0" anchor="t">
            <a:spAutoFit/>
          </a:bodyPr>
          <a:lstStyle/>
          <a:p>
            <a:pPr algn="l"/>
            <a:r>
              <a:rPr sz="1350" b="0" i="0" u="none">
                <a:solidFill>
                  <a:srgbClr val="F8FAFC"/>
                </a:solidFill>
                <a:latin typeface="Plus Jakarta Sans"/>
              </a:rPr>
              <a:t>“Búscame noticias de tecnología.”</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A336304B-4657-9393-4BB8-3CB4B6309EFC}"/>
              </a:ext>
            </a:extLst>
          </p:cNvPr>
          <p:cNvSpPr txBox="1"/>
          <p:nvPr/>
        </p:nvSpPr>
        <p:spPr>
          <a:xfrm>
            <a:off x="800100" y="560070"/>
            <a:ext cx="2643672" cy="830997"/>
          </a:xfrm>
          <a:prstGeom prst="rect">
            <a:avLst/>
          </a:prstGeom>
          <a:noFill/>
        </p:spPr>
        <p:txBody>
          <a:bodyPr wrap="none" rtlCol="0">
            <a:spAutoFit/>
          </a:bodyPr>
          <a:lstStyle/>
          <a:p>
            <a:r>
              <a:rPr lang="es-ES" sz="4800" dirty="0"/>
              <a:t>TALLER 2</a:t>
            </a:r>
            <a:endParaRPr lang="es-CO" sz="4800" dirty="0"/>
          </a:p>
        </p:txBody>
      </p:sp>
    </p:spTree>
    <p:extLst>
      <p:ext uri="{BB962C8B-B14F-4D97-AF65-F5344CB8AC3E}">
        <p14:creationId xmlns:p14="http://schemas.microsoft.com/office/powerpoint/2010/main" val="25553870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1645920"/>
            <a:ext cx="10972800" cy="685800"/>
          </a:xfrm>
        </p:spPr>
        <p:txBody>
          <a:bodyPr/>
          <a:lstStyle/>
          <a:p>
            <a:r>
              <a:rPr sz="3000" dirty="0">
                <a:solidFill>
                  <a:srgbClr val="182A46"/>
                </a:solidFill>
              </a:rPr>
              <a:t>Caso base: Competencias Digitales Universidad</a:t>
            </a:r>
          </a:p>
        </p:txBody>
      </p:sp>
      <p:sp>
        <p:nvSpPr>
          <p:cNvPr id="3" name="Rounded Rectangle 2"/>
          <p:cNvSpPr/>
          <p:nvPr/>
        </p:nvSpPr>
        <p:spPr>
          <a:xfrm>
            <a:off x="594360" y="2560320"/>
            <a:ext cx="2606040" cy="1737360"/>
          </a:xfrm>
          <a:prstGeom prst="roundRect">
            <a:avLst>
              <a:gd name="adj" fmla="val 7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ctr">
              <a:spcAft>
                <a:spcPts val="400"/>
              </a:spcAft>
            </a:pPr>
            <a:r>
              <a:rPr sz="4000" b="1" dirty="0">
                <a:solidFill>
                  <a:srgbClr val="182A46"/>
                </a:solidFill>
              </a:rPr>
              <a:t>12</a:t>
            </a:r>
          </a:p>
          <a:p>
            <a:pPr algn="ctr">
              <a:spcAft>
                <a:spcPts val="400"/>
              </a:spcAft>
            </a:pPr>
            <a:r>
              <a:rPr sz="1400" b="0" dirty="0">
                <a:solidFill>
                  <a:srgbClr val="182A46"/>
                </a:solidFill>
              </a:rPr>
              <a:t>programas académicos</a:t>
            </a:r>
          </a:p>
        </p:txBody>
      </p:sp>
      <p:sp>
        <p:nvSpPr>
          <p:cNvPr id="4" name="Rounded Rectangle 3"/>
          <p:cNvSpPr/>
          <p:nvPr/>
        </p:nvSpPr>
        <p:spPr>
          <a:xfrm>
            <a:off x="3383279" y="2560320"/>
            <a:ext cx="2606040" cy="1737360"/>
          </a:xfrm>
          <a:prstGeom prst="roundRect">
            <a:avLst>
              <a:gd name="adj" fmla="val 7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ctr">
              <a:spcAft>
                <a:spcPts val="400"/>
              </a:spcAft>
            </a:pPr>
            <a:r>
              <a:rPr sz="4000" b="1" dirty="0">
                <a:solidFill>
                  <a:srgbClr val="182A46"/>
                </a:solidFill>
              </a:rPr>
              <a:t>7</a:t>
            </a:r>
          </a:p>
          <a:p>
            <a:pPr algn="ctr">
              <a:spcAft>
                <a:spcPts val="400"/>
              </a:spcAft>
            </a:pPr>
            <a:r>
              <a:rPr sz="1400" b="0" dirty="0">
                <a:solidFill>
                  <a:srgbClr val="182A46"/>
                </a:solidFill>
              </a:rPr>
              <a:t>cursos en 3 pilares</a:t>
            </a:r>
          </a:p>
        </p:txBody>
      </p:sp>
      <p:sp>
        <p:nvSpPr>
          <p:cNvPr id="5" name="Rounded Rectangle 4"/>
          <p:cNvSpPr/>
          <p:nvPr/>
        </p:nvSpPr>
        <p:spPr>
          <a:xfrm>
            <a:off x="6172200" y="2560320"/>
            <a:ext cx="2606040" cy="1737360"/>
          </a:xfrm>
          <a:prstGeom prst="roundRect">
            <a:avLst>
              <a:gd name="adj" fmla="val 7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ctr">
              <a:spcAft>
                <a:spcPts val="400"/>
              </a:spcAft>
            </a:pPr>
            <a:r>
              <a:rPr sz="4000" b="1">
                <a:solidFill>
                  <a:srgbClr val="182A46"/>
                </a:solidFill>
              </a:rPr>
              <a:t>30</a:t>
            </a:r>
          </a:p>
          <a:p>
            <a:pPr algn="ctr">
              <a:spcAft>
                <a:spcPts val="400"/>
              </a:spcAft>
            </a:pPr>
            <a:r>
              <a:rPr sz="1400" b="0">
                <a:solidFill>
                  <a:srgbClr val="182A46"/>
                </a:solidFill>
              </a:rPr>
              <a:t>estudiantes sintéticos</a:t>
            </a:r>
          </a:p>
        </p:txBody>
      </p:sp>
      <p:sp>
        <p:nvSpPr>
          <p:cNvPr id="6" name="Rounded Rectangle 5"/>
          <p:cNvSpPr/>
          <p:nvPr/>
        </p:nvSpPr>
        <p:spPr>
          <a:xfrm>
            <a:off x="8961119" y="2560320"/>
            <a:ext cx="2606040" cy="1737360"/>
          </a:xfrm>
          <a:prstGeom prst="roundRect">
            <a:avLst>
              <a:gd name="adj" fmla="val 7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ctr">
              <a:spcAft>
                <a:spcPts val="400"/>
              </a:spcAft>
            </a:pPr>
            <a:r>
              <a:rPr sz="4000" b="1">
                <a:solidFill>
                  <a:srgbClr val="182A46"/>
                </a:solidFill>
              </a:rPr>
              <a:t>6 + 2</a:t>
            </a:r>
          </a:p>
          <a:p>
            <a:pPr algn="ctr">
              <a:spcAft>
                <a:spcPts val="400"/>
              </a:spcAft>
            </a:pPr>
            <a:r>
              <a:rPr sz="1400" b="0">
                <a:solidFill>
                  <a:srgbClr val="182A46"/>
                </a:solidFill>
              </a:rPr>
              <a:t>tablas y vistas SQL</a:t>
            </a:r>
          </a:p>
        </p:txBody>
      </p:sp>
      <p:sp>
        <p:nvSpPr>
          <p:cNvPr id="7" name="Rounded Rectangle 6"/>
          <p:cNvSpPr/>
          <p:nvPr/>
        </p:nvSpPr>
        <p:spPr>
          <a:xfrm>
            <a:off x="594360" y="4526280"/>
            <a:ext cx="10972800" cy="1097280"/>
          </a:xfrm>
          <a:prstGeom prst="roundRect">
            <a:avLst>
              <a:gd name="adj" fmla="val 7000"/>
            </a:avLst>
          </a:prstGeom>
          <a:solidFill>
            <a:srgbClr val="182A46"/>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l">
              <a:spcAft>
                <a:spcPts val="400"/>
              </a:spcAft>
            </a:pPr>
            <a:r>
              <a:rPr sz="1600" b="1">
                <a:solidFill>
                  <a:srgbClr val="FFFFFF"/>
                </a:solidFill>
              </a:rPr>
              <a:t>Ruta de 3 cursos: Interacción Digital (obligatorio) + 1 de Analítica y Contenido + 1 de Tecnologías Transformativas</a:t>
            </a:r>
          </a:p>
          <a:p>
            <a:pPr algn="l">
              <a:spcAft>
                <a:spcPts val="400"/>
              </a:spcAft>
            </a:pPr>
            <a:r>
              <a:rPr sz="1400" b="0">
                <a:solidFill>
                  <a:srgbClr val="FFFFFF"/>
                </a:solidFill>
              </a:rPr>
              <a:t>Vistas: v_estado_estudiante y v_cursos_pendientes · Esquema ccd en PostgreSQL</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1645920"/>
            <a:ext cx="10972800" cy="685800"/>
          </a:xfrm>
        </p:spPr>
        <p:txBody>
          <a:bodyPr/>
          <a:lstStyle/>
          <a:p>
            <a:r>
              <a:rPr sz="3000">
                <a:solidFill>
                  <a:srgbClr val="182A46"/>
                </a:solidFill>
              </a:rPr>
              <a:t>Pipeline RAG: ingesta de documentos</a:t>
            </a:r>
          </a:p>
        </p:txBody>
      </p:sp>
      <p:sp>
        <p:nvSpPr>
          <p:cNvPr id="3" name="Rounded Rectangle 2"/>
          <p:cNvSpPr/>
          <p:nvPr/>
        </p:nvSpPr>
        <p:spPr>
          <a:xfrm>
            <a:off x="548640" y="2560320"/>
            <a:ext cx="1691640" cy="1554480"/>
          </a:xfrm>
          <a:prstGeom prst="roundRect">
            <a:avLst>
              <a:gd name="adj" fmla="val 7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l">
              <a:spcAft>
                <a:spcPts val="400"/>
              </a:spcAft>
            </a:pPr>
            <a:r>
              <a:rPr sz="2000" b="1">
                <a:solidFill>
                  <a:srgbClr val="182A46"/>
                </a:solidFill>
              </a:rPr>
              <a:t>1</a:t>
            </a:r>
          </a:p>
          <a:p>
            <a:pPr algn="l">
              <a:spcAft>
                <a:spcPts val="400"/>
              </a:spcAft>
            </a:pPr>
            <a:r>
              <a:rPr sz="1400" b="0">
                <a:solidFill>
                  <a:srgbClr val="182A46"/>
                </a:solidFill>
              </a:rPr>
              <a:t>Disparador manual o lunes 6 a. m.</a:t>
            </a:r>
          </a:p>
        </p:txBody>
      </p:sp>
      <p:sp>
        <p:nvSpPr>
          <p:cNvPr id="4" name="Rounded Rectangle 3"/>
          <p:cNvSpPr/>
          <p:nvPr/>
        </p:nvSpPr>
        <p:spPr>
          <a:xfrm>
            <a:off x="2423160" y="2560320"/>
            <a:ext cx="1691640" cy="1554480"/>
          </a:xfrm>
          <a:prstGeom prst="roundRect">
            <a:avLst>
              <a:gd name="adj" fmla="val 7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l">
              <a:spcAft>
                <a:spcPts val="400"/>
              </a:spcAft>
            </a:pPr>
            <a:r>
              <a:rPr sz="2000" b="1">
                <a:solidFill>
                  <a:srgbClr val="182A46"/>
                </a:solidFill>
              </a:rPr>
              <a:t>2</a:t>
            </a:r>
          </a:p>
          <a:p>
            <a:pPr algn="l">
              <a:spcAft>
                <a:spcPts val="400"/>
              </a:spcAft>
            </a:pPr>
            <a:r>
              <a:rPr sz="1400" b="0">
                <a:solidFill>
                  <a:srgbClr val="182A46"/>
                </a:solidFill>
              </a:rPr>
              <a:t>Preparar tabla pgvector</a:t>
            </a:r>
          </a:p>
        </p:txBody>
      </p:sp>
      <p:sp>
        <p:nvSpPr>
          <p:cNvPr id="5" name="Rounded Rectangle 4"/>
          <p:cNvSpPr/>
          <p:nvPr/>
        </p:nvSpPr>
        <p:spPr>
          <a:xfrm>
            <a:off x="4297679" y="2560320"/>
            <a:ext cx="1691640" cy="1554480"/>
          </a:xfrm>
          <a:prstGeom prst="roundRect">
            <a:avLst>
              <a:gd name="adj" fmla="val 7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l">
              <a:spcAft>
                <a:spcPts val="400"/>
              </a:spcAft>
            </a:pPr>
            <a:r>
              <a:rPr sz="2000" b="1">
                <a:solidFill>
                  <a:srgbClr val="182A46"/>
                </a:solidFill>
              </a:rPr>
              <a:t>3</a:t>
            </a:r>
          </a:p>
          <a:p>
            <a:pPr algn="l">
              <a:spcAft>
                <a:spcPts val="400"/>
              </a:spcAft>
            </a:pPr>
            <a:r>
              <a:rPr sz="1400" b="0">
                <a:solidFill>
                  <a:srgbClr val="182A46"/>
                </a:solidFill>
              </a:rPr>
              <a:t>Leer carpeta de Drive</a:t>
            </a:r>
          </a:p>
        </p:txBody>
      </p:sp>
      <p:sp>
        <p:nvSpPr>
          <p:cNvPr id="6" name="Rounded Rectangle 5"/>
          <p:cNvSpPr/>
          <p:nvPr/>
        </p:nvSpPr>
        <p:spPr>
          <a:xfrm>
            <a:off x="6172199" y="2560320"/>
            <a:ext cx="1691640" cy="1554480"/>
          </a:xfrm>
          <a:prstGeom prst="roundRect">
            <a:avLst>
              <a:gd name="adj" fmla="val 7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l">
              <a:spcAft>
                <a:spcPts val="400"/>
              </a:spcAft>
            </a:pPr>
            <a:r>
              <a:rPr sz="2000" b="1">
                <a:solidFill>
                  <a:srgbClr val="182A46"/>
                </a:solidFill>
              </a:rPr>
              <a:t>4</a:t>
            </a:r>
          </a:p>
          <a:p>
            <a:pPr algn="l">
              <a:spcAft>
                <a:spcPts val="400"/>
              </a:spcAft>
            </a:pPr>
            <a:r>
              <a:rPr sz="1400" b="0">
                <a:solidFill>
                  <a:srgbClr val="182A46"/>
                </a:solidFill>
              </a:rPr>
              <a:t>Filtrar .md y descargar</a:t>
            </a:r>
          </a:p>
        </p:txBody>
      </p:sp>
      <p:sp>
        <p:nvSpPr>
          <p:cNvPr id="7" name="Rounded Rectangle 6"/>
          <p:cNvSpPr/>
          <p:nvPr/>
        </p:nvSpPr>
        <p:spPr>
          <a:xfrm>
            <a:off x="8046719" y="2560320"/>
            <a:ext cx="1691640" cy="1554480"/>
          </a:xfrm>
          <a:prstGeom prst="roundRect">
            <a:avLst>
              <a:gd name="adj" fmla="val 7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l">
              <a:spcAft>
                <a:spcPts val="400"/>
              </a:spcAft>
            </a:pPr>
            <a:r>
              <a:rPr sz="2000" b="1">
                <a:solidFill>
                  <a:srgbClr val="182A46"/>
                </a:solidFill>
              </a:rPr>
              <a:t>5</a:t>
            </a:r>
          </a:p>
          <a:p>
            <a:pPr algn="l">
              <a:spcAft>
                <a:spcPts val="400"/>
              </a:spcAft>
            </a:pPr>
            <a:r>
              <a:rPr sz="1400" b="0">
                <a:solidFill>
                  <a:srgbClr val="182A46"/>
                </a:solidFill>
              </a:rPr>
              <a:t>Borrar fragmentos previos</a:t>
            </a:r>
          </a:p>
        </p:txBody>
      </p:sp>
      <p:sp>
        <p:nvSpPr>
          <p:cNvPr id="8" name="Rounded Rectangle 7"/>
          <p:cNvSpPr/>
          <p:nvPr/>
        </p:nvSpPr>
        <p:spPr>
          <a:xfrm>
            <a:off x="9921240" y="2560320"/>
            <a:ext cx="1691640" cy="1554480"/>
          </a:xfrm>
          <a:prstGeom prst="roundRect">
            <a:avLst>
              <a:gd name="adj" fmla="val 7000"/>
            </a:avLst>
          </a:prstGeom>
          <a:solidFill>
            <a:srgbClr val="182A46"/>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l">
              <a:spcAft>
                <a:spcPts val="400"/>
              </a:spcAft>
            </a:pPr>
            <a:r>
              <a:rPr sz="2000" b="1">
                <a:solidFill>
                  <a:srgbClr val="FFFFFF"/>
                </a:solidFill>
              </a:rPr>
              <a:t>6</a:t>
            </a:r>
          </a:p>
          <a:p>
            <a:pPr algn="l">
              <a:spcAft>
                <a:spcPts val="400"/>
              </a:spcAft>
            </a:pPr>
            <a:r>
              <a:rPr sz="1400" b="0">
                <a:solidFill>
                  <a:srgbClr val="FFFFFF"/>
                </a:solidFill>
              </a:rPr>
              <a:t>Fragmentar + embeddings</a:t>
            </a:r>
          </a:p>
        </p:txBody>
      </p:sp>
      <p:sp>
        <p:nvSpPr>
          <p:cNvPr id="9" name="Rounded Rectangle 8"/>
          <p:cNvSpPr/>
          <p:nvPr/>
        </p:nvSpPr>
        <p:spPr>
          <a:xfrm>
            <a:off x="594360" y="4389120"/>
            <a:ext cx="10972800" cy="1280160"/>
          </a:xfrm>
          <a:prstGeom prst="roundRect">
            <a:avLst>
              <a:gd name="adj" fmla="val 7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l">
              <a:spcAft>
                <a:spcPts val="400"/>
              </a:spcAft>
            </a:pPr>
            <a:r>
              <a:rPr sz="1400" b="0">
                <a:solidFill>
                  <a:srgbClr val="182A46"/>
                </a:solidFill>
              </a:rPr>
              <a:t>• Solapamiento de fragmentos: 150 · modelo text-embedding-3-small (1536 dimensiones)</a:t>
            </a:r>
          </a:p>
          <a:p>
            <a:pPr algn="l">
              <a:spcAft>
                <a:spcPts val="400"/>
              </a:spcAft>
            </a:pPr>
            <a:r>
              <a:rPr sz="1400" b="0">
                <a:solidFill>
                  <a:srgbClr val="182A46"/>
                </a:solidFill>
              </a:rPr>
              <a:t>• Tabla ccd.documentos_vectoriales con índice HNSW por coseno</a:t>
            </a:r>
          </a:p>
          <a:p>
            <a:pPr algn="l">
              <a:spcAft>
                <a:spcPts val="400"/>
              </a:spcAft>
            </a:pPr>
            <a:r>
              <a:rPr sz="1400" b="0">
                <a:solidFill>
                  <a:srgbClr val="182A46"/>
                </a:solidFill>
              </a:rPr>
              <a:t>• Metadato 'fuente' = nombre del archivo, base de la idempotencia</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1645920"/>
            <a:ext cx="10972800" cy="685800"/>
          </a:xfrm>
        </p:spPr>
        <p:txBody>
          <a:bodyPr/>
          <a:lstStyle/>
          <a:p>
            <a:r>
              <a:rPr sz="3000">
                <a:solidFill>
                  <a:srgbClr val="182A46"/>
                </a:solidFill>
              </a:rPr>
              <a:t>El agente en n8n y la conexión con el móvil</a:t>
            </a:r>
          </a:p>
        </p:txBody>
      </p:sp>
      <p:sp>
        <p:nvSpPr>
          <p:cNvPr id="3" name="Rounded Rectangle 2"/>
          <p:cNvSpPr/>
          <p:nvPr/>
        </p:nvSpPr>
        <p:spPr>
          <a:xfrm>
            <a:off x="594360" y="2514600"/>
            <a:ext cx="5349240" cy="3108960"/>
          </a:xfrm>
          <a:prstGeom prst="roundRect">
            <a:avLst>
              <a:gd name="adj" fmla="val 7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spcAft>
                <a:spcPts val="400"/>
              </a:spcAft>
            </a:pPr>
            <a:r>
              <a:rPr sz="1800" b="1">
                <a:solidFill>
                  <a:srgbClr val="1B4FA8"/>
                </a:solidFill>
              </a:rPr>
              <a:t>Cerebro del agente</a:t>
            </a:r>
          </a:p>
          <a:p>
            <a:pPr algn="l">
              <a:spcAft>
                <a:spcPts val="400"/>
              </a:spcAft>
            </a:pPr>
            <a:r>
              <a:rPr sz="1400" b="0">
                <a:solidFill>
                  <a:srgbClr val="182A46"/>
                </a:solidFill>
              </a:rPr>
              <a:t>• Telegram Trigger → AI Agent</a:t>
            </a:r>
          </a:p>
          <a:p>
            <a:pPr algn="l">
              <a:spcAft>
                <a:spcPts val="400"/>
              </a:spcAft>
            </a:pPr>
            <a:r>
              <a:rPr sz="1400" b="0">
                <a:solidFill>
                  <a:srgbClr val="182A46"/>
                </a:solidFill>
              </a:rPr>
              <a:t>• Memoria de la conversación</a:t>
            </a:r>
          </a:p>
          <a:p>
            <a:pPr algn="l">
              <a:spcAft>
                <a:spcPts val="400"/>
              </a:spcAft>
            </a:pPr>
            <a:r>
              <a:rPr sz="1400" b="0">
                <a:solidFill>
                  <a:srgbClr val="182A46"/>
                </a:solidFill>
              </a:rPr>
              <a:t>• Herramientas: Postgres, Vector Store, Google Sheets</a:t>
            </a:r>
          </a:p>
          <a:p>
            <a:pPr algn="l">
              <a:spcAft>
                <a:spcPts val="400"/>
              </a:spcAft>
            </a:pPr>
            <a:r>
              <a:rPr sz="1400" b="0">
                <a:solidFill>
                  <a:srgbClr val="182A46"/>
                </a:solidFill>
              </a:rPr>
              <a:t>• Historial en ccd.conversaciones</a:t>
            </a:r>
          </a:p>
        </p:txBody>
      </p:sp>
      <p:sp>
        <p:nvSpPr>
          <p:cNvPr id="4" name="Rounded Rectangle 3"/>
          <p:cNvSpPr/>
          <p:nvPr/>
        </p:nvSpPr>
        <p:spPr>
          <a:xfrm>
            <a:off x="6217920" y="2514600"/>
            <a:ext cx="5349240" cy="3108960"/>
          </a:xfrm>
          <a:prstGeom prst="roundRect">
            <a:avLst>
              <a:gd name="adj" fmla="val 7000"/>
            </a:avLst>
          </a:prstGeom>
          <a:solidFill>
            <a:srgbClr val="182A46"/>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spcAft>
                <a:spcPts val="400"/>
              </a:spcAft>
            </a:pPr>
            <a:endParaRPr sz="1400" b="0" dirty="0">
              <a:solidFill>
                <a:srgbClr val="FFFFFF"/>
              </a:solidFill>
            </a:endParaRPr>
          </a:p>
        </p:txBody>
      </p:sp>
      <p:sp>
        <p:nvSpPr>
          <p:cNvPr id="6" name="CuadroTexto 5">
            <a:extLst>
              <a:ext uri="{FF2B5EF4-FFF2-40B4-BE49-F238E27FC236}">
                <a16:creationId xmlns:a16="http://schemas.microsoft.com/office/drawing/2014/main" id="{37CA8D87-94C1-AF32-13C1-BE05A278B72D}"/>
              </a:ext>
            </a:extLst>
          </p:cNvPr>
          <p:cNvSpPr txBox="1"/>
          <p:nvPr/>
        </p:nvSpPr>
        <p:spPr>
          <a:xfrm>
            <a:off x="6466523" y="3079730"/>
            <a:ext cx="4700587" cy="1538883"/>
          </a:xfrm>
          <a:prstGeom prst="rect">
            <a:avLst/>
          </a:prstGeom>
          <a:noFill/>
        </p:spPr>
        <p:txBody>
          <a:bodyPr wrap="square">
            <a:spAutoFit/>
          </a:bodyPr>
          <a:lstStyle/>
          <a:p>
            <a:pPr algn="l">
              <a:spcAft>
                <a:spcPts val="400"/>
              </a:spcAft>
            </a:pPr>
            <a:r>
              <a:rPr lang="es-ES" sz="2000" b="1" dirty="0">
                <a:solidFill>
                  <a:srgbClr val="7FD4FF"/>
                </a:solidFill>
              </a:rPr>
              <a:t>Aplicación móvil</a:t>
            </a:r>
          </a:p>
          <a:p>
            <a:pPr algn="l">
              <a:spcAft>
                <a:spcPts val="400"/>
              </a:spcAft>
            </a:pPr>
            <a:r>
              <a:rPr lang="es-ES" sz="1600" b="0" dirty="0">
                <a:solidFill>
                  <a:srgbClr val="FFFFFF"/>
                </a:solidFill>
              </a:rPr>
              <a:t>• </a:t>
            </a:r>
            <a:r>
              <a:rPr lang="es-ES" sz="1600" b="0" dirty="0" err="1">
                <a:solidFill>
                  <a:srgbClr val="FFFFFF"/>
                </a:solidFill>
              </a:rPr>
              <a:t>Telegram</a:t>
            </a:r>
            <a:r>
              <a:rPr lang="es-ES" sz="1600" b="0" dirty="0">
                <a:solidFill>
                  <a:srgbClr val="FFFFFF"/>
                </a:solidFill>
              </a:rPr>
              <a:t> como cliente móvil sin programar la app</a:t>
            </a:r>
          </a:p>
          <a:p>
            <a:pPr algn="l">
              <a:spcAft>
                <a:spcPts val="400"/>
              </a:spcAft>
            </a:pPr>
            <a:r>
              <a:rPr lang="es-ES" sz="1600" b="0" dirty="0">
                <a:solidFill>
                  <a:srgbClr val="FFFFFF"/>
                </a:solidFill>
              </a:rPr>
              <a:t>• </a:t>
            </a:r>
            <a:r>
              <a:rPr lang="es-ES" sz="1600" b="0" dirty="0" err="1">
                <a:solidFill>
                  <a:srgbClr val="FFFFFF"/>
                </a:solidFill>
              </a:rPr>
              <a:t>telegram_id</a:t>
            </a:r>
            <a:r>
              <a:rPr lang="es-ES" sz="1600" b="0" dirty="0">
                <a:solidFill>
                  <a:srgbClr val="FFFFFF"/>
                </a:solidFill>
              </a:rPr>
              <a:t> vincula el chat con el estudiante</a:t>
            </a:r>
          </a:p>
          <a:p>
            <a:pPr algn="l">
              <a:spcAft>
                <a:spcPts val="400"/>
              </a:spcAft>
            </a:pPr>
            <a:r>
              <a:rPr lang="es-ES" sz="1600" b="0" dirty="0">
                <a:solidFill>
                  <a:srgbClr val="FFFFFF"/>
                </a:solidFill>
              </a:rPr>
              <a:t>• </a:t>
            </a:r>
            <a:r>
              <a:rPr lang="es-ES" sz="1600" b="0" dirty="0" err="1">
                <a:solidFill>
                  <a:srgbClr val="FFFFFF"/>
                </a:solidFill>
              </a:rPr>
              <a:t>Webhook</a:t>
            </a:r>
            <a:r>
              <a:rPr lang="es-ES" sz="1600" b="0" dirty="0">
                <a:solidFill>
                  <a:srgbClr val="FFFFFF"/>
                </a:solidFill>
              </a:rPr>
              <a:t> de n8n para apps propias (</a:t>
            </a:r>
            <a:r>
              <a:rPr lang="es-ES" sz="1600" b="0" dirty="0" err="1">
                <a:solidFill>
                  <a:srgbClr val="FFFFFF"/>
                </a:solidFill>
              </a:rPr>
              <a:t>Flutter</a:t>
            </a:r>
            <a:r>
              <a:rPr lang="es-ES" sz="1600" b="0" dirty="0">
                <a:solidFill>
                  <a:srgbClr val="FFFFFF"/>
                </a:solidFill>
              </a:rPr>
              <a:t>, </a:t>
            </a:r>
            <a:r>
              <a:rPr lang="es-ES" sz="1600" b="0" dirty="0" err="1">
                <a:solidFill>
                  <a:srgbClr val="FFFFFF"/>
                </a:solidFill>
              </a:rPr>
              <a:t>React</a:t>
            </a:r>
            <a:r>
              <a:rPr lang="es-ES" sz="1600" b="0" dirty="0">
                <a:solidFill>
                  <a:srgbClr val="FFFFFF"/>
                </a:solidFill>
              </a:rPr>
              <a:t> Native)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1645920"/>
            <a:ext cx="10972800" cy="685800"/>
          </a:xfrm>
        </p:spPr>
        <p:txBody>
          <a:bodyPr/>
          <a:lstStyle/>
          <a:p>
            <a:r>
              <a:rPr sz="3000">
                <a:solidFill>
                  <a:srgbClr val="182A46"/>
                </a:solidFill>
              </a:rPr>
              <a:t>Prerrequisitos del taller (cuenta free)</a:t>
            </a:r>
          </a:p>
        </p:txBody>
      </p:sp>
      <p:sp>
        <p:nvSpPr>
          <p:cNvPr id="3" name="Oval 2"/>
          <p:cNvSpPr/>
          <p:nvPr/>
        </p:nvSpPr>
        <p:spPr>
          <a:xfrm>
            <a:off x="594360" y="2514600"/>
            <a:ext cx="502920" cy="502920"/>
          </a:xfrm>
          <a:prstGeom prst="ellipse">
            <a:avLst/>
          </a:prstGeom>
          <a:solidFill>
            <a:srgbClr val="1B4FA8"/>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ctr">
              <a:spcAft>
                <a:spcPts val="400"/>
              </a:spcAft>
            </a:pPr>
            <a:r>
              <a:rPr sz="1600" b="1">
                <a:solidFill>
                  <a:srgbClr val="FFFFFF"/>
                </a:solidFill>
              </a:rPr>
              <a:t>1</a:t>
            </a:r>
          </a:p>
        </p:txBody>
      </p:sp>
      <p:sp>
        <p:nvSpPr>
          <p:cNvPr id="4" name="Rounded Rectangle 3"/>
          <p:cNvSpPr/>
          <p:nvPr/>
        </p:nvSpPr>
        <p:spPr>
          <a:xfrm>
            <a:off x="1280160" y="2514600"/>
            <a:ext cx="10241280" cy="502920"/>
          </a:xfrm>
          <a:prstGeom prst="roundRect">
            <a:avLst>
              <a:gd name="adj" fmla="val 7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l">
              <a:spcAft>
                <a:spcPts val="400"/>
              </a:spcAft>
            </a:pPr>
            <a:r>
              <a:rPr sz="1600" b="0">
                <a:solidFill>
                  <a:srgbClr val="182A46"/>
                </a:solidFill>
              </a:rPr>
              <a:t>Cuenta de n8n Cloud</a:t>
            </a:r>
          </a:p>
        </p:txBody>
      </p:sp>
      <p:sp>
        <p:nvSpPr>
          <p:cNvPr id="5" name="Oval 4"/>
          <p:cNvSpPr/>
          <p:nvPr/>
        </p:nvSpPr>
        <p:spPr>
          <a:xfrm>
            <a:off x="594360" y="3154680"/>
            <a:ext cx="502920" cy="502920"/>
          </a:xfrm>
          <a:prstGeom prst="ellipse">
            <a:avLst/>
          </a:prstGeom>
          <a:solidFill>
            <a:srgbClr val="1B4FA8"/>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ctr">
              <a:spcAft>
                <a:spcPts val="400"/>
              </a:spcAft>
            </a:pPr>
            <a:r>
              <a:rPr sz="1600" b="1">
                <a:solidFill>
                  <a:srgbClr val="FFFFFF"/>
                </a:solidFill>
              </a:rPr>
              <a:t>2</a:t>
            </a:r>
          </a:p>
        </p:txBody>
      </p:sp>
      <p:sp>
        <p:nvSpPr>
          <p:cNvPr id="6" name="Rounded Rectangle 5"/>
          <p:cNvSpPr/>
          <p:nvPr/>
        </p:nvSpPr>
        <p:spPr>
          <a:xfrm>
            <a:off x="1280160" y="3154680"/>
            <a:ext cx="10241280" cy="502920"/>
          </a:xfrm>
          <a:prstGeom prst="roundRect">
            <a:avLst>
              <a:gd name="adj" fmla="val 7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l">
              <a:spcAft>
                <a:spcPts val="400"/>
              </a:spcAft>
            </a:pPr>
            <a:r>
              <a:rPr sz="1600" b="0">
                <a:solidFill>
                  <a:srgbClr val="182A46"/>
                </a:solidFill>
              </a:rPr>
              <a:t>PostgreSQL con pgvector accesible desde internet (p. ej. Supabase gratuito)</a:t>
            </a:r>
          </a:p>
        </p:txBody>
      </p:sp>
      <p:sp>
        <p:nvSpPr>
          <p:cNvPr id="7" name="Oval 6"/>
          <p:cNvSpPr/>
          <p:nvPr/>
        </p:nvSpPr>
        <p:spPr>
          <a:xfrm>
            <a:off x="594360" y="3794760"/>
            <a:ext cx="502920" cy="502920"/>
          </a:xfrm>
          <a:prstGeom prst="ellipse">
            <a:avLst/>
          </a:prstGeom>
          <a:solidFill>
            <a:srgbClr val="1B4FA8"/>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ctr">
              <a:spcAft>
                <a:spcPts val="400"/>
              </a:spcAft>
            </a:pPr>
            <a:r>
              <a:rPr sz="1600" b="1">
                <a:solidFill>
                  <a:srgbClr val="FFFFFF"/>
                </a:solidFill>
              </a:rPr>
              <a:t>3</a:t>
            </a:r>
          </a:p>
        </p:txBody>
      </p:sp>
      <p:sp>
        <p:nvSpPr>
          <p:cNvPr id="8" name="Rounded Rectangle 7"/>
          <p:cNvSpPr/>
          <p:nvPr/>
        </p:nvSpPr>
        <p:spPr>
          <a:xfrm>
            <a:off x="1280160" y="3794760"/>
            <a:ext cx="10241280" cy="502920"/>
          </a:xfrm>
          <a:prstGeom prst="roundRect">
            <a:avLst>
              <a:gd name="adj" fmla="val 7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l">
              <a:spcAft>
                <a:spcPts val="400"/>
              </a:spcAft>
            </a:pPr>
            <a:r>
              <a:rPr sz="1600" b="0">
                <a:solidFill>
                  <a:srgbClr val="182A46"/>
                </a:solidFill>
              </a:rPr>
              <a:t>Clave de API de OpenAI para embeddings y el modelo</a:t>
            </a:r>
          </a:p>
        </p:txBody>
      </p:sp>
      <p:sp>
        <p:nvSpPr>
          <p:cNvPr id="9" name="Oval 8"/>
          <p:cNvSpPr/>
          <p:nvPr/>
        </p:nvSpPr>
        <p:spPr>
          <a:xfrm>
            <a:off x="594360" y="4434840"/>
            <a:ext cx="502920" cy="502920"/>
          </a:xfrm>
          <a:prstGeom prst="ellipse">
            <a:avLst/>
          </a:prstGeom>
          <a:solidFill>
            <a:srgbClr val="1B4FA8"/>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ctr">
              <a:spcAft>
                <a:spcPts val="400"/>
              </a:spcAft>
            </a:pPr>
            <a:r>
              <a:rPr sz="1600" b="1">
                <a:solidFill>
                  <a:srgbClr val="FFFFFF"/>
                </a:solidFill>
              </a:rPr>
              <a:t>4</a:t>
            </a:r>
          </a:p>
        </p:txBody>
      </p:sp>
      <p:sp>
        <p:nvSpPr>
          <p:cNvPr id="10" name="Rounded Rectangle 9"/>
          <p:cNvSpPr/>
          <p:nvPr/>
        </p:nvSpPr>
        <p:spPr>
          <a:xfrm>
            <a:off x="1280160" y="4434840"/>
            <a:ext cx="10241280" cy="502920"/>
          </a:xfrm>
          <a:prstGeom prst="roundRect">
            <a:avLst>
              <a:gd name="adj" fmla="val 7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l">
              <a:spcAft>
                <a:spcPts val="400"/>
              </a:spcAft>
            </a:pPr>
            <a:r>
              <a:rPr sz="1600" b="0">
                <a:solidFill>
                  <a:srgbClr val="182A46"/>
                </a:solidFill>
              </a:rPr>
              <a:t>Bot de Telegram creado con @BotFather</a:t>
            </a:r>
          </a:p>
        </p:txBody>
      </p:sp>
      <p:sp>
        <p:nvSpPr>
          <p:cNvPr id="11" name="Oval 10"/>
          <p:cNvSpPr/>
          <p:nvPr/>
        </p:nvSpPr>
        <p:spPr>
          <a:xfrm>
            <a:off x="594360" y="5074920"/>
            <a:ext cx="502920" cy="502920"/>
          </a:xfrm>
          <a:prstGeom prst="ellipse">
            <a:avLst/>
          </a:prstGeom>
          <a:solidFill>
            <a:srgbClr val="1B4FA8"/>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ctr">
              <a:spcAft>
                <a:spcPts val="400"/>
              </a:spcAft>
            </a:pPr>
            <a:r>
              <a:rPr sz="1600" b="1">
                <a:solidFill>
                  <a:srgbClr val="FFFFFF"/>
                </a:solidFill>
              </a:rPr>
              <a:t>5</a:t>
            </a:r>
          </a:p>
        </p:txBody>
      </p:sp>
      <p:sp>
        <p:nvSpPr>
          <p:cNvPr id="12" name="Rounded Rectangle 11"/>
          <p:cNvSpPr/>
          <p:nvPr/>
        </p:nvSpPr>
        <p:spPr>
          <a:xfrm>
            <a:off x="1280160" y="5074920"/>
            <a:ext cx="10241280" cy="502920"/>
          </a:xfrm>
          <a:prstGeom prst="roundRect">
            <a:avLst>
              <a:gd name="adj" fmla="val 7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l">
              <a:spcAft>
                <a:spcPts val="400"/>
              </a:spcAft>
            </a:pPr>
            <a:r>
              <a:rPr sz="1600" b="0">
                <a:solidFill>
                  <a:srgbClr val="182A46"/>
                </a:solidFill>
              </a:rPr>
              <a:t>Google Drive (carpeta con .md) y Google Sheets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8669" y="1954530"/>
            <a:ext cx="10972800" cy="685800"/>
          </a:xfrm>
        </p:spPr>
        <p:txBody>
          <a:bodyPr/>
          <a:lstStyle/>
          <a:p>
            <a:r>
              <a:rPr sz="3000" dirty="0">
                <a:solidFill>
                  <a:srgbClr val="182A46"/>
                </a:solidFill>
              </a:rPr>
              <a:t>Hoja de ruta del taller · 30 min</a:t>
            </a:r>
          </a:p>
        </p:txBody>
      </p:sp>
      <p:sp>
        <p:nvSpPr>
          <p:cNvPr id="6" name="Rounded Rectangle 5"/>
          <p:cNvSpPr/>
          <p:nvPr/>
        </p:nvSpPr>
        <p:spPr>
          <a:xfrm>
            <a:off x="8869679" y="3177540"/>
            <a:ext cx="2606040" cy="2183130"/>
          </a:xfrm>
          <a:prstGeom prst="roundRect">
            <a:avLst>
              <a:gd name="adj" fmla="val 7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spcAft>
                <a:spcPts val="400"/>
              </a:spcAft>
            </a:pPr>
            <a:r>
              <a:rPr sz="1800" b="1" dirty="0">
                <a:solidFill>
                  <a:srgbClr val="1B4FA8"/>
                </a:solidFill>
              </a:rPr>
              <a:t>4. Pruebas</a:t>
            </a:r>
          </a:p>
          <a:p>
            <a:pPr algn="l">
              <a:spcAft>
                <a:spcPts val="400"/>
              </a:spcAft>
            </a:pPr>
            <a:r>
              <a:rPr sz="1400" dirty="0">
                <a:solidFill>
                  <a:srgbClr val="182A46"/>
                </a:solidFill>
              </a:rPr>
              <a:t>10 </a:t>
            </a:r>
            <a:r>
              <a:rPr sz="1400" b="0" dirty="0">
                <a:solidFill>
                  <a:srgbClr val="182A46"/>
                </a:solidFill>
              </a:rPr>
              <a:t> min</a:t>
            </a:r>
          </a:p>
          <a:p>
            <a:pPr algn="l">
              <a:spcAft>
                <a:spcPts val="400"/>
              </a:spcAft>
            </a:pPr>
            <a:r>
              <a:rPr sz="1400" b="0" dirty="0">
                <a:solidFill>
                  <a:srgbClr val="182A46"/>
                </a:solidFill>
              </a:rPr>
              <a:t>Consultas reales y registro de solicitudes en </a:t>
            </a:r>
            <a:r>
              <a:rPr sz="1400" b="0" dirty="0" err="1">
                <a:solidFill>
                  <a:srgbClr val="182A46"/>
                </a:solidFill>
              </a:rPr>
              <a:t>Sheets</a:t>
            </a:r>
            <a:endParaRPr sz="1400" b="0" dirty="0">
              <a:solidFill>
                <a:srgbClr val="182A46"/>
              </a:solidFill>
            </a:endParaRPr>
          </a:p>
        </p:txBody>
      </p:sp>
      <p:sp>
        <p:nvSpPr>
          <p:cNvPr id="7" name="Rounded Rectangle 2">
            <a:extLst>
              <a:ext uri="{FF2B5EF4-FFF2-40B4-BE49-F238E27FC236}">
                <a16:creationId xmlns:a16="http://schemas.microsoft.com/office/drawing/2014/main" id="{FE524C1E-A3BA-572E-E74E-AFAB16CF873C}"/>
              </a:ext>
            </a:extLst>
          </p:cNvPr>
          <p:cNvSpPr/>
          <p:nvPr/>
        </p:nvSpPr>
        <p:spPr>
          <a:xfrm>
            <a:off x="533401" y="3177540"/>
            <a:ext cx="2606040" cy="2183130"/>
          </a:xfrm>
          <a:prstGeom prst="roundRect">
            <a:avLst>
              <a:gd name="adj" fmla="val 7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spcAft>
                <a:spcPts val="400"/>
              </a:spcAft>
            </a:pPr>
            <a:r>
              <a:rPr sz="1800" b="1" dirty="0">
                <a:solidFill>
                  <a:srgbClr val="1B4FA8"/>
                </a:solidFill>
              </a:rPr>
              <a:t>1. Datos</a:t>
            </a:r>
          </a:p>
          <a:p>
            <a:pPr algn="l">
              <a:spcAft>
                <a:spcPts val="400"/>
              </a:spcAft>
            </a:pPr>
            <a:r>
              <a:rPr sz="1400" b="0" dirty="0">
                <a:solidFill>
                  <a:srgbClr val="182A46"/>
                </a:solidFill>
              </a:rPr>
              <a:t>5 min</a:t>
            </a:r>
          </a:p>
          <a:p>
            <a:pPr algn="l">
              <a:spcAft>
                <a:spcPts val="400"/>
              </a:spcAft>
            </a:pPr>
            <a:r>
              <a:rPr sz="1400" b="0" dirty="0">
                <a:solidFill>
                  <a:srgbClr val="182A46"/>
                </a:solidFill>
              </a:rPr>
              <a:t>Ejecutar 01_crear_base_datos.sql y 02_crear_tabla_vectorial.sql</a:t>
            </a:r>
          </a:p>
        </p:txBody>
      </p:sp>
      <p:sp>
        <p:nvSpPr>
          <p:cNvPr id="8" name="Rounded Rectangle 3">
            <a:extLst>
              <a:ext uri="{FF2B5EF4-FFF2-40B4-BE49-F238E27FC236}">
                <a16:creationId xmlns:a16="http://schemas.microsoft.com/office/drawing/2014/main" id="{414FC52C-EECF-7371-2914-259097B8EEB1}"/>
              </a:ext>
            </a:extLst>
          </p:cNvPr>
          <p:cNvSpPr/>
          <p:nvPr/>
        </p:nvSpPr>
        <p:spPr>
          <a:xfrm>
            <a:off x="3322320" y="3177540"/>
            <a:ext cx="2606040" cy="2183130"/>
          </a:xfrm>
          <a:prstGeom prst="roundRect">
            <a:avLst>
              <a:gd name="adj" fmla="val 7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spcAft>
                <a:spcPts val="400"/>
              </a:spcAft>
            </a:pPr>
            <a:r>
              <a:rPr sz="1800" b="1" dirty="0">
                <a:solidFill>
                  <a:srgbClr val="1B4FA8"/>
                </a:solidFill>
              </a:rPr>
              <a:t>2. Ingesta RAG</a:t>
            </a:r>
          </a:p>
          <a:p>
            <a:pPr algn="l">
              <a:spcAft>
                <a:spcPts val="400"/>
              </a:spcAft>
            </a:pPr>
            <a:r>
              <a:rPr sz="1400" dirty="0">
                <a:solidFill>
                  <a:srgbClr val="182A46"/>
                </a:solidFill>
              </a:rPr>
              <a:t>5</a:t>
            </a:r>
            <a:r>
              <a:rPr sz="1400" b="0" dirty="0">
                <a:solidFill>
                  <a:srgbClr val="182A46"/>
                </a:solidFill>
              </a:rPr>
              <a:t> min</a:t>
            </a:r>
          </a:p>
          <a:p>
            <a:pPr algn="l">
              <a:spcAft>
                <a:spcPts val="400"/>
              </a:spcAft>
            </a:pPr>
            <a:r>
              <a:rPr sz="1400" b="0" dirty="0">
                <a:solidFill>
                  <a:srgbClr val="182A46"/>
                </a:solidFill>
              </a:rPr>
              <a:t>Importar el </a:t>
            </a:r>
            <a:r>
              <a:rPr sz="1400" b="0" dirty="0" err="1">
                <a:solidFill>
                  <a:srgbClr val="182A46"/>
                </a:solidFill>
              </a:rPr>
              <a:t>workflow</a:t>
            </a:r>
            <a:r>
              <a:rPr sz="1400" b="0" dirty="0">
                <a:solidFill>
                  <a:srgbClr val="182A46"/>
                </a:solidFill>
              </a:rPr>
              <a:t> JSON y vectorizar los documentos</a:t>
            </a:r>
          </a:p>
        </p:txBody>
      </p:sp>
      <p:sp>
        <p:nvSpPr>
          <p:cNvPr id="9" name="Rounded Rectangle 4">
            <a:extLst>
              <a:ext uri="{FF2B5EF4-FFF2-40B4-BE49-F238E27FC236}">
                <a16:creationId xmlns:a16="http://schemas.microsoft.com/office/drawing/2014/main" id="{5346C15C-B42C-066E-F000-26F5260A0BE4}"/>
              </a:ext>
            </a:extLst>
          </p:cNvPr>
          <p:cNvSpPr/>
          <p:nvPr/>
        </p:nvSpPr>
        <p:spPr>
          <a:xfrm>
            <a:off x="6111241" y="3177540"/>
            <a:ext cx="2606040" cy="2183130"/>
          </a:xfrm>
          <a:prstGeom prst="roundRect">
            <a:avLst>
              <a:gd name="adj" fmla="val 7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spcAft>
                <a:spcPts val="400"/>
              </a:spcAft>
            </a:pPr>
            <a:r>
              <a:rPr sz="1800" b="1" dirty="0">
                <a:solidFill>
                  <a:srgbClr val="1B4FA8"/>
                </a:solidFill>
              </a:rPr>
              <a:t>3. Agente</a:t>
            </a:r>
          </a:p>
          <a:p>
            <a:pPr algn="l">
              <a:spcAft>
                <a:spcPts val="400"/>
              </a:spcAft>
            </a:pPr>
            <a:r>
              <a:rPr sz="1400" b="0" dirty="0">
                <a:solidFill>
                  <a:srgbClr val="182A46"/>
                </a:solidFill>
              </a:rPr>
              <a:t>10 min</a:t>
            </a:r>
          </a:p>
          <a:p>
            <a:pPr algn="l">
              <a:spcAft>
                <a:spcPts val="400"/>
              </a:spcAft>
            </a:pPr>
            <a:r>
              <a:rPr sz="1400" b="0" dirty="0">
                <a:solidFill>
                  <a:srgbClr val="182A46"/>
                </a:solidFill>
              </a:rPr>
              <a:t>AI </a:t>
            </a:r>
            <a:r>
              <a:rPr sz="1400" b="0" dirty="0" err="1">
                <a:solidFill>
                  <a:srgbClr val="182A46"/>
                </a:solidFill>
              </a:rPr>
              <a:t>Agent</a:t>
            </a:r>
            <a:r>
              <a:rPr sz="1400" b="0" dirty="0">
                <a:solidFill>
                  <a:srgbClr val="182A46"/>
                </a:solidFill>
              </a:rPr>
              <a:t> con herramientas SQL, RAG y </a:t>
            </a:r>
            <a:r>
              <a:rPr sz="1400" b="0" dirty="0" err="1">
                <a:solidFill>
                  <a:srgbClr val="182A46"/>
                </a:solidFill>
              </a:rPr>
              <a:t>Telegram</a:t>
            </a:r>
            <a:endParaRPr sz="1400" b="0" dirty="0">
              <a:solidFill>
                <a:srgbClr val="182A46"/>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1645920"/>
            <a:ext cx="10972800" cy="685800"/>
          </a:xfrm>
        </p:spPr>
        <p:txBody>
          <a:bodyPr/>
          <a:lstStyle/>
          <a:p>
            <a:r>
              <a:rPr sz="3000">
                <a:solidFill>
                  <a:srgbClr val="182A46"/>
                </a:solidFill>
              </a:rPr>
              <a:t>Buenas prácticas de ingeniería</a:t>
            </a:r>
          </a:p>
        </p:txBody>
      </p:sp>
      <p:sp>
        <p:nvSpPr>
          <p:cNvPr id="3" name="Rounded Rectangle 2"/>
          <p:cNvSpPr/>
          <p:nvPr/>
        </p:nvSpPr>
        <p:spPr>
          <a:xfrm>
            <a:off x="594360" y="2514600"/>
            <a:ext cx="5349240" cy="1508760"/>
          </a:xfrm>
          <a:prstGeom prst="roundRect">
            <a:avLst>
              <a:gd name="adj" fmla="val 7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spcAft>
                <a:spcPts val="400"/>
              </a:spcAft>
            </a:pPr>
            <a:r>
              <a:rPr sz="1800" b="1">
                <a:solidFill>
                  <a:srgbClr val="1B4FA8"/>
                </a:solidFill>
              </a:rPr>
              <a:t>Credenciales</a:t>
            </a:r>
          </a:p>
          <a:p>
            <a:pPr algn="l">
              <a:spcAft>
                <a:spcPts val="400"/>
              </a:spcAft>
            </a:pPr>
            <a:r>
              <a:rPr sz="1400" b="0">
                <a:solidFill>
                  <a:srgbClr val="182A46"/>
                </a:solidFill>
              </a:rPr>
              <a:t>Usar el gestor de credenciales de n8n; no dejar claves en el JSON exportado.</a:t>
            </a:r>
          </a:p>
        </p:txBody>
      </p:sp>
      <p:sp>
        <p:nvSpPr>
          <p:cNvPr id="4" name="Rounded Rectangle 3"/>
          <p:cNvSpPr/>
          <p:nvPr/>
        </p:nvSpPr>
        <p:spPr>
          <a:xfrm>
            <a:off x="6217920" y="2514600"/>
            <a:ext cx="5349240" cy="1508760"/>
          </a:xfrm>
          <a:prstGeom prst="roundRect">
            <a:avLst>
              <a:gd name="adj" fmla="val 7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spcAft>
                <a:spcPts val="400"/>
              </a:spcAft>
            </a:pPr>
            <a:r>
              <a:rPr sz="1800" b="1">
                <a:solidFill>
                  <a:srgbClr val="1B4FA8"/>
                </a:solidFill>
              </a:rPr>
              <a:t>Idempotencia</a:t>
            </a:r>
          </a:p>
          <a:p>
            <a:pPr algn="l">
              <a:spcAft>
                <a:spcPts val="400"/>
              </a:spcAft>
            </a:pPr>
            <a:r>
              <a:rPr sz="1400" b="0">
                <a:solidFill>
                  <a:srgbClr val="182A46"/>
                </a:solidFill>
              </a:rPr>
              <a:t>Borrar fragmentos por fuente antes de reinsertar evita duplicados.</a:t>
            </a:r>
          </a:p>
        </p:txBody>
      </p:sp>
      <p:sp>
        <p:nvSpPr>
          <p:cNvPr id="5" name="Rounded Rectangle 4"/>
          <p:cNvSpPr/>
          <p:nvPr/>
        </p:nvSpPr>
        <p:spPr>
          <a:xfrm>
            <a:off x="594360" y="4206240"/>
            <a:ext cx="5349240" cy="1508760"/>
          </a:xfrm>
          <a:prstGeom prst="roundRect">
            <a:avLst>
              <a:gd name="adj" fmla="val 7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spcAft>
                <a:spcPts val="400"/>
              </a:spcAft>
            </a:pPr>
            <a:r>
              <a:rPr sz="1800" b="1">
                <a:solidFill>
                  <a:srgbClr val="1B4FA8"/>
                </a:solidFill>
              </a:rPr>
              <a:t>Límites y costos</a:t>
            </a:r>
          </a:p>
          <a:p>
            <a:pPr algn="l">
              <a:spcAft>
                <a:spcPts val="400"/>
              </a:spcAft>
            </a:pPr>
            <a:r>
              <a:rPr sz="1400" b="0">
                <a:solidFill>
                  <a:srgbClr val="182A46"/>
                </a:solidFill>
              </a:rPr>
              <a:t>Vigilar errores 429 y las ejecuciones incluidas en el plan free.</a:t>
            </a:r>
          </a:p>
        </p:txBody>
      </p:sp>
      <p:sp>
        <p:nvSpPr>
          <p:cNvPr id="6" name="Rounded Rectangle 5"/>
          <p:cNvSpPr/>
          <p:nvPr/>
        </p:nvSpPr>
        <p:spPr>
          <a:xfrm>
            <a:off x="6217920" y="4206240"/>
            <a:ext cx="5349240" cy="1508760"/>
          </a:xfrm>
          <a:prstGeom prst="roundRect">
            <a:avLst>
              <a:gd name="adj" fmla="val 7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spcAft>
                <a:spcPts val="400"/>
              </a:spcAft>
            </a:pPr>
            <a:r>
              <a:rPr sz="1800" b="1">
                <a:solidFill>
                  <a:srgbClr val="1B4FA8"/>
                </a:solidFill>
              </a:rPr>
              <a:t>Privacidad</a:t>
            </a:r>
          </a:p>
          <a:p>
            <a:pPr algn="l">
              <a:spcAft>
                <a:spcPts val="400"/>
              </a:spcAft>
            </a:pPr>
            <a:r>
              <a:rPr sz="1400" b="0">
                <a:solidFill>
                  <a:srgbClr val="182A46"/>
                </a:solidFill>
              </a:rPr>
              <a:t>Datos sintéticos en el taller; en producción aplicar la Ley 1581.</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1645920"/>
            <a:ext cx="10972800" cy="685800"/>
          </a:xfrm>
        </p:spPr>
        <p:txBody>
          <a:bodyPr/>
          <a:lstStyle/>
          <a:p>
            <a:r>
              <a:rPr sz="3000">
                <a:solidFill>
                  <a:srgbClr val="182A46"/>
                </a:solidFill>
              </a:rPr>
              <a:t>Preguntas y siguientes pasos</a:t>
            </a:r>
          </a:p>
        </p:txBody>
      </p:sp>
      <p:sp>
        <p:nvSpPr>
          <p:cNvPr id="3" name="Rounded Rectangle 2"/>
          <p:cNvSpPr/>
          <p:nvPr/>
        </p:nvSpPr>
        <p:spPr>
          <a:xfrm>
            <a:off x="594360" y="2560320"/>
            <a:ext cx="3474720" cy="2377440"/>
          </a:xfrm>
          <a:prstGeom prst="roundRect">
            <a:avLst>
              <a:gd name="adj" fmla="val 7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spcAft>
                <a:spcPts val="400"/>
              </a:spcAft>
            </a:pPr>
            <a:r>
              <a:rPr sz="2000" b="1">
                <a:solidFill>
                  <a:srgbClr val="1B4FA8"/>
                </a:solidFill>
              </a:rPr>
              <a:t>Evaluar el RAG</a:t>
            </a:r>
          </a:p>
          <a:p>
            <a:pPr algn="l">
              <a:spcAft>
                <a:spcPts val="400"/>
              </a:spcAft>
            </a:pPr>
            <a:r>
              <a:rPr sz="1600" b="0">
                <a:solidFill>
                  <a:srgbClr val="182A46"/>
                </a:solidFill>
              </a:rPr>
              <a:t>Medir la calidad de las respuestas con preguntas de prueba.</a:t>
            </a:r>
          </a:p>
        </p:txBody>
      </p:sp>
      <p:sp>
        <p:nvSpPr>
          <p:cNvPr id="4" name="Rounded Rectangle 3"/>
          <p:cNvSpPr/>
          <p:nvPr/>
        </p:nvSpPr>
        <p:spPr>
          <a:xfrm>
            <a:off x="4343400" y="2560320"/>
            <a:ext cx="3474720" cy="2377440"/>
          </a:xfrm>
          <a:prstGeom prst="roundRect">
            <a:avLst>
              <a:gd name="adj" fmla="val 7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spcAft>
                <a:spcPts val="400"/>
              </a:spcAft>
            </a:pPr>
            <a:r>
              <a:rPr sz="2000" b="1">
                <a:solidFill>
                  <a:srgbClr val="1B4FA8"/>
                </a:solidFill>
              </a:rPr>
              <a:t>Más agentes</a:t>
            </a:r>
          </a:p>
          <a:p>
            <a:pPr algn="l">
              <a:spcAft>
                <a:spcPts val="400"/>
              </a:spcAft>
            </a:pPr>
            <a:r>
              <a:rPr sz="1600" b="0">
                <a:solidFill>
                  <a:srgbClr val="182A46"/>
                </a:solidFill>
              </a:rPr>
              <a:t>Sumar un agente para alertas y seguimiento de la ruta.</a:t>
            </a:r>
          </a:p>
        </p:txBody>
      </p:sp>
      <p:sp>
        <p:nvSpPr>
          <p:cNvPr id="5" name="Rounded Rectangle 4"/>
          <p:cNvSpPr/>
          <p:nvPr/>
        </p:nvSpPr>
        <p:spPr>
          <a:xfrm>
            <a:off x="8092440" y="2560320"/>
            <a:ext cx="3474720" cy="2377440"/>
          </a:xfrm>
          <a:prstGeom prst="roundRect">
            <a:avLst>
              <a:gd name="adj" fmla="val 7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spcAft>
                <a:spcPts val="400"/>
              </a:spcAft>
            </a:pPr>
            <a:r>
              <a:rPr sz="2000" b="1">
                <a:solidFill>
                  <a:srgbClr val="1B4FA8"/>
                </a:solidFill>
              </a:rPr>
              <a:t>Pasar a producción</a:t>
            </a:r>
          </a:p>
          <a:p>
            <a:pPr algn="l">
              <a:spcAft>
                <a:spcPts val="400"/>
              </a:spcAft>
            </a:pPr>
            <a:r>
              <a:rPr sz="1600" b="0">
                <a:solidFill>
                  <a:srgbClr val="182A46"/>
                </a:solidFill>
              </a:rPr>
              <a:t>Escalar con modo cola y despliegue propio.</a:t>
            </a:r>
          </a:p>
        </p:txBody>
      </p:sp>
      <p:sp>
        <p:nvSpPr>
          <p:cNvPr id="6" name="Rounded Rectangle 5"/>
          <p:cNvSpPr/>
          <p:nvPr/>
        </p:nvSpPr>
        <p:spPr>
          <a:xfrm>
            <a:off x="594360" y="5074920"/>
            <a:ext cx="10972800" cy="548640"/>
          </a:xfrm>
          <a:prstGeom prst="roundRect">
            <a:avLst>
              <a:gd name="adj" fmla="val 7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ctr">
              <a:spcAft>
                <a:spcPts val="400"/>
              </a:spcAft>
            </a:pPr>
            <a:r>
              <a:rPr sz="1800" b="1" dirty="0">
                <a:solidFill>
                  <a:srgbClr val="182A46"/>
                </a:solidFill>
              </a:rPr>
              <a:t>Alfredo Díaz Claro · UNAB ·</a:t>
            </a:r>
          </a:p>
        </p:txBody>
      </p:sp>
    </p:spTree>
  </p:cSld>
  <p:clrMapOvr>
    <a:masterClrMapping/>
  </p:clrMapOvr>
</p:sld>
</file>

<file path=ppt/theme/theme1.xml><?xml version="1.0" encoding="utf-8"?>
<a:theme xmlns:a="http://schemas.openxmlformats.org/drawingml/2006/main" name="Personalizar">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72332797_TF78853419_Win32" id="{89881BBC-4720-4DBD-B653-230ED84EDDDD}" vid="{D5D0700E-9D65-401B-B37B-B3D39C01EE22}"/>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C21FFAC0-05A2-416A-B06C-C248395482CF}">
  <ds:schemaRefs>
    <ds:schemaRef ds:uri="http://schemas.microsoft.com/sharepoint/v3/contenttype/forms"/>
  </ds:schemaRefs>
</ds:datastoreItem>
</file>

<file path=customXml/itemProps2.xml><?xml version="1.0" encoding="utf-8"?>
<ds:datastoreItem xmlns:ds="http://schemas.openxmlformats.org/officeDocument/2006/customXml" ds:itemID="{92DB9E12-8AC3-4138-BF4D-720A5525AB1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F4B194E-8B30-4377-8C59-ECFB902D2A26}">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{9206A260-B746-4F20-ADD6-50C3B94EDA30}TFd3b75063-ff25-434d-b12c-efeaf07d16c3e7f35a69_win32-0d75b5563924</Template>
  <TotalTime>447</TotalTime>
  <Words>1861</Words>
  <Application>Microsoft Office PowerPoint</Application>
  <PresentationFormat>Panorámica</PresentationFormat>
  <Paragraphs>332</Paragraphs>
  <Slides>24</Slides>
  <Notes>17</Notes>
  <HiddenSlides>0</HiddenSlides>
  <MMClips>0</MMClips>
  <ScaleCrop>false</ScaleCrop>
  <HeadingPairs>
    <vt:vector size="6" baseType="variant">
      <vt:variant>
        <vt:lpstr>Fuentes usadas</vt:lpstr>
      </vt:variant>
      <vt:variant>
        <vt:i4>9</vt:i4>
      </vt:variant>
      <vt:variant>
        <vt:lpstr>Tema</vt:lpstr>
      </vt:variant>
      <vt:variant>
        <vt:i4>1</vt:i4>
      </vt:variant>
      <vt:variant>
        <vt:lpstr>Títulos de diapositiva</vt:lpstr>
      </vt:variant>
      <vt:variant>
        <vt:i4>24</vt:i4>
      </vt:variant>
    </vt:vector>
  </HeadingPairs>
  <TitlesOfParts>
    <vt:vector size="34" baseType="lpstr">
      <vt:lpstr>Aptos</vt:lpstr>
      <vt:lpstr>Arial</vt:lpstr>
      <vt:lpstr>Calibri</vt:lpstr>
      <vt:lpstr>Franklin Gothic Book</vt:lpstr>
      <vt:lpstr>Franklin Gothic Demi</vt:lpstr>
      <vt:lpstr>Google Sans</vt:lpstr>
      <vt:lpstr>Plus Jakarta Sans</vt:lpstr>
      <vt:lpstr>Space Grotesk</vt:lpstr>
      <vt:lpstr>Trebuchet MS</vt:lpstr>
      <vt:lpstr>Personalizar</vt:lpstr>
      <vt:lpstr>Presentación de PowerPoint</vt:lpstr>
      <vt:lpstr>Orquestación de Agentes Inteligentes con n8n: Integración de sistemas multiagente con aplicaciones móviles para proyectos de ingeniería (Conferencia con taller demostrativo) </vt:lpstr>
      <vt:lpstr>Agenda: conferencia y taller demostrativo</vt:lpstr>
      <vt:lpstr>Agentes de IA para proyectos de ingeniería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Del chatbot al sistema multiagente</vt:lpstr>
      <vt:lpstr>Presentación de PowerPoint</vt:lpstr>
      <vt:lpstr>Presentación de PowerPoint</vt:lpstr>
      <vt:lpstr>Presentación de PowerPoint</vt:lpstr>
      <vt:lpstr>Presentación de PowerPoint</vt:lpstr>
      <vt:lpstr>Presentación de PowerPoint</vt:lpstr>
      <vt:lpstr>Caso base: Competencias Digitales Universidad</vt:lpstr>
      <vt:lpstr>Pipeline RAG: ingesta de documentos</vt:lpstr>
      <vt:lpstr>El agente en n8n y la conexión con el móvil</vt:lpstr>
      <vt:lpstr>Prerrequisitos del taller (cuenta free)</vt:lpstr>
      <vt:lpstr>Hoja de ruta del taller · 30 min</vt:lpstr>
      <vt:lpstr>Buenas prácticas de ingeniería</vt:lpstr>
      <vt:lpstr>Preguntas y siguientes pasos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Francisco Javier Giraldo Bustamante</dc:creator>
  <cp:lastModifiedBy>Ximena Patricia Mattinez Arciniegas</cp:lastModifiedBy>
  <cp:revision>11</cp:revision>
  <dcterms:created xsi:type="dcterms:W3CDTF">2026-10-15T21:36:20Z</dcterms:created>
  <dcterms:modified xsi:type="dcterms:W3CDTF">2026-10-29T16:14:13Z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