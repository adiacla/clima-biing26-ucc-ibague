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47"/>
  </p:notesMasterIdLst>
  <p:handoutMasterIdLst>
    <p:handoutMasterId r:id="rId48"/>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D9FF"/>
    <a:srgbClr val="064091"/>
    <a:srgbClr val="072465"/>
    <a:srgbClr val="567B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3447" autoAdjust="0"/>
  </p:normalViewPr>
  <p:slideViewPr>
    <p:cSldViewPr snapToGrid="0">
      <p:cViewPr varScale="1">
        <p:scale>
          <a:sx n="59" d="100"/>
          <a:sy n="59" d="100"/>
        </p:scale>
        <p:origin x="964"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7" d="100"/>
          <a:sy n="97" d="100"/>
        </p:scale>
        <p:origin x="2868"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E92A46E5-772B-4A8A-A167-62663A29553C}" type="datetime1">
              <a:rPr lang="es-ES" smtClean="0"/>
              <a:t>28/10/2026</a:t>
            </a:fld>
            <a:endParaRPr lang="es-ES" dirty="0"/>
          </a:p>
        </p:txBody>
      </p:sp>
      <p:sp>
        <p:nvSpPr>
          <p:cNvPr id="6" name="Marcador de número de diapositiva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2C230DF-5933-439D-898F-38E9AC9BA688}" type="slidenum">
              <a:rPr lang="es-ES" smtClean="0"/>
              <a:t>‹Nº›</a:t>
            </a:fld>
            <a:endParaRPr lang="es-ES" dirty="0"/>
          </a:p>
        </p:txBody>
      </p:sp>
      <p:sp>
        <p:nvSpPr>
          <p:cNvPr id="7" name="Marcador de pie de página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8" name="Marcador de encabezado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16DB30B6-91B7-493F-B445-96E1D2848A7B}" type="datetime1">
              <a:rPr lang="es-ES" smtClean="0"/>
              <a:t>28/10/2026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A89C7E07-3C67-C64C-8DA0-0404F6303970}" type="slidenum">
              <a:rPr lang="es-ES" smtClean="0"/>
              <a:t>‹Nº›</a:t>
            </a:fld>
            <a:endParaRPr lang="es-E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1 min.</a:t>
            </a:r>
          </a:p>
          <a:p>
            <a:r>
              <a:rPr dirty="0"/>
              <a:t>NARRACIÓN: Bienvenidos. En esta sesión vamos a recorrer, desde cero, cómo se gobierna y se gestiona la inteligencia artificial dentro de una organización. No necesitan experiencia previa en gobernanza: basta con tener nociones de datos y de software. Veremos los conceptos, los marcos normativos —ISO 42001, el EU AI </a:t>
            </a:r>
            <a:r>
              <a:rPr dirty="0" err="1"/>
              <a:t>Act</a:t>
            </a:r>
            <a:r>
              <a:rPr dirty="0"/>
              <a:t> y el marco colombiano— y, sobre todo, las herramientas con las que se mide y se demuestra que una IA está bajo control: GitHub, DVC, </a:t>
            </a:r>
            <a:r>
              <a:rPr dirty="0" err="1"/>
              <a:t>MLflow</a:t>
            </a:r>
            <a:r>
              <a:rPr dirty="0"/>
              <a:t>, SHAP, </a:t>
            </a:r>
            <a:r>
              <a:rPr dirty="0" err="1"/>
              <a:t>TensorBoard</a:t>
            </a:r>
            <a:r>
              <a:rPr dirty="0"/>
              <a:t> y los sistemas de gestión ISO.</a:t>
            </a:r>
          </a:p>
          <a:p>
            <a:r>
              <a:rPr dirty="0"/>
              <a:t>TÉRMINOS CLAVE:</a:t>
            </a:r>
          </a:p>
          <a:p>
            <a:r>
              <a:rPr dirty="0"/>
              <a:t>- Gobernanza de IA: reglas, roles y supervisión que orientan el uso de la IA en una organización.</a:t>
            </a:r>
          </a:p>
          <a:p>
            <a:r>
              <a:rPr dirty="0"/>
              <a:t>- Gestión de IA: procesos y controles con los que esas reglas se aplican día a día.</a:t>
            </a:r>
          </a:p>
          <a:p>
            <a:r>
              <a:rPr dirty="0"/>
              <a:t>- Evidencia: registro o prueba que demuestra que un control funciona.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1 min.</a:t>
            </a:r>
          </a:p>
          <a:p>
            <a:r>
              <a:rPr dirty="0"/>
              <a:t>NARRACIÓN: Esta es la ruta en seis bloques. Primero los fundamentos: vocabulario, diferencia entre gobernanza y gestión, y quién hace qué. Segundo, por qué gobernar: riesgos y casos reales. Tercero, los marcos y normas que debemos conocer. Cuarto, el modelo de gobernanza mínima viable, que calibra el control según el riesgo. Quinto, el ciclo de vida de un sistema de IA y, muy importante, cómo se mide y con qué herramientas. Y sexto, cómo implementarlo y cómo seguir aprendiendo.</a:t>
            </a:r>
          </a:p>
          <a:p>
            <a:r>
              <a:rPr dirty="0"/>
              <a:t>TÉRMINOS CLAVE:</a:t>
            </a:r>
          </a:p>
          <a:p>
            <a:r>
              <a:rPr dirty="0"/>
              <a:t>- MVG (</a:t>
            </a:r>
            <a:r>
              <a:rPr dirty="0" err="1"/>
              <a:t>Minimum</a:t>
            </a:r>
            <a:r>
              <a:rPr dirty="0"/>
              <a:t> Viable </a:t>
            </a:r>
            <a:r>
              <a:rPr dirty="0" err="1"/>
              <a:t>Governance</a:t>
            </a:r>
            <a:r>
              <a:rPr dirty="0"/>
              <a:t>): gobernanza mínima viable; el nivel de control suficiente, ni más ni menos, para cada sistema.</a:t>
            </a:r>
          </a:p>
          <a:p>
            <a:r>
              <a:rPr dirty="0"/>
              <a:t>- Ciclo de vida: fases por las que pasa un sistema de IA, desde los datos hasta su operación y retiro.</a:t>
            </a:r>
          </a:p>
          <a:p>
            <a:r>
              <a:rPr dirty="0"/>
              <a:t>- Métrica: medida cuantitativa que permite saber si un control funciona.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1.5 min.</a:t>
            </a:r>
          </a:p>
          <a:p>
            <a:r>
              <a:rPr dirty="0"/>
              <a:t>NARRACIÓN: Estos son los cuatro resultados de aprendizaje. Al final podrán explicar la diferencia entre gobernanza y gestión y los roles que intervienen; clasificar un sistema de IA según su riesgo; relacionar las normas con controles concretos; y elegir herramientas que generen evidencia medible. Esta sesión está pensada para estudiantes y profesionales que están empezando, así que iremos de lo conceptual a lo práctico.</a:t>
            </a:r>
          </a:p>
          <a:p>
            <a:r>
              <a:rPr dirty="0"/>
              <a:t>TÉRMINOS CLAVE:</a:t>
            </a:r>
          </a:p>
          <a:p>
            <a:r>
              <a:rPr dirty="0"/>
              <a:t>- Resultado de aprendizaje: lo que la persona será capaz de hacer al finalizar.</a:t>
            </a:r>
          </a:p>
          <a:p>
            <a:r>
              <a:rPr dirty="0"/>
              <a:t>- Clasificar por riesgo: asignar a un sistema un nivel de control según su impacto potencial.</a:t>
            </a:r>
          </a:p>
          <a:p>
            <a:r>
              <a:rPr dirty="0"/>
              <a:t>- Evidencia medible: prueba verificable, como un registro, una métrica o un informe.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Antes de gobernar hay que hablar el mismo idioma. Un sistema de IA toma datos y produce predicciones, recomendaciones o contenido. El modelo es el componente matemático que aprendió de los datos de entrenamiento. La IA generativa crea texto, imágenes o código. El riesgo combina la probabilidad de que algo falle con su impacto. El sesgo es un error sistemático que perjudica a ciertos grupos. La </a:t>
            </a:r>
            <a:r>
              <a:rPr dirty="0" err="1"/>
              <a:t>explicabilidad</a:t>
            </a:r>
            <a:r>
              <a:rPr dirty="0"/>
              <a:t> es poder decir por qué el sistema dio cierta salida. Y la evidencia es la prueba de que un control se cumple. Con estos ocho términos podemos seguir el resto de la sesión.</a:t>
            </a:r>
          </a:p>
          <a:p>
            <a:r>
              <a:rPr dirty="0"/>
              <a:t>TÉRMINOS CLAVE:</a:t>
            </a:r>
          </a:p>
          <a:p>
            <a:r>
              <a:rPr dirty="0"/>
              <a:t>- Sistema de IA (ISO/IEC 22989): sistema que genera salidas como predicciones, contenidos o decisiones a partir de datos.</a:t>
            </a:r>
          </a:p>
          <a:p>
            <a:r>
              <a:rPr dirty="0"/>
              <a:t>- Datos de entrenamiento: ejemplos con los que el modelo aprende.</a:t>
            </a:r>
          </a:p>
          <a:p>
            <a:r>
              <a:rPr dirty="0"/>
              <a:t>- Sesgo algorítmico: error sistemático que genera resultados injustos para ciertos grupos.</a:t>
            </a:r>
          </a:p>
          <a:p>
            <a:r>
              <a:rPr dirty="0"/>
              <a:t>- </a:t>
            </a:r>
            <a:r>
              <a:rPr dirty="0" err="1"/>
              <a:t>Explicabilidad</a:t>
            </a:r>
            <a:r>
              <a:rPr dirty="0"/>
              <a:t>: capacidad de justificar una salida concreta del modelo.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1.5 min.</a:t>
            </a:r>
          </a:p>
          <a:p>
            <a:r>
              <a:rPr dirty="0"/>
              <a:t>NARRACIÓN: La idea central está en la frase de la parte superior: hacer un </a:t>
            </a:r>
            <a:r>
              <a:rPr dirty="0" err="1"/>
              <a:t>prompt</a:t>
            </a:r>
            <a:r>
              <a:rPr dirty="0"/>
              <a:t> o un GPT no es desarrollar software institucional. Cuando una solución funciona, tendemos a creer que ya es una solución empresarial. Pero si no tiene ingeniería, pruebas de calidad ni cumplimiento legal, es un pasivo esperando materializarse. Ese pasivo tiene tres caras. Operativo: modelos que se degradan en silencio. Reputacional: sesgos o fugas de datos que dañan la confianza. Regulatorio: sanciones por incumplir la Ley 1581, la Circular 002 de 2024 de la SIC o el EU AI </a:t>
            </a:r>
            <a:r>
              <a:rPr dirty="0" err="1"/>
              <a:t>Act</a:t>
            </a:r>
            <a:r>
              <a:rPr dirty="0"/>
              <a:t>.</a:t>
            </a:r>
          </a:p>
          <a:p>
            <a:r>
              <a:rPr dirty="0"/>
              <a:t>TÉRMINOS CLAVE:</a:t>
            </a:r>
          </a:p>
          <a:p>
            <a:r>
              <a:rPr dirty="0"/>
              <a:t>- Pasivo operativo: costo o riesgo futuro que se acumula por decisiones técnicas sin control.</a:t>
            </a:r>
          </a:p>
          <a:p>
            <a:r>
              <a:rPr dirty="0"/>
              <a:t>- CI/CD: integración y entrega continuas; automatización para probar y publicar cambios de forma ordenada.</a:t>
            </a:r>
          </a:p>
          <a:p>
            <a:r>
              <a:rPr dirty="0"/>
              <a:t>- </a:t>
            </a:r>
            <a:r>
              <a:rPr dirty="0" err="1"/>
              <a:t>Versionamiento</a:t>
            </a:r>
            <a:r>
              <a:rPr dirty="0"/>
              <a:t>: guardar cada versión de datos, código y modelo para poder reproducir y revertir.</a:t>
            </a:r>
          </a:p>
          <a:p>
            <a:r>
              <a:rPr dirty="0"/>
              <a:t>- Trazabilidad: capacidad de reconstruir quién hizo qué, con qué datos y cuándo.</a:t>
            </a:r>
          </a:p>
          <a:p>
            <a:r>
              <a:rPr dirty="0"/>
              <a:t>- SIC: Superintendencia de Industria y Comercio, autoridad de protección de datos personales en Colombia.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1.5 min.</a:t>
            </a:r>
          </a:p>
          <a:p>
            <a:r>
              <a:rPr dirty="0"/>
              <a:t>NARRACIÓN: Shadow AI, o IA en la sombra, es la IA que se usa sin que el área de tecnología ni la organización lo sepan. Es la trampa de la productividad aparente: la persona gana tiempo, pero la organización pierde control. Muchas herramientas gratuitas pueden usar lo que reciben para mejorar sus modelos, según sus términos de servicio; entonces los datos salen de la custodia de la empresa. Fíjense en el mensaje de cierre: no se trata de prohibir, sino de ofrecer una alternativa aprobada, segura y trazable.</a:t>
            </a:r>
          </a:p>
          <a:p>
            <a:r>
              <a:rPr dirty="0"/>
              <a:t>TÉRMINOS CLAVE:</a:t>
            </a:r>
          </a:p>
          <a:p>
            <a:r>
              <a:rPr dirty="0"/>
              <a:t>- Shadow AI (IA en la sombra): uso de herramientas de IA fuera del control y del inventario de la organización.</a:t>
            </a:r>
          </a:p>
          <a:p>
            <a:r>
              <a:rPr dirty="0"/>
              <a:t>- Reentrenamiento: usar datos recibidos para seguir entrenando un modelo.</a:t>
            </a:r>
          </a:p>
          <a:p>
            <a:r>
              <a:rPr dirty="0"/>
              <a:t>- Alucinación: respuesta inventada pero presentada como cierta por un modelo generativo.</a:t>
            </a:r>
          </a:p>
          <a:p>
            <a:r>
              <a:rPr dirty="0"/>
              <a:t>- DLP (Data </a:t>
            </a:r>
            <a:r>
              <a:rPr dirty="0" err="1"/>
              <a:t>Loss</a:t>
            </a:r>
            <a:r>
              <a:rPr dirty="0"/>
              <a:t> </a:t>
            </a:r>
            <a:r>
              <a:rPr dirty="0" err="1"/>
              <a:t>Prevention</a:t>
            </a:r>
            <a:r>
              <a:rPr dirty="0"/>
              <a:t>): controles que detectan y bloquean la salida de información sensible.</a:t>
            </a:r>
          </a:p>
          <a:p>
            <a:r>
              <a:rPr dirty="0"/>
              <a:t>- Agente de código: asistente de IA que lee y escribe código sobre repositorios.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Estos cuatro casos públicos ayudan a entender por qué existen las normas. En 2018, Reuters informó que Amazon descartó una herramienta experimental de selección de hojas de vida que penalizaba perfiles asociados a mujeres. En 2016, </a:t>
            </a:r>
            <a:r>
              <a:rPr dirty="0" err="1"/>
              <a:t>ProPublica</a:t>
            </a:r>
            <a:r>
              <a:rPr dirty="0"/>
              <a:t> analizó un sistema de riesgo de reincidencia en Estados Unidos y reportó tasas de error distintas por grupo racial; hay un debate técnico sobre qué métrica de equidad usar, y justamente por eso hay que definirla antes. En 2024, un tribunal de Canadá responsabilizó a Air </a:t>
            </a:r>
            <a:r>
              <a:rPr dirty="0" err="1"/>
              <a:t>Canada</a:t>
            </a:r>
            <a:r>
              <a:rPr dirty="0"/>
              <a:t> por información errónea de su </a:t>
            </a:r>
            <a:r>
              <a:rPr dirty="0" err="1"/>
              <a:t>chatbot</a:t>
            </a:r>
            <a:r>
              <a:rPr dirty="0"/>
              <a:t>. Y en 2023 se informó que empleados de Samsung pegaron código fuente en un chat público, lo que llevó a restringir su uso. Cada caso apunta a un control concreto. Les recomiendo consultar las fuentes originales.</a:t>
            </a:r>
          </a:p>
          <a:p>
            <a:r>
              <a:rPr dirty="0"/>
              <a:t>TÉRMINOS CLAVE:</a:t>
            </a:r>
          </a:p>
          <a:p>
            <a:r>
              <a:rPr dirty="0"/>
              <a:t>- Sesgo en datos históricos: el modelo reproduce patrones injustos presentes en los datos con los que aprendió.</a:t>
            </a:r>
          </a:p>
          <a:p>
            <a:r>
              <a:rPr dirty="0"/>
              <a:t>- Responsabilidad por el </a:t>
            </a:r>
            <a:r>
              <a:rPr dirty="0" err="1"/>
              <a:t>chatbot</a:t>
            </a:r>
            <a:r>
              <a:rPr dirty="0"/>
              <a:t>: la organización responde por lo que dice su sistema de IA.</a:t>
            </a:r>
          </a:p>
          <a:p>
            <a:r>
              <a:rPr dirty="0"/>
              <a:t>- Métricas de equidad: medidas para comparar resultados entre grupos; existen varias y no siempre son compatibles.</a:t>
            </a:r>
          </a:p>
          <a:p>
            <a:r>
              <a:rPr dirty="0"/>
              <a:t>- Fuga de datos: salida no autorizada de información confidencial.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Muchas organizaciones confunden gobernanza con gestión. A la izquierda, la gobernanza responde tres preguntas: qué se permite, quién decide y por qué. Son políticas, roles, apetito de riesgo y supervisión independiente, y la norma de referencia es la ISO/IEC 38507. A la derecha, la gestión responde cómo se hace: inventario, ciclo de vida, controles técnicos y mejora, y su norma es la ISO/IEC 42001, que establece un sistema de gestión de IA. La gestión convierte las decisiones de gobernanza en controles y en evidencia verificable.</a:t>
            </a:r>
          </a:p>
          <a:p>
            <a:r>
              <a:rPr dirty="0"/>
              <a:t>TÉRMINOS CLAVE:</a:t>
            </a:r>
          </a:p>
          <a:p>
            <a:r>
              <a:rPr dirty="0"/>
              <a:t>- Comité de IA: grupo con representantes de negocio, tecnología, legal y riesgos que decide y supervisa el uso de IA.</a:t>
            </a:r>
          </a:p>
          <a:p>
            <a:r>
              <a:rPr dirty="0"/>
              <a:t>- Apetito de riesgo: nivel de riesgo que la organización acepta asumir.</a:t>
            </a:r>
          </a:p>
          <a:p>
            <a:r>
              <a:rPr dirty="0"/>
              <a:t>- AIMS (AI Management </a:t>
            </a:r>
            <a:r>
              <a:rPr dirty="0" err="1"/>
              <a:t>System</a:t>
            </a:r>
            <a:r>
              <a:rPr dirty="0"/>
              <a:t>): sistema de gestión de IA según ISO/IEC 42001.</a:t>
            </a:r>
          </a:p>
          <a:p>
            <a:r>
              <a:rPr dirty="0"/>
              <a:t>- Auditoría independiente: revisión hecha por alguien ajeno al equipo que construyó el sistema.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La gobernanza no es solo de tecnología. La alta dirección fija el rumbo y el apetito de riesgo. El comité de IA aprueba políticas y clasifica los sistemas de mayor riesgo. El dueño del sistema es quien responde por su propósito y resultados. El equipo técnico —datos, modelos y </a:t>
            </a:r>
            <a:r>
              <a:rPr dirty="0" err="1"/>
              <a:t>MLOps</a:t>
            </a:r>
            <a:r>
              <a:rPr dirty="0"/>
              <a:t>— construye y opera con los controles. Legal, privacidad y riesgos verifican el cumplimiento. Y la auditoría revisa de forma independiente. La regla práctica: quien construye no es quien audita, y nadie aprueba su propio trabajo.</a:t>
            </a:r>
          </a:p>
          <a:p>
            <a:r>
              <a:rPr dirty="0"/>
              <a:t>TÉRMINOS CLAVE:</a:t>
            </a:r>
          </a:p>
          <a:p>
            <a:r>
              <a:rPr dirty="0"/>
              <a:t>- Segregación de funciones: separar quién hace, quién aprueba y quién audita.</a:t>
            </a:r>
          </a:p>
          <a:p>
            <a:r>
              <a:rPr dirty="0"/>
              <a:t>- Dueño del sistema (</a:t>
            </a:r>
            <a:r>
              <a:rPr dirty="0" err="1"/>
              <a:t>system</a:t>
            </a:r>
            <a:r>
              <a:rPr dirty="0"/>
              <a:t> </a:t>
            </a:r>
            <a:r>
              <a:rPr dirty="0" err="1"/>
              <a:t>owner</a:t>
            </a:r>
            <a:r>
              <a:rPr dirty="0"/>
              <a:t>): persona responsable de un sistema de IA durante su ciclo de vida.</a:t>
            </a:r>
          </a:p>
          <a:p>
            <a:r>
              <a:rPr dirty="0"/>
              <a:t>- RACI: matriz que define quién es Responsable, Aprobador, Consultado e Informado en cada actividad.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Para no perdernos entre tantas siglas, organicemos todo en cuatro capas. Arriba, los principios éticos: OCDE, UNESCO y los siete requisitos del grupo de expertos europeo. Debajo, los estándares técnicos voluntarios: ISO 42001 para gestión, 23894 para riesgos, 5259 para calidad de datos y 22989 para terminología. Luego, la regulación obligatoria: el EU AI </a:t>
            </a:r>
            <a:r>
              <a:rPr dirty="0" err="1"/>
              <a:t>Act</a:t>
            </a:r>
            <a:r>
              <a:rPr dirty="0"/>
              <a:t>, la Ley 1581, la Circular de la SIC y la Sentencia T-323 de 2024; el CONPES 4144 es la política nacional. Y en la base, las herramientas y la evidencia: aquí viven GitHub, DVC, </a:t>
            </a:r>
            <a:r>
              <a:rPr dirty="0" err="1"/>
              <a:t>MLflow</a:t>
            </a:r>
            <a:r>
              <a:rPr dirty="0"/>
              <a:t>, SHAP y los sistemas de gestión. Un control se implementa una vez y se evidencia muchas veces.</a:t>
            </a:r>
          </a:p>
          <a:p>
            <a:r>
              <a:rPr dirty="0"/>
              <a:t>TÉRMINOS CLAVE:</a:t>
            </a:r>
          </a:p>
          <a:p>
            <a:r>
              <a:rPr dirty="0"/>
              <a:t>- OCDE: organización que publicó principios de IA adoptados por muchos países.</a:t>
            </a:r>
          </a:p>
          <a:p>
            <a:r>
              <a:rPr dirty="0"/>
              <a:t>- UNESCO: su Recomendación de 2021 es el primer instrumento global sobre ética de la IA.</a:t>
            </a:r>
          </a:p>
          <a:p>
            <a:r>
              <a:rPr dirty="0"/>
              <a:t>- HLEG-AI: grupo de expertos de alto nivel de la Comisión Europea que definió la IA confiable.</a:t>
            </a:r>
          </a:p>
          <a:p>
            <a:r>
              <a:rPr dirty="0"/>
              <a:t>- Estándar vs. regulación: un estándar (ISO) es voluntario; una regulación (ley, sentencia) es obligatoria.</a:t>
            </a:r>
          </a:p>
          <a:p>
            <a:r>
              <a:rPr dirty="0"/>
              <a:t>- CONPES 4144: política nacional de IA de Colombia, aprobada en 2025.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Estos son los siete requisitos de una IA confiable del grupo de expertos de la Comisión Europea: supervisión humana, solidez técnica y seguridad, privacidad y gobernanza de datos, transparencia, diversidad y no discriminación, bienestar social y ambiental, y rendición de cuentas. Son la base ética del EU AI </a:t>
            </a:r>
            <a:r>
              <a:rPr dirty="0" err="1"/>
              <a:t>Act</a:t>
            </a:r>
            <a:r>
              <a:rPr dirty="0"/>
              <a:t>. La tarjeta naranja es el puente con lo que viene: cada requisito debe poder demostrarse con evidencia medible, y más adelante veremos con qué herramientas.</a:t>
            </a:r>
          </a:p>
          <a:p>
            <a:r>
              <a:rPr dirty="0"/>
              <a:t>TÉRMINOS CLAVE:</a:t>
            </a:r>
          </a:p>
          <a:p>
            <a:r>
              <a:rPr dirty="0"/>
              <a:t>- IA confiable: IA lícita, ética y robusta.</a:t>
            </a:r>
          </a:p>
          <a:p>
            <a:r>
              <a:rPr dirty="0"/>
              <a:t>- </a:t>
            </a:r>
            <a:r>
              <a:rPr dirty="0" err="1"/>
              <a:t>Explicabilidad</a:t>
            </a:r>
            <a:r>
              <a:rPr dirty="0"/>
              <a:t>: capacidad de explicar por qué el sistema llegó a una salida concreta.</a:t>
            </a:r>
          </a:p>
          <a:p>
            <a:r>
              <a:rPr dirty="0"/>
              <a:t>- Sesgo algorítmico: error sistemático que genera resultados injustos para ciertos grupos.</a:t>
            </a:r>
          </a:p>
          <a:p>
            <a:r>
              <a:rPr dirty="0"/>
              <a:t>- Rendición de cuentas: tener responsables identificables que respondan por el sistema.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Llegamos al modelo MVG, o gobernanza mínima viable. Resuelve una pregunta práctica: ¿cuánta gobernanza es suficiente? Imaginen dos límites. El suelo son los controles ineludibles: protección de datos, </a:t>
            </a:r>
            <a:r>
              <a:rPr dirty="0" err="1"/>
              <a:t>explicabilidad</a:t>
            </a:r>
            <a:r>
              <a:rPr dirty="0"/>
              <a:t> en decisiones que afectan a personas, reportes de riesgo al regulador. Ningún sistema opera por debajo del suelo. El techo es la agilidad que la organización necesita para innovar: no tiene sentido exigirle a un asistente interno de código el mismo control que a un motor de </a:t>
            </a:r>
            <a:r>
              <a:rPr dirty="0" err="1"/>
              <a:t>scoring</a:t>
            </a:r>
            <a:r>
              <a:rPr dirty="0"/>
              <a:t> de crédito. Calibrar entre suelo y techo, sistema por sistema, es el trabajo. El modelo está inspirado en ISHIR y MIT Sloan.</a:t>
            </a:r>
          </a:p>
          <a:p>
            <a:r>
              <a:rPr dirty="0"/>
              <a:t>TÉRMINOS CLAVE:</a:t>
            </a:r>
          </a:p>
          <a:p>
            <a:r>
              <a:rPr dirty="0"/>
              <a:t>- Suelo (</a:t>
            </a:r>
            <a:r>
              <a:rPr dirty="0" err="1"/>
              <a:t>floor</a:t>
            </a:r>
            <a:r>
              <a:rPr dirty="0"/>
              <a:t>): conjunto mínimo de controles obligatorios para todo sistema.</a:t>
            </a:r>
          </a:p>
          <a:p>
            <a:r>
              <a:rPr dirty="0"/>
              <a:t>- Techo (</a:t>
            </a:r>
            <a:r>
              <a:rPr dirty="0" err="1"/>
              <a:t>ceiling</a:t>
            </a:r>
            <a:r>
              <a:rPr dirty="0"/>
              <a:t>): límite de burocracia aceptable para no frenar la innovación.</a:t>
            </a:r>
          </a:p>
          <a:p>
            <a:r>
              <a:rPr dirty="0"/>
              <a:t>- Calibrar: ajustar la profundidad del control según el riesgo del sistema.</a:t>
            </a:r>
          </a:p>
          <a:p>
            <a:r>
              <a:rPr dirty="0"/>
              <a:t>- Habeas Data: derecho de las personas a conocer, actualizar y rectificar sus datos.</a:t>
            </a:r>
          </a:p>
          <a:p>
            <a:r>
              <a:rPr dirty="0"/>
              <a:t>- SARO: Sistema de Administración de Riesgo Operativo, exigido en el sector financiero colombiano.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El resultado de calibrar suelo y techo es una clasificación por niveles, que llamamos </a:t>
            </a:r>
            <a:r>
              <a:rPr dirty="0" err="1"/>
              <a:t>tiers</a:t>
            </a:r>
            <a:r>
              <a:rPr dirty="0"/>
              <a:t>. Se inspira en la pirámide de riesgo del EU AI </a:t>
            </a:r>
            <a:r>
              <a:rPr dirty="0" err="1"/>
              <a:t>Act</a:t>
            </a:r>
            <a:r>
              <a:rPr dirty="0"/>
              <a:t>. Prohibido: prácticas como la manipulación o el </a:t>
            </a:r>
            <a:r>
              <a:rPr dirty="0" err="1"/>
              <a:t>scoring</a:t>
            </a:r>
            <a:r>
              <a:rPr dirty="0"/>
              <a:t> social; no se despliegan. </a:t>
            </a:r>
            <a:r>
              <a:rPr dirty="0" err="1"/>
              <a:t>Tier</a:t>
            </a:r>
            <a:r>
              <a:rPr dirty="0"/>
              <a:t> 1, mínimo: uso interno de baja exposición; basta con inventario y una política de uso aceptable. </a:t>
            </a:r>
            <a:r>
              <a:rPr dirty="0" err="1"/>
              <a:t>Tier</a:t>
            </a:r>
            <a:r>
              <a:rPr dirty="0"/>
              <a:t> 2, limitado: hay interacción con personas; el requisito clave es la transparencia, avisar que es IA. </a:t>
            </a:r>
            <a:r>
              <a:rPr dirty="0" err="1"/>
              <a:t>Tier</a:t>
            </a:r>
            <a:r>
              <a:rPr dirty="0"/>
              <a:t> 3, alto riesgo: afecta derechos o acceso a servicios esenciales, como el crédito; exige evaluación de impacto, </a:t>
            </a:r>
            <a:r>
              <a:rPr dirty="0" err="1"/>
              <a:t>explicabilidad</a:t>
            </a:r>
            <a:r>
              <a:rPr dirty="0"/>
              <a:t>, registros y supervisión humana. El suelo aplica a todos; lo que crece con el </a:t>
            </a:r>
            <a:r>
              <a:rPr dirty="0" err="1"/>
              <a:t>tier</a:t>
            </a:r>
            <a:r>
              <a:rPr dirty="0"/>
              <a:t> es la profundidad del control.</a:t>
            </a:r>
          </a:p>
          <a:p>
            <a:r>
              <a:rPr dirty="0"/>
              <a:t>TÉRMINOS CLAVE:</a:t>
            </a:r>
          </a:p>
          <a:p>
            <a:r>
              <a:rPr dirty="0"/>
              <a:t>- </a:t>
            </a:r>
            <a:r>
              <a:rPr dirty="0" err="1"/>
              <a:t>Tier</a:t>
            </a:r>
            <a:r>
              <a:rPr dirty="0"/>
              <a:t>: nivel de clasificación de riesgo de un sistema.</a:t>
            </a:r>
          </a:p>
          <a:p>
            <a:r>
              <a:rPr dirty="0"/>
              <a:t>- Evaluación de impacto de IA: análisis previo de cómo un sistema puede afectar a personas y derechos.</a:t>
            </a:r>
          </a:p>
          <a:p>
            <a:r>
              <a:rPr dirty="0"/>
              <a:t>- Supervisión humana: capacidad de una persona de revisar, corregir o detener el sistema.</a:t>
            </a:r>
          </a:p>
          <a:p>
            <a:r>
              <a:rPr dirty="0"/>
              <a:t>- </a:t>
            </a:r>
            <a:r>
              <a:rPr dirty="0" err="1"/>
              <a:t>Scoring</a:t>
            </a:r>
            <a:r>
              <a:rPr dirty="0"/>
              <a:t> social: puntuar a personas por su comportamiento para tratarlas de forma distinta; prohibido en la UE.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2.5 min.</a:t>
            </a:r>
          </a:p>
          <a:p>
            <a:r>
              <a:rPr dirty="0"/>
              <a:t>NARRACIÓN: Este es el proceso MVG en cinco pasos. Uno: inventariar. No se puede gobernar lo que no se conoce; aquí se destapa la IA en la sombra. Dos: hacer el </a:t>
            </a:r>
            <a:r>
              <a:rPr dirty="0" err="1"/>
              <a:t>triage</a:t>
            </a:r>
            <a:r>
              <a:rPr dirty="0"/>
              <a:t>, contrastando cada sistema con el suelo regulatorio y con el techo de agilidad. Tres: asignar el </a:t>
            </a:r>
            <a:r>
              <a:rPr dirty="0" err="1"/>
              <a:t>tier</a:t>
            </a:r>
            <a:r>
              <a:rPr dirty="0"/>
              <a:t> y registrar la decisión. Cuatro: aplicar controles proporcionales. Cinco: medir, auditar y reclasificar. Es un ciclo: si cambian los datos, el modelo o el uso, el sistema puede cambiar de </a:t>
            </a:r>
            <a:r>
              <a:rPr dirty="0" err="1"/>
              <a:t>tier</a:t>
            </a:r>
            <a:r>
              <a:rPr dirty="0"/>
              <a:t>. Las etiquetas inferiores muestran cómo cada paso se apoya en el ciclo Planificar-Hacer-Verificar-Actuar de ISO 42001 y en las funciones Gobernar, Mapear, Medir y Gestionar del NIST AI RMF.</a:t>
            </a:r>
          </a:p>
          <a:p>
            <a:r>
              <a:rPr dirty="0"/>
              <a:t>TÉRMINOS CLAVE:</a:t>
            </a:r>
          </a:p>
          <a:p>
            <a:r>
              <a:rPr dirty="0"/>
              <a:t>- </a:t>
            </a:r>
            <a:r>
              <a:rPr dirty="0" err="1"/>
              <a:t>Triage</a:t>
            </a:r>
            <a:r>
              <a:rPr dirty="0"/>
              <a:t>: clasificación rápida para decidir prioridad y tratamiento; aquí, qué </a:t>
            </a:r>
            <a:r>
              <a:rPr dirty="0" err="1"/>
              <a:t>tier</a:t>
            </a:r>
            <a:r>
              <a:rPr dirty="0"/>
              <a:t> corresponde a cada sistema.</a:t>
            </a:r>
          </a:p>
          <a:p>
            <a:r>
              <a:rPr dirty="0"/>
              <a:t>- Inventario de IA: lista central de sistemas, dueños, datos y modelos.</a:t>
            </a:r>
          </a:p>
          <a:p>
            <a:r>
              <a:rPr dirty="0"/>
              <a:t>- PDCA / PHVA: ciclo de mejora continua Planificar-Hacer-Verificar-Actuar.</a:t>
            </a:r>
          </a:p>
          <a:p>
            <a:r>
              <a:rPr dirty="0"/>
              <a:t>- NIST AI RMF: marco del NIST de EE. UU. con cuatro funciones: </a:t>
            </a:r>
            <a:r>
              <a:rPr dirty="0" err="1"/>
              <a:t>Govern</a:t>
            </a:r>
            <a:r>
              <a:rPr dirty="0"/>
              <a:t>, </a:t>
            </a:r>
            <a:r>
              <a:rPr dirty="0" err="1"/>
              <a:t>Map</a:t>
            </a:r>
            <a:r>
              <a:rPr dirty="0"/>
              <a:t>, </a:t>
            </a:r>
            <a:r>
              <a:rPr dirty="0" err="1"/>
              <a:t>Measure</a:t>
            </a:r>
            <a:r>
              <a:rPr dirty="0"/>
              <a:t>, </a:t>
            </a:r>
            <a:r>
              <a:rPr dirty="0" err="1"/>
              <a:t>Manage</a:t>
            </a:r>
            <a:r>
              <a:rPr dirty="0"/>
              <a:t>.</a:t>
            </a:r>
          </a:p>
          <a:p>
            <a:r>
              <a:rPr dirty="0"/>
              <a:t>- Reclasificar: cambiar el </a:t>
            </a:r>
            <a:r>
              <a:rPr dirty="0" err="1"/>
              <a:t>tier</a:t>
            </a:r>
            <a:r>
              <a:rPr dirty="0"/>
              <a:t> de un sistema cuando cambia su riesgo.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Veamos MVG funcionando en un caso simulado: una entidad financiera 100 por ciento digital. Arriba, su madurez de gobernanza: nivel 1, ad hoc, el escalón más bajo, con IA en la sombra y trazabilidad dispersa. Abajo, sus ocho sistemas ya clasificados. </a:t>
            </a:r>
            <a:r>
              <a:rPr dirty="0" err="1"/>
              <a:t>Tier</a:t>
            </a:r>
            <a:r>
              <a:rPr dirty="0"/>
              <a:t> 3: </a:t>
            </a:r>
            <a:r>
              <a:rPr dirty="0" err="1"/>
              <a:t>scoring</a:t>
            </a:r>
            <a:r>
              <a:rPr dirty="0"/>
              <a:t> crediticio, detección de fraude, análisis documental de créditos y monitoreo transaccional, porque tocan datos sensibles, decisiones de crédito o reportes al regulador. </a:t>
            </a:r>
            <a:r>
              <a:rPr dirty="0" err="1"/>
              <a:t>Tier</a:t>
            </a:r>
            <a:r>
              <a:rPr dirty="0"/>
              <a:t> 2: el </a:t>
            </a:r>
            <a:r>
              <a:rPr dirty="0" err="1"/>
              <a:t>chatbot</a:t>
            </a:r>
            <a:r>
              <a:rPr dirty="0"/>
              <a:t> de clientes y el soporte a decisiones comerciales. </a:t>
            </a:r>
            <a:r>
              <a:rPr dirty="0" err="1"/>
              <a:t>Tier</a:t>
            </a:r>
            <a:r>
              <a:rPr dirty="0"/>
              <a:t> 1: el asistente interno y la fidelización comercial. Noten el patrón: el </a:t>
            </a:r>
            <a:r>
              <a:rPr dirty="0" err="1"/>
              <a:t>tier</a:t>
            </a:r>
            <a:r>
              <a:rPr dirty="0"/>
              <a:t> no depende de la tecnología, sino del impacto sobre las personas y del regulador.</a:t>
            </a:r>
          </a:p>
          <a:p>
            <a:r>
              <a:rPr dirty="0"/>
              <a:t>TÉRMINOS CLAVE:</a:t>
            </a:r>
          </a:p>
          <a:p>
            <a:r>
              <a:rPr dirty="0"/>
              <a:t>- Madurez de gobernanza: escala de 1 a 5 (ad hoc, repetible, definido, gestionado, optimizado).</a:t>
            </a:r>
          </a:p>
          <a:p>
            <a:r>
              <a:rPr dirty="0"/>
              <a:t>- Ad hoc: sin proceso definido; cada área actúa por su cuenta.</a:t>
            </a:r>
          </a:p>
          <a:p>
            <a:r>
              <a:rPr dirty="0"/>
              <a:t>- Machine </a:t>
            </a:r>
            <a:r>
              <a:rPr dirty="0" err="1"/>
              <a:t>learning</a:t>
            </a:r>
            <a:r>
              <a:rPr dirty="0"/>
              <a:t> supervisado: modelo que aprende de ejemplos con respuesta conocida, como un score de crédito.</a:t>
            </a:r>
          </a:p>
          <a:p>
            <a:r>
              <a:rPr dirty="0"/>
              <a:t>- SARLAFT: sistema de prevención de lavado de activos y financiación del terrorismo.</a:t>
            </a:r>
          </a:p>
          <a:p>
            <a:r>
              <a:rPr dirty="0"/>
              <a:t>- SFC: Superintendencia Financiera de Colombia.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Aquí conectamos MVG con la infraestructura. El </a:t>
            </a:r>
            <a:r>
              <a:rPr dirty="0" err="1"/>
              <a:t>tier</a:t>
            </a:r>
            <a:r>
              <a:rPr dirty="0"/>
              <a:t> decide cuánto aislamiento y cuánta evidencia necesita un sistema. </a:t>
            </a:r>
            <a:r>
              <a:rPr dirty="0" err="1"/>
              <a:t>Tier</a:t>
            </a:r>
            <a:r>
              <a:rPr dirty="0"/>
              <a:t> 1 puede vivir en un entorno de uso general aprobado, con una política de uso aceptable y controles DLP. </a:t>
            </a:r>
            <a:r>
              <a:rPr dirty="0" err="1"/>
              <a:t>Tier</a:t>
            </a:r>
            <a:r>
              <a:rPr dirty="0"/>
              <a:t> 2 pide un entorno segmentado o un servicio aprobado contractualmente, y transparencia hacia el usuario. </a:t>
            </a:r>
            <a:r>
              <a:rPr dirty="0" err="1"/>
              <a:t>Tier</a:t>
            </a:r>
            <a:r>
              <a:rPr dirty="0"/>
              <a:t> 3 exige un entorno dedicado dentro del perímetro definido por la organización: los datos sensibles se procesan solo ahí, con control de acceso por roles, registro completo, evaluación de impacto y capacidad de pausar o apagar. Es una propuesta de referencia, no un requisito legal.</a:t>
            </a:r>
          </a:p>
          <a:p>
            <a:r>
              <a:rPr dirty="0"/>
              <a:t>TÉRMINOS CLAVE:</a:t>
            </a:r>
          </a:p>
          <a:p>
            <a:r>
              <a:rPr dirty="0"/>
              <a:t>- Perímetro: frontera técnica dentro de la cual los datos y modelos permanecen bajo control de la organización.</a:t>
            </a:r>
          </a:p>
          <a:p>
            <a:r>
              <a:rPr dirty="0"/>
              <a:t>- Segmentación de red: dividir la red en zonas aisladas para limitar accesos y daños.</a:t>
            </a:r>
          </a:p>
          <a:p>
            <a:r>
              <a:rPr dirty="0"/>
              <a:t>- RBAC: control de acceso basado en roles; cada persona solo ve lo que su rol permite.</a:t>
            </a:r>
          </a:p>
          <a:p>
            <a:r>
              <a:rPr dirty="0"/>
              <a:t>- </a:t>
            </a:r>
            <a:r>
              <a:rPr dirty="0" err="1"/>
              <a:t>Kill</a:t>
            </a:r>
            <a:r>
              <a:rPr dirty="0"/>
              <a:t> switch: mecanismo para pausar o apagar el sistema de inmediato.</a:t>
            </a:r>
          </a:p>
          <a:p>
            <a:r>
              <a:rPr dirty="0"/>
              <a:t>- Datos sensibles: datos cuyo mal uso puede afectar derechos, como los financieros o de salud.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Ahora bajamos a la operación: el ciclo de vida en tres fases. Datos: la pregunta de gobernanza es si son confiables y lícitos. Modelo: si es robusto, justo y explicable. Despliegue: si opera bajo control humano. Cada fase tiene tres controles clave. Y en cada una, más adelante, veremos qué se mide y con qué herramienta. La franja inferior recuerda que ISO 42001, EU AI </a:t>
            </a:r>
            <a:r>
              <a:rPr dirty="0" err="1"/>
              <a:t>Act</a:t>
            </a:r>
            <a:r>
              <a:rPr dirty="0"/>
              <a:t> y el marco colombiano se aplican de forma transversal.</a:t>
            </a:r>
          </a:p>
          <a:p>
            <a:r>
              <a:rPr dirty="0"/>
              <a:t>TÉRMINOS CLAVE:</a:t>
            </a:r>
          </a:p>
          <a:p>
            <a:r>
              <a:rPr dirty="0"/>
              <a:t>- Linaje de datos: historial del origen y las transformaciones de un dato.</a:t>
            </a:r>
          </a:p>
          <a:p>
            <a:r>
              <a:rPr dirty="0"/>
              <a:t>- Base legal: fundamento jurídico para tratar datos personales, por ejemplo la autorización del titular.</a:t>
            </a:r>
          </a:p>
          <a:p>
            <a:r>
              <a:rPr dirty="0"/>
              <a:t>- Puerta de aprobación (gate): revisión formal antes de pasar a la siguiente fase.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Fase uno: datos. La norma ISO/IEC 5259 propone cuatro criterios de calidad: pertinentes, representativos, completos y libres de errores. Un dato puede estar limpio pero ser poco representativo, y eso genera sesgo. A la derecha, las prácticas de gobernanza: un pipeline y un almacenamiento centralizados que permiten trazar el linaje —por ejemplo con DVC—; protección de datos personales con cifrado y control por roles según la Ley 1581; y residencia definida, para evitar transferencias no autorizadas. Los marcos asociados son el control A.7 de ISO 42001, el artículo 10 del EU AI </a:t>
            </a:r>
            <a:r>
              <a:rPr dirty="0" err="1"/>
              <a:t>Act</a:t>
            </a:r>
            <a:r>
              <a:rPr dirty="0"/>
              <a:t> y la Ley 1581 de 2012.</a:t>
            </a:r>
          </a:p>
          <a:p>
            <a:r>
              <a:rPr dirty="0"/>
              <a:t>TÉRMINOS CLAVE:</a:t>
            </a:r>
          </a:p>
          <a:p>
            <a:r>
              <a:rPr dirty="0"/>
              <a:t>- Pipeline de datos: cadena automatizada que recolecta, limpia y prepara datos.</a:t>
            </a:r>
          </a:p>
          <a:p>
            <a:r>
              <a:rPr dirty="0"/>
              <a:t>- Representatividad: que los datos reflejen la diversidad real de la población.</a:t>
            </a:r>
          </a:p>
          <a:p>
            <a:r>
              <a:rPr dirty="0"/>
              <a:t>- Cifrado: transformar datos para que solo quien tenga la clave los lea.</a:t>
            </a:r>
          </a:p>
          <a:p>
            <a:r>
              <a:rPr dirty="0"/>
              <a:t>- Residencia de datos: lugar físico y jurisdicción donde se almacenan.</a:t>
            </a:r>
          </a:p>
          <a:p>
            <a:r>
              <a:rPr dirty="0"/>
              <a:t>- Datos personales: información que identifica o hace identificable a una persona.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Fase dos: modelo. Seis prácticas. Entrenar de forma reproducible, de modo que cualquiera pueda repetir el resultado. Versionar y registrar experimentos y modelos, por ejemplo con </a:t>
            </a:r>
            <a:r>
              <a:rPr dirty="0" err="1"/>
              <a:t>MLflow</a:t>
            </a:r>
            <a:r>
              <a:rPr dirty="0"/>
              <a:t>. Evaluar de forma integral: precisión, robustez, sesgos y </a:t>
            </a:r>
            <a:r>
              <a:rPr dirty="0" err="1"/>
              <a:t>explicabilidad</a:t>
            </a:r>
            <a:r>
              <a:rPr dirty="0"/>
              <a:t>, por ejemplo con SHAP. Proteger el modelo contra el envenenamiento de datos y los accesos no autorizados. Documentar con fichas de modelo. Y aprobar formalmente antes de producción. Los marcos asociados son los artículos 11 y 15 del EU AI </a:t>
            </a:r>
            <a:r>
              <a:rPr dirty="0" err="1"/>
              <a:t>Act</a:t>
            </a:r>
            <a:r>
              <a:rPr dirty="0"/>
              <a:t> y el control A.6 de ISO 42001.</a:t>
            </a:r>
          </a:p>
          <a:p>
            <a:r>
              <a:rPr dirty="0"/>
              <a:t>TÉRMINOS CLAVE:</a:t>
            </a:r>
          </a:p>
          <a:p>
            <a:r>
              <a:rPr dirty="0"/>
              <a:t>- Reproducibilidad: poder repetir un entrenamiento y obtener el mismo resultado.</a:t>
            </a:r>
          </a:p>
          <a:p>
            <a:r>
              <a:rPr dirty="0"/>
              <a:t>- SHAP: técnica que estima cuánto aportó cada variable a una predicción.</a:t>
            </a:r>
          </a:p>
          <a:p>
            <a:r>
              <a:rPr dirty="0"/>
              <a:t>- Data </a:t>
            </a:r>
            <a:r>
              <a:rPr dirty="0" err="1"/>
              <a:t>poisoning</a:t>
            </a:r>
            <a:r>
              <a:rPr dirty="0"/>
              <a:t>: ataque que contamina los datos de entrenamiento para alterar el modelo.</a:t>
            </a:r>
          </a:p>
          <a:p>
            <a:r>
              <a:rPr dirty="0"/>
              <a:t>- Ficha de modelo (</a:t>
            </a:r>
            <a:r>
              <a:rPr dirty="0" err="1"/>
              <a:t>model</a:t>
            </a:r>
            <a:r>
              <a:rPr dirty="0"/>
              <a:t> </a:t>
            </a:r>
            <a:r>
              <a:rPr dirty="0" err="1"/>
              <a:t>card</a:t>
            </a:r>
            <a:r>
              <a:rPr dirty="0"/>
              <a:t>): documento con propósito, límites, datos y desempeño del modelo.</a:t>
            </a:r>
          </a:p>
          <a:p>
            <a:r>
              <a:rPr dirty="0"/>
              <a:t>- Robustez: capacidad de mantener buen desempeño ante entradas inesperadas o maliciosas.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Fase tres: despliegue y operación. Aquí la gobernanza es operación. Monitoreo continuo del desempeño y de la deriva. Registro automático de eventos: quién consultó, qué preguntó y cómo respondió el sistema. Supervisión humana real: poder intervenir, pausar o apagar. Y gestión de incidentes. El panel azul lista la evidencia que un auditor pediría. </a:t>
            </a:r>
            <a:r>
              <a:rPr dirty="0" err="1"/>
              <a:t>MLOps</a:t>
            </a:r>
            <a:r>
              <a:rPr dirty="0"/>
              <a:t> es el conjunto de prácticas que combina desarrollo de modelos, ingeniería de datos y DevOps para operar sistemas de ML de forma confiable. Marcos: artículos 12, 14 y 15 del EU AI </a:t>
            </a:r>
            <a:r>
              <a:rPr dirty="0" err="1"/>
              <a:t>Act</a:t>
            </a:r>
            <a:r>
              <a:rPr dirty="0"/>
              <a:t> y controles A.6 y A.9 de ISO 42001.</a:t>
            </a:r>
          </a:p>
          <a:p>
            <a:r>
              <a:rPr dirty="0"/>
              <a:t>TÉRMINOS CLAVE:</a:t>
            </a:r>
          </a:p>
          <a:p>
            <a:r>
              <a:rPr dirty="0"/>
              <a:t>- Deriva (</a:t>
            </a:r>
            <a:r>
              <a:rPr dirty="0" err="1"/>
              <a:t>drift</a:t>
            </a:r>
            <a:r>
              <a:rPr dirty="0"/>
              <a:t>): pérdida de desempeño porque los datos reales cambian respecto a los de entrenamiento.</a:t>
            </a:r>
          </a:p>
          <a:p>
            <a:r>
              <a:rPr dirty="0"/>
              <a:t>- </a:t>
            </a:r>
            <a:r>
              <a:rPr dirty="0" err="1"/>
              <a:t>Logging</a:t>
            </a:r>
            <a:r>
              <a:rPr dirty="0"/>
              <a:t>: registro automático de eventos del sistema.</a:t>
            </a:r>
          </a:p>
          <a:p>
            <a:r>
              <a:rPr dirty="0"/>
              <a:t>- Telemetría: medición continua de métricas del sistema.</a:t>
            </a:r>
          </a:p>
          <a:p>
            <a:r>
              <a:rPr dirty="0"/>
              <a:t>- Incidente de IA: evento que causa o pudo causar daño.</a:t>
            </a:r>
          </a:p>
          <a:p>
            <a:r>
              <a:rPr dirty="0"/>
              <a:t>- </a:t>
            </a:r>
            <a:r>
              <a:rPr dirty="0" err="1"/>
              <a:t>MLOps</a:t>
            </a:r>
            <a:r>
              <a:rPr dirty="0"/>
              <a:t>: prácticas para operar modelos de aprendizaje automático de forma repetible y controlada.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Esta tabla traduce </a:t>
            </a:r>
            <a:r>
              <a:rPr dirty="0" err="1"/>
              <a:t>MLOps</a:t>
            </a:r>
            <a:r>
              <a:rPr dirty="0"/>
              <a:t> a gobernanza. Cada capacidad técnica produce una evidencia. El control de versiones da trazabilidad de código y políticas. El versionado de datos permite reproducir y reconstruir el linaje. El seguimiento de experimentos permite justificar por qué se eligió un modelo. El registro de modelos conserva versiones, estados y aprobaciones. La orquestación y el CI/CD automatizan las puertas de calidad. Y el monitoreo detecta la deriva. Las herramientas son ejemplos; lo importante es la capacidad.</a:t>
            </a:r>
          </a:p>
          <a:p>
            <a:r>
              <a:rPr dirty="0"/>
              <a:t>TÉRMINOS CLAVE:</a:t>
            </a:r>
          </a:p>
          <a:p>
            <a:r>
              <a:rPr dirty="0"/>
              <a:t>- CI/CD: automatización de pruebas y despliegue.</a:t>
            </a:r>
          </a:p>
          <a:p>
            <a:r>
              <a:rPr dirty="0"/>
              <a:t>- Orquestación: coordinación automática de los pasos de un flujo de datos o entrenamiento.</a:t>
            </a:r>
          </a:p>
          <a:p>
            <a:r>
              <a:rPr dirty="0"/>
              <a:t>- Registro de modelos: catálogo versionado de modelos con su estado y aprobaciones.</a:t>
            </a:r>
          </a:p>
          <a:p>
            <a:r>
              <a:rPr dirty="0"/>
              <a:t>- </a:t>
            </a:r>
            <a:r>
              <a:rPr dirty="0" err="1"/>
              <a:t>Observabilidad</a:t>
            </a:r>
            <a:r>
              <a:rPr dirty="0"/>
              <a:t>: capacidad de entender el estado interno de un sistema a partir de sus registros y métricas.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Una frase resume esta parte: lo que no se mide no se puede gobernar. Una buena gobernanza mide en cuatro familias. Proceso y cobertura: cuántos sistemas están inventariados y clasificados. Datos: calidad, representatividad y linaje. Modelo: desempeño, equidad y </a:t>
            </a:r>
            <a:r>
              <a:rPr dirty="0" err="1"/>
              <a:t>explicabilidad</a:t>
            </a:r>
            <a:r>
              <a:rPr dirty="0"/>
              <a:t>. Y operación: deriva, disponibilidad e incidentes. Para cada métrica hace falta una herramienta que la calcule y deje evidencia, y eso lo veremos en la sección de herramientas.</a:t>
            </a:r>
          </a:p>
          <a:p>
            <a:r>
              <a:rPr dirty="0"/>
              <a:t>TÉRMINOS CLAVE:</a:t>
            </a:r>
          </a:p>
          <a:p>
            <a:r>
              <a:rPr dirty="0"/>
              <a:t>- Métrica o indicador (KPI): medida que permite saber si un control funciona.</a:t>
            </a:r>
          </a:p>
          <a:p>
            <a:r>
              <a:rPr dirty="0"/>
              <a:t>- Cobertura: proporción de sistemas o procesos que cumplen un control.</a:t>
            </a:r>
          </a:p>
          <a:p>
            <a:r>
              <a:rPr dirty="0"/>
              <a:t>- F1 y AUC: métricas de desempeño de modelos de clasificación.</a:t>
            </a:r>
          </a:p>
          <a:p>
            <a:r>
              <a:rPr dirty="0"/>
              <a:t>- MTTR: tiempo medio de resolución de un incidente.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Medir exige umbrales, es decir, saber cuándo un valor es aceptable. Estos son umbrales de referencia usados en la práctica. La cobertura del inventario debe tender al cien por ciento. El PSI, o índice de estabilidad de la población, se interpreta comúnmente así: menos de 0,1 es estable; entre 0,1 y 0,25 hay que vigilar; más de 0,25 amerita acción. La razón de impacto dispar compara la tasa de resultados favorables entre grupos; la regla de los cuatro quintos usa 0,8 como referencia. Importante: son puntos de partida, y cada organización debe definir los suyos según su riesgo y su regulación.</a:t>
            </a:r>
          </a:p>
          <a:p>
            <a:r>
              <a:rPr dirty="0"/>
              <a:t>TÉRMINOS CLAVE:</a:t>
            </a:r>
          </a:p>
          <a:p>
            <a:r>
              <a:rPr dirty="0"/>
              <a:t>- PSI (</a:t>
            </a:r>
            <a:r>
              <a:rPr dirty="0" err="1"/>
              <a:t>Population</a:t>
            </a:r>
            <a:r>
              <a:rPr dirty="0"/>
              <a:t> </a:t>
            </a:r>
            <a:r>
              <a:rPr dirty="0" err="1"/>
              <a:t>Stability</a:t>
            </a:r>
            <a:r>
              <a:rPr dirty="0"/>
              <a:t> </a:t>
            </a:r>
            <a:r>
              <a:rPr dirty="0" err="1"/>
              <a:t>Index</a:t>
            </a:r>
            <a:r>
              <a:rPr dirty="0"/>
              <a:t>): medida de cuánto cambió la distribución de una variable entre dos momentos.</a:t>
            </a:r>
          </a:p>
          <a:p>
            <a:r>
              <a:rPr dirty="0"/>
              <a:t>- Razón de impacto dispar: cociente entre las tasas de resultado favorable de dos grupos.</a:t>
            </a:r>
          </a:p>
          <a:p>
            <a:r>
              <a:rPr dirty="0"/>
              <a:t>- Regla de los cuatro quintos (80 %): referencia usada en análisis de discriminación en empleo en EE. UU.</a:t>
            </a:r>
          </a:p>
          <a:p>
            <a:r>
              <a:rPr dirty="0"/>
              <a:t>- Umbral: valor que, al cruzarse, activa una alerta o una acción.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Este es el mapa de herramientas a lo largo de un flujo de trabajo de IA. Primero el código, en GitHub: deja </a:t>
            </a:r>
            <a:r>
              <a:rPr dirty="0" err="1"/>
              <a:t>commits</a:t>
            </a:r>
            <a:r>
              <a:rPr dirty="0"/>
              <a:t> y revisiones. Segundo los datos, con DVC: deja el hash y la versión de cada </a:t>
            </a:r>
            <a:r>
              <a:rPr dirty="0" err="1"/>
              <a:t>dataset</a:t>
            </a:r>
            <a:r>
              <a:rPr dirty="0"/>
              <a:t>. Tercero experimentos y modelos, con </a:t>
            </a:r>
            <a:r>
              <a:rPr dirty="0" err="1"/>
              <a:t>MLflow</a:t>
            </a:r>
            <a:r>
              <a:rPr dirty="0"/>
              <a:t>: deja corridas, métricas y modelos registrados. Cuarto </a:t>
            </a:r>
            <a:r>
              <a:rPr dirty="0" err="1"/>
              <a:t>explicabilidad</a:t>
            </a:r>
            <a:r>
              <a:rPr dirty="0"/>
              <a:t> y equidad, con SHAP, </a:t>
            </a:r>
            <a:r>
              <a:rPr dirty="0" err="1"/>
              <a:t>TensorBoard</a:t>
            </a:r>
            <a:r>
              <a:rPr dirty="0"/>
              <a:t> y </a:t>
            </a:r>
            <a:r>
              <a:rPr dirty="0" err="1"/>
              <a:t>Fairlearn</a:t>
            </a:r>
            <a:r>
              <a:rPr dirty="0"/>
              <a:t>: dejan gráficos y métricas. Quinto, monitoreo, con </a:t>
            </a:r>
            <a:r>
              <a:rPr dirty="0" err="1"/>
              <a:t>Evidently</a:t>
            </a:r>
            <a:r>
              <a:rPr dirty="0"/>
              <a:t> o </a:t>
            </a:r>
            <a:r>
              <a:rPr dirty="0" err="1"/>
              <a:t>Grafana</a:t>
            </a:r>
            <a:r>
              <a:rPr dirty="0"/>
              <a:t>: deja reportes de deriva. Y sexto, el sistema de gestión ISO, que organiza auditorías, no conformidades y revisión por la dirección. Ninguna herramienta reemplaza la gobernanza: producen la evidencia que la sostiene.</a:t>
            </a:r>
          </a:p>
          <a:p>
            <a:r>
              <a:rPr dirty="0"/>
              <a:t>TÉRMINOS CLAVE:</a:t>
            </a:r>
          </a:p>
          <a:p>
            <a:r>
              <a:rPr dirty="0"/>
              <a:t>- Herramienta de código abierto: software cuyo código fuente puede consultarse y reutilizarse bajo una licencia.</a:t>
            </a:r>
          </a:p>
          <a:p>
            <a:r>
              <a:rPr dirty="0"/>
              <a:t>- Artefacto: archivo producido por un proceso, como un modelo, un gráfico o un informe.</a:t>
            </a:r>
          </a:p>
          <a:p>
            <a:r>
              <a:rPr dirty="0"/>
              <a:t>- Hash: huella digital de un archivo; si el archivo cambia, el hash cambia.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2.5 min.</a:t>
            </a:r>
          </a:p>
          <a:p>
            <a:r>
              <a:rPr dirty="0"/>
              <a:t>NARRACIÓN: GitHub es una plataforma de colaboración sobre Git, el sistema de control de versiones. Su valor para la gobernanza es que deja un historial de quién cambió qué y cuándo, y obliga a revisar. Con ramas protegidas, nadie publica sin una aprobación; con el archivo CODEOWNERS, ciertos directorios, como las políticas o los modelos de alto riesgo, requieren la revisión de responsables concretos, lo que implementa la segregación de funciones. GitHub </a:t>
            </a:r>
            <a:r>
              <a:rPr dirty="0" err="1"/>
              <a:t>Actions</a:t>
            </a:r>
            <a:r>
              <a:rPr dirty="0"/>
              <a:t> ejecuta pruebas y escaneos de forma automática, y las herramientas de seguridad detectan secretos y dependencias vulnerables. Los </a:t>
            </a:r>
            <a:r>
              <a:rPr dirty="0" err="1"/>
              <a:t>issues</a:t>
            </a:r>
            <a:r>
              <a:rPr dirty="0"/>
              <a:t> y proyectos sirven como registro de riesgos e incidentes. Y el registro de auditoría está disponible según el plan. Esta evidencia respalda los controles de ciclo de vida de ISO 42001 y los registros que exige el EU AI </a:t>
            </a:r>
            <a:r>
              <a:rPr dirty="0" err="1"/>
              <a:t>Act</a:t>
            </a:r>
            <a:r>
              <a:rPr dirty="0"/>
              <a:t>.</a:t>
            </a:r>
          </a:p>
          <a:p>
            <a:r>
              <a:rPr dirty="0"/>
              <a:t>TÉRMINOS CLAVE:</a:t>
            </a:r>
          </a:p>
          <a:p>
            <a:r>
              <a:rPr dirty="0"/>
              <a:t>- Git: sistema de control de versiones distribuido.</a:t>
            </a:r>
          </a:p>
          <a:p>
            <a:r>
              <a:rPr dirty="0"/>
              <a:t>- </a:t>
            </a:r>
            <a:r>
              <a:rPr dirty="0" err="1"/>
              <a:t>Pull</a:t>
            </a:r>
            <a:r>
              <a:rPr dirty="0"/>
              <a:t> </a:t>
            </a:r>
            <a:r>
              <a:rPr dirty="0" err="1"/>
              <a:t>request</a:t>
            </a:r>
            <a:r>
              <a:rPr dirty="0"/>
              <a:t>: propuesta de cambio que otras personas revisan antes de incorporarla.</a:t>
            </a:r>
          </a:p>
          <a:p>
            <a:r>
              <a:rPr dirty="0"/>
              <a:t>- Branch </a:t>
            </a:r>
            <a:r>
              <a:rPr dirty="0" err="1"/>
              <a:t>protection</a:t>
            </a:r>
            <a:r>
              <a:rPr dirty="0"/>
              <a:t>: reglas que impiden publicar en una rama sin revisión o sin pruebas aprobadas.</a:t>
            </a:r>
          </a:p>
          <a:p>
            <a:r>
              <a:rPr dirty="0"/>
              <a:t>- CODEOWNERS: archivo que define quién debe aprobar cambios en cada carpeta.</a:t>
            </a:r>
          </a:p>
          <a:p>
            <a:r>
              <a:rPr dirty="0"/>
              <a:t>- GitHub </a:t>
            </a:r>
            <a:r>
              <a:rPr dirty="0" err="1"/>
              <a:t>Actions</a:t>
            </a:r>
            <a:r>
              <a:rPr dirty="0"/>
              <a:t>: automatización de pruebas y flujos dentro de GitHub.</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DVC, Data </a:t>
            </a:r>
            <a:r>
              <a:rPr dirty="0" err="1"/>
              <a:t>Version</a:t>
            </a:r>
            <a:r>
              <a:rPr dirty="0"/>
              <a:t> Control, resuelve un problema práctico: Git no está pensado para archivos de datos grandes. Con DVC, el </a:t>
            </a:r>
            <a:r>
              <a:rPr dirty="0" err="1"/>
              <a:t>dataset</a:t>
            </a:r>
            <a:r>
              <a:rPr dirty="0"/>
              <a:t> vive en un almacenamiento remoto y en Git queda solo un pequeño archivo con su hash. Así, cada versión del código queda atada a una versión exacta de los datos. Con </a:t>
            </a:r>
            <a:r>
              <a:rPr dirty="0" err="1"/>
              <a:t>dvc.yaml</a:t>
            </a:r>
            <a:r>
              <a:rPr dirty="0"/>
              <a:t> se definen pipelines reproducibles y con </a:t>
            </a:r>
            <a:r>
              <a:rPr dirty="0" err="1"/>
              <a:t>dvc</a:t>
            </a:r>
            <a:r>
              <a:rPr dirty="0"/>
              <a:t> </a:t>
            </a:r>
            <a:r>
              <a:rPr dirty="0" err="1"/>
              <a:t>repro</a:t>
            </a:r>
            <a:r>
              <a:rPr dirty="0"/>
              <a:t> se vuelven a ejecutar. Esto es evidencia directa de linaje de datos y reproducibilidad: justo lo que piden el artículo 10 del EU AI </a:t>
            </a:r>
            <a:r>
              <a:rPr dirty="0" err="1"/>
              <a:t>Act</a:t>
            </a:r>
            <a:r>
              <a:rPr dirty="0"/>
              <a:t> y el control A.7 de ISO 42001. Alternativas: </a:t>
            </a:r>
            <a:r>
              <a:rPr dirty="0" err="1"/>
              <a:t>lakeFS</a:t>
            </a:r>
            <a:r>
              <a:rPr dirty="0"/>
              <a:t> y Delta Lake.</a:t>
            </a:r>
          </a:p>
          <a:p>
            <a:r>
              <a:rPr dirty="0"/>
              <a:t>TÉRMINOS CLAVE:</a:t>
            </a:r>
          </a:p>
          <a:p>
            <a:r>
              <a:rPr dirty="0"/>
              <a:t>- DVC: herramienta de código abierto para versionar datos, modelos y pipelines junto a Git.</a:t>
            </a:r>
          </a:p>
          <a:p>
            <a:r>
              <a:rPr dirty="0"/>
              <a:t>- Archivo .</a:t>
            </a:r>
            <a:r>
              <a:rPr dirty="0" err="1"/>
              <a:t>dvc</a:t>
            </a:r>
            <a:r>
              <a:rPr dirty="0"/>
              <a:t>: archivo pequeño con el hash del </a:t>
            </a:r>
            <a:r>
              <a:rPr dirty="0" err="1"/>
              <a:t>dataset</a:t>
            </a:r>
            <a:r>
              <a:rPr dirty="0"/>
              <a:t>, que sí se guarda en Git.</a:t>
            </a:r>
          </a:p>
          <a:p>
            <a:r>
              <a:rPr dirty="0"/>
              <a:t>- Almacenamiento remoto: lugar donde residen los datos, como S3, Azure, Google Cloud o un servidor SSH.</a:t>
            </a:r>
          </a:p>
          <a:p>
            <a:r>
              <a:rPr dirty="0"/>
              <a:t>- </a:t>
            </a:r>
            <a:r>
              <a:rPr dirty="0" err="1"/>
              <a:t>dvc</a:t>
            </a:r>
            <a:r>
              <a:rPr dirty="0"/>
              <a:t> </a:t>
            </a:r>
            <a:r>
              <a:rPr dirty="0" err="1"/>
              <a:t>repro</a:t>
            </a:r>
            <a:r>
              <a:rPr dirty="0"/>
              <a:t>: comando que vuelve a ejecutar un pipeline solo en los pasos que cambiaron.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a:t>
            </a:r>
            <a:r>
              <a:rPr dirty="0" err="1"/>
              <a:t>MLflow</a:t>
            </a:r>
            <a:r>
              <a:rPr dirty="0"/>
              <a:t> es una plataforma de código abierto para gestionar el ciclo de vida de modelos. Tiene dos piezas clave para gobernanza. Tracking: guarda cada corrida de entrenamiento con sus parámetros, métricas, artefactos y la versión del código. </a:t>
            </a:r>
            <a:r>
              <a:rPr dirty="0" err="1"/>
              <a:t>Model</a:t>
            </a:r>
            <a:r>
              <a:rPr dirty="0"/>
              <a:t> </a:t>
            </a:r>
            <a:r>
              <a:rPr dirty="0" err="1"/>
              <a:t>Registry</a:t>
            </a:r>
            <a:r>
              <a:rPr dirty="0"/>
              <a:t>: un catálogo de modelos con versiones, alias y etiquetas, donde se puede registrar quién aprobó qué versión y cuándo. Así, ante una auditoría, pueden reconstruir cómo se entrenó el modelo que está en producción. Un ejemplo mínimo está a la izquierda. Este registro respalda los artículos 11 y 12 del EU AI </a:t>
            </a:r>
            <a:r>
              <a:rPr dirty="0" err="1"/>
              <a:t>Act</a:t>
            </a:r>
            <a:r>
              <a:rPr dirty="0"/>
              <a:t> y el control A.6 de ISO 42001.</a:t>
            </a:r>
          </a:p>
          <a:p>
            <a:r>
              <a:rPr dirty="0"/>
              <a:t>TÉRMINOS CLAVE:</a:t>
            </a:r>
          </a:p>
          <a:p>
            <a:r>
              <a:rPr dirty="0"/>
              <a:t>- </a:t>
            </a:r>
            <a:r>
              <a:rPr dirty="0" err="1"/>
              <a:t>MLflow</a:t>
            </a:r>
            <a:r>
              <a:rPr dirty="0"/>
              <a:t> Tracking: registro de corridas con parámetros, métricas y artefactos.</a:t>
            </a:r>
          </a:p>
          <a:p>
            <a:r>
              <a:rPr dirty="0"/>
              <a:t>- </a:t>
            </a:r>
            <a:r>
              <a:rPr dirty="0" err="1"/>
              <a:t>Model</a:t>
            </a:r>
            <a:r>
              <a:rPr dirty="0"/>
              <a:t> </a:t>
            </a:r>
            <a:r>
              <a:rPr dirty="0" err="1"/>
              <a:t>Registry</a:t>
            </a:r>
            <a:r>
              <a:rPr dirty="0"/>
              <a:t>: catálogo versionado de modelos con alias, etiquetas y descripción.</a:t>
            </a:r>
          </a:p>
          <a:p>
            <a:r>
              <a:rPr dirty="0"/>
              <a:t>- Run: una ejecución de entrenamiento registrada.</a:t>
            </a:r>
          </a:p>
          <a:p>
            <a:r>
              <a:rPr dirty="0"/>
              <a:t>- Alias: etiqueta móvil, por ejemplo '</a:t>
            </a:r>
            <a:r>
              <a:rPr dirty="0" err="1"/>
              <a:t>champion</a:t>
            </a:r>
            <a:r>
              <a:rPr dirty="0"/>
              <a:t>', que apunta a la versión aprobada de un modelo.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2.5 min.</a:t>
            </a:r>
          </a:p>
          <a:p>
            <a:r>
              <a:rPr dirty="0"/>
              <a:t>NARRACIÓN: La </a:t>
            </a:r>
            <a:r>
              <a:rPr dirty="0" err="1"/>
              <a:t>explicabilidad</a:t>
            </a:r>
            <a:r>
              <a:rPr dirty="0"/>
              <a:t> responde por qué el modelo dio cierta salida. SHAP se basa en los valores de Shapley, de la teoría de juegos, y estima cuánto contribuyó cada variable a una predicción: sirve de forma global, para ver qué variables pesan más, y de forma local, para explicar una decisión individual, algo clave cuando afecta a una persona. </a:t>
            </a:r>
            <a:r>
              <a:rPr dirty="0" err="1"/>
              <a:t>TensorBoard</a:t>
            </a:r>
            <a:r>
              <a:rPr dirty="0"/>
              <a:t> cumple otro papel: es el panel de </a:t>
            </a:r>
            <a:r>
              <a:rPr dirty="0" err="1"/>
              <a:t>TensorFlow</a:t>
            </a:r>
            <a:r>
              <a:rPr dirty="0"/>
              <a:t> para visualizar el entrenamiento, con curvas de pérdida y métricas, histogramas y el grafo del modelo, y deja evidencia de cómo se entrenó. Para equidad, </a:t>
            </a:r>
            <a:r>
              <a:rPr dirty="0" err="1"/>
              <a:t>TensorFlow</a:t>
            </a:r>
            <a:r>
              <a:rPr dirty="0"/>
              <a:t> ofrece </a:t>
            </a:r>
            <a:r>
              <a:rPr dirty="0" err="1"/>
              <a:t>Fairness</a:t>
            </a:r>
            <a:r>
              <a:rPr dirty="0"/>
              <a:t> </a:t>
            </a:r>
            <a:r>
              <a:rPr dirty="0" err="1"/>
              <a:t>Indicators</a:t>
            </a:r>
            <a:r>
              <a:rPr dirty="0"/>
              <a:t>. Una alternativa a SHAP es LIME. Estas explicaciones respaldan la transparencia del EU AI </a:t>
            </a:r>
            <a:r>
              <a:rPr dirty="0" err="1"/>
              <a:t>Act</a:t>
            </a:r>
            <a:r>
              <a:rPr dirty="0"/>
              <a:t> y el principio de </a:t>
            </a:r>
            <a:r>
              <a:rPr dirty="0" err="1"/>
              <a:t>explicabilidad</a:t>
            </a:r>
            <a:r>
              <a:rPr dirty="0"/>
              <a:t> de la sentencia T-323.</a:t>
            </a:r>
          </a:p>
          <a:p>
            <a:r>
              <a:rPr dirty="0"/>
              <a:t>TÉRMINOS CLAVE:</a:t>
            </a:r>
          </a:p>
          <a:p>
            <a:r>
              <a:rPr dirty="0"/>
              <a:t>- SHAP (</a:t>
            </a:r>
            <a:r>
              <a:rPr dirty="0" err="1"/>
              <a:t>SHapley</a:t>
            </a:r>
            <a:r>
              <a:rPr dirty="0"/>
              <a:t> </a:t>
            </a:r>
            <a:r>
              <a:rPr dirty="0" err="1"/>
              <a:t>Additive</a:t>
            </a:r>
            <a:r>
              <a:rPr dirty="0"/>
              <a:t> </a:t>
            </a:r>
            <a:r>
              <a:rPr dirty="0" err="1"/>
              <a:t>exPlanations</a:t>
            </a:r>
            <a:r>
              <a:rPr dirty="0"/>
              <a:t>): método que atribuye a cada variable su aporte a una predicción.</a:t>
            </a:r>
          </a:p>
          <a:p>
            <a:r>
              <a:rPr dirty="0"/>
              <a:t>- Explicación global y local: global describe el modelo completo; local explica una decisión individual.</a:t>
            </a:r>
          </a:p>
          <a:p>
            <a:r>
              <a:rPr dirty="0"/>
              <a:t>- </a:t>
            </a:r>
            <a:r>
              <a:rPr dirty="0" err="1"/>
              <a:t>TensorBoard</a:t>
            </a:r>
            <a:r>
              <a:rPr dirty="0"/>
              <a:t>: herramienta de visualización de </a:t>
            </a:r>
            <a:r>
              <a:rPr dirty="0" err="1"/>
              <a:t>TensorFlow</a:t>
            </a:r>
            <a:r>
              <a:rPr dirty="0"/>
              <a:t> para monitorear el entrenamiento.</a:t>
            </a:r>
          </a:p>
          <a:p>
            <a:r>
              <a:rPr dirty="0"/>
              <a:t>- LIME: método alternativo que explica una predicción con un modelo simple local.</a:t>
            </a:r>
          </a:p>
          <a:p>
            <a:r>
              <a:rPr dirty="0"/>
              <a:t>- </a:t>
            </a:r>
            <a:r>
              <a:rPr dirty="0" err="1"/>
              <a:t>Fairness</a:t>
            </a:r>
            <a:r>
              <a:rPr dirty="0"/>
              <a:t> </a:t>
            </a:r>
            <a:r>
              <a:rPr dirty="0" err="1"/>
              <a:t>Indicators</a:t>
            </a:r>
            <a:r>
              <a:rPr dirty="0"/>
              <a:t>: complemento de </a:t>
            </a:r>
            <a:r>
              <a:rPr dirty="0" err="1"/>
              <a:t>TensorFlow</a:t>
            </a:r>
            <a:r>
              <a:rPr dirty="0"/>
              <a:t> para ver métricas de equidad por grupo.</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Además de versionar y explicar, hay que medir equidad, calidad y comportamiento en producción. </a:t>
            </a:r>
            <a:r>
              <a:rPr dirty="0" err="1"/>
              <a:t>Fairlearn</a:t>
            </a:r>
            <a:r>
              <a:rPr dirty="0"/>
              <a:t> y AIF360 calculan métricas de equidad por grupo, como la paridad demográfica o la igualdad de oportunidades. Great </a:t>
            </a:r>
            <a:r>
              <a:rPr dirty="0" err="1"/>
              <a:t>Expectations</a:t>
            </a:r>
            <a:r>
              <a:rPr dirty="0"/>
              <a:t> permite declarar reglas de calidad sobre los datos, por ejemplo que una columna no tenga nulos, y genera documentación de los resultados. </a:t>
            </a:r>
            <a:r>
              <a:rPr dirty="0" err="1"/>
              <a:t>Evidently</a:t>
            </a:r>
            <a:r>
              <a:rPr dirty="0"/>
              <a:t> y </a:t>
            </a:r>
            <a:r>
              <a:rPr dirty="0" err="1"/>
              <a:t>whylogs</a:t>
            </a:r>
            <a:r>
              <a:rPr dirty="0"/>
              <a:t> producen reportes de deriva y de calidad. Y </a:t>
            </a:r>
            <a:r>
              <a:rPr dirty="0" err="1"/>
              <a:t>Prometheus</a:t>
            </a:r>
            <a:r>
              <a:rPr dirty="0"/>
              <a:t> con </a:t>
            </a:r>
            <a:r>
              <a:rPr dirty="0" err="1"/>
              <a:t>Grafana</a:t>
            </a:r>
            <a:r>
              <a:rPr dirty="0"/>
              <a:t> dan </a:t>
            </a:r>
            <a:r>
              <a:rPr dirty="0" err="1"/>
              <a:t>observabilidad</a:t>
            </a:r>
            <a:r>
              <a:rPr dirty="0"/>
              <a:t> operativa: latencia, errores y alertas. Cada una deja un informe o un panel que sirve como evidencia.</a:t>
            </a:r>
          </a:p>
          <a:p>
            <a:r>
              <a:rPr dirty="0"/>
              <a:t>TÉRMINOS CLAVE:</a:t>
            </a:r>
          </a:p>
          <a:p>
            <a:r>
              <a:rPr dirty="0"/>
              <a:t>- </a:t>
            </a:r>
            <a:r>
              <a:rPr dirty="0" err="1"/>
              <a:t>Fairlearn</a:t>
            </a:r>
            <a:r>
              <a:rPr dirty="0"/>
              <a:t> y AIF360: bibliotecas de código abierto para evaluar y mitigar sesgo en modelos.</a:t>
            </a:r>
          </a:p>
          <a:p>
            <a:r>
              <a:rPr dirty="0"/>
              <a:t>- Paridad demográfica: igualdad en la tasa de resultados positivos entre grupos.</a:t>
            </a:r>
          </a:p>
          <a:p>
            <a:r>
              <a:rPr dirty="0"/>
              <a:t>- Great </a:t>
            </a:r>
            <a:r>
              <a:rPr dirty="0" err="1"/>
              <a:t>Expectations</a:t>
            </a:r>
            <a:r>
              <a:rPr dirty="0"/>
              <a:t>: biblioteca para definir y validar reglas de calidad de datos.</a:t>
            </a:r>
          </a:p>
          <a:p>
            <a:r>
              <a:rPr dirty="0"/>
              <a:t>- </a:t>
            </a:r>
            <a:r>
              <a:rPr dirty="0" err="1"/>
              <a:t>Evidently</a:t>
            </a:r>
            <a:r>
              <a:rPr dirty="0"/>
              <a:t> y </a:t>
            </a:r>
            <a:r>
              <a:rPr dirty="0" err="1"/>
              <a:t>whylogs</a:t>
            </a:r>
            <a:r>
              <a:rPr dirty="0"/>
              <a:t>: bibliotecas para reportes de deriva y calidad de datos.</a:t>
            </a:r>
          </a:p>
          <a:p>
            <a:r>
              <a:rPr dirty="0"/>
              <a:t>- </a:t>
            </a:r>
            <a:r>
              <a:rPr dirty="0" err="1"/>
              <a:t>Prometheus</a:t>
            </a:r>
            <a:r>
              <a:rPr dirty="0"/>
              <a:t> y </a:t>
            </a:r>
            <a:r>
              <a:rPr dirty="0" err="1"/>
              <a:t>Grafana</a:t>
            </a:r>
            <a:r>
              <a:rPr dirty="0"/>
              <a:t>: herramientas de métricas y paneles para </a:t>
            </a:r>
            <a:r>
              <a:rPr dirty="0" err="1"/>
              <a:t>observabilidad</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2.5 min.</a:t>
            </a:r>
          </a:p>
          <a:p>
            <a:r>
              <a:rPr dirty="0"/>
              <a:t>NARRACIÓN: Las herramientas técnicas producen datos; el sistema de gestión ISO los organiza. La ISO 42001 establece el sistema de gestión de IA; la 27001, el de seguridad de la información; la 27701, el de privacidad; la 9001, el de calidad; y la 23894 orienta la gestión de riesgos de IA. Todas las normas de sistemas de gestión comparten una estructura de alto nivel, por lo que pueden integrarse en un solo sistema. La evidencia se ordena como información documentada: políticas, procedimientos y registros; auditoría interna, revisión por la dirección y acciones correctivas. Para soportarlo se usan gestores documentales, plataformas GRC y sistemas de tickets.</a:t>
            </a:r>
          </a:p>
          <a:p>
            <a:r>
              <a:rPr dirty="0"/>
              <a:t>TÉRMINOS CLAVE:</a:t>
            </a:r>
          </a:p>
          <a:p>
            <a:r>
              <a:rPr dirty="0"/>
              <a:t>- Sistema de gestión: conjunto de políticas, procesos y registros para lograr objetivos de forma sistemática.</a:t>
            </a:r>
          </a:p>
          <a:p>
            <a:r>
              <a:rPr dirty="0"/>
              <a:t>- Estructura de alto nivel (Anexo SL): estructura común a las normas ISO de sistemas de gestión.</a:t>
            </a:r>
          </a:p>
          <a:p>
            <a:r>
              <a:rPr dirty="0"/>
              <a:t>- Información documentada: documentos y registros que la norma exige mantener (cláusula 7.5).</a:t>
            </a:r>
          </a:p>
          <a:p>
            <a:r>
              <a:rPr dirty="0"/>
              <a:t>- GRC: gobierno, riesgo y cumplimiento; plataformas que centralizan esa gestión.</a:t>
            </a:r>
          </a:p>
          <a:p>
            <a:r>
              <a:rPr dirty="0"/>
              <a:t>- No conformidad: incumplimiento de un requisito, que exige una acción correctiva.</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3 min.</a:t>
            </a:r>
          </a:p>
          <a:p>
            <a:r>
              <a:rPr dirty="0"/>
              <a:t>NARRACIÓN: Esta es la tabla de síntesis de la parte técnica. Cada fila parte de un control, dice qué se mide, con qué herramienta, y a qué norma responde. Trazabilidad del código, con GitHub. Linaje de datos, con DVC. Reproducibilidad del modelo, con </a:t>
            </a:r>
            <a:r>
              <a:rPr dirty="0" err="1"/>
              <a:t>MLflow</a:t>
            </a:r>
            <a:r>
              <a:rPr dirty="0"/>
              <a:t>. </a:t>
            </a:r>
            <a:r>
              <a:rPr dirty="0" err="1"/>
              <a:t>Explicabilidad</a:t>
            </a:r>
            <a:r>
              <a:rPr dirty="0"/>
              <a:t>, con SHAP. Equidad, con </a:t>
            </a:r>
            <a:r>
              <a:rPr dirty="0" err="1"/>
              <a:t>Fairlearn</a:t>
            </a:r>
            <a:r>
              <a:rPr dirty="0"/>
              <a:t> o AIF360. Calidad de datos, con Great </a:t>
            </a:r>
            <a:r>
              <a:rPr dirty="0" err="1"/>
              <a:t>Expectations</a:t>
            </a:r>
            <a:r>
              <a:rPr dirty="0"/>
              <a:t>. Monitoreo y deriva, con </a:t>
            </a:r>
            <a:r>
              <a:rPr dirty="0" err="1"/>
              <a:t>Evidently</a:t>
            </a:r>
            <a:r>
              <a:rPr dirty="0"/>
              <a:t> y </a:t>
            </a:r>
            <a:r>
              <a:rPr dirty="0" err="1"/>
              <a:t>Grafana</a:t>
            </a:r>
            <a:r>
              <a:rPr dirty="0"/>
              <a:t>. Y gestión y mejora, con el sistema de gestión ISO. Pueden usarla como lista de verificación para cada sistema, según su </a:t>
            </a:r>
            <a:r>
              <a:rPr dirty="0" err="1"/>
              <a:t>tier</a:t>
            </a:r>
            <a:r>
              <a:rPr dirty="0"/>
              <a:t>. Verifiquen siempre la numeración con el texto oficial de cada norma.</a:t>
            </a:r>
          </a:p>
          <a:p>
            <a:r>
              <a:rPr dirty="0"/>
              <a:t>TÉRMINOS CLAVE:</a:t>
            </a:r>
          </a:p>
          <a:p>
            <a:r>
              <a:rPr dirty="0"/>
              <a:t>- Lista de verificación: guía para revisar punto por punto.</a:t>
            </a:r>
          </a:p>
          <a:p>
            <a:r>
              <a:rPr dirty="0"/>
              <a:t>- Evidencia: documento, registro o prueba que demuestra que un control funciona.</a:t>
            </a:r>
          </a:p>
          <a:p>
            <a:r>
              <a:rPr dirty="0"/>
              <a:t>- Reproducibilidad: capacidad de repetir un resultado con los mismos datos, código y parámetros.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El EU AI </a:t>
            </a:r>
            <a:r>
              <a:rPr dirty="0" err="1"/>
              <a:t>Act</a:t>
            </a:r>
            <a:r>
              <a:rPr dirty="0"/>
              <a:t> clasifica los sistemas por riesgo. Inaceptable: prohibido. Alto riesgo: obligaciones estrictas, especialmente los casos del Anexo III, como empleo, educación o crédito. Riesgo limitado: transparencia. Mínimo: sin obligaciones específicas. Aparte están los modelos de propósito general, con reglas propias. A la derecha, el calendario actualizado: prohibiciones y alfabetización en IA desde febrero de 2025; modelos de propósito general desde agosto de 2025; y, tras el Digital </a:t>
            </a:r>
            <a:r>
              <a:rPr dirty="0" err="1"/>
              <a:t>Omnibus</a:t>
            </a:r>
            <a:r>
              <a:rPr dirty="0"/>
              <a:t>, ya en vigor, el alto riesgo del Anexo III pasa a diciembre de 2027 y el del Anexo I a agosto de 2028. El aplazamiento no elimina las obligaciones. Verifiquen siempre la versión vigente.</a:t>
            </a:r>
          </a:p>
          <a:p>
            <a:r>
              <a:rPr dirty="0"/>
              <a:t>TÉRMINOS CLAVE:</a:t>
            </a:r>
          </a:p>
          <a:p>
            <a:r>
              <a:rPr dirty="0"/>
              <a:t>- Anexo III: lista de usos de alto riesgo, como crédito, empleo y educación.</a:t>
            </a:r>
          </a:p>
          <a:p>
            <a:r>
              <a:rPr dirty="0"/>
              <a:t>- GPAI: modelos de IA de propósito general, como los grandes modelos de lenguaje.</a:t>
            </a:r>
          </a:p>
          <a:p>
            <a:r>
              <a:rPr dirty="0"/>
              <a:t>- Alfabetización en IA (Art. 4): deber de capacitar a quienes operan o usan sistemas de IA.</a:t>
            </a:r>
          </a:p>
          <a:p>
            <a:r>
              <a:rPr dirty="0"/>
              <a:t>- Digital </a:t>
            </a:r>
            <a:r>
              <a:rPr dirty="0" err="1"/>
              <a:t>Omnibus</a:t>
            </a:r>
            <a:r>
              <a:rPr dirty="0"/>
              <a:t>: paquete de reformas europeas que aplazó los plazos de alto riesgo.</a:t>
            </a:r>
          </a:p>
          <a:p>
            <a:r>
              <a:rPr dirty="0"/>
              <a:t>- Extraterritorialidad: la ley aplica fuera de la UE si el sistema o sus resultados se usan allí.</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Esta tabla traduce los artículos clave del EU AI </a:t>
            </a:r>
            <a:r>
              <a:rPr dirty="0" err="1"/>
              <a:t>Act</a:t>
            </a:r>
            <a:r>
              <a:rPr dirty="0"/>
              <a:t> en evidencia concreta. Artículo 9: gestión de riesgos continua, con un registro de riesgos y evaluaciones de impacto. Artículo 10: gobernanza de datos, con DVC, Great </a:t>
            </a:r>
            <a:r>
              <a:rPr dirty="0" err="1"/>
              <a:t>Expectations</a:t>
            </a:r>
            <a:r>
              <a:rPr dirty="0"/>
              <a:t> y </a:t>
            </a:r>
            <a:r>
              <a:rPr dirty="0" err="1"/>
              <a:t>Fairlearn</a:t>
            </a:r>
            <a:r>
              <a:rPr dirty="0"/>
              <a:t>. Artículo 11: documentación técnica, con fichas de modelo. Artículo 12: registro automático, con </a:t>
            </a:r>
            <a:r>
              <a:rPr dirty="0" err="1"/>
              <a:t>MLflow</a:t>
            </a:r>
            <a:r>
              <a:rPr dirty="0"/>
              <a:t> y registros del sistema. Artículo 14: supervisión humana, con flujos de aprobación y mecanismo de apagado. Artículo 15: ciberseguridad y robustez, con cifrado, roles y escaneo de dependencias. Recuerden: las herramientas facilitan la evidencia técnica; la conformidad completa exige además procesos, documentación y personas.</a:t>
            </a:r>
          </a:p>
          <a:p>
            <a:r>
              <a:rPr dirty="0"/>
              <a:t>TÉRMINOS CLAVE:</a:t>
            </a:r>
          </a:p>
          <a:p>
            <a:r>
              <a:rPr dirty="0"/>
              <a:t>- Sistema de gestión de riesgos: proceso continuo para identificar, evaluar y tratar riesgos durante toda la vida del sistema.</a:t>
            </a:r>
          </a:p>
          <a:p>
            <a:r>
              <a:rPr dirty="0"/>
              <a:t>- Proveedor vs. </a:t>
            </a:r>
            <a:r>
              <a:rPr dirty="0" err="1"/>
              <a:t>desplegador</a:t>
            </a:r>
            <a:r>
              <a:rPr dirty="0"/>
              <a:t>: el proveedor desarrolla el sistema; el </a:t>
            </a:r>
            <a:r>
              <a:rPr dirty="0" err="1"/>
              <a:t>desplegador</a:t>
            </a:r>
            <a:r>
              <a:rPr dirty="0"/>
              <a:t> lo usa bajo su autoridad.</a:t>
            </a:r>
          </a:p>
          <a:p>
            <a:r>
              <a:rPr dirty="0"/>
              <a:t>- Evaluación de conformidad: verificación de que un sistema de alto riesgo cumple los requisitos.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La ISO/IEC 42001 es la norma certificable para un sistema de gestión de IA. A la izquierda, su ciclo Planificar, Hacer, Verificar y Actuar con las cláusulas: contexto, liderazgo y riesgos en las cláusulas 4 a 6; recursos y operación en la 7 y 8; evaluación del desempeño y auditoría interna en la 9; y mejora en la 10. A la derecha, algunos controles del Anexo A y la evidencia que los respalda: evaluación de impacto, ciclo de vida, datos, uso de sistemas y terceros. Una nota de rigor: verifiquen la numeración con el texto oficial de la norma.</a:t>
            </a:r>
          </a:p>
          <a:p>
            <a:r>
              <a:rPr dirty="0"/>
              <a:t>TÉRMINOS CLAVE:</a:t>
            </a:r>
          </a:p>
          <a:p>
            <a:r>
              <a:rPr dirty="0"/>
              <a:t>- Certificable: una entidad externa puede auditar y emitir un certificado de conformidad.</a:t>
            </a:r>
          </a:p>
          <a:p>
            <a:r>
              <a:rPr dirty="0"/>
              <a:t>- Anexo A: catálogo de controles que la organización aplica según su análisis de riesgos.</a:t>
            </a:r>
          </a:p>
          <a:p>
            <a:r>
              <a:rPr dirty="0"/>
              <a:t>- Cláusula: sección obligatoria de la norma, numerada del 4 al 10.</a:t>
            </a:r>
          </a:p>
          <a:p>
            <a:r>
              <a:rPr dirty="0"/>
              <a:t>- Acción correctiva: acción para eliminar la causa de una no conformidad.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Colombia no tiene todavía una ley general de IA vigente. Lo que sí tenemos es un piso obligatorio y señales claras. En morado, lo exigible hoy: la Ley 1581 de 2012 de protección de datos, la Circular Externa 002 de 2024 de la SIC sobre tratamiento de datos en sistemas de IA, y la Sentencia T-323 de 2024 de la Corte Constitucional. En ámbar, política pública y proyectos: el CONPES 4144 de 2025, con 106 acciones y 479 mil millones de pesos hasta 2030; el acuerdo de la Rama Judicial sobre uso de IA; y los proyectos de ley en trámite, con enfoque por riesgo inspirado en la UE. Verifiquen el estado actual de los proyectos. Si su sistema opera en el sector financiero, además aplican las reglas de la Superfinanciera.</a:t>
            </a:r>
          </a:p>
          <a:p>
            <a:r>
              <a:rPr dirty="0"/>
              <a:t>TÉRMINOS CLAVE:</a:t>
            </a:r>
          </a:p>
          <a:p>
            <a:r>
              <a:rPr dirty="0"/>
              <a:t>- Responsabilidad demostrada (</a:t>
            </a:r>
            <a:r>
              <a:rPr dirty="0" err="1"/>
              <a:t>accountability</a:t>
            </a:r>
            <a:r>
              <a:rPr dirty="0"/>
              <a:t>): deber de poder probar que se cumplen las reglas de datos.</a:t>
            </a:r>
          </a:p>
          <a:p>
            <a:r>
              <a:rPr dirty="0"/>
              <a:t>- Sentencia de tutela (T-): decisión de la Corte Constitucional que protege derechos fundamentales y fija criterios.</a:t>
            </a:r>
          </a:p>
          <a:p>
            <a:r>
              <a:rPr dirty="0"/>
              <a:t>- Circular externa: instrucción general de una superintendencia a sus vigilados.</a:t>
            </a:r>
          </a:p>
          <a:p>
            <a:r>
              <a:rPr dirty="0"/>
              <a:t>- Rama Judicial: conjunto de entidades que administran justicia.</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La Sentencia T-323 de 2024 se originó en un caso en que un juez usó IA generativa para apoyar una decisión. La Corte no lo prohibió, pero fijó criterios: pasó del principio a la obligación operativa. Aquí vemos los ocho principios y su traducción a un control técnico y una herramienta. Transparencia: divulgar y documentar. No discriminación: pruebas de sesgo con </a:t>
            </a:r>
            <a:r>
              <a:rPr dirty="0" err="1"/>
              <a:t>Fairlearn</a:t>
            </a:r>
            <a:r>
              <a:rPr dirty="0"/>
              <a:t>. </a:t>
            </a:r>
            <a:r>
              <a:rPr dirty="0" err="1"/>
              <a:t>Explicabilidad</a:t>
            </a:r>
            <a:r>
              <a:rPr dirty="0"/>
              <a:t>: fichas de modelo y SHAP. Supervisión humana: revisión y capacidad de apagado. Privacidad: protección de datos. Seguridad: pruebas y segmentación. Trazabilidad: registros y versiones con GitHub, DVC y </a:t>
            </a:r>
            <a:r>
              <a:rPr dirty="0" err="1"/>
              <a:t>MLflow</a:t>
            </a:r>
            <a:r>
              <a:rPr dirty="0"/>
              <a:t>. Y rendición de cuentas: roles, aprobaciones y auditoría.</a:t>
            </a:r>
          </a:p>
          <a:p>
            <a:r>
              <a:rPr dirty="0"/>
              <a:t>TÉRMINOS CLAVE:</a:t>
            </a:r>
          </a:p>
          <a:p>
            <a:r>
              <a:rPr dirty="0"/>
              <a:t>- Corte Constitucional: máximo tribunal en materia de derechos fundamentales en Colombia.</a:t>
            </a:r>
          </a:p>
          <a:p>
            <a:r>
              <a:rPr dirty="0"/>
              <a:t>- Obligación operativa: deber que se traduce en acciones y controles concretos.</a:t>
            </a:r>
          </a:p>
          <a:p>
            <a:r>
              <a:rPr dirty="0"/>
              <a:t>- IA generativa: IA que crea texto, imágenes o código nuevos.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2.5 min.</a:t>
            </a:r>
          </a:p>
          <a:p>
            <a:r>
              <a:rPr dirty="0"/>
              <a:t>NARRACIÓN: Esta matriz es la herramienta de trabajo para llevarse. Las filas son las tres fases del ciclo de vida; las columnas, lo que exige cada marco y la evidencia con su herramienta. Datos: artículo 10 del EU AI </a:t>
            </a:r>
            <a:r>
              <a:rPr dirty="0" err="1"/>
              <a:t>Act</a:t>
            </a:r>
            <a:r>
              <a:rPr dirty="0"/>
              <a:t>, control A.7 de ISO, Ley 1581 y Circular 002 en Colombia; evidencia con DVC y Great </a:t>
            </a:r>
            <a:r>
              <a:rPr dirty="0" err="1"/>
              <a:t>Expectations</a:t>
            </a:r>
            <a:r>
              <a:rPr dirty="0"/>
              <a:t>. Modelo: artículos 9, 11 y 15, controles A.5 y A.6, T-323 en no discriminación y </a:t>
            </a:r>
            <a:r>
              <a:rPr dirty="0" err="1"/>
              <a:t>explicabilidad</a:t>
            </a:r>
            <a:r>
              <a:rPr dirty="0"/>
              <a:t>; evidencia con </a:t>
            </a:r>
            <a:r>
              <a:rPr dirty="0" err="1"/>
              <a:t>MLflow</a:t>
            </a:r>
            <a:r>
              <a:rPr dirty="0"/>
              <a:t>, SHAP y fichas de modelo. Despliegue: artículos 12 y 14, A.9 y cláusula 9, T-323 en trazabilidad y rendición de cuentas; evidencia con registros, monitoreo y control de apagado. Úsenla como lista de verificación según el </a:t>
            </a:r>
            <a:r>
              <a:rPr dirty="0" err="1"/>
              <a:t>tier</a:t>
            </a:r>
            <a:r>
              <a:rPr dirty="0"/>
              <a:t> MVG.</a:t>
            </a:r>
          </a:p>
          <a:p>
            <a:r>
              <a:rPr dirty="0"/>
              <a:t>TÉRMINOS CLAVE:</a:t>
            </a:r>
          </a:p>
          <a:p>
            <a:r>
              <a:rPr dirty="0"/>
              <a:t>- Matriz de cumplimiento: tabla que cruza requisitos con controles y evidencias.</a:t>
            </a:r>
          </a:p>
          <a:p>
            <a:r>
              <a:rPr dirty="0"/>
              <a:t>- Evidencia: documento, registro o prueba que demuestra que un control funciona.</a:t>
            </a:r>
          </a:p>
          <a:p>
            <a:r>
              <a:rPr dirty="0"/>
              <a:t>- Lista de verificación: guía para revisar punto por punto.</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Cerremos con una hoja de ruta en cinco pasos. Uno: inventariar y clasificar los sistemas, con su </a:t>
            </a:r>
            <a:r>
              <a:rPr dirty="0" err="1"/>
              <a:t>tier</a:t>
            </a:r>
            <a:r>
              <a:rPr dirty="0"/>
              <a:t> MVG y su nivel de riesgo en la UE. Dos: definir la gobernanza: políticas, comité y roles. Tres: habilitar la plataforma de evidencia: repositorio, versionado de datos, seguimiento de experimentos y monitoreo. Cuatro: operar el ciclo de vida con </a:t>
            </a:r>
            <a:r>
              <a:rPr dirty="0" err="1"/>
              <a:t>MLOps</a:t>
            </a:r>
            <a:r>
              <a:rPr dirty="0"/>
              <a:t> y puertas de calidad y riesgo. Cinco: medir, auditar y mejorar según ISO 42001. Si no saben por dónde empezar, vean la franja inferior: en 90 días pueden tener el inventario, una política de uso aceptable, DLP para IA externa y un piloto de evidencia con un modelo.</a:t>
            </a:r>
          </a:p>
          <a:p>
            <a:r>
              <a:rPr dirty="0"/>
              <a:t>TÉRMINOS CLAVE:</a:t>
            </a:r>
          </a:p>
          <a:p>
            <a:r>
              <a:rPr dirty="0"/>
              <a:t>- Piloto: implementación pequeña para validar la idea antes de escalar.</a:t>
            </a:r>
          </a:p>
          <a:p>
            <a:r>
              <a:rPr dirty="0"/>
              <a:t>- Indicador (KPI): medida que permite saber si un control funciona.</a:t>
            </a:r>
          </a:p>
          <a:p>
            <a:r>
              <a:rPr dirty="0"/>
              <a:t>- Política de uso aceptable: reglas sobre qué se puede y no se puede hacer con IA.</a:t>
            </a:r>
          </a:p>
          <a:p>
            <a:r>
              <a:rPr dirty="0"/>
              <a:t>- Mejora continua: revisar y ajustar el sistema de gestión de forma periódica.</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Para quienes están empezando, propongo tres niveles. Nivel uno, fundamentos: leer el NIST AI RMF y su </a:t>
            </a:r>
            <a:r>
              <a:rPr dirty="0" err="1"/>
              <a:t>Playbook</a:t>
            </a:r>
            <a:r>
              <a:rPr dirty="0"/>
              <a:t>, los principios de la OCDE y la Recomendación de la UNESCO, el texto del EU AI </a:t>
            </a:r>
            <a:r>
              <a:rPr dirty="0" err="1"/>
              <a:t>Act</a:t>
            </a:r>
            <a:r>
              <a:rPr dirty="0"/>
              <a:t> con su explorador en línea, y el vocabulario de la ISO 22989. Nivel dos, práctica: hacer el </a:t>
            </a:r>
            <a:r>
              <a:rPr dirty="0" err="1"/>
              <a:t>mini-laboratorio</a:t>
            </a:r>
            <a:r>
              <a:rPr dirty="0"/>
              <a:t> con Git, DVC, </a:t>
            </a:r>
            <a:r>
              <a:rPr dirty="0" err="1"/>
              <a:t>MLflow</a:t>
            </a:r>
            <a:r>
              <a:rPr dirty="0"/>
              <a:t> y SHAP, redactar una ficha de modelo y una evaluación de impacto, y clasificar cinco sistemas. Nivel tres, profundización: cursos acreditados de implementador o auditor líder de ISO 42001, y certificaciones profesionales como la AIGP de la IAPP. Empiecen por el nivel uno y avancen a su ritmo.</a:t>
            </a:r>
          </a:p>
          <a:p>
            <a:r>
              <a:rPr dirty="0"/>
              <a:t>TÉRMINOS CLAVE:</a:t>
            </a:r>
          </a:p>
          <a:p>
            <a:r>
              <a:rPr dirty="0"/>
              <a:t>- NIST AI RMF </a:t>
            </a:r>
            <a:r>
              <a:rPr dirty="0" err="1"/>
              <a:t>Playbook</a:t>
            </a:r>
            <a:r>
              <a:rPr dirty="0"/>
              <a:t>: guía práctica del NIST con acciones sugeridas para cada función del marco.</a:t>
            </a:r>
          </a:p>
          <a:p>
            <a:r>
              <a:rPr dirty="0"/>
              <a:t>- AIGP (AI </a:t>
            </a:r>
            <a:r>
              <a:rPr dirty="0" err="1"/>
              <a:t>Governance</a:t>
            </a:r>
            <a:r>
              <a:rPr dirty="0"/>
              <a:t> Professional): certificación profesional en gobernanza de IA de la IAPP.</a:t>
            </a:r>
          </a:p>
          <a:p>
            <a:r>
              <a:rPr dirty="0"/>
              <a:t>- Implementador / auditor líder: formaciones acreditadas para implantar o auditar un sistema de gestión ISO.</a:t>
            </a:r>
          </a:p>
          <a:p>
            <a:r>
              <a:rPr dirty="0"/>
              <a:t>- Ficha de modelo: documento con propósito, límites, datos y desempeño del modelo.</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2 min.</a:t>
            </a:r>
          </a:p>
          <a:p>
            <a:r>
              <a:rPr dirty="0"/>
              <a:t>NARRACIÓN: Les propongo un ejercicio para llevar a la práctica todo lo visto. Primero, creen un repositorio en GitHub con protección de rama y un archivo CODEOWNERS. Segundo, versionen un </a:t>
            </a:r>
            <a:r>
              <a:rPr dirty="0" err="1"/>
              <a:t>dataset</a:t>
            </a:r>
            <a:r>
              <a:rPr dirty="0"/>
              <a:t> con DVC. Tercero, entrenen un modelo sencillo y registren la corrida en </a:t>
            </a:r>
            <a:r>
              <a:rPr dirty="0" err="1"/>
              <a:t>MLflow</a:t>
            </a:r>
            <a:r>
              <a:rPr dirty="0"/>
              <a:t>. Cuarto, generen explicaciones SHAP y guárdenlas como artefacto. Quinto, redacten la ficha del modelo y asignen su </a:t>
            </a:r>
            <a:r>
              <a:rPr dirty="0" err="1"/>
              <a:t>tier</a:t>
            </a:r>
            <a:r>
              <a:rPr dirty="0"/>
              <a:t> MVG. El entregable es el repositorio con la evidencia y una ficha de una página. Con esto ya tienen un caso mínimo de gobernanza demostrable.</a:t>
            </a:r>
          </a:p>
          <a:p>
            <a:r>
              <a:rPr dirty="0"/>
              <a:t>TÉRMINOS CLAVE:</a:t>
            </a:r>
          </a:p>
          <a:p>
            <a:r>
              <a:rPr dirty="0"/>
              <a:t>- Ficha de modelo: documento breve con propósito, datos, desempeño, límites y riesgos del modelo.</a:t>
            </a:r>
          </a:p>
          <a:p>
            <a:r>
              <a:rPr dirty="0"/>
              <a:t>- Artefacto: archivo producido por un proceso y guardado junto a la corrida.</a:t>
            </a:r>
          </a:p>
          <a:p>
            <a:r>
              <a:rPr dirty="0"/>
              <a:t>- Entregable: producto concreto que se evalúa al terminar la actividad.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DURACIÓN SUGERIDA: 1 min.</a:t>
            </a:r>
          </a:p>
          <a:p>
            <a:r>
              <a:rPr dirty="0"/>
              <a:t>NARRACIÓN: Cuatro ideas para llevarse. Uno: la IA no gobernada es un pasivo, y gobernar no es prohibir, es ofrecer una alternativa segura. Dos: con MVG gobernamos en proporción al riesgo: un suelo para todos y controles crecientes según el </a:t>
            </a:r>
            <a:r>
              <a:rPr dirty="0" err="1"/>
              <a:t>tier</a:t>
            </a:r>
            <a:r>
              <a:rPr dirty="0"/>
              <a:t>. Tres: lo que no se mide no se gobierna; las herramientas como GitHub, DVC, </a:t>
            </a:r>
            <a:r>
              <a:rPr dirty="0" err="1"/>
              <a:t>MLflow</a:t>
            </a:r>
            <a:r>
              <a:rPr dirty="0"/>
              <a:t> y SHAP producen la evidencia. Cuatro: un mismo control sirve a varios marcos: EU AI </a:t>
            </a:r>
            <a:r>
              <a:rPr dirty="0" err="1"/>
              <a:t>Act</a:t>
            </a:r>
            <a:r>
              <a:rPr dirty="0"/>
              <a:t>, ISO 42001 y el marco colombiano. Gracias por acompañarme. Les recomiendo empezar esta semana con el inventario de los sistemas de IA que usan.</a:t>
            </a:r>
          </a:p>
          <a:p>
            <a:r>
              <a:rPr dirty="0"/>
              <a:t>TÉRMINOS CLAVE:</a:t>
            </a:r>
          </a:p>
          <a:p>
            <a:r>
              <a:rPr dirty="0"/>
              <a:t>- Gobernar para innovar: usar la gobernanza como habilitador de la adopción, no como freno.</a:t>
            </a:r>
          </a:p>
          <a:p>
            <a:r>
              <a:rPr dirty="0"/>
              <a:t>- Verificable: que se puede comprobar con evidencia, no solo afirmar.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de sección">
    <p:bg>
      <p:bgPr>
        <a:solidFill>
          <a:schemeClr val="accent3"/>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B0F5DF9-18C4-99DF-AF0C-6B03E6A1B75B}"/>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1">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396151" y="2082187"/>
            <a:ext cx="11399697" cy="2644049"/>
          </a:xfrm>
          <a:prstGeom prst="rect">
            <a:avLst/>
          </a:prstGeom>
        </p:spPr>
        <p:txBody>
          <a:bodyPr lIns="0" tIns="0" rIns="0" bIns="0" rtlCol="0" anchor="b">
            <a:noAutofit/>
          </a:bodyPr>
          <a:lstStyle>
            <a:lvl1pPr algn="l">
              <a:lnSpc>
                <a:spcPct val="80000"/>
              </a:lnSpc>
              <a:defRPr lang="es-ES" sz="4800" b="1" i="0" spc="100" baseline="0">
                <a:solidFill>
                  <a:schemeClr val="bg1"/>
                </a:solidFill>
                <a:latin typeface="+mj-lt"/>
              </a:defRPr>
            </a:lvl1pPr>
          </a:lstStyle>
          <a:p>
            <a:pPr rtl="0"/>
            <a:r>
              <a:rPr lang="es-ES" dirty="0"/>
              <a:t>Título de la ponencia fuente (48)</a:t>
            </a:r>
            <a:br>
              <a:rPr lang="es-ES" dirty="0"/>
            </a:br>
            <a:r>
              <a:rPr lang="es-ES" dirty="0"/>
              <a:t>Autor(es) fuente (32)</a:t>
            </a:r>
            <a:br>
              <a:rPr lang="es-ES" dirty="0"/>
            </a:br>
            <a:endParaRPr lang="es-ES" dirty="0"/>
          </a:p>
        </p:txBody>
      </p:sp>
      <p:pic>
        <p:nvPicPr>
          <p:cNvPr id="7" name="Imagen 6">
            <a:extLst>
              <a:ext uri="{FF2B5EF4-FFF2-40B4-BE49-F238E27FC236}">
                <a16:creationId xmlns:a16="http://schemas.microsoft.com/office/drawing/2014/main" id="{DBDE8F68-4F95-8EB4-C6BC-6504DE0F53B3}"/>
              </a:ext>
            </a:extLst>
          </p:cNvPr>
          <p:cNvPicPr>
            <a:picLocks noChangeAspect="1"/>
          </p:cNvPicPr>
          <p:nvPr userDrawn="1"/>
        </p:nvPicPr>
        <p:blipFill>
          <a:blip r:embed="rId2"/>
          <a:srcRect t="87871"/>
          <a:stretch>
            <a:fillRect/>
          </a:stretch>
        </p:blipFill>
        <p:spPr>
          <a:xfrm>
            <a:off x="0" y="6026226"/>
            <a:ext cx="12192000" cy="831773"/>
          </a:xfrm>
          <a:prstGeom prst="rect">
            <a:avLst/>
          </a:prstGeom>
        </p:spPr>
      </p:pic>
      <p:pic>
        <p:nvPicPr>
          <p:cNvPr id="32" name="Imagen 31">
            <a:extLst>
              <a:ext uri="{FF2B5EF4-FFF2-40B4-BE49-F238E27FC236}">
                <a16:creationId xmlns:a16="http://schemas.microsoft.com/office/drawing/2014/main" id="{92A41CBB-C70F-A685-EED5-84B6C4154850}"/>
              </a:ext>
            </a:extLst>
          </p:cNvPr>
          <p:cNvPicPr>
            <a:picLocks noChangeAspect="1"/>
          </p:cNvPicPr>
          <p:nvPr userDrawn="1"/>
        </p:nvPicPr>
        <p:blipFill>
          <a:blip r:embed="rId2"/>
          <a:srcRect t="28113" b="49879"/>
          <a:stretch>
            <a:fillRect/>
          </a:stretch>
        </p:blipFill>
        <p:spPr>
          <a:xfrm>
            <a:off x="0" y="0"/>
            <a:ext cx="12192000" cy="1509311"/>
          </a:xfrm>
          <a:prstGeom prst="rect">
            <a:avLst/>
          </a:prstGeom>
        </p:spPr>
      </p:pic>
    </p:spTree>
    <p:extLst>
      <p:ext uri="{BB962C8B-B14F-4D97-AF65-F5344CB8AC3E}">
        <p14:creationId xmlns:p14="http://schemas.microsoft.com/office/powerpoint/2010/main" val="441327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59" y="1795749"/>
            <a:ext cx="11138604" cy="791561"/>
          </a:xfrm>
          <a:prstGeom prst="rect">
            <a:avLst/>
          </a:prstGeom>
        </p:spPr>
        <p:txBody>
          <a:bodyPr lIns="0" tIns="0" rIns="0" bIns="0" rtlCol="0" anchor="b" anchorCtr="0">
            <a:noAutofit/>
          </a:bodyPr>
          <a:lstStyle>
            <a:lvl1pPr>
              <a:defRPr lang="es-ES" sz="4400" b="1" i="0" spc="50" baseline="0">
                <a:latin typeface="+mj-lt"/>
              </a:defRPr>
            </a:lvl1pPr>
          </a:lstStyle>
          <a:p>
            <a:pPr rtl="0"/>
            <a:r>
              <a:rPr lang="es-ES" noProof="0" dirty="0"/>
              <a:t>Haga clic para agregar un título </a:t>
            </a:r>
          </a:p>
        </p:txBody>
      </p:sp>
      <p:sp>
        <p:nvSpPr>
          <p:cNvPr id="2" name="Marcador de contenido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842353"/>
            <a:ext cx="11215723" cy="3148082"/>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es-ES" sz="2400" b="1" i="0" kern="1200" dirty="0">
                <a:solidFill>
                  <a:schemeClr val="bg1"/>
                </a:solidFill>
                <a:latin typeface="+mn-lt"/>
                <a:ea typeface="+mn-ea"/>
                <a:cs typeface="+mn-cs"/>
              </a:defRPr>
            </a:lvl1pPr>
            <a:lvl2pPr indent="-283464">
              <a:spcBef>
                <a:spcPts val="6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noProof="0" dirty="0"/>
              <a:t>Haga clic para agregar contenido</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3" name="Marcador de número de diapositiva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es-ES"/>
            </a:defPPr>
          </a:lstStyle>
          <a:p>
            <a:pPr rtl="0"/>
            <a:fld id="{294A09A9-5501-47C1-A89A-A340965A2BE2}" type="slidenum">
              <a:rPr lang="es-ES" noProof="0" smtClean="0"/>
              <a:pPr rtl="0"/>
              <a:t>‹Nº›</a:t>
            </a:fld>
            <a:endParaRPr lang="es-ES" noProof="0" dirty="0"/>
          </a:p>
        </p:txBody>
      </p:sp>
      <p:sp>
        <p:nvSpPr>
          <p:cNvPr id="42" name="Marcador de fecha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es-ES"/>
            </a:defPPr>
          </a:lstStyle>
          <a:p>
            <a:pPr rtl="0"/>
            <a:endParaRPr lang="es-ES" noProof="0" dirty="0">
              <a:latin typeface="+mn-lt"/>
            </a:endParaRPr>
          </a:p>
        </p:txBody>
      </p:sp>
      <p:pic>
        <p:nvPicPr>
          <p:cNvPr id="5" name="Imagen 4">
            <a:extLst>
              <a:ext uri="{FF2B5EF4-FFF2-40B4-BE49-F238E27FC236}">
                <a16:creationId xmlns:a16="http://schemas.microsoft.com/office/drawing/2014/main" id="{2936D21C-C5BF-4F4B-3C99-BE5321E4FEEF}"/>
              </a:ext>
            </a:extLst>
          </p:cNvPr>
          <p:cNvPicPr>
            <a:picLocks noChangeAspect="1"/>
          </p:cNvPicPr>
          <p:nvPr userDrawn="1"/>
        </p:nvPicPr>
        <p:blipFill>
          <a:blip r:embed="rId2"/>
          <a:srcRect t="87871"/>
          <a:stretch>
            <a:fillRect/>
          </a:stretch>
        </p:blipFill>
        <p:spPr>
          <a:xfrm>
            <a:off x="0" y="6026226"/>
            <a:ext cx="12192000" cy="831773"/>
          </a:xfrm>
          <a:prstGeom prst="rect">
            <a:avLst/>
          </a:prstGeom>
        </p:spPr>
      </p:pic>
      <p:pic>
        <p:nvPicPr>
          <p:cNvPr id="18" name="Imagen 17">
            <a:extLst>
              <a:ext uri="{FF2B5EF4-FFF2-40B4-BE49-F238E27FC236}">
                <a16:creationId xmlns:a16="http://schemas.microsoft.com/office/drawing/2014/main" id="{9E5A32DF-7A99-3756-B689-551281AC7811}"/>
              </a:ext>
            </a:extLst>
          </p:cNvPr>
          <p:cNvPicPr>
            <a:picLocks noChangeAspect="1"/>
          </p:cNvPicPr>
          <p:nvPr userDrawn="1"/>
        </p:nvPicPr>
        <p:blipFill>
          <a:blip r:embed="rId2"/>
          <a:srcRect t="28113" b="49879"/>
          <a:stretch>
            <a:fillRect/>
          </a:stretch>
        </p:blipFill>
        <p:spPr>
          <a:xfrm>
            <a:off x="0" y="0"/>
            <a:ext cx="12192000" cy="1509311"/>
          </a:xfrm>
          <a:prstGeom prst="rect">
            <a:avLst/>
          </a:prstGeom>
        </p:spPr>
      </p:pic>
    </p:spTree>
    <p:extLst>
      <p:ext uri="{BB962C8B-B14F-4D97-AF65-F5344CB8AC3E}">
        <p14:creationId xmlns:p14="http://schemas.microsoft.com/office/powerpoint/2010/main" val="518089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9509760" cy="822960"/>
          </a:xfrm>
          <a:prstGeom prst="rect">
            <a:avLst/>
          </a:prstGeom>
          <a:noFill/>
          <a:ln/>
        </p:spPr>
        <p:txBody>
          <a:bodyPr wrap="square" rtlCol="0"/>
          <a:lstStyle>
            <a:lvl1pPr marL="0" indent="0" algn="l">
              <a:buNone/>
              <a:defRPr lang="en-US" sz="3000" b="1" dirty="0">
                <a:solidFill>
                  <a:srgbClr val="9200EE"/>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3" name="Shape 0"/>
          <p:cNvSpPr/>
          <p:nvPr/>
        </p:nvSpPr>
        <p:spPr>
          <a:xfrm>
            <a:off x="10241280" y="274320"/>
            <a:ext cx="1600200" cy="658368"/>
          </a:xfrm>
          <a:prstGeom prst="rect">
            <a:avLst/>
          </a:prstGeom>
          <a:solidFill>
            <a:srgbClr val="9200EE"/>
          </a:solidFill>
          <a:ln/>
        </p:spPr>
      </p:sp>
      <p:pic>
        <p:nvPicPr>
          <p:cNvPr id="4" name="Image 0" descr="/home/claude/logo.png"/>
          <p:cNvPicPr>
            <a:picLocks noChangeAspect="1"/>
          </p:cNvPicPr>
          <p:nvPr/>
        </p:nvPicPr>
        <p:blipFill>
          <a:blip r:embed="rId2"/>
          <a:stretch>
            <a:fillRect/>
          </a:stretch>
        </p:blipFill>
        <p:spPr>
          <a:xfrm>
            <a:off x="10332720" y="347472"/>
            <a:ext cx="1417320" cy="512064"/>
          </a:xfrm>
          <a:prstGeom prst="rect">
            <a:avLst/>
          </a:prstGeom>
        </p:spPr>
      </p:pic>
      <p:sp>
        <p:nvSpPr>
          <p:cNvPr id="5" name="Shape 1"/>
          <p:cNvSpPr/>
          <p:nvPr/>
        </p:nvSpPr>
        <p:spPr>
          <a:xfrm>
            <a:off x="0" y="6446520"/>
            <a:ext cx="822960" cy="411480"/>
          </a:xfrm>
          <a:prstGeom prst="rect">
            <a:avLst/>
          </a:prstGeom>
          <a:solidFill>
            <a:srgbClr val="FFA400"/>
          </a:solidFill>
          <a:ln/>
        </p:spPr>
      </p:sp>
      <p:sp>
        <p:nvSpPr>
          <p:cNvPr id="6" name="Text 2"/>
          <p:cNvSpPr/>
          <p:nvPr/>
        </p:nvSpPr>
        <p:spPr>
          <a:xfrm>
            <a:off x="1005840" y="6473952"/>
            <a:ext cx="7315200" cy="32004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Gobernanza y Gestión de IA · HPE Private Cloud AI (PCAI)</a:t>
            </a:r>
            <a:endParaRPr lang="en-US" sz="1100" dirty="0"/>
          </a:p>
        </p:txBody>
      </p:sp>
      <p:sp>
        <p:nvSpPr>
          <p:cNvPr id="25" name="Slide Number Placeholder 0"/>
          <p:cNvSpPr>
            <a:spLocks noGrp="1"/>
          </p:cNvSpPr>
          <p:nvPr>
            <p:ph type="sldNum" sz="quarter" idx="4294967295"/>
          </p:nvPr>
        </p:nvSpPr>
        <p:spPr>
          <a:xfrm>
            <a:off x="11155680" y="6473952"/>
            <a:ext cx="73152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472"/>
                </a:solidFill>
              </a:defRPr>
            </a:lvl1pPr>
          </a:lstStyle>
          <a:p>
            <a:pPr algn="r"/>
            <a:fld id="{F7021451-1387-4CA6-816F-3879F97B5CBC}" type="slidenum">
              <a:rPr lang="en-US" b="0"/>
              <a:t>‹Nº›</a:t>
            </a:fld>
            <a:endParaRPr lang="en-US"/>
          </a:p>
        </p:txBody>
      </p:sp>
    </p:spTree>
    <p:extLst>
      <p:ext uri="{BB962C8B-B14F-4D97-AF65-F5344CB8AC3E}">
        <p14:creationId xmlns:p14="http://schemas.microsoft.com/office/powerpoint/2010/main" val="843087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LOSE">
    <p:bg>
      <p:bgPr>
        <a:solidFill>
          <a:srgbClr val="1B2A4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2854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es-ES"/>
            </a:defPPr>
          </a:lstStyle>
          <a:p>
            <a:pPr rtl="0"/>
            <a:r>
              <a:rPr lang="es-ES"/>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es-ES" sz="1100" b="0" i="0">
                <a:solidFill>
                  <a:schemeClr val="bg1"/>
                </a:solidFill>
                <a:latin typeface="+mn-lt"/>
              </a:defRPr>
            </a:lvl1pPr>
          </a:lstStyle>
          <a:p>
            <a:pPr rtl="0"/>
            <a:endParaRPr lang="es-ES" dirty="0">
              <a:latin typeface="+mn-lt"/>
            </a:endParaRPr>
          </a:p>
        </p:txBody>
      </p:sp>
      <p:sp>
        <p:nvSpPr>
          <p:cNvPr id="32" name="Marcador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es-ES" sz="1100" b="1" i="0">
                <a:solidFill>
                  <a:schemeClr val="bg1"/>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0" r:id="rId1"/>
    <p:sldLayoutId id="2147483711" r:id="rId2"/>
    <p:sldLayoutId id="2147483698" r:id="rId3"/>
    <p:sldLayoutId id="2147483712" r:id="rId4"/>
    <p:sldLayoutId id="2147483713" r:id="rId5"/>
  </p:sldLayoutIdLst>
  <p:hf sldNum="0" hdr="0" ftr="0" dt="0"/>
  <p:txStyles>
    <p:titleStyle>
      <a:lvl1pPr algn="l" defTabSz="914400" rtl="0" eaLnBrk="1" latinLnBrk="0" hangingPunct="1">
        <a:lnSpc>
          <a:spcPct val="80000"/>
        </a:lnSpc>
        <a:spcBef>
          <a:spcPct val="0"/>
        </a:spcBef>
        <a:buNone/>
        <a:defRPr lang="es-ES" sz="4400" b="1" i="0" kern="1200" spc="100" baseline="0">
          <a:solidFill>
            <a:schemeClr val="bg1"/>
          </a:solidFill>
          <a:latin typeface="+mj-lt"/>
          <a:ea typeface="+mj-ea"/>
          <a:cs typeface="+mj-cs"/>
        </a:defRPr>
      </a:lvl1pPr>
      <a:lvl2pPr eaLnBrk="1" hangingPunct="1">
        <a:defRPr lang="es-ES">
          <a:solidFill>
            <a:schemeClr val="tx2"/>
          </a:solidFill>
        </a:defRPr>
      </a:lvl2pPr>
      <a:lvl3pPr eaLnBrk="1" hangingPunct="1">
        <a:defRPr lang="es-ES">
          <a:solidFill>
            <a:schemeClr val="tx2"/>
          </a:solidFill>
        </a:defRPr>
      </a:lvl3pPr>
      <a:lvl4pPr eaLnBrk="1" hangingPunct="1">
        <a:defRPr lang="es-ES">
          <a:solidFill>
            <a:schemeClr val="tx2"/>
          </a:solidFill>
        </a:defRPr>
      </a:lvl4pPr>
      <a:lvl5pPr eaLnBrk="1" hangingPunct="1">
        <a:defRPr lang="es-ES">
          <a:solidFill>
            <a:schemeClr val="tx2"/>
          </a:solidFill>
        </a:defRPr>
      </a:lvl5pPr>
      <a:lvl6pPr eaLnBrk="1" hangingPunct="1">
        <a:defRPr lang="es-ES">
          <a:solidFill>
            <a:schemeClr val="tx2"/>
          </a:solidFill>
        </a:defRPr>
      </a:lvl6pPr>
      <a:lvl7pPr eaLnBrk="1" hangingPunct="1">
        <a:defRPr lang="es-ES">
          <a:solidFill>
            <a:schemeClr val="tx2"/>
          </a:solidFill>
        </a:defRPr>
      </a:lvl7pPr>
      <a:lvl8pPr eaLnBrk="1" hangingPunct="1">
        <a:defRPr lang="es-ES">
          <a:solidFill>
            <a:schemeClr val="tx2"/>
          </a:solidFill>
        </a:defRPr>
      </a:lvl8pPr>
      <a:lvl9pPr eaLnBrk="1" hangingPunct="1">
        <a:defRPr lang="es-ES">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es-ES"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es-ES"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es-ES"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2960" y="1828800"/>
            <a:ext cx="10515600" cy="2286000"/>
          </a:xfrm>
        </p:spPr>
        <p:txBody>
          <a:bodyPr wrap="square" anchor="ctr">
            <a:noAutofit/>
          </a:bodyPr>
          <a:lstStyle/>
          <a:p>
            <a:pPr algn="ctr"/>
            <a:r>
              <a:rPr sz="3600" b="1">
                <a:solidFill>
                  <a:srgbClr val="1B2A4A"/>
                </a:solidFill>
                <a:latin typeface="Arial"/>
              </a:rPr>
              <a:t>Gobernanza y Gestión de la Inteligencia Artificial</a:t>
            </a:r>
          </a:p>
        </p:txBody>
      </p:sp>
      <p:sp>
        <p:nvSpPr>
          <p:cNvPr id="3" name="Subtítulo"/>
          <p:cNvSpPr txBox="1"/>
          <p:nvPr/>
        </p:nvSpPr>
        <p:spPr>
          <a:xfrm>
            <a:off x="822960" y="4114800"/>
            <a:ext cx="10515600" cy="457200"/>
          </a:xfrm>
          <a:prstGeom prst="rect">
            <a:avLst/>
          </a:prstGeom>
          <a:noFill/>
        </p:spPr>
        <p:txBody>
          <a:bodyPr wrap="square" lIns="0" tIns="0" rIns="0" bIns="0" anchor="t">
            <a:noAutofit/>
          </a:bodyPr>
          <a:lstStyle/>
          <a:p>
            <a:pPr algn="ctr"/>
            <a:r>
              <a:rPr sz="2100" b="0" i="0">
                <a:solidFill>
                  <a:srgbClr val="5B6472"/>
                </a:solidFill>
                <a:latin typeface="Calibri"/>
              </a:rPr>
              <a:t>Fundamentos, marcos normativos y herramientas para medir y evidenciar el cumplimiento</a:t>
            </a:r>
          </a:p>
        </p:txBody>
      </p:sp>
      <p:sp>
        <p:nvSpPr>
          <p:cNvPr id="4" name="Autor"/>
          <p:cNvSpPr txBox="1"/>
          <p:nvPr/>
        </p:nvSpPr>
        <p:spPr>
          <a:xfrm>
            <a:off x="822960" y="4800600"/>
            <a:ext cx="10515600" cy="365760"/>
          </a:xfrm>
          <a:prstGeom prst="rect">
            <a:avLst/>
          </a:prstGeom>
          <a:noFill/>
        </p:spPr>
        <p:txBody>
          <a:bodyPr wrap="square" lIns="0" tIns="0" rIns="0" bIns="0" anchor="t">
            <a:noAutofit/>
          </a:bodyPr>
          <a:lstStyle/>
          <a:p>
            <a:pPr algn="ctr"/>
            <a:r>
              <a:rPr sz="1800" b="1" i="0" dirty="0">
                <a:solidFill>
                  <a:srgbClr val="1B2A4A"/>
                </a:solidFill>
                <a:latin typeface="Calibri"/>
              </a:rPr>
              <a:t>Alfredo Díaz Claros</a:t>
            </a:r>
          </a:p>
          <a:p>
            <a:pPr algn="ctr"/>
            <a:r>
              <a:rPr lang="es-ES" b="1" dirty="0">
                <a:solidFill>
                  <a:srgbClr val="1B2A4A"/>
                </a:solidFill>
                <a:latin typeface="Calibri"/>
              </a:rPr>
              <a:t>UNIVERSIDAD AUTONOMA DE BUCARAMANGA</a:t>
            </a:r>
          </a:p>
          <a:p>
            <a:pPr algn="ctr"/>
            <a:r>
              <a:rPr lang="es-ES" sz="1800" b="1" i="0" dirty="0">
                <a:solidFill>
                  <a:srgbClr val="1B2A4A"/>
                </a:solidFill>
                <a:latin typeface="Calibri"/>
              </a:rPr>
              <a:t>SMART REGIONS CENTER</a:t>
            </a:r>
            <a:endParaRPr sz="1800" b="1" i="0" dirty="0">
              <a:solidFill>
                <a:srgbClr val="1B2A4A"/>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lang="es-CO" sz="2600" dirty="0">
                <a:solidFill>
                  <a:srgbClr val="1B2A4A"/>
                </a:solidFill>
                <a:latin typeface="Arial"/>
              </a:rPr>
              <a:t>Agenda</a:t>
            </a:r>
            <a:endParaRPr sz="2600" b="1" dirty="0">
              <a:solidFill>
                <a:srgbClr val="1B2A4A"/>
              </a:solidFill>
              <a:latin typeface="Arial"/>
            </a:endParaRP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400" b="1" i="0" dirty="0">
                <a:solidFill>
                  <a:srgbClr val="9200EE"/>
                </a:solidFill>
                <a:latin typeface="Calibri"/>
              </a:rPr>
              <a:t>INTRODUCCIÓN</a:t>
            </a:r>
          </a:p>
        </p:txBody>
      </p:sp>
      <p:sp>
        <p:nvSpPr>
          <p:cNvPr id="4" name="Tarjeta"/>
          <p:cNvSpPr/>
          <p:nvPr/>
        </p:nvSpPr>
        <p:spPr>
          <a:xfrm>
            <a:off x="548640" y="2286000"/>
            <a:ext cx="3575304" cy="1463039"/>
          </a:xfrm>
          <a:prstGeom prst="roundRect">
            <a:avLst>
              <a:gd name="adj" fmla="val 6000"/>
            </a:avLst>
          </a:prstGeom>
          <a:solidFill>
            <a:srgbClr val="F3EAFD"/>
          </a:solidFill>
          <a:ln>
            <a:noFill/>
          </a:ln>
          <a:effectLst>
            <a:outerShdw blurRad="76200" dist="25400" dir="5400000" algn="t" rotWithShape="0">
              <a:srgbClr val="1B2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Número 1"/>
          <p:cNvSpPr/>
          <p:nvPr/>
        </p:nvSpPr>
        <p:spPr>
          <a:xfrm>
            <a:off x="777240" y="2514600"/>
            <a:ext cx="457200" cy="45720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1</a:t>
            </a:r>
          </a:p>
        </p:txBody>
      </p:sp>
      <p:sp>
        <p:nvSpPr>
          <p:cNvPr id="6" name="Texto"/>
          <p:cNvSpPr txBox="1"/>
          <p:nvPr/>
        </p:nvSpPr>
        <p:spPr>
          <a:xfrm>
            <a:off x="1417319" y="2514600"/>
            <a:ext cx="2523744" cy="457200"/>
          </a:xfrm>
          <a:prstGeom prst="rect">
            <a:avLst/>
          </a:prstGeom>
          <a:noFill/>
        </p:spPr>
        <p:txBody>
          <a:bodyPr wrap="square" lIns="0" tIns="0" rIns="0" bIns="0" anchor="ctr">
            <a:noAutofit/>
          </a:bodyPr>
          <a:lstStyle/>
          <a:p>
            <a:pPr algn="l"/>
            <a:r>
              <a:rPr sz="1900" b="1" i="0">
                <a:solidFill>
                  <a:srgbClr val="1B2A4A"/>
                </a:solidFill>
                <a:latin typeface="Calibri"/>
              </a:rPr>
              <a:t>Fundamentos</a:t>
            </a:r>
          </a:p>
        </p:txBody>
      </p:sp>
      <p:sp>
        <p:nvSpPr>
          <p:cNvPr id="7" name="Texto"/>
          <p:cNvSpPr txBox="1"/>
          <p:nvPr/>
        </p:nvSpPr>
        <p:spPr>
          <a:xfrm>
            <a:off x="777240" y="3154680"/>
            <a:ext cx="3118104" cy="822960"/>
          </a:xfrm>
          <a:prstGeom prst="rect">
            <a:avLst/>
          </a:prstGeom>
          <a:noFill/>
        </p:spPr>
        <p:txBody>
          <a:bodyPr wrap="square" lIns="0" tIns="0" rIns="0" bIns="0" anchor="t">
            <a:noAutofit/>
          </a:bodyPr>
          <a:lstStyle/>
          <a:p>
            <a:pPr algn="l"/>
            <a:r>
              <a:rPr sz="1700" b="0" i="0">
                <a:solidFill>
                  <a:srgbClr val="5B6472"/>
                </a:solidFill>
                <a:latin typeface="Calibri"/>
              </a:rPr>
              <a:t>Vocabulario, gobernanza vs. gestión y roles</a:t>
            </a:r>
          </a:p>
        </p:txBody>
      </p:sp>
      <p:sp>
        <p:nvSpPr>
          <p:cNvPr id="8" name="Tarjeta"/>
          <p:cNvSpPr/>
          <p:nvPr/>
        </p:nvSpPr>
        <p:spPr>
          <a:xfrm>
            <a:off x="4306824" y="2286000"/>
            <a:ext cx="3575304" cy="1463039"/>
          </a:xfrm>
          <a:prstGeom prst="roundRect">
            <a:avLst>
              <a:gd name="adj" fmla="val 6000"/>
            </a:avLst>
          </a:prstGeom>
          <a:solidFill>
            <a:srgbClr val="F3EAFD"/>
          </a:solidFill>
          <a:ln>
            <a:noFill/>
          </a:ln>
          <a:effectLst>
            <a:outerShdw blurRad="76200" dist="25400" dir="5400000" algn="t" rotWithShape="0">
              <a:srgbClr val="1B2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Número 2"/>
          <p:cNvSpPr/>
          <p:nvPr/>
        </p:nvSpPr>
        <p:spPr>
          <a:xfrm>
            <a:off x="4535424" y="2539999"/>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dirty="0">
                <a:solidFill>
                  <a:schemeClr val="tx1"/>
                </a:solidFill>
                <a:latin typeface="Calibri"/>
              </a:rPr>
              <a:t>2</a:t>
            </a:r>
          </a:p>
        </p:txBody>
      </p:sp>
      <p:sp>
        <p:nvSpPr>
          <p:cNvPr id="10" name="Texto"/>
          <p:cNvSpPr txBox="1"/>
          <p:nvPr/>
        </p:nvSpPr>
        <p:spPr>
          <a:xfrm>
            <a:off x="5175504" y="2514600"/>
            <a:ext cx="2523744" cy="457200"/>
          </a:xfrm>
          <a:prstGeom prst="rect">
            <a:avLst/>
          </a:prstGeom>
          <a:noFill/>
        </p:spPr>
        <p:txBody>
          <a:bodyPr wrap="square" lIns="0" tIns="0" rIns="0" bIns="0" anchor="ctr">
            <a:noAutofit/>
          </a:bodyPr>
          <a:lstStyle/>
          <a:p>
            <a:pPr algn="l"/>
            <a:r>
              <a:rPr sz="1900" b="1" i="0" dirty="0">
                <a:solidFill>
                  <a:srgbClr val="1B2A4A"/>
                </a:solidFill>
                <a:latin typeface="Calibri"/>
              </a:rPr>
              <a:t>Por qué gobernar</a:t>
            </a:r>
          </a:p>
        </p:txBody>
      </p:sp>
      <p:sp>
        <p:nvSpPr>
          <p:cNvPr id="11" name="Texto"/>
          <p:cNvSpPr txBox="1"/>
          <p:nvPr/>
        </p:nvSpPr>
        <p:spPr>
          <a:xfrm>
            <a:off x="4535424" y="3154680"/>
            <a:ext cx="3118104" cy="822960"/>
          </a:xfrm>
          <a:prstGeom prst="rect">
            <a:avLst/>
          </a:prstGeom>
          <a:noFill/>
        </p:spPr>
        <p:txBody>
          <a:bodyPr wrap="square" lIns="0" tIns="0" rIns="0" bIns="0" anchor="t">
            <a:noAutofit/>
          </a:bodyPr>
          <a:lstStyle/>
          <a:p>
            <a:pPr algn="l"/>
            <a:r>
              <a:rPr sz="1700" b="0" i="0">
                <a:solidFill>
                  <a:srgbClr val="5B6472"/>
                </a:solidFill>
                <a:latin typeface="Calibri"/>
              </a:rPr>
              <a:t>Riesgos, Shadow AI y casos reales</a:t>
            </a:r>
          </a:p>
        </p:txBody>
      </p:sp>
      <p:sp>
        <p:nvSpPr>
          <p:cNvPr id="12" name="Tarjeta"/>
          <p:cNvSpPr/>
          <p:nvPr/>
        </p:nvSpPr>
        <p:spPr>
          <a:xfrm>
            <a:off x="8065008" y="2286000"/>
            <a:ext cx="3575304" cy="1463039"/>
          </a:xfrm>
          <a:prstGeom prst="roundRect">
            <a:avLst>
              <a:gd name="adj" fmla="val 6000"/>
            </a:avLst>
          </a:prstGeom>
          <a:solidFill>
            <a:srgbClr val="F3EAFD"/>
          </a:solidFill>
          <a:ln>
            <a:noFill/>
          </a:ln>
          <a:effectLst>
            <a:outerShdw blurRad="76200" dist="25400" dir="5400000" algn="t" rotWithShape="0">
              <a:srgbClr val="1B2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Número 3"/>
          <p:cNvSpPr/>
          <p:nvPr/>
        </p:nvSpPr>
        <p:spPr>
          <a:xfrm>
            <a:off x="8293608" y="2514600"/>
            <a:ext cx="457200" cy="45720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3</a:t>
            </a:r>
          </a:p>
        </p:txBody>
      </p:sp>
      <p:sp>
        <p:nvSpPr>
          <p:cNvPr id="14" name="Texto"/>
          <p:cNvSpPr txBox="1"/>
          <p:nvPr/>
        </p:nvSpPr>
        <p:spPr>
          <a:xfrm>
            <a:off x="8933688" y="2514600"/>
            <a:ext cx="2523744" cy="457200"/>
          </a:xfrm>
          <a:prstGeom prst="rect">
            <a:avLst/>
          </a:prstGeom>
          <a:noFill/>
        </p:spPr>
        <p:txBody>
          <a:bodyPr wrap="square" lIns="0" tIns="0" rIns="0" bIns="0" anchor="ctr">
            <a:noAutofit/>
          </a:bodyPr>
          <a:lstStyle/>
          <a:p>
            <a:pPr algn="l"/>
            <a:r>
              <a:rPr sz="1900" b="1" i="0">
                <a:solidFill>
                  <a:srgbClr val="1B2A4A"/>
                </a:solidFill>
                <a:latin typeface="Calibri"/>
              </a:rPr>
              <a:t>Marcos y normas</a:t>
            </a:r>
          </a:p>
        </p:txBody>
      </p:sp>
      <p:sp>
        <p:nvSpPr>
          <p:cNvPr id="15" name="Texto"/>
          <p:cNvSpPr txBox="1"/>
          <p:nvPr/>
        </p:nvSpPr>
        <p:spPr>
          <a:xfrm>
            <a:off x="8293608" y="3154680"/>
            <a:ext cx="3118104" cy="822960"/>
          </a:xfrm>
          <a:prstGeom prst="rect">
            <a:avLst/>
          </a:prstGeom>
          <a:noFill/>
        </p:spPr>
        <p:txBody>
          <a:bodyPr wrap="square" lIns="0" tIns="0" rIns="0" bIns="0" anchor="t">
            <a:noAutofit/>
          </a:bodyPr>
          <a:lstStyle/>
          <a:p>
            <a:pPr algn="l"/>
            <a:r>
              <a:rPr sz="1700" b="0" i="0">
                <a:solidFill>
                  <a:srgbClr val="5B6472"/>
                </a:solidFill>
                <a:latin typeface="Calibri"/>
              </a:rPr>
              <a:t>Principios, ISO, EU AI Act y Colombia</a:t>
            </a:r>
          </a:p>
        </p:txBody>
      </p:sp>
      <p:sp>
        <p:nvSpPr>
          <p:cNvPr id="16" name="Tarjeta"/>
          <p:cNvSpPr/>
          <p:nvPr/>
        </p:nvSpPr>
        <p:spPr>
          <a:xfrm>
            <a:off x="548640" y="3931920"/>
            <a:ext cx="3575304" cy="1463039"/>
          </a:xfrm>
          <a:prstGeom prst="roundRect">
            <a:avLst>
              <a:gd name="adj" fmla="val 6000"/>
            </a:avLst>
          </a:prstGeom>
          <a:solidFill>
            <a:srgbClr val="F3EAFD"/>
          </a:solidFill>
          <a:ln>
            <a:noFill/>
          </a:ln>
          <a:effectLst>
            <a:outerShdw blurRad="76200" dist="25400" dir="5400000" algn="t" rotWithShape="0">
              <a:srgbClr val="1B2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úmero 4"/>
          <p:cNvSpPr/>
          <p:nvPr/>
        </p:nvSpPr>
        <p:spPr>
          <a:xfrm>
            <a:off x="777240" y="416052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b="1">
                <a:solidFill>
                  <a:schemeClr val="tx1"/>
                </a:solidFill>
                <a:latin typeface="Calibri"/>
              </a:rPr>
              <a:t>4</a:t>
            </a:r>
          </a:p>
        </p:txBody>
      </p:sp>
      <p:sp>
        <p:nvSpPr>
          <p:cNvPr id="18" name="Texto"/>
          <p:cNvSpPr txBox="1"/>
          <p:nvPr/>
        </p:nvSpPr>
        <p:spPr>
          <a:xfrm>
            <a:off x="1417319" y="4160520"/>
            <a:ext cx="2523744" cy="457200"/>
          </a:xfrm>
          <a:prstGeom prst="rect">
            <a:avLst/>
          </a:prstGeom>
          <a:noFill/>
        </p:spPr>
        <p:txBody>
          <a:bodyPr wrap="square" lIns="0" tIns="0" rIns="0" bIns="0" anchor="ctr">
            <a:noAutofit/>
          </a:bodyPr>
          <a:lstStyle/>
          <a:p>
            <a:pPr algn="l"/>
            <a:r>
              <a:rPr sz="1900" b="1" i="0">
                <a:solidFill>
                  <a:srgbClr val="1B2A4A"/>
                </a:solidFill>
                <a:latin typeface="Calibri"/>
              </a:rPr>
              <a:t>Gobernar según el riesgo</a:t>
            </a:r>
          </a:p>
        </p:txBody>
      </p:sp>
      <p:sp>
        <p:nvSpPr>
          <p:cNvPr id="19" name="Texto"/>
          <p:cNvSpPr txBox="1"/>
          <p:nvPr/>
        </p:nvSpPr>
        <p:spPr>
          <a:xfrm>
            <a:off x="777240" y="4800600"/>
            <a:ext cx="3118104" cy="822960"/>
          </a:xfrm>
          <a:prstGeom prst="rect">
            <a:avLst/>
          </a:prstGeom>
          <a:noFill/>
        </p:spPr>
        <p:txBody>
          <a:bodyPr wrap="square" lIns="0" tIns="0" rIns="0" bIns="0" anchor="t">
            <a:noAutofit/>
          </a:bodyPr>
          <a:lstStyle/>
          <a:p>
            <a:pPr algn="l"/>
            <a:r>
              <a:rPr sz="1700" b="0" i="0">
                <a:solidFill>
                  <a:srgbClr val="5B6472"/>
                </a:solidFill>
                <a:latin typeface="Calibri"/>
              </a:rPr>
              <a:t>Modelo MVG y niveles (tiers)</a:t>
            </a:r>
          </a:p>
        </p:txBody>
      </p:sp>
      <p:sp>
        <p:nvSpPr>
          <p:cNvPr id="20" name="Tarjeta"/>
          <p:cNvSpPr/>
          <p:nvPr/>
        </p:nvSpPr>
        <p:spPr>
          <a:xfrm>
            <a:off x="4306824" y="3931920"/>
            <a:ext cx="3575304" cy="1463039"/>
          </a:xfrm>
          <a:prstGeom prst="roundRect">
            <a:avLst>
              <a:gd name="adj" fmla="val 6000"/>
            </a:avLst>
          </a:prstGeom>
          <a:solidFill>
            <a:srgbClr val="F3EAFD"/>
          </a:solidFill>
          <a:ln>
            <a:noFill/>
          </a:ln>
          <a:effectLst>
            <a:outerShdw blurRad="76200" dist="25400" dir="5400000" algn="t" rotWithShape="0">
              <a:srgbClr val="1B2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úmero 5"/>
          <p:cNvSpPr/>
          <p:nvPr/>
        </p:nvSpPr>
        <p:spPr>
          <a:xfrm>
            <a:off x="4535424" y="4160520"/>
            <a:ext cx="457200" cy="45720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5</a:t>
            </a:r>
          </a:p>
        </p:txBody>
      </p:sp>
      <p:sp>
        <p:nvSpPr>
          <p:cNvPr id="22" name="Texto"/>
          <p:cNvSpPr txBox="1"/>
          <p:nvPr/>
        </p:nvSpPr>
        <p:spPr>
          <a:xfrm>
            <a:off x="5175504" y="4160520"/>
            <a:ext cx="2523744" cy="457200"/>
          </a:xfrm>
          <a:prstGeom prst="rect">
            <a:avLst/>
          </a:prstGeom>
          <a:noFill/>
        </p:spPr>
        <p:txBody>
          <a:bodyPr wrap="square" lIns="0" tIns="0" rIns="0" bIns="0" anchor="ctr">
            <a:noAutofit/>
          </a:bodyPr>
          <a:lstStyle/>
          <a:p>
            <a:pPr algn="l"/>
            <a:r>
              <a:rPr sz="1900" b="1" i="0">
                <a:solidFill>
                  <a:srgbClr val="1B2A4A"/>
                </a:solidFill>
                <a:latin typeface="Calibri"/>
              </a:rPr>
              <a:t>Ciclo de vida y medición</a:t>
            </a:r>
          </a:p>
        </p:txBody>
      </p:sp>
      <p:sp>
        <p:nvSpPr>
          <p:cNvPr id="23" name="Texto"/>
          <p:cNvSpPr txBox="1"/>
          <p:nvPr/>
        </p:nvSpPr>
        <p:spPr>
          <a:xfrm>
            <a:off x="4535424" y="4800600"/>
            <a:ext cx="3118104" cy="822960"/>
          </a:xfrm>
          <a:prstGeom prst="rect">
            <a:avLst/>
          </a:prstGeom>
          <a:noFill/>
        </p:spPr>
        <p:txBody>
          <a:bodyPr wrap="square" lIns="0" tIns="0" rIns="0" bIns="0" anchor="t">
            <a:noAutofit/>
          </a:bodyPr>
          <a:lstStyle/>
          <a:p>
            <a:pPr algn="l"/>
            <a:r>
              <a:rPr sz="1700" b="0" i="0">
                <a:solidFill>
                  <a:srgbClr val="5B6472"/>
                </a:solidFill>
                <a:latin typeface="Calibri"/>
              </a:rPr>
              <a:t>Datos, modelo, despliegue, métricas y herramientas</a:t>
            </a:r>
          </a:p>
        </p:txBody>
      </p:sp>
      <p:sp>
        <p:nvSpPr>
          <p:cNvPr id="24" name="Tarjeta"/>
          <p:cNvSpPr/>
          <p:nvPr/>
        </p:nvSpPr>
        <p:spPr>
          <a:xfrm>
            <a:off x="8065008" y="3931920"/>
            <a:ext cx="3575304" cy="1463039"/>
          </a:xfrm>
          <a:prstGeom prst="roundRect">
            <a:avLst>
              <a:gd name="adj" fmla="val 6000"/>
            </a:avLst>
          </a:prstGeom>
          <a:solidFill>
            <a:srgbClr val="F3EAFD"/>
          </a:solidFill>
          <a:ln>
            <a:noFill/>
          </a:ln>
          <a:effectLst>
            <a:outerShdw blurRad="76200" dist="25400" dir="5400000" algn="t" rotWithShape="0">
              <a:srgbClr val="1B2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Número 6"/>
          <p:cNvSpPr/>
          <p:nvPr/>
        </p:nvSpPr>
        <p:spPr>
          <a:xfrm>
            <a:off x="8293608" y="416052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b="1">
                <a:solidFill>
                  <a:schemeClr val="tx1"/>
                </a:solidFill>
                <a:latin typeface="Calibri"/>
              </a:rPr>
              <a:t>6</a:t>
            </a:r>
          </a:p>
        </p:txBody>
      </p:sp>
      <p:sp>
        <p:nvSpPr>
          <p:cNvPr id="26" name="Texto"/>
          <p:cNvSpPr txBox="1"/>
          <p:nvPr/>
        </p:nvSpPr>
        <p:spPr>
          <a:xfrm>
            <a:off x="8933688" y="4160520"/>
            <a:ext cx="2523744" cy="457200"/>
          </a:xfrm>
          <a:prstGeom prst="rect">
            <a:avLst/>
          </a:prstGeom>
          <a:noFill/>
        </p:spPr>
        <p:txBody>
          <a:bodyPr wrap="square" lIns="0" tIns="0" rIns="0" bIns="0" anchor="ctr">
            <a:noAutofit/>
          </a:bodyPr>
          <a:lstStyle/>
          <a:p>
            <a:pPr algn="l"/>
            <a:r>
              <a:rPr sz="1900" b="1" i="0">
                <a:solidFill>
                  <a:srgbClr val="1B2A4A"/>
                </a:solidFill>
                <a:latin typeface="Calibri"/>
              </a:rPr>
              <a:t>Cómo implementarlo</a:t>
            </a:r>
          </a:p>
        </p:txBody>
      </p:sp>
      <p:sp>
        <p:nvSpPr>
          <p:cNvPr id="27" name="Texto"/>
          <p:cNvSpPr txBox="1"/>
          <p:nvPr/>
        </p:nvSpPr>
        <p:spPr>
          <a:xfrm>
            <a:off x="8293608" y="4800600"/>
            <a:ext cx="3118104" cy="822960"/>
          </a:xfrm>
          <a:prstGeom prst="rect">
            <a:avLst/>
          </a:prstGeom>
          <a:noFill/>
        </p:spPr>
        <p:txBody>
          <a:bodyPr wrap="square" lIns="0" tIns="0" rIns="0" bIns="0" anchor="t">
            <a:noAutofit/>
          </a:bodyPr>
          <a:lstStyle/>
          <a:p>
            <a:pPr algn="l"/>
            <a:r>
              <a:rPr sz="1700" b="0" i="0">
                <a:solidFill>
                  <a:srgbClr val="5B6472"/>
                </a:solidFill>
                <a:latin typeface="Calibri"/>
              </a:rPr>
              <a:t>Matriz integrada, hoja de ruta y aprendizaje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dirty="0">
                <a:solidFill>
                  <a:srgbClr val="1B2A4A"/>
                </a:solidFill>
                <a:latin typeface="Arial"/>
              </a:rPr>
              <a:t>¿Qué vas a aprender en este Bienal?</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INTRODUCCIÓN</a:t>
            </a:r>
          </a:p>
        </p:txBody>
      </p:sp>
      <p:sp>
        <p:nvSpPr>
          <p:cNvPr id="4" name="Tarjeta"/>
          <p:cNvSpPr/>
          <p:nvPr/>
        </p:nvSpPr>
        <p:spPr>
          <a:xfrm>
            <a:off x="548640" y="2286000"/>
            <a:ext cx="5454396"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822959" y="2606040"/>
            <a:ext cx="731520" cy="73152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b="1" dirty="0">
                <a:solidFill>
                  <a:schemeClr val="tx1"/>
                </a:solidFill>
                <a:latin typeface="Calibri"/>
              </a:rPr>
              <a:t>1</a:t>
            </a:r>
          </a:p>
        </p:txBody>
      </p:sp>
      <p:sp>
        <p:nvSpPr>
          <p:cNvPr id="7" name="Texto"/>
          <p:cNvSpPr txBox="1"/>
          <p:nvPr/>
        </p:nvSpPr>
        <p:spPr>
          <a:xfrm>
            <a:off x="1783080" y="2560320"/>
            <a:ext cx="3991356" cy="411480"/>
          </a:xfrm>
          <a:prstGeom prst="rect">
            <a:avLst/>
          </a:prstGeom>
          <a:noFill/>
        </p:spPr>
        <p:txBody>
          <a:bodyPr wrap="square" lIns="0" tIns="0" rIns="0" bIns="0" anchor="t">
            <a:noAutofit/>
          </a:bodyPr>
          <a:lstStyle/>
          <a:p>
            <a:pPr algn="l"/>
            <a:r>
              <a:rPr sz="1900" b="1" i="0">
                <a:solidFill>
                  <a:srgbClr val="1B2A4A"/>
                </a:solidFill>
                <a:latin typeface="Calibri"/>
              </a:rPr>
              <a:t>Distinguir gobernanza y gestión</a:t>
            </a:r>
          </a:p>
        </p:txBody>
      </p:sp>
      <p:sp>
        <p:nvSpPr>
          <p:cNvPr id="8" name="Texto"/>
          <p:cNvSpPr txBox="1"/>
          <p:nvPr/>
        </p:nvSpPr>
        <p:spPr>
          <a:xfrm>
            <a:off x="1783080" y="3017520"/>
            <a:ext cx="3991356" cy="822960"/>
          </a:xfrm>
          <a:prstGeom prst="rect">
            <a:avLst/>
          </a:prstGeom>
          <a:noFill/>
        </p:spPr>
        <p:txBody>
          <a:bodyPr wrap="square" lIns="0" tIns="0" rIns="0" bIns="0" anchor="t">
            <a:noAutofit/>
          </a:bodyPr>
          <a:lstStyle/>
          <a:p>
            <a:pPr algn="l"/>
            <a:r>
              <a:rPr sz="1700" b="0" i="0">
                <a:solidFill>
                  <a:srgbClr val="5B6472"/>
                </a:solidFill>
                <a:latin typeface="Calibri"/>
              </a:rPr>
              <a:t>Explicar qué decide cada una y qué roles intervienen.</a:t>
            </a:r>
          </a:p>
        </p:txBody>
      </p:sp>
      <p:sp>
        <p:nvSpPr>
          <p:cNvPr id="9" name="Tarjeta"/>
          <p:cNvSpPr/>
          <p:nvPr/>
        </p:nvSpPr>
        <p:spPr>
          <a:xfrm>
            <a:off x="6185916" y="2286000"/>
            <a:ext cx="5454396"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írculo de ícono"/>
          <p:cNvSpPr/>
          <p:nvPr/>
        </p:nvSpPr>
        <p:spPr>
          <a:xfrm>
            <a:off x="6460236" y="2606040"/>
            <a:ext cx="731520" cy="73152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b="1" dirty="0">
                <a:solidFill>
                  <a:schemeClr val="tx1"/>
                </a:solidFill>
                <a:latin typeface="Calibri"/>
              </a:rPr>
              <a:t>2</a:t>
            </a:r>
          </a:p>
        </p:txBody>
      </p:sp>
      <p:sp>
        <p:nvSpPr>
          <p:cNvPr id="12" name="Texto"/>
          <p:cNvSpPr txBox="1"/>
          <p:nvPr/>
        </p:nvSpPr>
        <p:spPr>
          <a:xfrm>
            <a:off x="7420356" y="2560320"/>
            <a:ext cx="3991356" cy="411480"/>
          </a:xfrm>
          <a:prstGeom prst="rect">
            <a:avLst/>
          </a:prstGeom>
          <a:noFill/>
        </p:spPr>
        <p:txBody>
          <a:bodyPr wrap="square" lIns="0" tIns="0" rIns="0" bIns="0" anchor="t">
            <a:noAutofit/>
          </a:bodyPr>
          <a:lstStyle/>
          <a:p>
            <a:pPr algn="l"/>
            <a:r>
              <a:rPr sz="1900" b="1" i="0">
                <a:solidFill>
                  <a:srgbClr val="1B2A4A"/>
                </a:solidFill>
                <a:latin typeface="Calibri"/>
              </a:rPr>
              <a:t>Clasificar por riesgo</a:t>
            </a:r>
          </a:p>
        </p:txBody>
      </p:sp>
      <p:sp>
        <p:nvSpPr>
          <p:cNvPr id="13" name="Texto"/>
          <p:cNvSpPr txBox="1"/>
          <p:nvPr/>
        </p:nvSpPr>
        <p:spPr>
          <a:xfrm>
            <a:off x="7420356" y="3017520"/>
            <a:ext cx="3991356" cy="822960"/>
          </a:xfrm>
          <a:prstGeom prst="rect">
            <a:avLst/>
          </a:prstGeom>
          <a:noFill/>
        </p:spPr>
        <p:txBody>
          <a:bodyPr wrap="square" lIns="0" tIns="0" rIns="0" bIns="0" anchor="t">
            <a:noAutofit/>
          </a:bodyPr>
          <a:lstStyle/>
          <a:p>
            <a:pPr algn="l"/>
            <a:r>
              <a:rPr sz="1700" b="0" i="0">
                <a:solidFill>
                  <a:srgbClr val="5B6472"/>
                </a:solidFill>
                <a:latin typeface="Calibri"/>
              </a:rPr>
              <a:t>Asignar un tier MVG y un nivel de riesgo del EU AI Act a un sistema.</a:t>
            </a:r>
          </a:p>
        </p:txBody>
      </p:sp>
      <p:sp>
        <p:nvSpPr>
          <p:cNvPr id="14" name="Tarjeta"/>
          <p:cNvSpPr/>
          <p:nvPr/>
        </p:nvSpPr>
        <p:spPr>
          <a:xfrm>
            <a:off x="548640" y="3931920"/>
            <a:ext cx="5454396"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írculo de ícono"/>
          <p:cNvSpPr/>
          <p:nvPr/>
        </p:nvSpPr>
        <p:spPr>
          <a:xfrm>
            <a:off x="822959" y="4251959"/>
            <a:ext cx="731520" cy="73152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b="1" dirty="0">
                <a:solidFill>
                  <a:schemeClr val="tx1"/>
                </a:solidFill>
                <a:latin typeface="Calibri"/>
              </a:rPr>
              <a:t>3</a:t>
            </a:r>
          </a:p>
        </p:txBody>
      </p:sp>
      <p:sp>
        <p:nvSpPr>
          <p:cNvPr id="17" name="Texto"/>
          <p:cNvSpPr txBox="1"/>
          <p:nvPr/>
        </p:nvSpPr>
        <p:spPr>
          <a:xfrm>
            <a:off x="1783080" y="4206240"/>
            <a:ext cx="3991356" cy="411480"/>
          </a:xfrm>
          <a:prstGeom prst="rect">
            <a:avLst/>
          </a:prstGeom>
          <a:noFill/>
        </p:spPr>
        <p:txBody>
          <a:bodyPr wrap="square" lIns="0" tIns="0" rIns="0" bIns="0" anchor="t">
            <a:noAutofit/>
          </a:bodyPr>
          <a:lstStyle/>
          <a:p>
            <a:pPr algn="l"/>
            <a:r>
              <a:rPr sz="1900" b="1" i="0">
                <a:solidFill>
                  <a:srgbClr val="1B2A4A"/>
                </a:solidFill>
                <a:latin typeface="Calibri"/>
              </a:rPr>
              <a:t>Conectar normas y controles</a:t>
            </a:r>
          </a:p>
        </p:txBody>
      </p:sp>
      <p:sp>
        <p:nvSpPr>
          <p:cNvPr id="18" name="Texto"/>
          <p:cNvSpPr txBox="1"/>
          <p:nvPr/>
        </p:nvSpPr>
        <p:spPr>
          <a:xfrm>
            <a:off x="1783080" y="4663440"/>
            <a:ext cx="3991356" cy="822960"/>
          </a:xfrm>
          <a:prstGeom prst="rect">
            <a:avLst/>
          </a:prstGeom>
          <a:noFill/>
        </p:spPr>
        <p:txBody>
          <a:bodyPr wrap="square" lIns="0" tIns="0" rIns="0" bIns="0" anchor="t">
            <a:noAutofit/>
          </a:bodyPr>
          <a:lstStyle/>
          <a:p>
            <a:pPr algn="l"/>
            <a:r>
              <a:rPr sz="1700" b="0" i="0">
                <a:solidFill>
                  <a:srgbClr val="5B6472"/>
                </a:solidFill>
                <a:latin typeface="Calibri"/>
              </a:rPr>
              <a:t>Relacionar ISO/IEC 42001, EU AI Act y el marco colombiano con controles concretos.</a:t>
            </a:r>
          </a:p>
        </p:txBody>
      </p:sp>
      <p:sp>
        <p:nvSpPr>
          <p:cNvPr id="19" name="Tarjeta"/>
          <p:cNvSpPr/>
          <p:nvPr/>
        </p:nvSpPr>
        <p:spPr>
          <a:xfrm>
            <a:off x="6185916" y="3931920"/>
            <a:ext cx="5454396"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írculo de ícono"/>
          <p:cNvSpPr/>
          <p:nvPr/>
        </p:nvSpPr>
        <p:spPr>
          <a:xfrm>
            <a:off x="6460236" y="4251959"/>
            <a:ext cx="731520" cy="73152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b="1" dirty="0">
                <a:solidFill>
                  <a:schemeClr val="tx1"/>
                </a:solidFill>
                <a:latin typeface="Calibri"/>
              </a:rPr>
              <a:t>4</a:t>
            </a:r>
          </a:p>
        </p:txBody>
      </p:sp>
      <p:sp>
        <p:nvSpPr>
          <p:cNvPr id="22" name="Texto"/>
          <p:cNvSpPr txBox="1"/>
          <p:nvPr/>
        </p:nvSpPr>
        <p:spPr>
          <a:xfrm>
            <a:off x="7420356" y="4206240"/>
            <a:ext cx="3991356" cy="411480"/>
          </a:xfrm>
          <a:prstGeom prst="rect">
            <a:avLst/>
          </a:prstGeom>
          <a:noFill/>
        </p:spPr>
        <p:txBody>
          <a:bodyPr wrap="square" lIns="0" tIns="0" rIns="0" bIns="0" anchor="t">
            <a:noAutofit/>
          </a:bodyPr>
          <a:lstStyle/>
          <a:p>
            <a:pPr algn="l"/>
            <a:r>
              <a:rPr sz="1900" b="1" i="0">
                <a:solidFill>
                  <a:srgbClr val="1B2A4A"/>
                </a:solidFill>
                <a:latin typeface="Calibri"/>
              </a:rPr>
              <a:t>Elegir herramientas de evidencia</a:t>
            </a:r>
          </a:p>
        </p:txBody>
      </p:sp>
      <p:sp>
        <p:nvSpPr>
          <p:cNvPr id="23" name="Texto"/>
          <p:cNvSpPr txBox="1"/>
          <p:nvPr/>
        </p:nvSpPr>
        <p:spPr>
          <a:xfrm>
            <a:off x="7420356" y="4663440"/>
            <a:ext cx="3991356" cy="822960"/>
          </a:xfrm>
          <a:prstGeom prst="rect">
            <a:avLst/>
          </a:prstGeom>
          <a:noFill/>
        </p:spPr>
        <p:txBody>
          <a:bodyPr wrap="square" lIns="0" tIns="0" rIns="0" bIns="0" anchor="t">
            <a:noAutofit/>
          </a:bodyPr>
          <a:lstStyle/>
          <a:p>
            <a:pPr algn="l"/>
            <a:r>
              <a:rPr sz="1700" b="0" i="0" dirty="0">
                <a:solidFill>
                  <a:srgbClr val="5B6472"/>
                </a:solidFill>
                <a:latin typeface="Calibri"/>
              </a:rPr>
              <a:t>Usar GitHub, DVC, </a:t>
            </a:r>
            <a:r>
              <a:rPr sz="1700" b="0" i="0" dirty="0" err="1">
                <a:solidFill>
                  <a:srgbClr val="5B6472"/>
                </a:solidFill>
                <a:latin typeface="Calibri"/>
              </a:rPr>
              <a:t>MLflow</a:t>
            </a:r>
            <a:r>
              <a:rPr sz="1700" b="0" i="0" dirty="0">
                <a:solidFill>
                  <a:srgbClr val="5B6472"/>
                </a:solidFill>
                <a:latin typeface="Calibri"/>
              </a:rPr>
              <a:t>, SHAP y sistemas ISO para medir y demostrar.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Vocabulario esencial para empezar</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400" b="1" i="0" dirty="0">
                <a:solidFill>
                  <a:srgbClr val="9200EE"/>
                </a:solidFill>
                <a:latin typeface="Calibri"/>
              </a:rPr>
              <a:t>FUNDAMENTOS</a:t>
            </a:r>
          </a:p>
        </p:txBody>
      </p:sp>
      <p:sp>
        <p:nvSpPr>
          <p:cNvPr id="4" name="Tarjeta"/>
          <p:cNvSpPr/>
          <p:nvPr/>
        </p:nvSpPr>
        <p:spPr>
          <a:xfrm>
            <a:off x="548640"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731520" y="2450592"/>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b="1">
              <a:solidFill>
                <a:schemeClr val="tx1"/>
              </a:solidFill>
              <a:latin typeface="Calibri"/>
            </a:endParaRPr>
          </a:p>
        </p:txBody>
      </p:sp>
      <p:sp>
        <p:nvSpPr>
          <p:cNvPr id="7" name="Texto"/>
          <p:cNvSpPr txBox="1"/>
          <p:nvPr/>
        </p:nvSpPr>
        <p:spPr>
          <a:xfrm>
            <a:off x="1280160" y="2450592"/>
            <a:ext cx="1812798" cy="457200"/>
          </a:xfrm>
          <a:prstGeom prst="rect">
            <a:avLst/>
          </a:prstGeom>
          <a:noFill/>
        </p:spPr>
        <p:txBody>
          <a:bodyPr wrap="square" lIns="0" tIns="0" rIns="0" bIns="0" anchor="ctr">
            <a:noAutofit/>
          </a:bodyPr>
          <a:lstStyle/>
          <a:p>
            <a:pPr algn="l"/>
            <a:r>
              <a:rPr sz="1800" b="1" i="0">
                <a:solidFill>
                  <a:srgbClr val="1B2A4A"/>
                </a:solidFill>
                <a:latin typeface="Calibri"/>
              </a:rPr>
              <a:t>Sistema de IA</a:t>
            </a:r>
          </a:p>
        </p:txBody>
      </p:sp>
      <p:sp>
        <p:nvSpPr>
          <p:cNvPr id="8" name="Texto"/>
          <p:cNvSpPr txBox="1"/>
          <p:nvPr/>
        </p:nvSpPr>
        <p:spPr>
          <a:xfrm>
            <a:off x="731520" y="3035808"/>
            <a:ext cx="2269998" cy="662940"/>
          </a:xfrm>
          <a:prstGeom prst="rect">
            <a:avLst/>
          </a:prstGeom>
          <a:noFill/>
        </p:spPr>
        <p:txBody>
          <a:bodyPr wrap="square" lIns="0" tIns="0" rIns="0" bIns="0" anchor="t">
            <a:noAutofit/>
          </a:bodyPr>
          <a:lstStyle/>
          <a:p>
            <a:pPr algn="l"/>
            <a:r>
              <a:rPr sz="1500" b="0" i="0">
                <a:solidFill>
                  <a:srgbClr val="5B6472"/>
                </a:solidFill>
                <a:latin typeface="Calibri"/>
              </a:rPr>
              <a:t>Datos, modelo y software que generan predicciones o decisiones.</a:t>
            </a:r>
          </a:p>
        </p:txBody>
      </p:sp>
      <p:sp>
        <p:nvSpPr>
          <p:cNvPr id="9" name="Tarjeta"/>
          <p:cNvSpPr/>
          <p:nvPr/>
        </p:nvSpPr>
        <p:spPr>
          <a:xfrm>
            <a:off x="3367278"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írculo de ícono"/>
          <p:cNvSpPr/>
          <p:nvPr/>
        </p:nvSpPr>
        <p:spPr>
          <a:xfrm>
            <a:off x="3550158" y="2450592"/>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b="1">
              <a:solidFill>
                <a:schemeClr val="tx1"/>
              </a:solidFill>
              <a:latin typeface="Calibri"/>
            </a:endParaRPr>
          </a:p>
        </p:txBody>
      </p:sp>
      <p:sp>
        <p:nvSpPr>
          <p:cNvPr id="12" name="Texto"/>
          <p:cNvSpPr txBox="1"/>
          <p:nvPr/>
        </p:nvSpPr>
        <p:spPr>
          <a:xfrm>
            <a:off x="4098798" y="2450592"/>
            <a:ext cx="1812798" cy="457200"/>
          </a:xfrm>
          <a:prstGeom prst="rect">
            <a:avLst/>
          </a:prstGeom>
          <a:noFill/>
        </p:spPr>
        <p:txBody>
          <a:bodyPr wrap="square" lIns="0" tIns="0" rIns="0" bIns="0" anchor="ctr">
            <a:noAutofit/>
          </a:bodyPr>
          <a:lstStyle/>
          <a:p>
            <a:pPr algn="l"/>
            <a:r>
              <a:rPr sz="1800" b="1" i="0">
                <a:solidFill>
                  <a:srgbClr val="1B2A4A"/>
                </a:solidFill>
                <a:latin typeface="Calibri"/>
              </a:rPr>
              <a:t>Modelo</a:t>
            </a:r>
          </a:p>
        </p:txBody>
      </p:sp>
      <p:sp>
        <p:nvSpPr>
          <p:cNvPr id="13" name="Texto"/>
          <p:cNvSpPr txBox="1"/>
          <p:nvPr/>
        </p:nvSpPr>
        <p:spPr>
          <a:xfrm>
            <a:off x="3550158" y="3035808"/>
            <a:ext cx="2269998" cy="662940"/>
          </a:xfrm>
          <a:prstGeom prst="rect">
            <a:avLst/>
          </a:prstGeom>
          <a:noFill/>
        </p:spPr>
        <p:txBody>
          <a:bodyPr wrap="square" lIns="0" tIns="0" rIns="0" bIns="0" anchor="t">
            <a:noAutofit/>
          </a:bodyPr>
          <a:lstStyle/>
          <a:p>
            <a:pPr algn="l"/>
            <a:r>
              <a:rPr sz="1500" b="0" i="0">
                <a:solidFill>
                  <a:srgbClr val="5B6472"/>
                </a:solidFill>
                <a:latin typeface="Calibri"/>
              </a:rPr>
              <a:t>Parte del sistema que aprendió patrones a partir de los datos de entrenamiento.</a:t>
            </a:r>
          </a:p>
        </p:txBody>
      </p:sp>
      <p:sp>
        <p:nvSpPr>
          <p:cNvPr id="14" name="Tarjeta"/>
          <p:cNvSpPr/>
          <p:nvPr/>
        </p:nvSpPr>
        <p:spPr>
          <a:xfrm>
            <a:off x="6185916"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írculo de ícono"/>
          <p:cNvSpPr/>
          <p:nvPr/>
        </p:nvSpPr>
        <p:spPr>
          <a:xfrm>
            <a:off x="6368796" y="2450592"/>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b="1">
              <a:solidFill>
                <a:schemeClr val="tx1"/>
              </a:solidFill>
              <a:latin typeface="Calibri"/>
            </a:endParaRPr>
          </a:p>
        </p:txBody>
      </p:sp>
      <p:sp>
        <p:nvSpPr>
          <p:cNvPr id="17" name="Texto"/>
          <p:cNvSpPr txBox="1"/>
          <p:nvPr/>
        </p:nvSpPr>
        <p:spPr>
          <a:xfrm>
            <a:off x="6917436" y="2450592"/>
            <a:ext cx="1812798" cy="457200"/>
          </a:xfrm>
          <a:prstGeom prst="rect">
            <a:avLst/>
          </a:prstGeom>
          <a:noFill/>
        </p:spPr>
        <p:txBody>
          <a:bodyPr wrap="square" lIns="0" tIns="0" rIns="0" bIns="0" anchor="ctr">
            <a:noAutofit/>
          </a:bodyPr>
          <a:lstStyle/>
          <a:p>
            <a:pPr algn="l"/>
            <a:r>
              <a:rPr sz="1800" b="1" i="0">
                <a:solidFill>
                  <a:srgbClr val="1B2A4A"/>
                </a:solidFill>
                <a:latin typeface="Calibri"/>
              </a:rPr>
              <a:t>Datos</a:t>
            </a:r>
          </a:p>
        </p:txBody>
      </p:sp>
      <p:sp>
        <p:nvSpPr>
          <p:cNvPr id="18" name="Texto"/>
          <p:cNvSpPr txBox="1"/>
          <p:nvPr/>
        </p:nvSpPr>
        <p:spPr>
          <a:xfrm>
            <a:off x="6368796" y="3035808"/>
            <a:ext cx="2269998" cy="662940"/>
          </a:xfrm>
          <a:prstGeom prst="rect">
            <a:avLst/>
          </a:prstGeom>
          <a:noFill/>
        </p:spPr>
        <p:txBody>
          <a:bodyPr wrap="square" lIns="0" tIns="0" rIns="0" bIns="0" anchor="t">
            <a:noAutofit/>
          </a:bodyPr>
          <a:lstStyle/>
          <a:p>
            <a:pPr algn="l"/>
            <a:r>
              <a:rPr sz="1500" b="0" i="0">
                <a:solidFill>
                  <a:srgbClr val="5B6472"/>
                </a:solidFill>
                <a:latin typeface="Calibri"/>
              </a:rPr>
              <a:t>Materia prima del sistema: su calidad y licitud determinan el resultado.</a:t>
            </a:r>
          </a:p>
        </p:txBody>
      </p:sp>
      <p:sp>
        <p:nvSpPr>
          <p:cNvPr id="19" name="Tarjeta"/>
          <p:cNvSpPr/>
          <p:nvPr/>
        </p:nvSpPr>
        <p:spPr>
          <a:xfrm>
            <a:off x="9004554"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írculo de ícono"/>
          <p:cNvSpPr/>
          <p:nvPr/>
        </p:nvSpPr>
        <p:spPr>
          <a:xfrm>
            <a:off x="9187434" y="2450592"/>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b="1">
              <a:solidFill>
                <a:schemeClr val="tx1"/>
              </a:solidFill>
              <a:latin typeface="Calibri"/>
            </a:endParaRPr>
          </a:p>
        </p:txBody>
      </p:sp>
      <p:sp>
        <p:nvSpPr>
          <p:cNvPr id="22" name="Texto"/>
          <p:cNvSpPr txBox="1"/>
          <p:nvPr/>
        </p:nvSpPr>
        <p:spPr>
          <a:xfrm>
            <a:off x="9736074" y="2450592"/>
            <a:ext cx="1812798" cy="457200"/>
          </a:xfrm>
          <a:prstGeom prst="rect">
            <a:avLst/>
          </a:prstGeom>
          <a:noFill/>
        </p:spPr>
        <p:txBody>
          <a:bodyPr wrap="square" lIns="0" tIns="0" rIns="0" bIns="0" anchor="ctr">
            <a:noAutofit/>
          </a:bodyPr>
          <a:lstStyle/>
          <a:p>
            <a:pPr algn="l"/>
            <a:r>
              <a:rPr sz="1800" b="1" i="0">
                <a:solidFill>
                  <a:srgbClr val="1B2A4A"/>
                </a:solidFill>
                <a:latin typeface="Calibri"/>
              </a:rPr>
              <a:t>IA generativa</a:t>
            </a:r>
          </a:p>
        </p:txBody>
      </p:sp>
      <p:sp>
        <p:nvSpPr>
          <p:cNvPr id="23" name="Texto"/>
          <p:cNvSpPr txBox="1"/>
          <p:nvPr/>
        </p:nvSpPr>
        <p:spPr>
          <a:xfrm>
            <a:off x="9187434" y="3035808"/>
            <a:ext cx="2269998" cy="662940"/>
          </a:xfrm>
          <a:prstGeom prst="rect">
            <a:avLst/>
          </a:prstGeom>
          <a:noFill/>
        </p:spPr>
        <p:txBody>
          <a:bodyPr wrap="square" lIns="0" tIns="0" rIns="0" bIns="0" anchor="t">
            <a:noAutofit/>
          </a:bodyPr>
          <a:lstStyle/>
          <a:p>
            <a:pPr algn="l"/>
            <a:r>
              <a:rPr sz="1500" b="0" i="0">
                <a:solidFill>
                  <a:srgbClr val="5B6472"/>
                </a:solidFill>
                <a:latin typeface="Calibri"/>
              </a:rPr>
              <a:t>Modelos que crean texto, imágenes o código nuevos, como los asistentes de chat.</a:t>
            </a:r>
          </a:p>
        </p:txBody>
      </p:sp>
      <p:sp>
        <p:nvSpPr>
          <p:cNvPr id="24" name="Tarjeta"/>
          <p:cNvSpPr/>
          <p:nvPr/>
        </p:nvSpPr>
        <p:spPr>
          <a:xfrm>
            <a:off x="548640"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írculo de ícono"/>
          <p:cNvSpPr/>
          <p:nvPr/>
        </p:nvSpPr>
        <p:spPr>
          <a:xfrm>
            <a:off x="731520" y="4119372"/>
            <a:ext cx="457200" cy="45720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o"/>
          <p:cNvSpPr txBox="1"/>
          <p:nvPr/>
        </p:nvSpPr>
        <p:spPr>
          <a:xfrm>
            <a:off x="1280160" y="4119372"/>
            <a:ext cx="1812798" cy="457200"/>
          </a:xfrm>
          <a:prstGeom prst="rect">
            <a:avLst/>
          </a:prstGeom>
          <a:noFill/>
        </p:spPr>
        <p:txBody>
          <a:bodyPr wrap="square" lIns="0" tIns="0" rIns="0" bIns="0" anchor="ctr">
            <a:noAutofit/>
          </a:bodyPr>
          <a:lstStyle/>
          <a:p>
            <a:pPr algn="l"/>
            <a:r>
              <a:rPr sz="1800" b="1" i="0">
                <a:solidFill>
                  <a:srgbClr val="1B2A4A"/>
                </a:solidFill>
                <a:latin typeface="Calibri"/>
              </a:rPr>
              <a:t>Riesgo</a:t>
            </a:r>
          </a:p>
        </p:txBody>
      </p:sp>
      <p:sp>
        <p:nvSpPr>
          <p:cNvPr id="28" name="Texto"/>
          <p:cNvSpPr txBox="1"/>
          <p:nvPr/>
        </p:nvSpPr>
        <p:spPr>
          <a:xfrm>
            <a:off x="731520" y="4704588"/>
            <a:ext cx="2269998" cy="662940"/>
          </a:xfrm>
          <a:prstGeom prst="rect">
            <a:avLst/>
          </a:prstGeom>
          <a:noFill/>
        </p:spPr>
        <p:txBody>
          <a:bodyPr wrap="square" lIns="0" tIns="0" rIns="0" bIns="0" anchor="t">
            <a:noAutofit/>
          </a:bodyPr>
          <a:lstStyle/>
          <a:p>
            <a:pPr algn="l"/>
            <a:r>
              <a:rPr sz="1500" b="0" i="0">
                <a:solidFill>
                  <a:srgbClr val="5B6472"/>
                </a:solidFill>
                <a:latin typeface="Calibri"/>
              </a:rPr>
              <a:t>Probabilidad de que algo falle multiplicada por el impacto que causaría.</a:t>
            </a:r>
          </a:p>
        </p:txBody>
      </p:sp>
      <p:sp>
        <p:nvSpPr>
          <p:cNvPr id="29" name="Tarjeta"/>
          <p:cNvSpPr/>
          <p:nvPr/>
        </p:nvSpPr>
        <p:spPr>
          <a:xfrm>
            <a:off x="3367278"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írculo de ícono"/>
          <p:cNvSpPr/>
          <p:nvPr/>
        </p:nvSpPr>
        <p:spPr>
          <a:xfrm>
            <a:off x="3550158" y="4119372"/>
            <a:ext cx="457200" cy="45720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o"/>
          <p:cNvSpPr txBox="1"/>
          <p:nvPr/>
        </p:nvSpPr>
        <p:spPr>
          <a:xfrm>
            <a:off x="4098798" y="4119372"/>
            <a:ext cx="1812798" cy="457200"/>
          </a:xfrm>
          <a:prstGeom prst="rect">
            <a:avLst/>
          </a:prstGeom>
          <a:noFill/>
        </p:spPr>
        <p:txBody>
          <a:bodyPr wrap="square" lIns="0" tIns="0" rIns="0" bIns="0" anchor="ctr">
            <a:noAutofit/>
          </a:bodyPr>
          <a:lstStyle/>
          <a:p>
            <a:pPr algn="l"/>
            <a:r>
              <a:rPr sz="1800" b="1" i="0">
                <a:solidFill>
                  <a:srgbClr val="1B2A4A"/>
                </a:solidFill>
                <a:latin typeface="Calibri"/>
              </a:rPr>
              <a:t>Sesgo</a:t>
            </a:r>
          </a:p>
        </p:txBody>
      </p:sp>
      <p:sp>
        <p:nvSpPr>
          <p:cNvPr id="33" name="Texto"/>
          <p:cNvSpPr txBox="1"/>
          <p:nvPr/>
        </p:nvSpPr>
        <p:spPr>
          <a:xfrm>
            <a:off x="3550158" y="4704588"/>
            <a:ext cx="2269998" cy="662940"/>
          </a:xfrm>
          <a:prstGeom prst="rect">
            <a:avLst/>
          </a:prstGeom>
          <a:noFill/>
        </p:spPr>
        <p:txBody>
          <a:bodyPr wrap="square" lIns="0" tIns="0" rIns="0" bIns="0" anchor="t">
            <a:noAutofit/>
          </a:bodyPr>
          <a:lstStyle/>
          <a:p>
            <a:pPr algn="l"/>
            <a:r>
              <a:rPr sz="1500" b="0" i="0">
                <a:solidFill>
                  <a:srgbClr val="5B6472"/>
                </a:solidFill>
                <a:latin typeface="Calibri"/>
              </a:rPr>
              <a:t>Error sistemático que produce resultados injustos para ciertos grupos.</a:t>
            </a:r>
          </a:p>
        </p:txBody>
      </p:sp>
      <p:sp>
        <p:nvSpPr>
          <p:cNvPr id="34" name="Tarjeta"/>
          <p:cNvSpPr/>
          <p:nvPr/>
        </p:nvSpPr>
        <p:spPr>
          <a:xfrm>
            <a:off x="6185916"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írculo de ícono"/>
          <p:cNvSpPr/>
          <p:nvPr/>
        </p:nvSpPr>
        <p:spPr>
          <a:xfrm>
            <a:off x="6368796" y="4119372"/>
            <a:ext cx="457200" cy="45720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o"/>
          <p:cNvSpPr txBox="1"/>
          <p:nvPr/>
        </p:nvSpPr>
        <p:spPr>
          <a:xfrm>
            <a:off x="6917436" y="4119372"/>
            <a:ext cx="1812798" cy="457200"/>
          </a:xfrm>
          <a:prstGeom prst="rect">
            <a:avLst/>
          </a:prstGeom>
          <a:noFill/>
        </p:spPr>
        <p:txBody>
          <a:bodyPr wrap="square" lIns="0" tIns="0" rIns="0" bIns="0" anchor="ctr">
            <a:noAutofit/>
          </a:bodyPr>
          <a:lstStyle/>
          <a:p>
            <a:pPr algn="l"/>
            <a:r>
              <a:rPr sz="1800" b="1" i="0">
                <a:solidFill>
                  <a:srgbClr val="1B2A4A"/>
                </a:solidFill>
                <a:latin typeface="Calibri"/>
              </a:rPr>
              <a:t>Explicabilidad</a:t>
            </a:r>
          </a:p>
        </p:txBody>
      </p:sp>
      <p:sp>
        <p:nvSpPr>
          <p:cNvPr id="38" name="Texto"/>
          <p:cNvSpPr txBox="1"/>
          <p:nvPr/>
        </p:nvSpPr>
        <p:spPr>
          <a:xfrm>
            <a:off x="6368796" y="4704588"/>
            <a:ext cx="2269998" cy="662940"/>
          </a:xfrm>
          <a:prstGeom prst="rect">
            <a:avLst/>
          </a:prstGeom>
          <a:noFill/>
        </p:spPr>
        <p:txBody>
          <a:bodyPr wrap="square" lIns="0" tIns="0" rIns="0" bIns="0" anchor="t">
            <a:noAutofit/>
          </a:bodyPr>
          <a:lstStyle/>
          <a:p>
            <a:pPr algn="l"/>
            <a:r>
              <a:rPr sz="1500" b="0" i="0">
                <a:solidFill>
                  <a:srgbClr val="5B6472"/>
                </a:solidFill>
                <a:latin typeface="Calibri"/>
              </a:rPr>
              <a:t>Capacidad de explicar por qué el sistema dio una salida concreta.</a:t>
            </a:r>
          </a:p>
        </p:txBody>
      </p:sp>
      <p:sp>
        <p:nvSpPr>
          <p:cNvPr id="39" name="Tarjeta"/>
          <p:cNvSpPr/>
          <p:nvPr/>
        </p:nvSpPr>
        <p:spPr>
          <a:xfrm>
            <a:off x="9004554"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Círculo de ícono"/>
          <p:cNvSpPr/>
          <p:nvPr/>
        </p:nvSpPr>
        <p:spPr>
          <a:xfrm>
            <a:off x="9187434" y="4119372"/>
            <a:ext cx="457200" cy="45720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o"/>
          <p:cNvSpPr txBox="1"/>
          <p:nvPr/>
        </p:nvSpPr>
        <p:spPr>
          <a:xfrm>
            <a:off x="9736074" y="4119372"/>
            <a:ext cx="1812798" cy="457200"/>
          </a:xfrm>
          <a:prstGeom prst="rect">
            <a:avLst/>
          </a:prstGeom>
          <a:noFill/>
        </p:spPr>
        <p:txBody>
          <a:bodyPr wrap="square" lIns="0" tIns="0" rIns="0" bIns="0" anchor="ctr">
            <a:noAutofit/>
          </a:bodyPr>
          <a:lstStyle/>
          <a:p>
            <a:pPr algn="l"/>
            <a:r>
              <a:rPr sz="1800" b="1" i="0">
                <a:solidFill>
                  <a:srgbClr val="1B2A4A"/>
                </a:solidFill>
                <a:latin typeface="Calibri"/>
              </a:rPr>
              <a:t>Evidencia</a:t>
            </a:r>
          </a:p>
        </p:txBody>
      </p:sp>
      <p:sp>
        <p:nvSpPr>
          <p:cNvPr id="43" name="Texto"/>
          <p:cNvSpPr txBox="1"/>
          <p:nvPr/>
        </p:nvSpPr>
        <p:spPr>
          <a:xfrm>
            <a:off x="9187434" y="4704588"/>
            <a:ext cx="2269998" cy="662940"/>
          </a:xfrm>
          <a:prstGeom prst="rect">
            <a:avLst/>
          </a:prstGeom>
          <a:noFill/>
        </p:spPr>
        <p:txBody>
          <a:bodyPr wrap="square" lIns="0" tIns="0" rIns="0" bIns="0" anchor="t">
            <a:noAutofit/>
          </a:bodyPr>
          <a:lstStyle/>
          <a:p>
            <a:pPr algn="l"/>
            <a:r>
              <a:rPr sz="1500" b="0" i="0">
                <a:solidFill>
                  <a:srgbClr val="5B6472"/>
                </a:solidFill>
                <a:latin typeface="Calibri"/>
              </a:rPr>
              <a:t>Registro o prueba que demuestra que un control se cumple.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El riesgo de la IA no gobernada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POR QUÉ GOBERNAR</a:t>
            </a:r>
          </a:p>
        </p:txBody>
      </p:sp>
      <p:sp>
        <p:nvSpPr>
          <p:cNvPr id="4" name="Cita"/>
          <p:cNvSpPr/>
          <p:nvPr/>
        </p:nvSpPr>
        <p:spPr>
          <a:xfrm>
            <a:off x="548640" y="2286000"/>
            <a:ext cx="11091672" cy="914400"/>
          </a:xfrm>
          <a:prstGeom prst="roundRect">
            <a:avLst>
              <a:gd name="adj" fmla="val 6000"/>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noAutofit/>
          </a:bodyPr>
          <a:lstStyle/>
          <a:p>
            <a:pPr algn="l"/>
            <a:r>
              <a:rPr sz="1800" b="0" i="1">
                <a:solidFill>
                  <a:srgbClr val="FFFFFF"/>
                </a:solidFill>
                <a:latin typeface="Calibri"/>
              </a:rPr>
              <a:t>“Hacer prompts o GPTs no es desarrollar software. Conectar una API a datos sin ingeniería, QA ni cumplimiento legal no es innovación: es un pasivo o riesgo esperando materializarse.”</a:t>
            </a:r>
          </a:p>
        </p:txBody>
      </p:sp>
      <p:sp>
        <p:nvSpPr>
          <p:cNvPr id="5" name="Tarjeta"/>
          <p:cNvSpPr/>
          <p:nvPr/>
        </p:nvSpPr>
        <p:spPr>
          <a:xfrm>
            <a:off x="464174" y="3383280"/>
            <a:ext cx="3575304" cy="20574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írculo de ícono"/>
          <p:cNvSpPr/>
          <p:nvPr/>
        </p:nvSpPr>
        <p:spPr>
          <a:xfrm>
            <a:off x="777240" y="356616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o"/>
          <p:cNvSpPr txBox="1"/>
          <p:nvPr/>
        </p:nvSpPr>
        <p:spPr>
          <a:xfrm>
            <a:off x="1463040" y="3566160"/>
            <a:ext cx="2523744" cy="548640"/>
          </a:xfrm>
          <a:prstGeom prst="rect">
            <a:avLst/>
          </a:prstGeom>
          <a:noFill/>
        </p:spPr>
        <p:txBody>
          <a:bodyPr wrap="square" lIns="0" tIns="0" rIns="0" bIns="0" anchor="ctr">
            <a:noAutofit/>
          </a:bodyPr>
          <a:lstStyle/>
          <a:p>
            <a:pPr algn="l"/>
            <a:r>
              <a:rPr sz="1700" b="1" i="0">
                <a:solidFill>
                  <a:srgbClr val="064091"/>
                </a:solidFill>
                <a:latin typeface="Calibri"/>
              </a:rPr>
              <a:t>RIESGO OPERATIVO</a:t>
            </a:r>
          </a:p>
        </p:txBody>
      </p:sp>
      <p:sp>
        <p:nvSpPr>
          <p:cNvPr id="9" name="Texto"/>
          <p:cNvSpPr txBox="1"/>
          <p:nvPr/>
        </p:nvSpPr>
        <p:spPr>
          <a:xfrm>
            <a:off x="777240" y="4251960"/>
            <a:ext cx="3118104" cy="1143000"/>
          </a:xfrm>
          <a:prstGeom prst="rect">
            <a:avLst/>
          </a:prstGeom>
          <a:noFill/>
        </p:spPr>
        <p:txBody>
          <a:bodyPr wrap="square" lIns="0" tIns="0" rIns="0" bIns="0" anchor="t">
            <a:noAutofit/>
          </a:bodyPr>
          <a:lstStyle/>
          <a:p>
            <a:pPr algn="l"/>
            <a:r>
              <a:rPr sz="1500" b="0" i="0">
                <a:solidFill>
                  <a:srgbClr val="1B2A4A"/>
                </a:solidFill>
                <a:latin typeface="Calibri"/>
              </a:rPr>
              <a:t>Modelos sin versionamiento, monitoreo ni CI/CD fallan en silencio. Sin trazabilidad no hay auditoría ni corrección posible.</a:t>
            </a:r>
          </a:p>
        </p:txBody>
      </p:sp>
      <p:sp>
        <p:nvSpPr>
          <p:cNvPr id="10" name="Tarjeta"/>
          <p:cNvSpPr/>
          <p:nvPr/>
        </p:nvSpPr>
        <p:spPr>
          <a:xfrm>
            <a:off x="4306824" y="3383280"/>
            <a:ext cx="3575304" cy="20574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írculo de ícono"/>
          <p:cNvSpPr/>
          <p:nvPr/>
        </p:nvSpPr>
        <p:spPr>
          <a:xfrm>
            <a:off x="4535424" y="356616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p:cNvSpPr txBox="1"/>
          <p:nvPr/>
        </p:nvSpPr>
        <p:spPr>
          <a:xfrm>
            <a:off x="5221224" y="3566160"/>
            <a:ext cx="2523744" cy="548640"/>
          </a:xfrm>
          <a:prstGeom prst="rect">
            <a:avLst/>
          </a:prstGeom>
          <a:noFill/>
        </p:spPr>
        <p:txBody>
          <a:bodyPr wrap="square" lIns="0" tIns="0" rIns="0" bIns="0" anchor="ctr">
            <a:noAutofit/>
          </a:bodyPr>
          <a:lstStyle/>
          <a:p>
            <a:pPr algn="l"/>
            <a:r>
              <a:rPr sz="1700" b="1" i="0">
                <a:solidFill>
                  <a:srgbClr val="064091"/>
                </a:solidFill>
                <a:latin typeface="Calibri"/>
              </a:rPr>
              <a:t>RIESGO REPUTACIONAL</a:t>
            </a:r>
          </a:p>
        </p:txBody>
      </p:sp>
      <p:sp>
        <p:nvSpPr>
          <p:cNvPr id="14" name="Texto"/>
          <p:cNvSpPr txBox="1"/>
          <p:nvPr/>
        </p:nvSpPr>
        <p:spPr>
          <a:xfrm>
            <a:off x="4535424" y="4251960"/>
            <a:ext cx="3118104" cy="1143000"/>
          </a:xfrm>
          <a:prstGeom prst="rect">
            <a:avLst/>
          </a:prstGeom>
          <a:noFill/>
        </p:spPr>
        <p:txBody>
          <a:bodyPr wrap="square" lIns="0" tIns="0" rIns="0" bIns="0" anchor="t">
            <a:noAutofit/>
          </a:bodyPr>
          <a:lstStyle/>
          <a:p>
            <a:pPr algn="l"/>
            <a:r>
              <a:rPr sz="1500" b="0" i="0">
                <a:solidFill>
                  <a:srgbClr val="1B2A4A"/>
                </a:solidFill>
                <a:latin typeface="Calibri"/>
              </a:rPr>
              <a:t>Sesgos no detectados, decisiones inexplicables o fuga de datos personales dañan la credibilidad de forma difícil de revertir.</a:t>
            </a:r>
          </a:p>
        </p:txBody>
      </p:sp>
      <p:sp>
        <p:nvSpPr>
          <p:cNvPr id="15" name="Tarjeta"/>
          <p:cNvSpPr/>
          <p:nvPr/>
        </p:nvSpPr>
        <p:spPr>
          <a:xfrm>
            <a:off x="8065008" y="3383280"/>
            <a:ext cx="3575304" cy="20574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írculo de ícono"/>
          <p:cNvSpPr/>
          <p:nvPr/>
        </p:nvSpPr>
        <p:spPr>
          <a:xfrm>
            <a:off x="8293608" y="356616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o"/>
          <p:cNvSpPr txBox="1"/>
          <p:nvPr/>
        </p:nvSpPr>
        <p:spPr>
          <a:xfrm>
            <a:off x="8979408" y="3566160"/>
            <a:ext cx="2523744" cy="548640"/>
          </a:xfrm>
          <a:prstGeom prst="rect">
            <a:avLst/>
          </a:prstGeom>
          <a:noFill/>
        </p:spPr>
        <p:txBody>
          <a:bodyPr wrap="square" lIns="0" tIns="0" rIns="0" bIns="0" anchor="ctr">
            <a:noAutofit/>
          </a:bodyPr>
          <a:lstStyle/>
          <a:p>
            <a:pPr algn="l"/>
            <a:r>
              <a:rPr sz="1700" b="1" i="0">
                <a:solidFill>
                  <a:srgbClr val="064091"/>
                </a:solidFill>
                <a:latin typeface="Calibri"/>
              </a:rPr>
              <a:t>RIESGO REGULATORIO</a:t>
            </a:r>
          </a:p>
        </p:txBody>
      </p:sp>
      <p:sp>
        <p:nvSpPr>
          <p:cNvPr id="19" name="Texto"/>
          <p:cNvSpPr txBox="1"/>
          <p:nvPr/>
        </p:nvSpPr>
        <p:spPr>
          <a:xfrm>
            <a:off x="8293608" y="4251960"/>
            <a:ext cx="3118104" cy="1143000"/>
          </a:xfrm>
          <a:prstGeom prst="rect">
            <a:avLst/>
          </a:prstGeom>
          <a:noFill/>
        </p:spPr>
        <p:txBody>
          <a:bodyPr wrap="square" lIns="0" tIns="0" rIns="0" bIns="0" anchor="t">
            <a:noAutofit/>
          </a:bodyPr>
          <a:lstStyle/>
          <a:p>
            <a:pPr algn="l"/>
            <a:r>
              <a:rPr sz="1500" b="0" i="0">
                <a:solidFill>
                  <a:srgbClr val="1B2A4A"/>
                </a:solidFill>
                <a:latin typeface="Calibri"/>
              </a:rPr>
              <a:t>Ley 1581/2012, Circular SIC 002/2024 y EU AI Act fijan responsabilidades concretas. Incumplir implica sanciones.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Shadow AI: la trampa de la productividad</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POR QUÉ GOBERNAR</a:t>
            </a:r>
          </a:p>
        </p:txBody>
      </p:sp>
      <p:sp>
        <p:nvSpPr>
          <p:cNvPr id="4" name="Definición"/>
          <p:cNvSpPr/>
          <p:nvPr/>
        </p:nvSpPr>
        <p:spPr>
          <a:xfrm>
            <a:off x="548640" y="2286000"/>
            <a:ext cx="3566160" cy="3154680"/>
          </a:xfrm>
          <a:prstGeom prst="roundRect">
            <a:avLst>
              <a:gd name="adj" fmla="val 6000"/>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868680" y="2560320"/>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Ícono FaUserSecret" descr="UserSecret"/>
          <p:cNvPicPr>
            <a:picLocks noChangeAspect="1"/>
          </p:cNvPicPr>
          <p:nvPr/>
        </p:nvPicPr>
        <p:blipFill>
          <a:blip r:embed="rId3"/>
          <a:stretch>
            <a:fillRect/>
          </a:stretch>
        </p:blipFill>
        <p:spPr>
          <a:xfrm>
            <a:off x="1044244" y="2735884"/>
            <a:ext cx="380390" cy="380390"/>
          </a:xfrm>
          <a:prstGeom prst="rect">
            <a:avLst/>
          </a:prstGeom>
        </p:spPr>
      </p:pic>
      <p:sp>
        <p:nvSpPr>
          <p:cNvPr id="7" name="Texto"/>
          <p:cNvSpPr txBox="1"/>
          <p:nvPr/>
        </p:nvSpPr>
        <p:spPr>
          <a:xfrm>
            <a:off x="868680" y="3474720"/>
            <a:ext cx="2926080" cy="457200"/>
          </a:xfrm>
          <a:prstGeom prst="rect">
            <a:avLst/>
          </a:prstGeom>
          <a:noFill/>
        </p:spPr>
        <p:txBody>
          <a:bodyPr wrap="square" lIns="0" tIns="0" rIns="0" bIns="0" anchor="t">
            <a:noAutofit/>
          </a:bodyPr>
          <a:lstStyle/>
          <a:p>
            <a:pPr algn="l"/>
            <a:r>
              <a:rPr sz="2400" b="1" i="0">
                <a:solidFill>
                  <a:srgbClr val="FFFFFF"/>
                </a:solidFill>
                <a:latin typeface="Arial"/>
              </a:rPr>
              <a:t>Shadow AI</a:t>
            </a:r>
          </a:p>
        </p:txBody>
      </p:sp>
      <p:sp>
        <p:nvSpPr>
          <p:cNvPr id="8" name="Texto"/>
          <p:cNvSpPr txBox="1"/>
          <p:nvPr/>
        </p:nvSpPr>
        <p:spPr>
          <a:xfrm>
            <a:off x="868680" y="3977639"/>
            <a:ext cx="2926080" cy="1371600"/>
          </a:xfrm>
          <a:prstGeom prst="rect">
            <a:avLst/>
          </a:prstGeom>
          <a:noFill/>
        </p:spPr>
        <p:txBody>
          <a:bodyPr wrap="square" lIns="0" tIns="0" rIns="0" bIns="0" anchor="t">
            <a:noAutofit/>
          </a:bodyPr>
          <a:lstStyle/>
          <a:p>
            <a:pPr algn="l"/>
            <a:r>
              <a:rPr sz="1700" b="0" i="0">
                <a:solidFill>
                  <a:srgbClr val="FFFFFF"/>
                </a:solidFill>
                <a:latin typeface="Calibri"/>
              </a:rPr>
              <a:t>Uso de herramientas de IA fuera del inventario y del control de la organización, casi siempre con buena intención.</a:t>
            </a:r>
          </a:p>
        </p:txBody>
      </p:sp>
      <p:sp>
        <p:nvSpPr>
          <p:cNvPr id="9" name="Tarjeta"/>
          <p:cNvSpPr/>
          <p:nvPr/>
        </p:nvSpPr>
        <p:spPr>
          <a:xfrm>
            <a:off x="4297680" y="2286000"/>
            <a:ext cx="3579875"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írculo de ícono"/>
          <p:cNvSpPr/>
          <p:nvPr/>
        </p:nvSpPr>
        <p:spPr>
          <a:xfrm>
            <a:off x="4480560" y="2450592"/>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1</a:t>
            </a:r>
          </a:p>
        </p:txBody>
      </p:sp>
      <p:sp>
        <p:nvSpPr>
          <p:cNvPr id="12" name="Texto"/>
          <p:cNvSpPr txBox="1"/>
          <p:nvPr/>
        </p:nvSpPr>
        <p:spPr>
          <a:xfrm>
            <a:off x="5074920" y="2423160"/>
            <a:ext cx="2665475" cy="502920"/>
          </a:xfrm>
          <a:prstGeom prst="rect">
            <a:avLst/>
          </a:prstGeom>
          <a:noFill/>
        </p:spPr>
        <p:txBody>
          <a:bodyPr wrap="square" lIns="0" tIns="0" rIns="0" bIns="0" anchor="ctr">
            <a:noAutofit/>
          </a:bodyPr>
          <a:lstStyle/>
          <a:p>
            <a:pPr algn="l"/>
            <a:r>
              <a:rPr sz="1600" b="1" i="0">
                <a:solidFill>
                  <a:srgbClr val="1B2A4A"/>
                </a:solidFill>
                <a:latin typeface="Calibri"/>
              </a:rPr>
              <a:t>Los datos salen de la custodia</a:t>
            </a:r>
          </a:p>
        </p:txBody>
      </p:sp>
      <p:sp>
        <p:nvSpPr>
          <p:cNvPr id="13" name="Texto"/>
          <p:cNvSpPr txBox="1"/>
          <p:nvPr/>
        </p:nvSpPr>
        <p:spPr>
          <a:xfrm>
            <a:off x="4480560" y="3017520"/>
            <a:ext cx="3214115" cy="708660"/>
          </a:xfrm>
          <a:prstGeom prst="rect">
            <a:avLst/>
          </a:prstGeom>
          <a:noFill/>
        </p:spPr>
        <p:txBody>
          <a:bodyPr wrap="square" lIns="0" tIns="0" rIns="0" bIns="0" anchor="t">
            <a:noAutofit/>
          </a:bodyPr>
          <a:lstStyle/>
          <a:p>
            <a:pPr algn="l"/>
            <a:r>
              <a:rPr sz="1500" b="0" i="0">
                <a:solidFill>
                  <a:srgbClr val="5B6472"/>
                </a:solidFill>
                <a:latin typeface="Calibri"/>
              </a:rPr>
              <a:t>Algunas herramientas gratuitas pueden usar lo que reciben para mejorar sus modelos.</a:t>
            </a:r>
          </a:p>
        </p:txBody>
      </p:sp>
      <p:sp>
        <p:nvSpPr>
          <p:cNvPr id="14" name="Tarjeta"/>
          <p:cNvSpPr/>
          <p:nvPr/>
        </p:nvSpPr>
        <p:spPr>
          <a:xfrm>
            <a:off x="8060436" y="2286000"/>
            <a:ext cx="3579875"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írculo de ícono"/>
          <p:cNvSpPr/>
          <p:nvPr/>
        </p:nvSpPr>
        <p:spPr>
          <a:xfrm>
            <a:off x="8243315" y="2450592"/>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2</a:t>
            </a:r>
          </a:p>
        </p:txBody>
      </p:sp>
      <p:sp>
        <p:nvSpPr>
          <p:cNvPr id="17" name="Texto"/>
          <p:cNvSpPr txBox="1"/>
          <p:nvPr/>
        </p:nvSpPr>
        <p:spPr>
          <a:xfrm>
            <a:off x="8837676" y="2423160"/>
            <a:ext cx="2665475" cy="502920"/>
          </a:xfrm>
          <a:prstGeom prst="rect">
            <a:avLst/>
          </a:prstGeom>
          <a:noFill/>
        </p:spPr>
        <p:txBody>
          <a:bodyPr wrap="square" lIns="0" tIns="0" rIns="0" bIns="0" anchor="ctr">
            <a:noAutofit/>
          </a:bodyPr>
          <a:lstStyle/>
          <a:p>
            <a:pPr algn="l"/>
            <a:r>
              <a:rPr sz="1600" b="1" i="0">
                <a:solidFill>
                  <a:srgbClr val="1B2A4A"/>
                </a:solidFill>
                <a:latin typeface="Calibri"/>
              </a:rPr>
              <a:t>“Todo lo puedo poner en el chat”</a:t>
            </a:r>
          </a:p>
        </p:txBody>
      </p:sp>
      <p:sp>
        <p:nvSpPr>
          <p:cNvPr id="18" name="Texto"/>
          <p:cNvSpPr txBox="1"/>
          <p:nvPr/>
        </p:nvSpPr>
        <p:spPr>
          <a:xfrm>
            <a:off x="8243315" y="3017520"/>
            <a:ext cx="3214115" cy="708660"/>
          </a:xfrm>
          <a:prstGeom prst="rect">
            <a:avLst/>
          </a:prstGeom>
          <a:noFill/>
        </p:spPr>
        <p:txBody>
          <a:bodyPr wrap="square" lIns="0" tIns="0" rIns="0" bIns="0" anchor="t">
            <a:noAutofit/>
          </a:bodyPr>
          <a:lstStyle/>
          <a:p>
            <a:pPr algn="l"/>
            <a:r>
              <a:rPr sz="1500" b="0" i="0">
                <a:solidFill>
                  <a:srgbClr val="5B6472"/>
                </a:solidFill>
                <a:latin typeface="Calibri"/>
              </a:rPr>
              <a:t>Nómina, expedientes y estrategia expuestos: la falsa expectativa más peligrosa.</a:t>
            </a:r>
          </a:p>
        </p:txBody>
      </p:sp>
      <p:sp>
        <p:nvSpPr>
          <p:cNvPr id="19" name="Tarjeta"/>
          <p:cNvSpPr/>
          <p:nvPr/>
        </p:nvSpPr>
        <p:spPr>
          <a:xfrm>
            <a:off x="4297680" y="3954780"/>
            <a:ext cx="3579875"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írculo de ícono"/>
          <p:cNvSpPr/>
          <p:nvPr/>
        </p:nvSpPr>
        <p:spPr>
          <a:xfrm>
            <a:off x="4480560" y="4119372"/>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3</a:t>
            </a:r>
          </a:p>
        </p:txBody>
      </p:sp>
      <p:sp>
        <p:nvSpPr>
          <p:cNvPr id="22" name="Texto"/>
          <p:cNvSpPr txBox="1"/>
          <p:nvPr/>
        </p:nvSpPr>
        <p:spPr>
          <a:xfrm>
            <a:off x="5074920" y="4091940"/>
            <a:ext cx="2665475" cy="502920"/>
          </a:xfrm>
          <a:prstGeom prst="rect">
            <a:avLst/>
          </a:prstGeom>
          <a:noFill/>
        </p:spPr>
        <p:txBody>
          <a:bodyPr wrap="square" lIns="0" tIns="0" rIns="0" bIns="0" anchor="ctr">
            <a:noAutofit/>
          </a:bodyPr>
          <a:lstStyle/>
          <a:p>
            <a:pPr algn="l"/>
            <a:r>
              <a:rPr sz="1600" b="1" i="0">
                <a:solidFill>
                  <a:srgbClr val="1B2A4A"/>
                </a:solidFill>
                <a:latin typeface="Calibri"/>
              </a:rPr>
              <a:t>Respuestas sin validar</a:t>
            </a:r>
          </a:p>
        </p:txBody>
      </p:sp>
      <p:sp>
        <p:nvSpPr>
          <p:cNvPr id="23" name="Texto"/>
          <p:cNvSpPr txBox="1"/>
          <p:nvPr/>
        </p:nvSpPr>
        <p:spPr>
          <a:xfrm>
            <a:off x="4480560" y="4686300"/>
            <a:ext cx="3214115" cy="708660"/>
          </a:xfrm>
          <a:prstGeom prst="rect">
            <a:avLst/>
          </a:prstGeom>
          <a:noFill/>
        </p:spPr>
        <p:txBody>
          <a:bodyPr wrap="square" lIns="0" tIns="0" rIns="0" bIns="0" anchor="t">
            <a:noAutofit/>
          </a:bodyPr>
          <a:lstStyle/>
          <a:p>
            <a:pPr algn="l"/>
            <a:r>
              <a:rPr sz="1500" b="0" i="0">
                <a:solidFill>
                  <a:srgbClr val="5B6472"/>
                </a:solidFill>
                <a:latin typeface="Calibri"/>
              </a:rPr>
              <a:t>Alucinaciones tratadas como verdad, sin auditoría ni responsables.</a:t>
            </a:r>
          </a:p>
        </p:txBody>
      </p:sp>
      <p:sp>
        <p:nvSpPr>
          <p:cNvPr id="24" name="Tarjeta"/>
          <p:cNvSpPr/>
          <p:nvPr/>
        </p:nvSpPr>
        <p:spPr>
          <a:xfrm>
            <a:off x="8060436" y="3954780"/>
            <a:ext cx="3579875"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írculo de ícono"/>
          <p:cNvSpPr/>
          <p:nvPr/>
        </p:nvSpPr>
        <p:spPr>
          <a:xfrm>
            <a:off x="8243315" y="4119372"/>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4</a:t>
            </a:r>
          </a:p>
        </p:txBody>
      </p:sp>
      <p:sp>
        <p:nvSpPr>
          <p:cNvPr id="27" name="Texto"/>
          <p:cNvSpPr txBox="1"/>
          <p:nvPr/>
        </p:nvSpPr>
        <p:spPr>
          <a:xfrm>
            <a:off x="8837676" y="4091940"/>
            <a:ext cx="2665475" cy="502920"/>
          </a:xfrm>
          <a:prstGeom prst="rect">
            <a:avLst/>
          </a:prstGeom>
          <a:noFill/>
        </p:spPr>
        <p:txBody>
          <a:bodyPr wrap="square" lIns="0" tIns="0" rIns="0" bIns="0" anchor="ctr">
            <a:noAutofit/>
          </a:bodyPr>
          <a:lstStyle/>
          <a:p>
            <a:pPr algn="l"/>
            <a:r>
              <a:rPr sz="1600" b="1" i="0">
                <a:solidFill>
                  <a:srgbClr val="1B2A4A"/>
                </a:solidFill>
                <a:latin typeface="Calibri"/>
              </a:rPr>
              <a:t>Agentes de código sin DLP</a:t>
            </a:r>
          </a:p>
        </p:txBody>
      </p:sp>
      <p:sp>
        <p:nvSpPr>
          <p:cNvPr id="28" name="Texto"/>
          <p:cNvSpPr txBox="1"/>
          <p:nvPr/>
        </p:nvSpPr>
        <p:spPr>
          <a:xfrm>
            <a:off x="8243315" y="4686300"/>
            <a:ext cx="3214115" cy="708660"/>
          </a:xfrm>
          <a:prstGeom prst="rect">
            <a:avLst/>
          </a:prstGeom>
          <a:noFill/>
        </p:spPr>
        <p:txBody>
          <a:bodyPr wrap="square" lIns="0" tIns="0" rIns="0" bIns="0" anchor="t">
            <a:noAutofit/>
          </a:bodyPr>
          <a:lstStyle/>
          <a:p>
            <a:pPr algn="l"/>
            <a:r>
              <a:rPr sz="1500" b="0" i="0">
                <a:solidFill>
                  <a:srgbClr val="5B6472"/>
                </a:solidFill>
                <a:latin typeface="Calibri"/>
              </a:rPr>
              <a:t>Repositorios corporativos conectados a herramientas externas sin política de protección.</a:t>
            </a:r>
          </a:p>
        </p:txBody>
      </p:sp>
      <p:sp>
        <p:nvSpPr>
          <p:cNvPr id="29" name="Nota"/>
          <p:cNvSpPr/>
          <p:nvPr/>
        </p:nvSpPr>
        <p:spPr>
          <a:xfrm>
            <a:off x="548640" y="5559552"/>
            <a:ext cx="11091672" cy="347472"/>
          </a:xfrm>
          <a:prstGeom prst="roundRect">
            <a:avLst>
              <a:gd name="adj" fmla="val 20000"/>
            </a:avLst>
          </a:prstGeom>
          <a:solidFill>
            <a:srgbClr val="FFF4D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dirty="0">
                <a:solidFill>
                  <a:srgbClr val="1B2A4A"/>
                </a:solidFill>
                <a:latin typeface="Calibri"/>
              </a:rPr>
              <a:t>No se trata de prohibir la IA: se trata de gobernarla con alternativas aprobadas, políticas claras y trazabilidad.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Cuando la IA falla: casos reales</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POR QUÉ GOBERNAR</a:t>
            </a:r>
          </a:p>
        </p:txBody>
      </p:sp>
      <p:sp>
        <p:nvSpPr>
          <p:cNvPr id="4" name="Tarjeta"/>
          <p:cNvSpPr/>
          <p:nvPr/>
        </p:nvSpPr>
        <p:spPr>
          <a:xfrm>
            <a:off x="548640" y="2286000"/>
            <a:ext cx="5454396"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o"/>
          <p:cNvSpPr txBox="1"/>
          <p:nvPr/>
        </p:nvSpPr>
        <p:spPr>
          <a:xfrm>
            <a:off x="777240" y="2395728"/>
            <a:ext cx="4997196" cy="320040"/>
          </a:xfrm>
          <a:prstGeom prst="rect">
            <a:avLst/>
          </a:prstGeom>
          <a:noFill/>
        </p:spPr>
        <p:txBody>
          <a:bodyPr wrap="square" lIns="0" tIns="0" rIns="0" bIns="0" anchor="t">
            <a:noAutofit/>
          </a:bodyPr>
          <a:lstStyle/>
          <a:p>
            <a:pPr algn="l"/>
            <a:r>
              <a:rPr sz="1700" b="1" i="0">
                <a:solidFill>
                  <a:srgbClr val="064091"/>
                </a:solidFill>
                <a:latin typeface="Calibri"/>
              </a:rPr>
              <a:t>Selección de personal · 2018</a:t>
            </a:r>
          </a:p>
        </p:txBody>
      </p:sp>
      <p:sp>
        <p:nvSpPr>
          <p:cNvPr id="6" name="Texto"/>
          <p:cNvSpPr txBox="1"/>
          <p:nvPr/>
        </p:nvSpPr>
        <p:spPr>
          <a:xfrm>
            <a:off x="777240" y="2743200"/>
            <a:ext cx="4997196" cy="685800"/>
          </a:xfrm>
          <a:prstGeom prst="rect">
            <a:avLst/>
          </a:prstGeom>
          <a:noFill/>
        </p:spPr>
        <p:txBody>
          <a:bodyPr wrap="square" lIns="0" tIns="0" rIns="0" bIns="0" anchor="t">
            <a:noAutofit/>
          </a:bodyPr>
          <a:lstStyle/>
          <a:p>
            <a:pPr algn="l"/>
            <a:r>
              <a:rPr sz="1500" b="0" i="0">
                <a:solidFill>
                  <a:srgbClr val="1B2A4A"/>
                </a:solidFill>
                <a:latin typeface="Calibri"/>
              </a:rPr>
              <a:t>Una herramienta experimental de Amazon penalizaba hojas de vida de mujeres y fue descartada (Reuters).</a:t>
            </a:r>
          </a:p>
        </p:txBody>
      </p:sp>
      <p:sp>
        <p:nvSpPr>
          <p:cNvPr id="7" name="Etiqueta"/>
          <p:cNvSpPr/>
          <p:nvPr/>
        </p:nvSpPr>
        <p:spPr>
          <a:xfrm>
            <a:off x="777240" y="3360420"/>
            <a:ext cx="4997196" cy="301752"/>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FFFFFF"/>
                </a:solidFill>
                <a:latin typeface="Calibri"/>
              </a:rPr>
              <a:t>Control: pruebas de sesgo y datos representativos</a:t>
            </a:r>
          </a:p>
        </p:txBody>
      </p:sp>
      <p:sp>
        <p:nvSpPr>
          <p:cNvPr id="8" name="Tarjeta"/>
          <p:cNvSpPr/>
          <p:nvPr/>
        </p:nvSpPr>
        <p:spPr>
          <a:xfrm>
            <a:off x="6185916" y="2286000"/>
            <a:ext cx="5454396"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o"/>
          <p:cNvSpPr txBox="1"/>
          <p:nvPr/>
        </p:nvSpPr>
        <p:spPr>
          <a:xfrm>
            <a:off x="6414516" y="2395728"/>
            <a:ext cx="4997196" cy="320040"/>
          </a:xfrm>
          <a:prstGeom prst="rect">
            <a:avLst/>
          </a:prstGeom>
          <a:noFill/>
        </p:spPr>
        <p:txBody>
          <a:bodyPr wrap="square" lIns="0" tIns="0" rIns="0" bIns="0" anchor="t">
            <a:noAutofit/>
          </a:bodyPr>
          <a:lstStyle/>
          <a:p>
            <a:pPr algn="l"/>
            <a:r>
              <a:rPr sz="1700" b="1" i="0">
                <a:solidFill>
                  <a:srgbClr val="064091"/>
                </a:solidFill>
                <a:latin typeface="Calibri"/>
              </a:rPr>
              <a:t>Riesgo de reincidencia · 2016</a:t>
            </a:r>
          </a:p>
        </p:txBody>
      </p:sp>
      <p:sp>
        <p:nvSpPr>
          <p:cNvPr id="10" name="Texto"/>
          <p:cNvSpPr txBox="1"/>
          <p:nvPr/>
        </p:nvSpPr>
        <p:spPr>
          <a:xfrm>
            <a:off x="6414516" y="2743200"/>
            <a:ext cx="4997196" cy="685800"/>
          </a:xfrm>
          <a:prstGeom prst="rect">
            <a:avLst/>
          </a:prstGeom>
          <a:noFill/>
        </p:spPr>
        <p:txBody>
          <a:bodyPr wrap="square" lIns="0" tIns="0" rIns="0" bIns="0" anchor="t">
            <a:noAutofit/>
          </a:bodyPr>
          <a:lstStyle/>
          <a:p>
            <a:pPr algn="l"/>
            <a:r>
              <a:rPr sz="1500" b="0" i="0">
                <a:solidFill>
                  <a:srgbClr val="1B2A4A"/>
                </a:solidFill>
                <a:latin typeface="Calibri"/>
              </a:rPr>
              <a:t>ProPublica reportó tasas de error distintas por grupo racial en COMPAS; sigue el debate sobre qué métrica de equidad usar.</a:t>
            </a:r>
          </a:p>
        </p:txBody>
      </p:sp>
      <p:sp>
        <p:nvSpPr>
          <p:cNvPr id="11" name="Etiqueta"/>
          <p:cNvSpPr/>
          <p:nvPr/>
        </p:nvSpPr>
        <p:spPr>
          <a:xfrm>
            <a:off x="6414516" y="3360420"/>
            <a:ext cx="4997196" cy="301752"/>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FFFFFF"/>
                </a:solidFill>
                <a:latin typeface="Calibri"/>
              </a:rPr>
              <a:t>Control: definir métricas de equidad y explicabilidad</a:t>
            </a:r>
          </a:p>
        </p:txBody>
      </p:sp>
      <p:sp>
        <p:nvSpPr>
          <p:cNvPr id="12" name="Tarjeta"/>
          <p:cNvSpPr/>
          <p:nvPr/>
        </p:nvSpPr>
        <p:spPr>
          <a:xfrm>
            <a:off x="548640" y="3954780"/>
            <a:ext cx="5454396"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p:cNvSpPr txBox="1"/>
          <p:nvPr/>
        </p:nvSpPr>
        <p:spPr>
          <a:xfrm>
            <a:off x="777240" y="4064508"/>
            <a:ext cx="4997196" cy="320040"/>
          </a:xfrm>
          <a:prstGeom prst="rect">
            <a:avLst/>
          </a:prstGeom>
          <a:noFill/>
        </p:spPr>
        <p:txBody>
          <a:bodyPr wrap="square" lIns="0" tIns="0" rIns="0" bIns="0" anchor="t">
            <a:noAutofit/>
          </a:bodyPr>
          <a:lstStyle/>
          <a:p>
            <a:pPr algn="l"/>
            <a:r>
              <a:rPr sz="1700" b="1" i="0">
                <a:solidFill>
                  <a:srgbClr val="064091"/>
                </a:solidFill>
                <a:latin typeface="Calibri"/>
              </a:rPr>
              <a:t>Chatbot de aerolínea · 2024</a:t>
            </a:r>
          </a:p>
        </p:txBody>
      </p:sp>
      <p:sp>
        <p:nvSpPr>
          <p:cNvPr id="14" name="Texto"/>
          <p:cNvSpPr txBox="1"/>
          <p:nvPr/>
        </p:nvSpPr>
        <p:spPr>
          <a:xfrm>
            <a:off x="777240" y="4411980"/>
            <a:ext cx="4997196" cy="685800"/>
          </a:xfrm>
          <a:prstGeom prst="rect">
            <a:avLst/>
          </a:prstGeom>
          <a:noFill/>
        </p:spPr>
        <p:txBody>
          <a:bodyPr wrap="square" lIns="0" tIns="0" rIns="0" bIns="0" anchor="t">
            <a:noAutofit/>
          </a:bodyPr>
          <a:lstStyle/>
          <a:p>
            <a:pPr algn="l"/>
            <a:r>
              <a:rPr sz="1500" b="0" i="0">
                <a:solidFill>
                  <a:srgbClr val="1B2A4A"/>
                </a:solidFill>
                <a:latin typeface="Calibri"/>
              </a:rPr>
              <a:t>Un tribunal canadiense responsabilizó a Air Canada por información errónea de su chatbot.</a:t>
            </a:r>
          </a:p>
        </p:txBody>
      </p:sp>
      <p:sp>
        <p:nvSpPr>
          <p:cNvPr id="15" name="Etiqueta"/>
          <p:cNvSpPr/>
          <p:nvPr/>
        </p:nvSpPr>
        <p:spPr>
          <a:xfrm>
            <a:off x="777240" y="5029200"/>
            <a:ext cx="4997196" cy="301752"/>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FFFFFF"/>
                </a:solidFill>
                <a:latin typeface="Calibri"/>
              </a:rPr>
              <a:t>Control: validación y rendición de cuentas</a:t>
            </a:r>
          </a:p>
        </p:txBody>
      </p:sp>
      <p:sp>
        <p:nvSpPr>
          <p:cNvPr id="16" name="Tarjeta"/>
          <p:cNvSpPr/>
          <p:nvPr/>
        </p:nvSpPr>
        <p:spPr>
          <a:xfrm>
            <a:off x="6185916" y="3954780"/>
            <a:ext cx="5454396"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o"/>
          <p:cNvSpPr txBox="1"/>
          <p:nvPr/>
        </p:nvSpPr>
        <p:spPr>
          <a:xfrm>
            <a:off x="6414516" y="4064508"/>
            <a:ext cx="4997196" cy="320040"/>
          </a:xfrm>
          <a:prstGeom prst="rect">
            <a:avLst/>
          </a:prstGeom>
          <a:noFill/>
        </p:spPr>
        <p:txBody>
          <a:bodyPr wrap="square" lIns="0" tIns="0" rIns="0" bIns="0" anchor="t">
            <a:noAutofit/>
          </a:bodyPr>
          <a:lstStyle/>
          <a:p>
            <a:pPr algn="l"/>
            <a:r>
              <a:rPr sz="1700" b="1" i="0">
                <a:solidFill>
                  <a:srgbClr val="064091"/>
                </a:solidFill>
                <a:latin typeface="Calibri"/>
              </a:rPr>
              <a:t>Código en un chat público · 2023</a:t>
            </a:r>
          </a:p>
        </p:txBody>
      </p:sp>
      <p:sp>
        <p:nvSpPr>
          <p:cNvPr id="18" name="Texto"/>
          <p:cNvSpPr txBox="1"/>
          <p:nvPr/>
        </p:nvSpPr>
        <p:spPr>
          <a:xfrm>
            <a:off x="6414516" y="4411980"/>
            <a:ext cx="4997196" cy="685800"/>
          </a:xfrm>
          <a:prstGeom prst="rect">
            <a:avLst/>
          </a:prstGeom>
          <a:noFill/>
        </p:spPr>
        <p:txBody>
          <a:bodyPr wrap="square" lIns="0" tIns="0" rIns="0" bIns="0" anchor="t">
            <a:noAutofit/>
          </a:bodyPr>
          <a:lstStyle/>
          <a:p>
            <a:pPr algn="l"/>
            <a:r>
              <a:rPr sz="1500" b="0" i="0">
                <a:solidFill>
                  <a:srgbClr val="1B2A4A"/>
                </a:solidFill>
                <a:latin typeface="Calibri"/>
              </a:rPr>
              <a:t>Empleados de Samsung pegaron código fuente en un chat público y la empresa restringió su uso.</a:t>
            </a:r>
          </a:p>
        </p:txBody>
      </p:sp>
      <p:sp>
        <p:nvSpPr>
          <p:cNvPr id="19" name="Etiqueta"/>
          <p:cNvSpPr/>
          <p:nvPr/>
        </p:nvSpPr>
        <p:spPr>
          <a:xfrm>
            <a:off x="6414516" y="5029200"/>
            <a:ext cx="4997196" cy="301752"/>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FFFFFF"/>
                </a:solidFill>
                <a:latin typeface="Calibri"/>
              </a:rPr>
              <a:t>Control: política de uso aceptable y DLP</a:t>
            </a:r>
          </a:p>
        </p:txBody>
      </p:sp>
      <p:sp>
        <p:nvSpPr>
          <p:cNvPr id="20"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Casos públicos con fines pedagógicos: consulte las fuentes originales para el detalle de cada uno.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Gobernanza y gestión de IA: dos niveles</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FUNDAMENTOS</a:t>
            </a:r>
          </a:p>
        </p:txBody>
      </p:sp>
      <p:sp>
        <p:nvSpPr>
          <p:cNvPr id="4" name="Tarjeta"/>
          <p:cNvSpPr/>
          <p:nvPr/>
        </p:nvSpPr>
        <p:spPr>
          <a:xfrm>
            <a:off x="548640" y="2286000"/>
            <a:ext cx="5468112"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arjeta"/>
          <p:cNvSpPr/>
          <p:nvPr/>
        </p:nvSpPr>
        <p:spPr>
          <a:xfrm>
            <a:off x="548640" y="2286000"/>
            <a:ext cx="5468112" cy="777240"/>
          </a:xfrm>
          <a:prstGeom prst="roundRect">
            <a:avLst>
              <a:gd name="adj" fmla="val 6000"/>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o"/>
          <p:cNvSpPr txBox="1"/>
          <p:nvPr/>
        </p:nvSpPr>
        <p:spPr>
          <a:xfrm>
            <a:off x="822959" y="2331720"/>
            <a:ext cx="3474720" cy="411480"/>
          </a:xfrm>
          <a:prstGeom prst="rect">
            <a:avLst/>
          </a:prstGeom>
          <a:noFill/>
        </p:spPr>
        <p:txBody>
          <a:bodyPr wrap="square" lIns="0" tIns="0" rIns="0" bIns="0" anchor="t">
            <a:noAutofit/>
          </a:bodyPr>
          <a:lstStyle/>
          <a:p>
            <a:pPr algn="l"/>
            <a:r>
              <a:rPr sz="2100" b="1" i="0">
                <a:solidFill>
                  <a:srgbClr val="FFFFFF"/>
                </a:solidFill>
                <a:latin typeface="Arial"/>
              </a:rPr>
              <a:t>GOBERNANZA</a:t>
            </a:r>
          </a:p>
        </p:txBody>
      </p:sp>
      <p:sp>
        <p:nvSpPr>
          <p:cNvPr id="7" name="Texto"/>
          <p:cNvSpPr txBox="1"/>
          <p:nvPr/>
        </p:nvSpPr>
        <p:spPr>
          <a:xfrm>
            <a:off x="822959" y="2724912"/>
            <a:ext cx="3840480" cy="320040"/>
          </a:xfrm>
          <a:prstGeom prst="rect">
            <a:avLst/>
          </a:prstGeom>
          <a:noFill/>
        </p:spPr>
        <p:txBody>
          <a:bodyPr wrap="square" lIns="0" tIns="0" rIns="0" bIns="0" anchor="t">
            <a:noAutofit/>
          </a:bodyPr>
          <a:lstStyle/>
          <a:p>
            <a:pPr algn="l"/>
            <a:r>
              <a:rPr sz="1600" b="0" i="1">
                <a:solidFill>
                  <a:srgbClr val="FFFFFF"/>
                </a:solidFill>
                <a:latin typeface="Calibri"/>
              </a:rPr>
              <a:t>¿Qué, quién y por qué?</a:t>
            </a:r>
          </a:p>
        </p:txBody>
      </p:sp>
      <p:sp>
        <p:nvSpPr>
          <p:cNvPr id="8" name="Etiqueta"/>
          <p:cNvSpPr/>
          <p:nvPr/>
        </p:nvSpPr>
        <p:spPr>
          <a:xfrm>
            <a:off x="4526279" y="2487168"/>
            <a:ext cx="1325880" cy="365760"/>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200" b="1" i="0">
                <a:solidFill>
                  <a:srgbClr val="FFFFFF"/>
                </a:solidFill>
                <a:latin typeface="Calibri"/>
              </a:rPr>
              <a:t>ISO/IEC 38507</a:t>
            </a:r>
          </a:p>
        </p:txBody>
      </p:sp>
      <p:sp>
        <p:nvSpPr>
          <p:cNvPr id="9" name="Lista"/>
          <p:cNvSpPr txBox="1"/>
          <p:nvPr/>
        </p:nvSpPr>
        <p:spPr>
          <a:xfrm>
            <a:off x="868680" y="3291840"/>
            <a:ext cx="4846320" cy="2103120"/>
          </a:xfrm>
          <a:prstGeom prst="rect">
            <a:avLst/>
          </a:prstGeom>
          <a:noFill/>
        </p:spPr>
        <p:txBody>
          <a:bodyPr wrap="square" lIns="0" tIns="0" rIns="0" bIns="0">
            <a:noAutofit/>
          </a:bodyPr>
          <a:lstStyle/>
          <a:p>
            <a:pPr marL="182880" indent="-182880">
              <a:spcAft>
                <a:spcPts val="900"/>
              </a:spcAft>
              <a:buClr>
                <a:srgbClr val="9200EE"/>
              </a:buClr>
              <a:buFont typeface="Arial"/>
              <a:buChar char="•"/>
            </a:pPr>
            <a:r>
              <a:rPr sz="1700" b="0">
                <a:solidFill>
                  <a:srgbClr val="1B2A4A"/>
                </a:solidFill>
                <a:latin typeface="Calibri"/>
              </a:rPr>
              <a:t>Políticas y principios de IA responsable</a:t>
            </a:r>
          </a:p>
          <a:p>
            <a:pPr marL="182880" indent="-182880">
              <a:spcAft>
                <a:spcPts val="900"/>
              </a:spcAft>
              <a:buClr>
                <a:srgbClr val="9200EE"/>
              </a:buClr>
              <a:buFont typeface="Arial"/>
              <a:buChar char="•"/>
            </a:pPr>
            <a:r>
              <a:rPr sz="1700" b="0">
                <a:solidFill>
                  <a:srgbClr val="1B2A4A"/>
                </a:solidFill>
                <a:latin typeface="Calibri"/>
              </a:rPr>
              <a:t>Roles y rendición de cuentas (comité de IA)</a:t>
            </a:r>
          </a:p>
          <a:p>
            <a:pPr marL="182880" indent="-182880">
              <a:spcAft>
                <a:spcPts val="900"/>
              </a:spcAft>
              <a:buClr>
                <a:srgbClr val="9200EE"/>
              </a:buClr>
              <a:buFont typeface="Arial"/>
              <a:buChar char="•"/>
            </a:pPr>
            <a:r>
              <a:rPr sz="1700" b="0">
                <a:solidFill>
                  <a:srgbClr val="1B2A4A"/>
                </a:solidFill>
                <a:latin typeface="Calibri"/>
              </a:rPr>
              <a:t>Apetito de riesgo y cumplimiento legal</a:t>
            </a:r>
          </a:p>
          <a:p>
            <a:pPr marL="182880" indent="-182880">
              <a:spcAft>
                <a:spcPts val="900"/>
              </a:spcAft>
              <a:buClr>
                <a:srgbClr val="9200EE"/>
              </a:buClr>
              <a:buFont typeface="Arial"/>
              <a:buChar char="•"/>
            </a:pPr>
            <a:r>
              <a:rPr sz="1700" b="0">
                <a:solidFill>
                  <a:srgbClr val="1B2A4A"/>
                </a:solidFill>
                <a:latin typeface="Calibri"/>
              </a:rPr>
              <a:t>Supervisión y auditoría independiente</a:t>
            </a:r>
          </a:p>
        </p:txBody>
      </p:sp>
      <p:sp>
        <p:nvSpPr>
          <p:cNvPr id="10" name="Tarjeta"/>
          <p:cNvSpPr/>
          <p:nvPr/>
        </p:nvSpPr>
        <p:spPr>
          <a:xfrm>
            <a:off x="6172200" y="2286000"/>
            <a:ext cx="5468112"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arjeta"/>
          <p:cNvSpPr/>
          <p:nvPr/>
        </p:nvSpPr>
        <p:spPr>
          <a:xfrm>
            <a:off x="6172200" y="2286000"/>
            <a:ext cx="5468112" cy="777240"/>
          </a:xfrm>
          <a:prstGeom prst="roundRect">
            <a:avLst>
              <a:gd name="adj" fmla="val 6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o"/>
          <p:cNvSpPr txBox="1"/>
          <p:nvPr/>
        </p:nvSpPr>
        <p:spPr>
          <a:xfrm>
            <a:off x="6446520" y="2331720"/>
            <a:ext cx="3474720" cy="411480"/>
          </a:xfrm>
          <a:prstGeom prst="rect">
            <a:avLst/>
          </a:prstGeom>
          <a:noFill/>
        </p:spPr>
        <p:txBody>
          <a:bodyPr wrap="square" lIns="0" tIns="0" rIns="0" bIns="0" anchor="t">
            <a:noAutofit/>
          </a:bodyPr>
          <a:lstStyle/>
          <a:p>
            <a:pPr algn="l"/>
            <a:r>
              <a:rPr sz="2100" b="1" i="0">
                <a:latin typeface="Arial"/>
              </a:rPr>
              <a:t>GESTIÓN</a:t>
            </a:r>
          </a:p>
        </p:txBody>
      </p:sp>
      <p:sp>
        <p:nvSpPr>
          <p:cNvPr id="13" name="Texto"/>
          <p:cNvSpPr txBox="1"/>
          <p:nvPr/>
        </p:nvSpPr>
        <p:spPr>
          <a:xfrm>
            <a:off x="6446520" y="2724912"/>
            <a:ext cx="3840480" cy="320040"/>
          </a:xfrm>
          <a:prstGeom prst="rect">
            <a:avLst/>
          </a:prstGeom>
          <a:noFill/>
        </p:spPr>
        <p:txBody>
          <a:bodyPr wrap="square" lIns="0" tIns="0" rIns="0" bIns="0" anchor="t">
            <a:noAutofit/>
          </a:bodyPr>
          <a:lstStyle/>
          <a:p>
            <a:pPr algn="l"/>
            <a:r>
              <a:rPr sz="1600" b="0" i="1">
                <a:latin typeface="Calibri"/>
              </a:rPr>
              <a:t>¿Cómo y con qué controles?</a:t>
            </a:r>
          </a:p>
        </p:txBody>
      </p:sp>
      <p:sp>
        <p:nvSpPr>
          <p:cNvPr id="14" name="Etiqueta"/>
          <p:cNvSpPr/>
          <p:nvPr/>
        </p:nvSpPr>
        <p:spPr>
          <a:xfrm>
            <a:off x="10149840" y="2487168"/>
            <a:ext cx="1325880" cy="365760"/>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200" b="1" i="0">
                <a:solidFill>
                  <a:srgbClr val="FFFFFF"/>
                </a:solidFill>
                <a:latin typeface="Calibri"/>
              </a:rPr>
              <a:t>ISO/IEC 42001</a:t>
            </a:r>
          </a:p>
        </p:txBody>
      </p:sp>
      <p:sp>
        <p:nvSpPr>
          <p:cNvPr id="15" name="Lista"/>
          <p:cNvSpPr txBox="1"/>
          <p:nvPr/>
        </p:nvSpPr>
        <p:spPr>
          <a:xfrm>
            <a:off x="6492240" y="3291840"/>
            <a:ext cx="4846320" cy="2103120"/>
          </a:xfrm>
          <a:prstGeom prst="rect">
            <a:avLst/>
          </a:prstGeom>
          <a:noFill/>
        </p:spPr>
        <p:txBody>
          <a:bodyPr wrap="square" lIns="0" tIns="0" rIns="0" bIns="0">
            <a:noAutofit/>
          </a:bodyPr>
          <a:lstStyle/>
          <a:p>
            <a:pPr marL="182880" indent="-182880">
              <a:spcAft>
                <a:spcPts val="900"/>
              </a:spcAft>
              <a:buClr>
                <a:srgbClr val="9200EE"/>
              </a:buClr>
              <a:buFont typeface="Arial"/>
              <a:buChar char="•"/>
            </a:pPr>
            <a:r>
              <a:rPr sz="1700" b="0">
                <a:solidFill>
                  <a:srgbClr val="1B2A4A"/>
                </a:solidFill>
                <a:latin typeface="Calibri"/>
              </a:rPr>
              <a:t>Inventario y clasificación de sistemas</a:t>
            </a:r>
          </a:p>
          <a:p>
            <a:pPr marL="182880" indent="-182880">
              <a:spcAft>
                <a:spcPts val="900"/>
              </a:spcAft>
              <a:buClr>
                <a:srgbClr val="9200EE"/>
              </a:buClr>
              <a:buFont typeface="Arial"/>
              <a:buChar char="•"/>
            </a:pPr>
            <a:r>
              <a:rPr sz="1700" b="0">
                <a:solidFill>
                  <a:srgbClr val="1B2A4A"/>
                </a:solidFill>
                <a:latin typeface="Calibri"/>
              </a:rPr>
              <a:t>Ciclo de vida: datos, modelo y despliegue</a:t>
            </a:r>
          </a:p>
          <a:p>
            <a:pPr marL="182880" indent="-182880">
              <a:spcAft>
                <a:spcPts val="900"/>
              </a:spcAft>
              <a:buClr>
                <a:srgbClr val="9200EE"/>
              </a:buClr>
              <a:buFont typeface="Arial"/>
              <a:buChar char="•"/>
            </a:pPr>
            <a:r>
              <a:rPr sz="1700" b="0">
                <a:solidFill>
                  <a:srgbClr val="1B2A4A"/>
                </a:solidFill>
                <a:latin typeface="Calibri"/>
              </a:rPr>
              <a:t>Controles técnicos, MLOps y monitoreo</a:t>
            </a:r>
          </a:p>
          <a:p>
            <a:pPr marL="182880" indent="-182880">
              <a:spcAft>
                <a:spcPts val="900"/>
              </a:spcAft>
              <a:buClr>
                <a:srgbClr val="9200EE"/>
              </a:buClr>
              <a:buFont typeface="Arial"/>
              <a:buChar char="•"/>
            </a:pPr>
            <a:r>
              <a:rPr sz="1700" b="0">
                <a:solidFill>
                  <a:srgbClr val="1B2A4A"/>
                </a:solidFill>
                <a:latin typeface="Calibri"/>
              </a:rPr>
              <a:t>Incidentes y mejora continua</a:t>
            </a:r>
          </a:p>
        </p:txBody>
      </p:sp>
      <p:sp>
        <p:nvSpPr>
          <p:cNvPr id="16"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La gestión convierte las decisiones de gobernanza en controles técnicos y evidencia verificable.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¿Quién hace qué? Roles en la gobernanza de IA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FUNDAMENTOS</a:t>
            </a:r>
          </a:p>
        </p:txBody>
      </p:sp>
      <p:sp>
        <p:nvSpPr>
          <p:cNvPr id="4" name="Tarjeta"/>
          <p:cNvSpPr/>
          <p:nvPr/>
        </p:nvSpPr>
        <p:spPr>
          <a:xfrm>
            <a:off x="548640" y="2286000"/>
            <a:ext cx="3575304"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777240" y="251460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1</a:t>
            </a:r>
          </a:p>
        </p:txBody>
      </p:sp>
      <p:sp>
        <p:nvSpPr>
          <p:cNvPr id="7" name="Texto"/>
          <p:cNvSpPr txBox="1"/>
          <p:nvPr/>
        </p:nvSpPr>
        <p:spPr>
          <a:xfrm>
            <a:off x="1600200" y="2514600"/>
            <a:ext cx="2386584" cy="640080"/>
          </a:xfrm>
          <a:prstGeom prst="rect">
            <a:avLst/>
          </a:prstGeom>
          <a:noFill/>
        </p:spPr>
        <p:txBody>
          <a:bodyPr wrap="square" lIns="0" tIns="0" rIns="0" bIns="0" anchor="ctr">
            <a:noAutofit/>
          </a:bodyPr>
          <a:lstStyle/>
          <a:p>
            <a:pPr algn="l"/>
            <a:r>
              <a:rPr sz="1800" b="1" i="0">
                <a:solidFill>
                  <a:srgbClr val="1B2A4A"/>
                </a:solidFill>
                <a:latin typeface="Calibri"/>
              </a:rPr>
              <a:t>Alta dirección</a:t>
            </a:r>
          </a:p>
        </p:txBody>
      </p:sp>
      <p:sp>
        <p:nvSpPr>
          <p:cNvPr id="8" name="Texto"/>
          <p:cNvSpPr txBox="1"/>
          <p:nvPr/>
        </p:nvSpPr>
        <p:spPr>
          <a:xfrm>
            <a:off x="777240" y="3154680"/>
            <a:ext cx="3118104" cy="548640"/>
          </a:xfrm>
          <a:prstGeom prst="rect">
            <a:avLst/>
          </a:prstGeom>
          <a:noFill/>
        </p:spPr>
        <p:txBody>
          <a:bodyPr wrap="square" lIns="0" tIns="0" rIns="0" bIns="0" anchor="t">
            <a:noAutofit/>
          </a:bodyPr>
          <a:lstStyle/>
          <a:p>
            <a:pPr algn="l"/>
            <a:r>
              <a:rPr sz="1500" b="0" i="0">
                <a:solidFill>
                  <a:srgbClr val="5B6472"/>
                </a:solidFill>
                <a:latin typeface="Calibri"/>
              </a:rPr>
              <a:t>Fija el rumbo, el apetito de riesgo y asigna recursos.</a:t>
            </a:r>
          </a:p>
        </p:txBody>
      </p:sp>
      <p:sp>
        <p:nvSpPr>
          <p:cNvPr id="9" name="Tarjeta"/>
          <p:cNvSpPr/>
          <p:nvPr/>
        </p:nvSpPr>
        <p:spPr>
          <a:xfrm>
            <a:off x="4306824" y="2286000"/>
            <a:ext cx="3575304"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írculo de ícono"/>
          <p:cNvSpPr/>
          <p:nvPr/>
        </p:nvSpPr>
        <p:spPr>
          <a:xfrm>
            <a:off x="4535424" y="251460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2</a:t>
            </a:r>
          </a:p>
        </p:txBody>
      </p:sp>
      <p:sp>
        <p:nvSpPr>
          <p:cNvPr id="12" name="Texto"/>
          <p:cNvSpPr txBox="1"/>
          <p:nvPr/>
        </p:nvSpPr>
        <p:spPr>
          <a:xfrm>
            <a:off x="5358383" y="2514600"/>
            <a:ext cx="2386584" cy="640080"/>
          </a:xfrm>
          <a:prstGeom prst="rect">
            <a:avLst/>
          </a:prstGeom>
          <a:noFill/>
        </p:spPr>
        <p:txBody>
          <a:bodyPr wrap="square" lIns="0" tIns="0" rIns="0" bIns="0" anchor="ctr">
            <a:noAutofit/>
          </a:bodyPr>
          <a:lstStyle/>
          <a:p>
            <a:pPr algn="l"/>
            <a:r>
              <a:rPr sz="1800" b="1" i="0">
                <a:solidFill>
                  <a:srgbClr val="1B2A4A"/>
                </a:solidFill>
                <a:latin typeface="Calibri"/>
              </a:rPr>
              <a:t>Comité de IA</a:t>
            </a:r>
          </a:p>
        </p:txBody>
      </p:sp>
      <p:sp>
        <p:nvSpPr>
          <p:cNvPr id="13" name="Texto"/>
          <p:cNvSpPr txBox="1"/>
          <p:nvPr/>
        </p:nvSpPr>
        <p:spPr>
          <a:xfrm>
            <a:off x="4535424" y="3154680"/>
            <a:ext cx="3118104" cy="548640"/>
          </a:xfrm>
          <a:prstGeom prst="rect">
            <a:avLst/>
          </a:prstGeom>
          <a:noFill/>
        </p:spPr>
        <p:txBody>
          <a:bodyPr wrap="square" lIns="0" tIns="0" rIns="0" bIns="0" anchor="t">
            <a:noAutofit/>
          </a:bodyPr>
          <a:lstStyle/>
          <a:p>
            <a:pPr algn="l"/>
            <a:r>
              <a:rPr sz="1500" b="0" i="0">
                <a:solidFill>
                  <a:srgbClr val="5B6472"/>
                </a:solidFill>
                <a:latin typeface="Calibri"/>
              </a:rPr>
              <a:t>Aprueba políticas y clasifica los sistemas de mayor riesgo.</a:t>
            </a:r>
          </a:p>
        </p:txBody>
      </p:sp>
      <p:sp>
        <p:nvSpPr>
          <p:cNvPr id="14" name="Tarjeta"/>
          <p:cNvSpPr/>
          <p:nvPr/>
        </p:nvSpPr>
        <p:spPr>
          <a:xfrm>
            <a:off x="8065008" y="2286000"/>
            <a:ext cx="3575304"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írculo de ícono"/>
          <p:cNvSpPr/>
          <p:nvPr/>
        </p:nvSpPr>
        <p:spPr>
          <a:xfrm>
            <a:off x="8293608" y="251460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3</a:t>
            </a:r>
          </a:p>
        </p:txBody>
      </p:sp>
      <p:sp>
        <p:nvSpPr>
          <p:cNvPr id="17" name="Texto"/>
          <p:cNvSpPr txBox="1"/>
          <p:nvPr/>
        </p:nvSpPr>
        <p:spPr>
          <a:xfrm>
            <a:off x="9116568" y="2514600"/>
            <a:ext cx="2386584" cy="640080"/>
          </a:xfrm>
          <a:prstGeom prst="rect">
            <a:avLst/>
          </a:prstGeom>
          <a:noFill/>
        </p:spPr>
        <p:txBody>
          <a:bodyPr wrap="square" lIns="0" tIns="0" rIns="0" bIns="0" anchor="ctr">
            <a:noAutofit/>
          </a:bodyPr>
          <a:lstStyle/>
          <a:p>
            <a:pPr algn="l"/>
            <a:r>
              <a:rPr sz="1800" b="1" i="0">
                <a:solidFill>
                  <a:srgbClr val="1B2A4A"/>
                </a:solidFill>
                <a:latin typeface="Calibri"/>
              </a:rPr>
              <a:t>Dueño del sistema</a:t>
            </a:r>
          </a:p>
        </p:txBody>
      </p:sp>
      <p:sp>
        <p:nvSpPr>
          <p:cNvPr id="18" name="Texto"/>
          <p:cNvSpPr txBox="1"/>
          <p:nvPr/>
        </p:nvSpPr>
        <p:spPr>
          <a:xfrm>
            <a:off x="8293608" y="3154680"/>
            <a:ext cx="3118104" cy="548640"/>
          </a:xfrm>
          <a:prstGeom prst="rect">
            <a:avLst/>
          </a:prstGeom>
          <a:noFill/>
        </p:spPr>
        <p:txBody>
          <a:bodyPr wrap="square" lIns="0" tIns="0" rIns="0" bIns="0" anchor="t">
            <a:noAutofit/>
          </a:bodyPr>
          <a:lstStyle/>
          <a:p>
            <a:pPr algn="l"/>
            <a:r>
              <a:rPr sz="1500" b="0" i="0">
                <a:solidFill>
                  <a:srgbClr val="5B6472"/>
                </a:solidFill>
                <a:latin typeface="Calibri"/>
              </a:rPr>
              <a:t>Responde por el propósito, el uso y los resultados.</a:t>
            </a:r>
          </a:p>
        </p:txBody>
      </p:sp>
      <p:sp>
        <p:nvSpPr>
          <p:cNvPr id="19" name="Tarjeta"/>
          <p:cNvSpPr/>
          <p:nvPr/>
        </p:nvSpPr>
        <p:spPr>
          <a:xfrm>
            <a:off x="548640" y="3931920"/>
            <a:ext cx="3575304"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írculo de ícono"/>
          <p:cNvSpPr/>
          <p:nvPr/>
        </p:nvSpPr>
        <p:spPr>
          <a:xfrm>
            <a:off x="777240" y="416052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4</a:t>
            </a:r>
          </a:p>
        </p:txBody>
      </p:sp>
      <p:sp>
        <p:nvSpPr>
          <p:cNvPr id="22" name="Texto"/>
          <p:cNvSpPr txBox="1"/>
          <p:nvPr/>
        </p:nvSpPr>
        <p:spPr>
          <a:xfrm>
            <a:off x="1600200" y="4160520"/>
            <a:ext cx="2386584" cy="640080"/>
          </a:xfrm>
          <a:prstGeom prst="rect">
            <a:avLst/>
          </a:prstGeom>
          <a:noFill/>
        </p:spPr>
        <p:txBody>
          <a:bodyPr wrap="square" lIns="0" tIns="0" rIns="0" bIns="0" anchor="ctr">
            <a:noAutofit/>
          </a:bodyPr>
          <a:lstStyle/>
          <a:p>
            <a:pPr algn="l"/>
            <a:r>
              <a:rPr sz="1800" b="1" i="0">
                <a:solidFill>
                  <a:srgbClr val="1B2A4A"/>
                </a:solidFill>
                <a:latin typeface="Calibri"/>
              </a:rPr>
              <a:t>Equipo técnico</a:t>
            </a:r>
          </a:p>
        </p:txBody>
      </p:sp>
      <p:sp>
        <p:nvSpPr>
          <p:cNvPr id="23" name="Texto"/>
          <p:cNvSpPr txBox="1"/>
          <p:nvPr/>
        </p:nvSpPr>
        <p:spPr>
          <a:xfrm>
            <a:off x="777240" y="4800600"/>
            <a:ext cx="3118104" cy="548640"/>
          </a:xfrm>
          <a:prstGeom prst="rect">
            <a:avLst/>
          </a:prstGeom>
          <a:noFill/>
        </p:spPr>
        <p:txBody>
          <a:bodyPr wrap="square" lIns="0" tIns="0" rIns="0" bIns="0" anchor="t">
            <a:noAutofit/>
          </a:bodyPr>
          <a:lstStyle/>
          <a:p>
            <a:pPr algn="l"/>
            <a:r>
              <a:rPr sz="1500" b="0" i="0">
                <a:solidFill>
                  <a:srgbClr val="5B6472"/>
                </a:solidFill>
                <a:latin typeface="Calibri"/>
              </a:rPr>
              <a:t>Datos, modelos y MLOps: construyen y operan con controles.</a:t>
            </a:r>
          </a:p>
        </p:txBody>
      </p:sp>
      <p:sp>
        <p:nvSpPr>
          <p:cNvPr id="24" name="Tarjeta"/>
          <p:cNvSpPr/>
          <p:nvPr/>
        </p:nvSpPr>
        <p:spPr>
          <a:xfrm>
            <a:off x="4306824" y="3931920"/>
            <a:ext cx="3575304"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írculo de ícono"/>
          <p:cNvSpPr/>
          <p:nvPr/>
        </p:nvSpPr>
        <p:spPr>
          <a:xfrm>
            <a:off x="4535424" y="416052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5</a:t>
            </a:r>
          </a:p>
        </p:txBody>
      </p:sp>
      <p:sp>
        <p:nvSpPr>
          <p:cNvPr id="27" name="Texto"/>
          <p:cNvSpPr txBox="1"/>
          <p:nvPr/>
        </p:nvSpPr>
        <p:spPr>
          <a:xfrm>
            <a:off x="5358383" y="4160520"/>
            <a:ext cx="2386584" cy="640080"/>
          </a:xfrm>
          <a:prstGeom prst="rect">
            <a:avLst/>
          </a:prstGeom>
          <a:noFill/>
        </p:spPr>
        <p:txBody>
          <a:bodyPr wrap="square" lIns="0" tIns="0" rIns="0" bIns="0" anchor="ctr">
            <a:noAutofit/>
          </a:bodyPr>
          <a:lstStyle/>
          <a:p>
            <a:pPr algn="l"/>
            <a:r>
              <a:rPr sz="1800" b="1" i="0">
                <a:solidFill>
                  <a:srgbClr val="1B2A4A"/>
                </a:solidFill>
                <a:latin typeface="Calibri"/>
              </a:rPr>
              <a:t>Legal, privacidad y riesgos</a:t>
            </a:r>
          </a:p>
        </p:txBody>
      </p:sp>
      <p:sp>
        <p:nvSpPr>
          <p:cNvPr id="28" name="Texto"/>
          <p:cNvSpPr txBox="1"/>
          <p:nvPr/>
        </p:nvSpPr>
        <p:spPr>
          <a:xfrm>
            <a:off x="4535424" y="4800600"/>
            <a:ext cx="3118104" cy="548640"/>
          </a:xfrm>
          <a:prstGeom prst="rect">
            <a:avLst/>
          </a:prstGeom>
          <a:noFill/>
        </p:spPr>
        <p:txBody>
          <a:bodyPr wrap="square" lIns="0" tIns="0" rIns="0" bIns="0" anchor="t">
            <a:noAutofit/>
          </a:bodyPr>
          <a:lstStyle/>
          <a:p>
            <a:pPr algn="l"/>
            <a:r>
              <a:rPr sz="1500" b="0" i="0">
                <a:solidFill>
                  <a:srgbClr val="5B6472"/>
                </a:solidFill>
                <a:latin typeface="Calibri"/>
              </a:rPr>
              <a:t>Verifican el cumplimiento normativo y evalúan impactos.</a:t>
            </a:r>
          </a:p>
        </p:txBody>
      </p:sp>
      <p:sp>
        <p:nvSpPr>
          <p:cNvPr id="29" name="Tarjeta"/>
          <p:cNvSpPr/>
          <p:nvPr/>
        </p:nvSpPr>
        <p:spPr>
          <a:xfrm>
            <a:off x="8065008" y="3931920"/>
            <a:ext cx="3575304"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írculo de ícono"/>
          <p:cNvSpPr/>
          <p:nvPr/>
        </p:nvSpPr>
        <p:spPr>
          <a:xfrm>
            <a:off x="8293608" y="4160520"/>
            <a:ext cx="640080" cy="64008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Ícono FaSearch" descr="Search"/>
          <p:cNvPicPr>
            <a:picLocks noChangeAspect="1"/>
          </p:cNvPicPr>
          <p:nvPr/>
        </p:nvPicPr>
        <p:blipFill>
          <a:blip r:embed="rId3"/>
          <a:stretch>
            <a:fillRect/>
          </a:stretch>
        </p:blipFill>
        <p:spPr>
          <a:xfrm>
            <a:off x="8447227" y="4314139"/>
            <a:ext cx="332841" cy="332841"/>
          </a:xfrm>
          <a:prstGeom prst="rect">
            <a:avLst/>
          </a:prstGeom>
        </p:spPr>
      </p:pic>
      <p:sp>
        <p:nvSpPr>
          <p:cNvPr id="32" name="Texto"/>
          <p:cNvSpPr txBox="1"/>
          <p:nvPr/>
        </p:nvSpPr>
        <p:spPr>
          <a:xfrm>
            <a:off x="9116568" y="4160520"/>
            <a:ext cx="2386584" cy="640080"/>
          </a:xfrm>
          <a:prstGeom prst="rect">
            <a:avLst/>
          </a:prstGeom>
          <a:noFill/>
        </p:spPr>
        <p:txBody>
          <a:bodyPr wrap="square" lIns="0" tIns="0" rIns="0" bIns="0" anchor="ctr">
            <a:noAutofit/>
          </a:bodyPr>
          <a:lstStyle/>
          <a:p>
            <a:pPr algn="l"/>
            <a:r>
              <a:rPr sz="1800" b="1" i="0">
                <a:solidFill>
                  <a:srgbClr val="1B2A4A"/>
                </a:solidFill>
                <a:latin typeface="Calibri"/>
              </a:rPr>
              <a:t>Auditoría</a:t>
            </a:r>
          </a:p>
        </p:txBody>
      </p:sp>
      <p:sp>
        <p:nvSpPr>
          <p:cNvPr id="33" name="Texto"/>
          <p:cNvSpPr txBox="1"/>
          <p:nvPr/>
        </p:nvSpPr>
        <p:spPr>
          <a:xfrm>
            <a:off x="8293608" y="4800600"/>
            <a:ext cx="3118104" cy="548640"/>
          </a:xfrm>
          <a:prstGeom prst="rect">
            <a:avLst/>
          </a:prstGeom>
          <a:noFill/>
        </p:spPr>
        <p:txBody>
          <a:bodyPr wrap="square" lIns="0" tIns="0" rIns="0" bIns="0" anchor="t">
            <a:noAutofit/>
          </a:bodyPr>
          <a:lstStyle/>
          <a:p>
            <a:pPr algn="l"/>
            <a:r>
              <a:rPr sz="1500" b="0" i="0">
                <a:solidFill>
                  <a:srgbClr val="5B6472"/>
                </a:solidFill>
                <a:latin typeface="Calibri"/>
              </a:rPr>
              <a:t>Revisa de forma independiente que los controles funcionen.</a:t>
            </a:r>
          </a:p>
        </p:txBody>
      </p:sp>
      <p:sp>
        <p:nvSpPr>
          <p:cNvPr id="34"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Regla práctica: quien construye no es quien audita, y nadie aprueba su propio trabajo.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Marco de referencia en cuatro capas</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MARCO CONCEPTUAL</a:t>
            </a:r>
          </a:p>
        </p:txBody>
      </p:sp>
      <p:sp>
        <p:nvSpPr>
          <p:cNvPr id="4" name="Tarjeta"/>
          <p:cNvSpPr/>
          <p:nvPr/>
        </p:nvSpPr>
        <p:spPr>
          <a:xfrm>
            <a:off x="548640" y="2286000"/>
            <a:ext cx="11091672" cy="713232"/>
          </a:xfrm>
          <a:prstGeom prst="roundRect">
            <a:avLst>
              <a:gd name="adj" fmla="val 12000"/>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o"/>
          <p:cNvSpPr txBox="1"/>
          <p:nvPr/>
        </p:nvSpPr>
        <p:spPr>
          <a:xfrm>
            <a:off x="777240" y="2286000"/>
            <a:ext cx="2834640" cy="713232"/>
          </a:xfrm>
          <a:prstGeom prst="rect">
            <a:avLst/>
          </a:prstGeom>
          <a:noFill/>
        </p:spPr>
        <p:txBody>
          <a:bodyPr wrap="square" lIns="0" tIns="0" rIns="0" bIns="0" anchor="ctr">
            <a:noAutofit/>
          </a:bodyPr>
          <a:lstStyle/>
          <a:p>
            <a:pPr algn="l"/>
            <a:r>
              <a:rPr sz="1700" b="1" i="0">
                <a:solidFill>
                  <a:srgbClr val="FFFFFF"/>
                </a:solidFill>
                <a:latin typeface="Arial"/>
              </a:rPr>
              <a:t>PRINCIPIOS</a:t>
            </a:r>
          </a:p>
        </p:txBody>
      </p:sp>
      <p:sp>
        <p:nvSpPr>
          <p:cNvPr id="6" name="Texto"/>
          <p:cNvSpPr txBox="1"/>
          <p:nvPr/>
        </p:nvSpPr>
        <p:spPr>
          <a:xfrm>
            <a:off x="3657600" y="2286000"/>
            <a:ext cx="7772400" cy="713232"/>
          </a:xfrm>
          <a:prstGeom prst="rect">
            <a:avLst/>
          </a:prstGeom>
          <a:noFill/>
        </p:spPr>
        <p:txBody>
          <a:bodyPr wrap="square" lIns="0" tIns="0" rIns="0" bIns="0" anchor="ctr">
            <a:noAutofit/>
          </a:bodyPr>
          <a:lstStyle/>
          <a:p>
            <a:pPr algn="l"/>
            <a:r>
              <a:rPr sz="1600" b="0" i="0" dirty="0">
                <a:solidFill>
                  <a:srgbClr val="FFFFFF"/>
                </a:solidFill>
                <a:latin typeface="Calibri"/>
              </a:rPr>
              <a:t>OCDE (principios de IA) · UNESCO (Recomendación sobre ética de la IA) · HLEG-AI (7 requisitos de IA confiable)</a:t>
            </a:r>
          </a:p>
        </p:txBody>
      </p:sp>
      <p:sp>
        <p:nvSpPr>
          <p:cNvPr id="7" name="Tarjeta"/>
          <p:cNvSpPr/>
          <p:nvPr/>
        </p:nvSpPr>
        <p:spPr>
          <a:xfrm>
            <a:off x="548640" y="3072384"/>
            <a:ext cx="11091672" cy="713232"/>
          </a:xfrm>
          <a:prstGeom prst="roundRect">
            <a:avLst>
              <a:gd name="adj" fmla="val 12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o"/>
          <p:cNvSpPr txBox="1"/>
          <p:nvPr/>
        </p:nvSpPr>
        <p:spPr>
          <a:xfrm>
            <a:off x="777240" y="3072384"/>
            <a:ext cx="2834640" cy="713232"/>
          </a:xfrm>
          <a:prstGeom prst="rect">
            <a:avLst/>
          </a:prstGeom>
          <a:noFill/>
        </p:spPr>
        <p:txBody>
          <a:bodyPr wrap="square" lIns="0" tIns="0" rIns="0" bIns="0" anchor="ctr">
            <a:noAutofit/>
          </a:bodyPr>
          <a:lstStyle/>
          <a:p>
            <a:pPr algn="l"/>
            <a:r>
              <a:rPr sz="1700" b="1" i="0">
                <a:solidFill>
                  <a:srgbClr val="FFFFFF"/>
                </a:solidFill>
                <a:latin typeface="Arial"/>
              </a:rPr>
              <a:t>ESTÁNDARES</a:t>
            </a:r>
          </a:p>
        </p:txBody>
      </p:sp>
      <p:sp>
        <p:nvSpPr>
          <p:cNvPr id="9" name="Texto"/>
          <p:cNvSpPr txBox="1"/>
          <p:nvPr/>
        </p:nvSpPr>
        <p:spPr>
          <a:xfrm>
            <a:off x="3657600" y="3072384"/>
            <a:ext cx="7772400" cy="713232"/>
          </a:xfrm>
          <a:prstGeom prst="rect">
            <a:avLst/>
          </a:prstGeom>
          <a:noFill/>
        </p:spPr>
        <p:txBody>
          <a:bodyPr wrap="square" lIns="0" tIns="0" rIns="0" bIns="0" anchor="ctr">
            <a:noAutofit/>
          </a:bodyPr>
          <a:lstStyle/>
          <a:p>
            <a:pPr algn="l"/>
            <a:r>
              <a:rPr sz="1600" b="0" i="0">
                <a:solidFill>
                  <a:srgbClr val="FFFFFF"/>
                </a:solidFill>
                <a:latin typeface="Calibri"/>
              </a:rPr>
              <a:t>ISO/IEC 38507 (gobernanza) · 42001 (sistema de gestión) · 23894 (riesgos) · 5259 (calidad de datos) · 22989 (conceptos)</a:t>
            </a:r>
          </a:p>
        </p:txBody>
      </p:sp>
      <p:sp>
        <p:nvSpPr>
          <p:cNvPr id="10" name="Tarjeta"/>
          <p:cNvSpPr/>
          <p:nvPr/>
        </p:nvSpPr>
        <p:spPr>
          <a:xfrm>
            <a:off x="548640" y="3858768"/>
            <a:ext cx="11091672" cy="713232"/>
          </a:xfrm>
          <a:prstGeom prst="roundRect">
            <a:avLst>
              <a:gd name="adj" fmla="val 12000"/>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p:cNvSpPr txBox="1"/>
          <p:nvPr/>
        </p:nvSpPr>
        <p:spPr>
          <a:xfrm>
            <a:off x="777240" y="3858768"/>
            <a:ext cx="2834640" cy="713232"/>
          </a:xfrm>
          <a:prstGeom prst="rect">
            <a:avLst/>
          </a:prstGeom>
          <a:noFill/>
        </p:spPr>
        <p:txBody>
          <a:bodyPr wrap="square" lIns="0" tIns="0" rIns="0" bIns="0" anchor="ctr">
            <a:noAutofit/>
          </a:bodyPr>
          <a:lstStyle/>
          <a:p>
            <a:pPr algn="l"/>
            <a:r>
              <a:rPr sz="1700" b="1" i="0">
                <a:solidFill>
                  <a:srgbClr val="1B2A4A"/>
                </a:solidFill>
                <a:latin typeface="Arial"/>
              </a:rPr>
              <a:t>REGULACIÓN</a:t>
            </a:r>
          </a:p>
        </p:txBody>
      </p:sp>
      <p:sp>
        <p:nvSpPr>
          <p:cNvPr id="12" name="Texto"/>
          <p:cNvSpPr txBox="1"/>
          <p:nvPr/>
        </p:nvSpPr>
        <p:spPr>
          <a:xfrm>
            <a:off x="3657600" y="3858768"/>
            <a:ext cx="7772400" cy="713232"/>
          </a:xfrm>
          <a:prstGeom prst="rect">
            <a:avLst/>
          </a:prstGeom>
          <a:noFill/>
        </p:spPr>
        <p:txBody>
          <a:bodyPr wrap="square" lIns="0" tIns="0" rIns="0" bIns="0" anchor="ctr">
            <a:noAutofit/>
          </a:bodyPr>
          <a:lstStyle/>
          <a:p>
            <a:pPr algn="l"/>
            <a:r>
              <a:rPr sz="1600" b="0" i="0">
                <a:solidFill>
                  <a:srgbClr val="1B2A4A"/>
                </a:solidFill>
                <a:latin typeface="Calibri"/>
              </a:rPr>
              <a:t>EU AI Act (UE 2024/1689) · Ley 1581/2012 · Circular SIC 002/2024 · Sentencia T-323/24 · CONPES 4144 (política nacional)</a:t>
            </a:r>
          </a:p>
        </p:txBody>
      </p:sp>
      <p:sp>
        <p:nvSpPr>
          <p:cNvPr id="13" name="Tarjeta"/>
          <p:cNvSpPr/>
          <p:nvPr/>
        </p:nvSpPr>
        <p:spPr>
          <a:xfrm>
            <a:off x="548640" y="4645152"/>
            <a:ext cx="11091672" cy="713232"/>
          </a:xfrm>
          <a:prstGeom prst="roundRect">
            <a:avLst>
              <a:gd name="adj" fmla="val 12000"/>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o"/>
          <p:cNvSpPr txBox="1"/>
          <p:nvPr/>
        </p:nvSpPr>
        <p:spPr>
          <a:xfrm>
            <a:off x="777240" y="4645152"/>
            <a:ext cx="2834640" cy="713232"/>
          </a:xfrm>
          <a:prstGeom prst="rect">
            <a:avLst/>
          </a:prstGeom>
          <a:noFill/>
        </p:spPr>
        <p:txBody>
          <a:bodyPr wrap="square" lIns="0" tIns="0" rIns="0" bIns="0" anchor="ctr">
            <a:noAutofit/>
          </a:bodyPr>
          <a:lstStyle/>
          <a:p>
            <a:pPr algn="l"/>
            <a:r>
              <a:rPr sz="1700" b="1" i="0">
                <a:solidFill>
                  <a:srgbClr val="FFFFFF"/>
                </a:solidFill>
                <a:latin typeface="Arial"/>
              </a:rPr>
              <a:t>HERRAMIENTAS Y EVIDENCIA</a:t>
            </a:r>
          </a:p>
        </p:txBody>
      </p:sp>
      <p:sp>
        <p:nvSpPr>
          <p:cNvPr id="15" name="Texto"/>
          <p:cNvSpPr txBox="1"/>
          <p:nvPr/>
        </p:nvSpPr>
        <p:spPr>
          <a:xfrm>
            <a:off x="3657600" y="4645152"/>
            <a:ext cx="7772400" cy="713232"/>
          </a:xfrm>
          <a:prstGeom prst="rect">
            <a:avLst/>
          </a:prstGeom>
          <a:noFill/>
        </p:spPr>
        <p:txBody>
          <a:bodyPr wrap="square" lIns="0" tIns="0" rIns="0" bIns="0" anchor="ctr">
            <a:noAutofit/>
          </a:bodyPr>
          <a:lstStyle/>
          <a:p>
            <a:pPr algn="l"/>
            <a:r>
              <a:rPr sz="1600" b="0" i="0">
                <a:solidFill>
                  <a:srgbClr val="FFFFFF"/>
                </a:solidFill>
                <a:latin typeface="Calibri"/>
              </a:rPr>
              <a:t>Git/GitHub · DVC · MLflow · SHAP · TensorBoard · Fairlearn · Evidently · sistemas de gestión ISO</a:t>
            </a:r>
          </a:p>
        </p:txBody>
      </p:sp>
      <p:sp>
        <p:nvSpPr>
          <p:cNvPr id="16"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Un mismo control, implementado una vez, se evidencia muchas veces ante los distintos marcos.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Siete requisitos de una IA confiable</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MARCO CONCEPTUAL</a:t>
            </a:r>
          </a:p>
        </p:txBody>
      </p:sp>
      <p:sp>
        <p:nvSpPr>
          <p:cNvPr id="4" name="Tarjeta"/>
          <p:cNvSpPr/>
          <p:nvPr/>
        </p:nvSpPr>
        <p:spPr>
          <a:xfrm>
            <a:off x="548640"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Número 1"/>
          <p:cNvSpPr/>
          <p:nvPr/>
        </p:nvSpPr>
        <p:spPr>
          <a:xfrm>
            <a:off x="685800" y="242316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1</a:t>
            </a:r>
          </a:p>
        </p:txBody>
      </p:sp>
      <p:sp>
        <p:nvSpPr>
          <p:cNvPr id="6" name="Texto"/>
          <p:cNvSpPr txBox="1"/>
          <p:nvPr/>
        </p:nvSpPr>
        <p:spPr>
          <a:xfrm>
            <a:off x="1234440" y="2377440"/>
            <a:ext cx="1812798" cy="640080"/>
          </a:xfrm>
          <a:prstGeom prst="rect">
            <a:avLst/>
          </a:prstGeom>
          <a:noFill/>
        </p:spPr>
        <p:txBody>
          <a:bodyPr wrap="square" lIns="0" tIns="0" rIns="0" bIns="0" anchor="ctr">
            <a:noAutofit/>
          </a:bodyPr>
          <a:lstStyle/>
          <a:p>
            <a:pPr algn="l"/>
            <a:r>
              <a:rPr sz="1600" b="1" i="0">
                <a:solidFill>
                  <a:srgbClr val="1B2A4A"/>
                </a:solidFill>
                <a:latin typeface="Calibri"/>
              </a:rPr>
              <a:t>Agencia y supervisión humana</a:t>
            </a:r>
          </a:p>
        </p:txBody>
      </p:sp>
      <p:sp>
        <p:nvSpPr>
          <p:cNvPr id="7" name="Texto"/>
          <p:cNvSpPr txBox="1"/>
          <p:nvPr/>
        </p:nvSpPr>
        <p:spPr>
          <a:xfrm>
            <a:off x="731520" y="3108960"/>
            <a:ext cx="2269998" cy="617220"/>
          </a:xfrm>
          <a:prstGeom prst="rect">
            <a:avLst/>
          </a:prstGeom>
          <a:noFill/>
        </p:spPr>
        <p:txBody>
          <a:bodyPr wrap="square" lIns="0" tIns="0" rIns="0" bIns="0" anchor="t">
            <a:noAutofit/>
          </a:bodyPr>
          <a:lstStyle/>
          <a:p>
            <a:pPr algn="l"/>
            <a:r>
              <a:rPr sz="1500" b="0" i="0">
                <a:solidFill>
                  <a:srgbClr val="5B6472"/>
                </a:solidFill>
                <a:latin typeface="Calibri"/>
              </a:rPr>
              <a:t>La persona decide y puede intervenir</a:t>
            </a:r>
          </a:p>
        </p:txBody>
      </p:sp>
      <p:sp>
        <p:nvSpPr>
          <p:cNvPr id="8" name="Tarjeta"/>
          <p:cNvSpPr/>
          <p:nvPr/>
        </p:nvSpPr>
        <p:spPr>
          <a:xfrm>
            <a:off x="3367278"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Número 2"/>
          <p:cNvSpPr/>
          <p:nvPr/>
        </p:nvSpPr>
        <p:spPr>
          <a:xfrm>
            <a:off x="3504438" y="242316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2</a:t>
            </a:r>
          </a:p>
        </p:txBody>
      </p:sp>
      <p:sp>
        <p:nvSpPr>
          <p:cNvPr id="10" name="Texto"/>
          <p:cNvSpPr txBox="1"/>
          <p:nvPr/>
        </p:nvSpPr>
        <p:spPr>
          <a:xfrm>
            <a:off x="4053078" y="2377440"/>
            <a:ext cx="1812798" cy="640080"/>
          </a:xfrm>
          <a:prstGeom prst="rect">
            <a:avLst/>
          </a:prstGeom>
          <a:noFill/>
        </p:spPr>
        <p:txBody>
          <a:bodyPr wrap="square" lIns="0" tIns="0" rIns="0" bIns="0" anchor="ctr">
            <a:noAutofit/>
          </a:bodyPr>
          <a:lstStyle/>
          <a:p>
            <a:pPr algn="l"/>
            <a:r>
              <a:rPr sz="1600" b="1" i="0">
                <a:solidFill>
                  <a:srgbClr val="1B2A4A"/>
                </a:solidFill>
                <a:latin typeface="Calibri"/>
              </a:rPr>
              <a:t>Solidez técnica y seguridad</a:t>
            </a:r>
          </a:p>
        </p:txBody>
      </p:sp>
      <p:sp>
        <p:nvSpPr>
          <p:cNvPr id="11" name="Texto"/>
          <p:cNvSpPr txBox="1"/>
          <p:nvPr/>
        </p:nvSpPr>
        <p:spPr>
          <a:xfrm>
            <a:off x="3550158" y="3108960"/>
            <a:ext cx="2269998" cy="617220"/>
          </a:xfrm>
          <a:prstGeom prst="rect">
            <a:avLst/>
          </a:prstGeom>
          <a:noFill/>
        </p:spPr>
        <p:txBody>
          <a:bodyPr wrap="square" lIns="0" tIns="0" rIns="0" bIns="0" anchor="t">
            <a:noAutofit/>
          </a:bodyPr>
          <a:lstStyle/>
          <a:p>
            <a:pPr algn="l"/>
            <a:r>
              <a:rPr sz="1500" b="0" i="0">
                <a:solidFill>
                  <a:srgbClr val="5B6472"/>
                </a:solidFill>
                <a:latin typeface="Calibri"/>
              </a:rPr>
              <a:t>Resiliencia ante fallos y ataques</a:t>
            </a:r>
          </a:p>
        </p:txBody>
      </p:sp>
      <p:sp>
        <p:nvSpPr>
          <p:cNvPr id="12" name="Tarjeta"/>
          <p:cNvSpPr/>
          <p:nvPr/>
        </p:nvSpPr>
        <p:spPr>
          <a:xfrm>
            <a:off x="6185916"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Número 3"/>
          <p:cNvSpPr/>
          <p:nvPr/>
        </p:nvSpPr>
        <p:spPr>
          <a:xfrm>
            <a:off x="6323076" y="242316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3</a:t>
            </a:r>
          </a:p>
        </p:txBody>
      </p:sp>
      <p:sp>
        <p:nvSpPr>
          <p:cNvPr id="14" name="Texto"/>
          <p:cNvSpPr txBox="1"/>
          <p:nvPr/>
        </p:nvSpPr>
        <p:spPr>
          <a:xfrm>
            <a:off x="6871716" y="2377440"/>
            <a:ext cx="1812798" cy="640080"/>
          </a:xfrm>
          <a:prstGeom prst="rect">
            <a:avLst/>
          </a:prstGeom>
          <a:noFill/>
        </p:spPr>
        <p:txBody>
          <a:bodyPr wrap="square" lIns="0" tIns="0" rIns="0" bIns="0" anchor="ctr">
            <a:noAutofit/>
          </a:bodyPr>
          <a:lstStyle/>
          <a:p>
            <a:pPr algn="l"/>
            <a:r>
              <a:rPr sz="1600" b="1" i="0">
                <a:solidFill>
                  <a:srgbClr val="1B2A4A"/>
                </a:solidFill>
                <a:latin typeface="Calibri"/>
              </a:rPr>
              <a:t>Privacidad y gobernanza de datos</a:t>
            </a:r>
          </a:p>
        </p:txBody>
      </p:sp>
      <p:sp>
        <p:nvSpPr>
          <p:cNvPr id="15" name="Texto"/>
          <p:cNvSpPr txBox="1"/>
          <p:nvPr/>
        </p:nvSpPr>
        <p:spPr>
          <a:xfrm>
            <a:off x="6368796" y="3108960"/>
            <a:ext cx="2269998" cy="617220"/>
          </a:xfrm>
          <a:prstGeom prst="rect">
            <a:avLst/>
          </a:prstGeom>
          <a:noFill/>
        </p:spPr>
        <p:txBody>
          <a:bodyPr wrap="square" lIns="0" tIns="0" rIns="0" bIns="0" anchor="t">
            <a:noAutofit/>
          </a:bodyPr>
          <a:lstStyle/>
          <a:p>
            <a:pPr algn="l"/>
            <a:r>
              <a:rPr sz="1500" b="0" i="0">
                <a:solidFill>
                  <a:srgbClr val="5B6472"/>
                </a:solidFill>
                <a:latin typeface="Calibri"/>
              </a:rPr>
              <a:t>Calidad, acceso y protección</a:t>
            </a:r>
          </a:p>
        </p:txBody>
      </p:sp>
      <p:sp>
        <p:nvSpPr>
          <p:cNvPr id="16" name="Tarjeta"/>
          <p:cNvSpPr/>
          <p:nvPr/>
        </p:nvSpPr>
        <p:spPr>
          <a:xfrm>
            <a:off x="9004554"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úmero 4"/>
          <p:cNvSpPr/>
          <p:nvPr/>
        </p:nvSpPr>
        <p:spPr>
          <a:xfrm>
            <a:off x="9141714" y="242316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4</a:t>
            </a:r>
          </a:p>
        </p:txBody>
      </p:sp>
      <p:sp>
        <p:nvSpPr>
          <p:cNvPr id="18" name="Texto"/>
          <p:cNvSpPr txBox="1"/>
          <p:nvPr/>
        </p:nvSpPr>
        <p:spPr>
          <a:xfrm>
            <a:off x="9690354" y="2377440"/>
            <a:ext cx="1812798" cy="640080"/>
          </a:xfrm>
          <a:prstGeom prst="rect">
            <a:avLst/>
          </a:prstGeom>
          <a:noFill/>
        </p:spPr>
        <p:txBody>
          <a:bodyPr wrap="square" lIns="0" tIns="0" rIns="0" bIns="0" anchor="ctr">
            <a:noAutofit/>
          </a:bodyPr>
          <a:lstStyle/>
          <a:p>
            <a:pPr algn="l"/>
            <a:r>
              <a:rPr sz="1600" b="1" i="0">
                <a:solidFill>
                  <a:srgbClr val="1B2A4A"/>
                </a:solidFill>
                <a:latin typeface="Calibri"/>
              </a:rPr>
              <a:t>Transparencia</a:t>
            </a:r>
          </a:p>
        </p:txBody>
      </p:sp>
      <p:sp>
        <p:nvSpPr>
          <p:cNvPr id="19" name="Texto"/>
          <p:cNvSpPr txBox="1"/>
          <p:nvPr/>
        </p:nvSpPr>
        <p:spPr>
          <a:xfrm>
            <a:off x="9187434" y="3108960"/>
            <a:ext cx="2269998" cy="617220"/>
          </a:xfrm>
          <a:prstGeom prst="rect">
            <a:avLst/>
          </a:prstGeom>
          <a:noFill/>
        </p:spPr>
        <p:txBody>
          <a:bodyPr wrap="square" lIns="0" tIns="0" rIns="0" bIns="0" anchor="t">
            <a:noAutofit/>
          </a:bodyPr>
          <a:lstStyle/>
          <a:p>
            <a:pPr algn="l"/>
            <a:r>
              <a:rPr sz="1500" b="0" i="0">
                <a:solidFill>
                  <a:srgbClr val="5B6472"/>
                </a:solidFill>
                <a:latin typeface="Calibri"/>
              </a:rPr>
              <a:t>Trazabilidad y explicabilidad</a:t>
            </a:r>
          </a:p>
        </p:txBody>
      </p:sp>
      <p:sp>
        <p:nvSpPr>
          <p:cNvPr id="20" name="Tarjeta"/>
          <p:cNvSpPr/>
          <p:nvPr/>
        </p:nvSpPr>
        <p:spPr>
          <a:xfrm>
            <a:off x="548640"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úmero 5"/>
          <p:cNvSpPr/>
          <p:nvPr/>
        </p:nvSpPr>
        <p:spPr>
          <a:xfrm>
            <a:off x="685800" y="409194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5</a:t>
            </a:r>
          </a:p>
        </p:txBody>
      </p:sp>
      <p:sp>
        <p:nvSpPr>
          <p:cNvPr id="22" name="Texto"/>
          <p:cNvSpPr txBox="1"/>
          <p:nvPr/>
        </p:nvSpPr>
        <p:spPr>
          <a:xfrm>
            <a:off x="1234440" y="4046220"/>
            <a:ext cx="1812798" cy="640080"/>
          </a:xfrm>
          <a:prstGeom prst="rect">
            <a:avLst/>
          </a:prstGeom>
          <a:noFill/>
        </p:spPr>
        <p:txBody>
          <a:bodyPr wrap="square" lIns="0" tIns="0" rIns="0" bIns="0" anchor="ctr">
            <a:noAutofit/>
          </a:bodyPr>
          <a:lstStyle/>
          <a:p>
            <a:pPr algn="l"/>
            <a:r>
              <a:rPr sz="1600" b="1" i="0">
                <a:solidFill>
                  <a:srgbClr val="1B2A4A"/>
                </a:solidFill>
                <a:latin typeface="Calibri"/>
              </a:rPr>
              <a:t>Diversidad y no discriminación</a:t>
            </a:r>
          </a:p>
        </p:txBody>
      </p:sp>
      <p:sp>
        <p:nvSpPr>
          <p:cNvPr id="23" name="Texto"/>
          <p:cNvSpPr txBox="1"/>
          <p:nvPr/>
        </p:nvSpPr>
        <p:spPr>
          <a:xfrm>
            <a:off x="731520" y="4777740"/>
            <a:ext cx="2269998" cy="617220"/>
          </a:xfrm>
          <a:prstGeom prst="rect">
            <a:avLst/>
          </a:prstGeom>
          <a:noFill/>
        </p:spPr>
        <p:txBody>
          <a:bodyPr wrap="square" lIns="0" tIns="0" rIns="0" bIns="0" anchor="t">
            <a:noAutofit/>
          </a:bodyPr>
          <a:lstStyle/>
          <a:p>
            <a:pPr algn="l"/>
            <a:r>
              <a:rPr sz="1500" b="0" i="0">
                <a:solidFill>
                  <a:srgbClr val="5B6472"/>
                </a:solidFill>
                <a:latin typeface="Calibri"/>
              </a:rPr>
              <a:t>Equidad en datos y resultados</a:t>
            </a:r>
          </a:p>
        </p:txBody>
      </p:sp>
      <p:sp>
        <p:nvSpPr>
          <p:cNvPr id="24" name="Tarjeta"/>
          <p:cNvSpPr/>
          <p:nvPr/>
        </p:nvSpPr>
        <p:spPr>
          <a:xfrm>
            <a:off x="3367278"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Número 6"/>
          <p:cNvSpPr/>
          <p:nvPr/>
        </p:nvSpPr>
        <p:spPr>
          <a:xfrm>
            <a:off x="3504438" y="409194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6</a:t>
            </a:r>
          </a:p>
        </p:txBody>
      </p:sp>
      <p:sp>
        <p:nvSpPr>
          <p:cNvPr id="26" name="Texto"/>
          <p:cNvSpPr txBox="1"/>
          <p:nvPr/>
        </p:nvSpPr>
        <p:spPr>
          <a:xfrm>
            <a:off x="4053078" y="4046220"/>
            <a:ext cx="1812798" cy="640080"/>
          </a:xfrm>
          <a:prstGeom prst="rect">
            <a:avLst/>
          </a:prstGeom>
          <a:noFill/>
        </p:spPr>
        <p:txBody>
          <a:bodyPr wrap="square" lIns="0" tIns="0" rIns="0" bIns="0" anchor="ctr">
            <a:noAutofit/>
          </a:bodyPr>
          <a:lstStyle/>
          <a:p>
            <a:pPr algn="l"/>
            <a:r>
              <a:rPr sz="1600" b="1" i="0">
                <a:solidFill>
                  <a:srgbClr val="1B2A4A"/>
                </a:solidFill>
                <a:latin typeface="Calibri"/>
              </a:rPr>
              <a:t>Bienestar social y ambiental</a:t>
            </a:r>
          </a:p>
        </p:txBody>
      </p:sp>
      <p:sp>
        <p:nvSpPr>
          <p:cNvPr id="27" name="Texto"/>
          <p:cNvSpPr txBox="1"/>
          <p:nvPr/>
        </p:nvSpPr>
        <p:spPr>
          <a:xfrm>
            <a:off x="3550158" y="4777740"/>
            <a:ext cx="2269998" cy="617220"/>
          </a:xfrm>
          <a:prstGeom prst="rect">
            <a:avLst/>
          </a:prstGeom>
          <a:noFill/>
        </p:spPr>
        <p:txBody>
          <a:bodyPr wrap="square" lIns="0" tIns="0" rIns="0" bIns="0" anchor="t">
            <a:noAutofit/>
          </a:bodyPr>
          <a:lstStyle/>
          <a:p>
            <a:pPr algn="l"/>
            <a:r>
              <a:rPr sz="1500" b="0" i="0">
                <a:solidFill>
                  <a:srgbClr val="5B6472"/>
                </a:solidFill>
                <a:latin typeface="Calibri"/>
              </a:rPr>
              <a:t>Impacto sobre personas y entorno</a:t>
            </a:r>
          </a:p>
        </p:txBody>
      </p:sp>
      <p:sp>
        <p:nvSpPr>
          <p:cNvPr id="28" name="Tarjeta"/>
          <p:cNvSpPr/>
          <p:nvPr/>
        </p:nvSpPr>
        <p:spPr>
          <a:xfrm>
            <a:off x="6185916"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úmero 7"/>
          <p:cNvSpPr/>
          <p:nvPr/>
        </p:nvSpPr>
        <p:spPr>
          <a:xfrm>
            <a:off x="6323076" y="409194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7</a:t>
            </a:r>
          </a:p>
        </p:txBody>
      </p:sp>
      <p:sp>
        <p:nvSpPr>
          <p:cNvPr id="30" name="Texto"/>
          <p:cNvSpPr txBox="1"/>
          <p:nvPr/>
        </p:nvSpPr>
        <p:spPr>
          <a:xfrm>
            <a:off x="6871716" y="4046220"/>
            <a:ext cx="1812798" cy="640080"/>
          </a:xfrm>
          <a:prstGeom prst="rect">
            <a:avLst/>
          </a:prstGeom>
          <a:noFill/>
        </p:spPr>
        <p:txBody>
          <a:bodyPr wrap="square" lIns="0" tIns="0" rIns="0" bIns="0" anchor="ctr">
            <a:noAutofit/>
          </a:bodyPr>
          <a:lstStyle/>
          <a:p>
            <a:pPr algn="l"/>
            <a:r>
              <a:rPr sz="1600" b="1" i="0">
                <a:solidFill>
                  <a:srgbClr val="1B2A4A"/>
                </a:solidFill>
                <a:latin typeface="Calibri"/>
              </a:rPr>
              <a:t>Rendición de cuentas</a:t>
            </a:r>
          </a:p>
        </p:txBody>
      </p:sp>
      <p:sp>
        <p:nvSpPr>
          <p:cNvPr id="31" name="Texto"/>
          <p:cNvSpPr txBox="1"/>
          <p:nvPr/>
        </p:nvSpPr>
        <p:spPr>
          <a:xfrm>
            <a:off x="6368796" y="4777740"/>
            <a:ext cx="2269998" cy="617220"/>
          </a:xfrm>
          <a:prstGeom prst="rect">
            <a:avLst/>
          </a:prstGeom>
          <a:noFill/>
        </p:spPr>
        <p:txBody>
          <a:bodyPr wrap="square" lIns="0" tIns="0" rIns="0" bIns="0" anchor="t">
            <a:noAutofit/>
          </a:bodyPr>
          <a:lstStyle/>
          <a:p>
            <a:pPr algn="l"/>
            <a:r>
              <a:rPr sz="1500" b="0" i="0">
                <a:solidFill>
                  <a:srgbClr val="5B6472"/>
                </a:solidFill>
                <a:latin typeface="Calibri"/>
              </a:rPr>
              <a:t>Responsables y auditoría</a:t>
            </a:r>
          </a:p>
        </p:txBody>
      </p:sp>
      <p:sp>
        <p:nvSpPr>
          <p:cNvPr id="32" name="Tarjeta"/>
          <p:cNvSpPr/>
          <p:nvPr/>
        </p:nvSpPr>
        <p:spPr>
          <a:xfrm>
            <a:off x="9004554" y="3954780"/>
            <a:ext cx="2635758" cy="1485900"/>
          </a:xfrm>
          <a:prstGeom prst="roundRect">
            <a:avLst>
              <a:gd name="adj" fmla="val 6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írculo de ícono"/>
          <p:cNvSpPr/>
          <p:nvPr/>
        </p:nvSpPr>
        <p:spPr>
          <a:xfrm>
            <a:off x="9187434" y="4091940"/>
            <a:ext cx="502920" cy="5029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5" name="Texto"/>
          <p:cNvSpPr txBox="1"/>
          <p:nvPr/>
        </p:nvSpPr>
        <p:spPr>
          <a:xfrm>
            <a:off x="9187434" y="4732020"/>
            <a:ext cx="2269998" cy="662940"/>
          </a:xfrm>
          <a:prstGeom prst="rect">
            <a:avLst/>
          </a:prstGeom>
          <a:solidFill>
            <a:srgbClr val="567B54"/>
          </a:solidFill>
        </p:spPr>
        <p:txBody>
          <a:bodyPr wrap="square" lIns="0" tIns="0" rIns="0" bIns="0" anchor="t">
            <a:noAutofit/>
          </a:bodyPr>
          <a:lstStyle/>
          <a:p>
            <a:pPr algn="l"/>
            <a:r>
              <a:rPr sz="1600" b="1" i="0" dirty="0">
                <a:latin typeface="Calibri"/>
              </a:rPr>
              <a:t>Cada requisito exige evidencia medible.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MVG: cuánta gobernanza es suficiente</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MODELO MVG</a:t>
            </a:r>
          </a:p>
        </p:txBody>
      </p:sp>
      <p:sp>
        <p:nvSpPr>
          <p:cNvPr id="4" name="Tarjeta"/>
          <p:cNvSpPr/>
          <p:nvPr/>
        </p:nvSpPr>
        <p:spPr>
          <a:xfrm>
            <a:off x="548640" y="2286000"/>
            <a:ext cx="7223760" cy="960120"/>
          </a:xfrm>
          <a:prstGeom prst="roundRect">
            <a:avLst>
              <a:gd name="adj" fmla="val 6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5" name="Texto"/>
          <p:cNvSpPr txBox="1"/>
          <p:nvPr/>
        </p:nvSpPr>
        <p:spPr>
          <a:xfrm>
            <a:off x="822960" y="2331720"/>
            <a:ext cx="6675120" cy="320040"/>
          </a:xfrm>
          <a:prstGeom prst="rect">
            <a:avLst/>
          </a:prstGeom>
          <a:noFill/>
        </p:spPr>
        <p:txBody>
          <a:bodyPr wrap="square" lIns="0" tIns="0" rIns="0" bIns="0" anchor="t">
            <a:noAutofit/>
          </a:bodyPr>
          <a:lstStyle/>
          <a:p>
            <a:pPr algn="l"/>
            <a:r>
              <a:rPr sz="1600" b="1" i="0">
                <a:latin typeface="Calibri"/>
              </a:rPr>
              <a:t>TECHO · AGILIDAD PARA INNOVAR</a:t>
            </a:r>
          </a:p>
        </p:txBody>
      </p:sp>
      <p:sp>
        <p:nvSpPr>
          <p:cNvPr id="6" name="Texto"/>
          <p:cNvSpPr txBox="1"/>
          <p:nvPr/>
        </p:nvSpPr>
        <p:spPr>
          <a:xfrm>
            <a:off x="822960" y="2670048"/>
            <a:ext cx="6675120" cy="548640"/>
          </a:xfrm>
          <a:prstGeom prst="rect">
            <a:avLst/>
          </a:prstGeom>
          <a:noFill/>
        </p:spPr>
        <p:txBody>
          <a:bodyPr wrap="square" lIns="0" tIns="0" rIns="0" bIns="0" anchor="t">
            <a:noAutofit/>
          </a:bodyPr>
          <a:lstStyle/>
          <a:p>
            <a:pPr algn="l"/>
            <a:r>
              <a:rPr sz="1600" b="0" i="0">
                <a:latin typeface="Calibri"/>
              </a:rPr>
              <a:t>No todo sistema necesita el mismo control. Se evita la burocracia innecesaria.</a:t>
            </a:r>
          </a:p>
        </p:txBody>
      </p:sp>
      <p:sp>
        <p:nvSpPr>
          <p:cNvPr id="7" name="Tarjeta"/>
          <p:cNvSpPr/>
          <p:nvPr/>
        </p:nvSpPr>
        <p:spPr>
          <a:xfrm>
            <a:off x="548640" y="3383280"/>
            <a:ext cx="7223760" cy="960120"/>
          </a:xfrm>
          <a:prstGeom prst="roundRect">
            <a:avLst>
              <a:gd name="adj" fmla="val 6000"/>
            </a:avLst>
          </a:prstGeom>
          <a:solidFill>
            <a:srgbClr val="2CD9FF"/>
          </a:solidFill>
          <a:ln w="12700">
            <a:solidFill>
              <a:srgbClr val="920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o"/>
          <p:cNvSpPr txBox="1"/>
          <p:nvPr/>
        </p:nvSpPr>
        <p:spPr>
          <a:xfrm>
            <a:off x="822960" y="3429000"/>
            <a:ext cx="6675120" cy="320040"/>
          </a:xfrm>
          <a:prstGeom prst="rect">
            <a:avLst/>
          </a:prstGeom>
          <a:noFill/>
        </p:spPr>
        <p:txBody>
          <a:bodyPr wrap="square" lIns="0" tIns="0" rIns="0" bIns="0" anchor="t">
            <a:noAutofit/>
          </a:bodyPr>
          <a:lstStyle/>
          <a:p>
            <a:pPr algn="l"/>
            <a:r>
              <a:rPr sz="1600" b="1" i="0">
                <a:solidFill>
                  <a:srgbClr val="9200EE"/>
                </a:solidFill>
                <a:latin typeface="Calibri"/>
              </a:rPr>
              <a:t>CALIBRAR SEGÚN EL RIESGO DE CADA SISTEMA  →  TIER</a:t>
            </a:r>
          </a:p>
        </p:txBody>
      </p:sp>
      <p:sp>
        <p:nvSpPr>
          <p:cNvPr id="9" name="Texto"/>
          <p:cNvSpPr txBox="1"/>
          <p:nvPr/>
        </p:nvSpPr>
        <p:spPr>
          <a:xfrm>
            <a:off x="822960" y="3767328"/>
            <a:ext cx="6675120" cy="548640"/>
          </a:xfrm>
          <a:prstGeom prst="rect">
            <a:avLst/>
          </a:prstGeom>
          <a:noFill/>
        </p:spPr>
        <p:txBody>
          <a:bodyPr wrap="square" lIns="0" tIns="0" rIns="0" bIns="0" anchor="t">
            <a:noAutofit/>
          </a:bodyPr>
          <a:lstStyle/>
          <a:p>
            <a:pPr algn="l"/>
            <a:r>
              <a:rPr sz="1600" b="0" i="0">
                <a:solidFill>
                  <a:srgbClr val="1B2A4A"/>
                </a:solidFill>
                <a:latin typeface="Calibri"/>
              </a:rPr>
              <a:t>Un asistente interno de código no se trata igual que un motor de scoring crediticio.</a:t>
            </a:r>
          </a:p>
        </p:txBody>
      </p:sp>
      <p:sp>
        <p:nvSpPr>
          <p:cNvPr id="10" name="Tarjeta"/>
          <p:cNvSpPr/>
          <p:nvPr/>
        </p:nvSpPr>
        <p:spPr>
          <a:xfrm>
            <a:off x="548640" y="4480560"/>
            <a:ext cx="7223760" cy="960120"/>
          </a:xfrm>
          <a:prstGeom prst="roundRect">
            <a:avLst>
              <a:gd name="adj" fmla="val 6000"/>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p:cNvSpPr txBox="1"/>
          <p:nvPr/>
        </p:nvSpPr>
        <p:spPr>
          <a:xfrm>
            <a:off x="822960" y="4526280"/>
            <a:ext cx="6675120" cy="320040"/>
          </a:xfrm>
          <a:prstGeom prst="rect">
            <a:avLst/>
          </a:prstGeom>
          <a:noFill/>
        </p:spPr>
        <p:txBody>
          <a:bodyPr wrap="square" lIns="0" tIns="0" rIns="0" bIns="0" anchor="t">
            <a:noAutofit/>
          </a:bodyPr>
          <a:lstStyle/>
          <a:p>
            <a:pPr algn="l"/>
            <a:r>
              <a:rPr sz="1600" b="1" i="0">
                <a:solidFill>
                  <a:srgbClr val="FFFFFF"/>
                </a:solidFill>
                <a:latin typeface="Calibri"/>
              </a:rPr>
              <a:t>SUELO · CONTROLES NO NEGOCIABLES</a:t>
            </a:r>
          </a:p>
        </p:txBody>
      </p:sp>
      <p:sp>
        <p:nvSpPr>
          <p:cNvPr id="12" name="Texto"/>
          <p:cNvSpPr txBox="1"/>
          <p:nvPr/>
        </p:nvSpPr>
        <p:spPr>
          <a:xfrm>
            <a:off x="822960" y="4864608"/>
            <a:ext cx="6675120" cy="548640"/>
          </a:xfrm>
          <a:prstGeom prst="rect">
            <a:avLst/>
          </a:prstGeom>
          <a:noFill/>
        </p:spPr>
        <p:txBody>
          <a:bodyPr wrap="square" lIns="0" tIns="0" rIns="0" bIns="0" anchor="t">
            <a:noAutofit/>
          </a:bodyPr>
          <a:lstStyle/>
          <a:p>
            <a:pPr algn="l"/>
            <a:r>
              <a:rPr sz="1600" b="0" i="0">
                <a:solidFill>
                  <a:srgbClr val="FFFFFF"/>
                </a:solidFill>
                <a:latin typeface="Calibri"/>
              </a:rPr>
              <a:t>Protección de datos, explicabilidad en decisiones que afectan personas y reportes de riesgo al regulador.</a:t>
            </a:r>
          </a:p>
        </p:txBody>
      </p:sp>
      <p:sp>
        <p:nvSpPr>
          <p:cNvPr id="13" name="Tarjeta"/>
          <p:cNvSpPr/>
          <p:nvPr/>
        </p:nvSpPr>
        <p:spPr>
          <a:xfrm>
            <a:off x="8001000" y="2286000"/>
            <a:ext cx="3639312" cy="315468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o"/>
          <p:cNvSpPr txBox="1"/>
          <p:nvPr/>
        </p:nvSpPr>
        <p:spPr>
          <a:xfrm>
            <a:off x="8275320" y="2468880"/>
            <a:ext cx="3108960" cy="320040"/>
          </a:xfrm>
          <a:prstGeom prst="rect">
            <a:avLst/>
          </a:prstGeom>
          <a:noFill/>
        </p:spPr>
        <p:txBody>
          <a:bodyPr wrap="square" lIns="0" tIns="0" rIns="0" bIns="0" anchor="t">
            <a:noAutofit/>
          </a:bodyPr>
          <a:lstStyle/>
          <a:p>
            <a:pPr algn="l"/>
            <a:r>
              <a:rPr sz="1350" b="1" i="0">
                <a:solidFill>
                  <a:srgbClr val="FFA400"/>
                </a:solidFill>
                <a:latin typeface="Calibri"/>
              </a:rPr>
              <a:t>LA PREGUNTA</a:t>
            </a:r>
          </a:p>
        </p:txBody>
      </p:sp>
      <p:sp>
        <p:nvSpPr>
          <p:cNvPr id="15" name="Texto"/>
          <p:cNvSpPr txBox="1"/>
          <p:nvPr/>
        </p:nvSpPr>
        <p:spPr>
          <a:xfrm>
            <a:off x="8275320" y="2834640"/>
            <a:ext cx="3108960" cy="1554480"/>
          </a:xfrm>
          <a:prstGeom prst="rect">
            <a:avLst/>
          </a:prstGeom>
          <a:noFill/>
        </p:spPr>
        <p:txBody>
          <a:bodyPr wrap="square" lIns="0" tIns="0" rIns="0" bIns="0" anchor="t">
            <a:noAutofit/>
          </a:bodyPr>
          <a:lstStyle/>
          <a:p>
            <a:pPr algn="l"/>
            <a:r>
              <a:rPr sz="2300" b="1" i="0">
                <a:solidFill>
                  <a:srgbClr val="FFFFFF"/>
                </a:solidFill>
                <a:latin typeface="Arial"/>
              </a:rPr>
              <a:t>¿Cuánta gobernanza es suficiente, ni más ni menos?</a:t>
            </a:r>
          </a:p>
        </p:txBody>
      </p:sp>
      <p:sp>
        <p:nvSpPr>
          <p:cNvPr id="16" name="Texto"/>
          <p:cNvSpPr txBox="1"/>
          <p:nvPr/>
        </p:nvSpPr>
        <p:spPr>
          <a:xfrm>
            <a:off x="8275320" y="4754880"/>
            <a:ext cx="3108960" cy="548640"/>
          </a:xfrm>
          <a:prstGeom prst="rect">
            <a:avLst/>
          </a:prstGeom>
          <a:noFill/>
        </p:spPr>
        <p:txBody>
          <a:bodyPr wrap="square" lIns="0" tIns="0" rIns="0" bIns="0" anchor="t">
            <a:noAutofit/>
          </a:bodyPr>
          <a:lstStyle/>
          <a:p>
            <a:pPr algn="l"/>
            <a:r>
              <a:rPr sz="1350" b="0" i="1">
                <a:solidFill>
                  <a:srgbClr val="C9B6E4"/>
                </a:solidFill>
                <a:latin typeface="Calibri"/>
              </a:rPr>
              <a:t>Origen del enfoque: ISHIR y MIT Sloan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Cuatro niveles de gobernanza (tiers)</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MODELO MVG</a:t>
            </a:r>
          </a:p>
        </p:txBody>
      </p:sp>
      <p:sp>
        <p:nvSpPr>
          <p:cNvPr id="4" name="Tarjeta"/>
          <p:cNvSpPr/>
          <p:nvPr/>
        </p:nvSpPr>
        <p:spPr>
          <a:xfrm>
            <a:off x="548640" y="2286000"/>
            <a:ext cx="2635758"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arjeta"/>
          <p:cNvSpPr/>
          <p:nvPr/>
        </p:nvSpPr>
        <p:spPr>
          <a:xfrm>
            <a:off x="548640" y="2286000"/>
            <a:ext cx="2635758" cy="731520"/>
          </a:xfrm>
          <a:prstGeom prst="roundRect">
            <a:avLst>
              <a:gd name="adj" fmla="val 6000"/>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o"/>
          <p:cNvSpPr txBox="1"/>
          <p:nvPr/>
        </p:nvSpPr>
        <p:spPr>
          <a:xfrm>
            <a:off x="685800" y="2340864"/>
            <a:ext cx="2361438" cy="365760"/>
          </a:xfrm>
          <a:prstGeom prst="rect">
            <a:avLst/>
          </a:prstGeom>
          <a:noFill/>
        </p:spPr>
        <p:txBody>
          <a:bodyPr wrap="square" lIns="0" tIns="0" rIns="0" bIns="0" anchor="t">
            <a:noAutofit/>
          </a:bodyPr>
          <a:lstStyle/>
          <a:p>
            <a:pPr algn="l"/>
            <a:r>
              <a:rPr sz="1600" b="1" i="0">
                <a:solidFill>
                  <a:srgbClr val="FFFFFF"/>
                </a:solidFill>
                <a:latin typeface="Calibri"/>
              </a:rPr>
              <a:t>PROHIBIDO</a:t>
            </a:r>
          </a:p>
        </p:txBody>
      </p:sp>
      <p:sp>
        <p:nvSpPr>
          <p:cNvPr id="7" name="Texto"/>
          <p:cNvSpPr txBox="1"/>
          <p:nvPr/>
        </p:nvSpPr>
        <p:spPr>
          <a:xfrm>
            <a:off x="685800" y="2688336"/>
            <a:ext cx="2361438" cy="274320"/>
          </a:xfrm>
          <a:prstGeom prst="rect">
            <a:avLst/>
          </a:prstGeom>
          <a:noFill/>
        </p:spPr>
        <p:txBody>
          <a:bodyPr wrap="square" lIns="0" tIns="0" rIns="0" bIns="0" anchor="t">
            <a:noAutofit/>
          </a:bodyPr>
          <a:lstStyle/>
          <a:p>
            <a:pPr algn="l"/>
            <a:r>
              <a:rPr sz="1350" b="0" i="0">
                <a:solidFill>
                  <a:srgbClr val="FFFFFF"/>
                </a:solidFill>
                <a:latin typeface="Calibri"/>
              </a:rPr>
              <a:t>No se despliega</a:t>
            </a:r>
          </a:p>
        </p:txBody>
      </p:sp>
      <p:sp>
        <p:nvSpPr>
          <p:cNvPr id="8" name="Texto"/>
          <p:cNvSpPr txBox="1"/>
          <p:nvPr/>
        </p:nvSpPr>
        <p:spPr>
          <a:xfrm>
            <a:off x="731520" y="3154680"/>
            <a:ext cx="2269998" cy="228600"/>
          </a:xfrm>
          <a:prstGeom prst="rect">
            <a:avLst/>
          </a:prstGeom>
          <a:noFill/>
        </p:spPr>
        <p:txBody>
          <a:bodyPr wrap="square" lIns="0" tIns="0" rIns="0" bIns="0" anchor="t">
            <a:noAutofit/>
          </a:bodyPr>
          <a:lstStyle/>
          <a:p>
            <a:pPr algn="l"/>
            <a:r>
              <a:rPr sz="1200" b="1" i="0">
                <a:solidFill>
                  <a:srgbClr val="9200EE"/>
                </a:solidFill>
                <a:latin typeface="Calibri"/>
              </a:rPr>
              <a:t>CUÁNDO</a:t>
            </a:r>
          </a:p>
        </p:txBody>
      </p:sp>
      <p:sp>
        <p:nvSpPr>
          <p:cNvPr id="9" name="Texto"/>
          <p:cNvSpPr txBox="1"/>
          <p:nvPr/>
        </p:nvSpPr>
        <p:spPr>
          <a:xfrm>
            <a:off x="731520" y="3401568"/>
            <a:ext cx="2269998" cy="777240"/>
          </a:xfrm>
          <a:prstGeom prst="rect">
            <a:avLst/>
          </a:prstGeom>
          <a:noFill/>
        </p:spPr>
        <p:txBody>
          <a:bodyPr wrap="square" lIns="0" tIns="0" rIns="0" bIns="0" anchor="t">
            <a:noAutofit/>
          </a:bodyPr>
          <a:lstStyle/>
          <a:p>
            <a:pPr algn="l"/>
            <a:r>
              <a:rPr sz="1500" b="0" i="0">
                <a:solidFill>
                  <a:srgbClr val="1B2A4A"/>
                </a:solidFill>
                <a:latin typeface="Calibri"/>
              </a:rPr>
              <a:t>Prácticas manipulativas o scoring social</a:t>
            </a:r>
          </a:p>
        </p:txBody>
      </p:sp>
      <p:sp>
        <p:nvSpPr>
          <p:cNvPr id="10" name="Texto"/>
          <p:cNvSpPr txBox="1"/>
          <p:nvPr/>
        </p:nvSpPr>
        <p:spPr>
          <a:xfrm>
            <a:off x="731520" y="4224528"/>
            <a:ext cx="2269998" cy="228600"/>
          </a:xfrm>
          <a:prstGeom prst="rect">
            <a:avLst/>
          </a:prstGeom>
          <a:noFill/>
        </p:spPr>
        <p:txBody>
          <a:bodyPr wrap="square" lIns="0" tIns="0" rIns="0" bIns="0" anchor="t">
            <a:noAutofit/>
          </a:bodyPr>
          <a:lstStyle/>
          <a:p>
            <a:pPr algn="l"/>
            <a:r>
              <a:rPr sz="1200" b="1" i="0">
                <a:solidFill>
                  <a:srgbClr val="9200EE"/>
                </a:solidFill>
                <a:latin typeface="Calibri"/>
              </a:rPr>
              <a:t>CONTROLES</a:t>
            </a:r>
          </a:p>
        </p:txBody>
      </p:sp>
      <p:sp>
        <p:nvSpPr>
          <p:cNvPr id="11" name="Texto"/>
          <p:cNvSpPr txBox="1"/>
          <p:nvPr/>
        </p:nvSpPr>
        <p:spPr>
          <a:xfrm>
            <a:off x="731520" y="4480560"/>
            <a:ext cx="2269998" cy="914400"/>
          </a:xfrm>
          <a:prstGeom prst="rect">
            <a:avLst/>
          </a:prstGeom>
          <a:noFill/>
        </p:spPr>
        <p:txBody>
          <a:bodyPr wrap="square" lIns="0" tIns="0" rIns="0" bIns="0" anchor="t">
            <a:noAutofit/>
          </a:bodyPr>
          <a:lstStyle/>
          <a:p>
            <a:pPr algn="l"/>
            <a:r>
              <a:rPr sz="1500" b="0" i="0">
                <a:solidFill>
                  <a:srgbClr val="1B2A4A"/>
                </a:solidFill>
                <a:latin typeface="Calibri"/>
              </a:rPr>
              <a:t>No se despliega</a:t>
            </a:r>
          </a:p>
        </p:txBody>
      </p:sp>
      <p:sp>
        <p:nvSpPr>
          <p:cNvPr id="12" name="Tarjeta"/>
          <p:cNvSpPr/>
          <p:nvPr/>
        </p:nvSpPr>
        <p:spPr>
          <a:xfrm>
            <a:off x="3367278" y="2286000"/>
            <a:ext cx="2635758"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arjeta"/>
          <p:cNvSpPr/>
          <p:nvPr/>
        </p:nvSpPr>
        <p:spPr>
          <a:xfrm>
            <a:off x="3367278" y="2286000"/>
            <a:ext cx="2635758" cy="73152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o"/>
          <p:cNvSpPr txBox="1"/>
          <p:nvPr/>
        </p:nvSpPr>
        <p:spPr>
          <a:xfrm>
            <a:off x="3504438" y="2340864"/>
            <a:ext cx="2361438" cy="365760"/>
          </a:xfrm>
          <a:prstGeom prst="rect">
            <a:avLst/>
          </a:prstGeom>
          <a:noFill/>
        </p:spPr>
        <p:txBody>
          <a:bodyPr wrap="square" lIns="0" tIns="0" rIns="0" bIns="0" anchor="t">
            <a:noAutofit/>
          </a:bodyPr>
          <a:lstStyle/>
          <a:p>
            <a:pPr algn="l"/>
            <a:r>
              <a:rPr sz="1600" b="1" i="0">
                <a:solidFill>
                  <a:srgbClr val="FFFFFF"/>
                </a:solidFill>
                <a:latin typeface="Calibri"/>
              </a:rPr>
              <a:t>TIER 1 · MÍNIMO</a:t>
            </a:r>
          </a:p>
        </p:txBody>
      </p:sp>
      <p:sp>
        <p:nvSpPr>
          <p:cNvPr id="15" name="Texto"/>
          <p:cNvSpPr txBox="1"/>
          <p:nvPr/>
        </p:nvSpPr>
        <p:spPr>
          <a:xfrm>
            <a:off x="3504438" y="2688336"/>
            <a:ext cx="2361438" cy="274320"/>
          </a:xfrm>
          <a:prstGeom prst="rect">
            <a:avLst/>
          </a:prstGeom>
          <a:noFill/>
        </p:spPr>
        <p:txBody>
          <a:bodyPr wrap="square" lIns="0" tIns="0" rIns="0" bIns="0" anchor="t">
            <a:noAutofit/>
          </a:bodyPr>
          <a:lstStyle/>
          <a:p>
            <a:pPr algn="l"/>
            <a:r>
              <a:rPr sz="1350" b="0" i="0">
                <a:solidFill>
                  <a:srgbClr val="FFFFFF"/>
                </a:solidFill>
                <a:latin typeface="Calibri"/>
              </a:rPr>
              <a:t>Riesgo bajo</a:t>
            </a:r>
          </a:p>
        </p:txBody>
      </p:sp>
      <p:sp>
        <p:nvSpPr>
          <p:cNvPr id="16" name="Texto"/>
          <p:cNvSpPr txBox="1"/>
          <p:nvPr/>
        </p:nvSpPr>
        <p:spPr>
          <a:xfrm>
            <a:off x="3550158" y="3154680"/>
            <a:ext cx="2269998" cy="228600"/>
          </a:xfrm>
          <a:prstGeom prst="rect">
            <a:avLst/>
          </a:prstGeom>
          <a:noFill/>
        </p:spPr>
        <p:txBody>
          <a:bodyPr wrap="square" lIns="0" tIns="0" rIns="0" bIns="0" anchor="t">
            <a:noAutofit/>
          </a:bodyPr>
          <a:lstStyle/>
          <a:p>
            <a:pPr algn="l"/>
            <a:r>
              <a:rPr sz="1200" b="1" i="0">
                <a:solidFill>
                  <a:srgbClr val="9200EE"/>
                </a:solidFill>
                <a:latin typeface="Calibri"/>
              </a:rPr>
              <a:t>CUÁNDO</a:t>
            </a:r>
          </a:p>
        </p:txBody>
      </p:sp>
      <p:sp>
        <p:nvSpPr>
          <p:cNvPr id="17" name="Texto"/>
          <p:cNvSpPr txBox="1"/>
          <p:nvPr/>
        </p:nvSpPr>
        <p:spPr>
          <a:xfrm>
            <a:off x="3550158" y="3401568"/>
            <a:ext cx="2269998" cy="777240"/>
          </a:xfrm>
          <a:prstGeom prst="rect">
            <a:avLst/>
          </a:prstGeom>
          <a:noFill/>
        </p:spPr>
        <p:txBody>
          <a:bodyPr wrap="square" lIns="0" tIns="0" rIns="0" bIns="0" anchor="t">
            <a:noAutofit/>
          </a:bodyPr>
          <a:lstStyle/>
          <a:p>
            <a:pPr algn="l"/>
            <a:r>
              <a:rPr sz="1500" b="0" i="0">
                <a:solidFill>
                  <a:srgbClr val="1B2A4A"/>
                </a:solidFill>
                <a:latin typeface="Calibri"/>
              </a:rPr>
              <a:t>Uso interno de baja exposición, sin impacto en derechos</a:t>
            </a:r>
          </a:p>
        </p:txBody>
      </p:sp>
      <p:sp>
        <p:nvSpPr>
          <p:cNvPr id="18" name="Texto"/>
          <p:cNvSpPr txBox="1"/>
          <p:nvPr/>
        </p:nvSpPr>
        <p:spPr>
          <a:xfrm>
            <a:off x="3550158" y="4224528"/>
            <a:ext cx="2269998" cy="228600"/>
          </a:xfrm>
          <a:prstGeom prst="rect">
            <a:avLst/>
          </a:prstGeom>
          <a:noFill/>
        </p:spPr>
        <p:txBody>
          <a:bodyPr wrap="square" lIns="0" tIns="0" rIns="0" bIns="0" anchor="t">
            <a:noAutofit/>
          </a:bodyPr>
          <a:lstStyle/>
          <a:p>
            <a:pPr algn="l"/>
            <a:r>
              <a:rPr sz="1200" b="1" i="0">
                <a:solidFill>
                  <a:srgbClr val="9200EE"/>
                </a:solidFill>
                <a:latin typeface="Calibri"/>
              </a:rPr>
              <a:t>CONTROLES</a:t>
            </a:r>
          </a:p>
        </p:txBody>
      </p:sp>
      <p:sp>
        <p:nvSpPr>
          <p:cNvPr id="19" name="Texto"/>
          <p:cNvSpPr txBox="1"/>
          <p:nvPr/>
        </p:nvSpPr>
        <p:spPr>
          <a:xfrm>
            <a:off x="3550158" y="4480560"/>
            <a:ext cx="2269998" cy="914400"/>
          </a:xfrm>
          <a:prstGeom prst="rect">
            <a:avLst/>
          </a:prstGeom>
          <a:noFill/>
        </p:spPr>
        <p:txBody>
          <a:bodyPr wrap="square" lIns="0" tIns="0" rIns="0" bIns="0" anchor="t">
            <a:noAutofit/>
          </a:bodyPr>
          <a:lstStyle/>
          <a:p>
            <a:pPr algn="l"/>
            <a:r>
              <a:rPr sz="1500" b="0" i="0">
                <a:solidFill>
                  <a:srgbClr val="1B2A4A"/>
                </a:solidFill>
                <a:latin typeface="Calibri"/>
              </a:rPr>
              <a:t>Inventario y política de uso aceptable</a:t>
            </a:r>
          </a:p>
        </p:txBody>
      </p:sp>
      <p:sp>
        <p:nvSpPr>
          <p:cNvPr id="20" name="Tarjeta"/>
          <p:cNvSpPr/>
          <p:nvPr/>
        </p:nvSpPr>
        <p:spPr>
          <a:xfrm>
            <a:off x="6185916" y="2286000"/>
            <a:ext cx="2635758"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arjeta"/>
          <p:cNvSpPr/>
          <p:nvPr/>
        </p:nvSpPr>
        <p:spPr>
          <a:xfrm>
            <a:off x="6185916" y="2286000"/>
            <a:ext cx="2635758" cy="731520"/>
          </a:xfrm>
          <a:prstGeom prst="roundRect">
            <a:avLst>
              <a:gd name="adj" fmla="val 6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o"/>
          <p:cNvSpPr txBox="1"/>
          <p:nvPr/>
        </p:nvSpPr>
        <p:spPr>
          <a:xfrm>
            <a:off x="6323076" y="2340864"/>
            <a:ext cx="2361438" cy="365760"/>
          </a:xfrm>
          <a:prstGeom prst="rect">
            <a:avLst/>
          </a:prstGeom>
          <a:noFill/>
        </p:spPr>
        <p:txBody>
          <a:bodyPr wrap="square" lIns="0" tIns="0" rIns="0" bIns="0" anchor="t">
            <a:noAutofit/>
          </a:bodyPr>
          <a:lstStyle/>
          <a:p>
            <a:pPr algn="l"/>
            <a:r>
              <a:rPr sz="1600" b="1" i="0">
                <a:latin typeface="Calibri"/>
              </a:rPr>
              <a:t>TIER 2 · LIMITADO</a:t>
            </a:r>
          </a:p>
        </p:txBody>
      </p:sp>
      <p:sp>
        <p:nvSpPr>
          <p:cNvPr id="23" name="Texto"/>
          <p:cNvSpPr txBox="1"/>
          <p:nvPr/>
        </p:nvSpPr>
        <p:spPr>
          <a:xfrm>
            <a:off x="6323076" y="2688336"/>
            <a:ext cx="2361438" cy="274320"/>
          </a:xfrm>
          <a:prstGeom prst="rect">
            <a:avLst/>
          </a:prstGeom>
          <a:noFill/>
        </p:spPr>
        <p:txBody>
          <a:bodyPr wrap="square" lIns="0" tIns="0" rIns="0" bIns="0" anchor="t">
            <a:noAutofit/>
          </a:bodyPr>
          <a:lstStyle/>
          <a:p>
            <a:pPr algn="l"/>
            <a:r>
              <a:rPr sz="1350" b="0" i="0" dirty="0">
                <a:latin typeface="Calibri"/>
              </a:rPr>
              <a:t>Riesgo moderado</a:t>
            </a:r>
          </a:p>
        </p:txBody>
      </p:sp>
      <p:sp>
        <p:nvSpPr>
          <p:cNvPr id="24" name="Texto"/>
          <p:cNvSpPr txBox="1"/>
          <p:nvPr/>
        </p:nvSpPr>
        <p:spPr>
          <a:xfrm>
            <a:off x="6368796" y="3154680"/>
            <a:ext cx="2269998" cy="228600"/>
          </a:xfrm>
          <a:prstGeom prst="rect">
            <a:avLst/>
          </a:prstGeom>
          <a:noFill/>
        </p:spPr>
        <p:txBody>
          <a:bodyPr wrap="square" lIns="0" tIns="0" rIns="0" bIns="0" anchor="t">
            <a:noAutofit/>
          </a:bodyPr>
          <a:lstStyle/>
          <a:p>
            <a:pPr algn="l"/>
            <a:r>
              <a:rPr sz="1200" b="1" i="0">
                <a:solidFill>
                  <a:srgbClr val="9200EE"/>
                </a:solidFill>
                <a:latin typeface="Calibri"/>
              </a:rPr>
              <a:t>CUÁNDO</a:t>
            </a:r>
          </a:p>
        </p:txBody>
      </p:sp>
      <p:sp>
        <p:nvSpPr>
          <p:cNvPr id="25" name="Texto"/>
          <p:cNvSpPr txBox="1"/>
          <p:nvPr/>
        </p:nvSpPr>
        <p:spPr>
          <a:xfrm>
            <a:off x="6368796" y="3401568"/>
            <a:ext cx="2269998" cy="777240"/>
          </a:xfrm>
          <a:prstGeom prst="rect">
            <a:avLst/>
          </a:prstGeom>
          <a:noFill/>
        </p:spPr>
        <p:txBody>
          <a:bodyPr wrap="square" lIns="0" tIns="0" rIns="0" bIns="0" anchor="t">
            <a:noAutofit/>
          </a:bodyPr>
          <a:lstStyle/>
          <a:p>
            <a:pPr algn="l"/>
            <a:r>
              <a:rPr sz="1500" b="0" i="0">
                <a:solidFill>
                  <a:srgbClr val="1B2A4A"/>
                </a:solidFill>
                <a:latin typeface="Calibri"/>
              </a:rPr>
              <a:t>Interacción con personas o segmentación sin afectar derechos clave</a:t>
            </a:r>
          </a:p>
        </p:txBody>
      </p:sp>
      <p:sp>
        <p:nvSpPr>
          <p:cNvPr id="26" name="Texto"/>
          <p:cNvSpPr txBox="1"/>
          <p:nvPr/>
        </p:nvSpPr>
        <p:spPr>
          <a:xfrm>
            <a:off x="6368796" y="4224528"/>
            <a:ext cx="2269998" cy="228600"/>
          </a:xfrm>
          <a:prstGeom prst="rect">
            <a:avLst/>
          </a:prstGeom>
          <a:noFill/>
        </p:spPr>
        <p:txBody>
          <a:bodyPr wrap="square" lIns="0" tIns="0" rIns="0" bIns="0" anchor="t">
            <a:noAutofit/>
          </a:bodyPr>
          <a:lstStyle/>
          <a:p>
            <a:pPr algn="l"/>
            <a:r>
              <a:rPr sz="1200" b="1" i="0">
                <a:solidFill>
                  <a:srgbClr val="9200EE"/>
                </a:solidFill>
                <a:latin typeface="Calibri"/>
              </a:rPr>
              <a:t>CONTROLES</a:t>
            </a:r>
          </a:p>
        </p:txBody>
      </p:sp>
      <p:sp>
        <p:nvSpPr>
          <p:cNvPr id="27" name="Texto"/>
          <p:cNvSpPr txBox="1"/>
          <p:nvPr/>
        </p:nvSpPr>
        <p:spPr>
          <a:xfrm>
            <a:off x="6368796" y="4480560"/>
            <a:ext cx="2269998" cy="914400"/>
          </a:xfrm>
          <a:prstGeom prst="rect">
            <a:avLst/>
          </a:prstGeom>
          <a:noFill/>
        </p:spPr>
        <p:txBody>
          <a:bodyPr wrap="square" lIns="0" tIns="0" rIns="0" bIns="0" anchor="t">
            <a:noAutofit/>
          </a:bodyPr>
          <a:lstStyle/>
          <a:p>
            <a:pPr algn="l"/>
            <a:r>
              <a:rPr sz="1500" b="0" i="0">
                <a:solidFill>
                  <a:srgbClr val="1B2A4A"/>
                </a:solidFill>
                <a:latin typeface="Calibri"/>
              </a:rPr>
              <a:t>Transparencia: avisar que es IA. Monitoreo básico</a:t>
            </a:r>
          </a:p>
        </p:txBody>
      </p:sp>
      <p:sp>
        <p:nvSpPr>
          <p:cNvPr id="28" name="Tarjeta"/>
          <p:cNvSpPr/>
          <p:nvPr/>
        </p:nvSpPr>
        <p:spPr>
          <a:xfrm>
            <a:off x="9004554" y="2286000"/>
            <a:ext cx="2635758"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arjeta"/>
          <p:cNvSpPr/>
          <p:nvPr/>
        </p:nvSpPr>
        <p:spPr>
          <a:xfrm>
            <a:off x="9004554" y="2286000"/>
            <a:ext cx="2635758" cy="731520"/>
          </a:xfrm>
          <a:prstGeom prst="roundRect">
            <a:avLst>
              <a:gd name="adj" fmla="val 6000"/>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o"/>
          <p:cNvSpPr txBox="1"/>
          <p:nvPr/>
        </p:nvSpPr>
        <p:spPr>
          <a:xfrm>
            <a:off x="9141714" y="2340864"/>
            <a:ext cx="2361438" cy="365760"/>
          </a:xfrm>
          <a:prstGeom prst="rect">
            <a:avLst/>
          </a:prstGeom>
          <a:noFill/>
        </p:spPr>
        <p:txBody>
          <a:bodyPr wrap="square" lIns="0" tIns="0" rIns="0" bIns="0" anchor="t">
            <a:noAutofit/>
          </a:bodyPr>
          <a:lstStyle/>
          <a:p>
            <a:pPr algn="l"/>
            <a:r>
              <a:rPr sz="1600" b="1" i="0">
                <a:solidFill>
                  <a:srgbClr val="FFFFFF"/>
                </a:solidFill>
                <a:latin typeface="Calibri"/>
              </a:rPr>
              <a:t>TIER 3 · ALTO RIESGO</a:t>
            </a:r>
          </a:p>
        </p:txBody>
      </p:sp>
      <p:sp>
        <p:nvSpPr>
          <p:cNvPr id="31" name="Texto"/>
          <p:cNvSpPr txBox="1"/>
          <p:nvPr/>
        </p:nvSpPr>
        <p:spPr>
          <a:xfrm>
            <a:off x="9141714" y="2688336"/>
            <a:ext cx="2361438" cy="274320"/>
          </a:xfrm>
          <a:prstGeom prst="rect">
            <a:avLst/>
          </a:prstGeom>
          <a:noFill/>
        </p:spPr>
        <p:txBody>
          <a:bodyPr wrap="square" lIns="0" tIns="0" rIns="0" bIns="0" anchor="t">
            <a:noAutofit/>
          </a:bodyPr>
          <a:lstStyle/>
          <a:p>
            <a:pPr algn="l"/>
            <a:r>
              <a:rPr sz="1350" b="0" i="0">
                <a:solidFill>
                  <a:srgbClr val="FFFFFF"/>
                </a:solidFill>
                <a:latin typeface="Calibri"/>
              </a:rPr>
              <a:t>Máximo control</a:t>
            </a:r>
          </a:p>
        </p:txBody>
      </p:sp>
      <p:sp>
        <p:nvSpPr>
          <p:cNvPr id="32" name="Texto"/>
          <p:cNvSpPr txBox="1"/>
          <p:nvPr/>
        </p:nvSpPr>
        <p:spPr>
          <a:xfrm>
            <a:off x="9187434" y="3154680"/>
            <a:ext cx="2269998" cy="228600"/>
          </a:xfrm>
          <a:prstGeom prst="rect">
            <a:avLst/>
          </a:prstGeom>
          <a:noFill/>
        </p:spPr>
        <p:txBody>
          <a:bodyPr wrap="square" lIns="0" tIns="0" rIns="0" bIns="0" anchor="t">
            <a:noAutofit/>
          </a:bodyPr>
          <a:lstStyle/>
          <a:p>
            <a:pPr algn="l"/>
            <a:r>
              <a:rPr sz="1200" b="1" i="0">
                <a:solidFill>
                  <a:srgbClr val="9200EE"/>
                </a:solidFill>
                <a:latin typeface="Calibri"/>
              </a:rPr>
              <a:t>CUÁNDO</a:t>
            </a:r>
          </a:p>
        </p:txBody>
      </p:sp>
      <p:sp>
        <p:nvSpPr>
          <p:cNvPr id="33" name="Texto"/>
          <p:cNvSpPr txBox="1"/>
          <p:nvPr/>
        </p:nvSpPr>
        <p:spPr>
          <a:xfrm>
            <a:off x="9187434" y="3401568"/>
            <a:ext cx="2269998" cy="777240"/>
          </a:xfrm>
          <a:prstGeom prst="rect">
            <a:avLst/>
          </a:prstGeom>
          <a:noFill/>
        </p:spPr>
        <p:txBody>
          <a:bodyPr wrap="square" lIns="0" tIns="0" rIns="0" bIns="0" anchor="t">
            <a:noAutofit/>
          </a:bodyPr>
          <a:lstStyle/>
          <a:p>
            <a:pPr algn="l"/>
            <a:r>
              <a:rPr sz="1500" b="0" i="0">
                <a:solidFill>
                  <a:srgbClr val="1B2A4A"/>
                </a:solidFill>
                <a:latin typeface="Calibri"/>
              </a:rPr>
              <a:t>Afecta derechos o acceso a servicios esenciales, como el crédito</a:t>
            </a:r>
          </a:p>
        </p:txBody>
      </p:sp>
      <p:sp>
        <p:nvSpPr>
          <p:cNvPr id="34" name="Texto"/>
          <p:cNvSpPr txBox="1"/>
          <p:nvPr/>
        </p:nvSpPr>
        <p:spPr>
          <a:xfrm>
            <a:off x="9187434" y="4224528"/>
            <a:ext cx="2269998" cy="228600"/>
          </a:xfrm>
          <a:prstGeom prst="rect">
            <a:avLst/>
          </a:prstGeom>
          <a:noFill/>
        </p:spPr>
        <p:txBody>
          <a:bodyPr wrap="square" lIns="0" tIns="0" rIns="0" bIns="0" anchor="t">
            <a:noAutofit/>
          </a:bodyPr>
          <a:lstStyle/>
          <a:p>
            <a:pPr algn="l"/>
            <a:r>
              <a:rPr sz="1200" b="1" i="0">
                <a:solidFill>
                  <a:srgbClr val="9200EE"/>
                </a:solidFill>
                <a:latin typeface="Calibri"/>
              </a:rPr>
              <a:t>CONTROLES</a:t>
            </a:r>
          </a:p>
        </p:txBody>
      </p:sp>
      <p:sp>
        <p:nvSpPr>
          <p:cNvPr id="35" name="Texto"/>
          <p:cNvSpPr txBox="1"/>
          <p:nvPr/>
        </p:nvSpPr>
        <p:spPr>
          <a:xfrm>
            <a:off x="9187434" y="4480560"/>
            <a:ext cx="2269998" cy="914400"/>
          </a:xfrm>
          <a:prstGeom prst="rect">
            <a:avLst/>
          </a:prstGeom>
          <a:noFill/>
        </p:spPr>
        <p:txBody>
          <a:bodyPr wrap="square" lIns="0" tIns="0" rIns="0" bIns="0" anchor="t">
            <a:noAutofit/>
          </a:bodyPr>
          <a:lstStyle/>
          <a:p>
            <a:pPr algn="l"/>
            <a:r>
              <a:rPr sz="1500" b="0" i="0">
                <a:solidFill>
                  <a:srgbClr val="1B2A4A"/>
                </a:solidFill>
                <a:latin typeface="Calibri"/>
              </a:rPr>
              <a:t>Evaluación de impacto, explicabilidad, registros y supervisión humana</a:t>
            </a:r>
          </a:p>
        </p:txBody>
      </p:sp>
      <p:sp>
        <p:nvSpPr>
          <p:cNvPr id="36"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El suelo aplica a todos los tiers; lo que crece con el tier es la profundidad del control (propuesta de referencia).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Proceso MVG en cinco pasos</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MODELO MVG</a:t>
            </a:r>
          </a:p>
        </p:txBody>
      </p:sp>
      <p:sp>
        <p:nvSpPr>
          <p:cNvPr id="4" name="Tarjeta"/>
          <p:cNvSpPr/>
          <p:nvPr/>
        </p:nvSpPr>
        <p:spPr>
          <a:xfrm>
            <a:off x="548640" y="2286000"/>
            <a:ext cx="2130552" cy="237744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Número 1"/>
          <p:cNvSpPr/>
          <p:nvPr/>
        </p:nvSpPr>
        <p:spPr>
          <a:xfrm>
            <a:off x="1385316" y="242316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dirty="0">
                <a:solidFill>
                  <a:srgbClr val="FFFFFF"/>
                </a:solidFill>
                <a:latin typeface="Calibri"/>
              </a:rPr>
              <a:t>1</a:t>
            </a:r>
          </a:p>
        </p:txBody>
      </p:sp>
      <p:sp>
        <p:nvSpPr>
          <p:cNvPr id="6" name="Texto"/>
          <p:cNvSpPr txBox="1"/>
          <p:nvPr/>
        </p:nvSpPr>
        <p:spPr>
          <a:xfrm>
            <a:off x="640080" y="2971800"/>
            <a:ext cx="1947672" cy="320040"/>
          </a:xfrm>
          <a:prstGeom prst="rect">
            <a:avLst/>
          </a:prstGeom>
          <a:noFill/>
        </p:spPr>
        <p:txBody>
          <a:bodyPr wrap="square" lIns="0" tIns="0" rIns="0" bIns="0" anchor="t">
            <a:noAutofit/>
          </a:bodyPr>
          <a:lstStyle/>
          <a:p>
            <a:pPr algn="ctr"/>
            <a:r>
              <a:rPr sz="1700" b="1" i="0">
                <a:solidFill>
                  <a:srgbClr val="1B2A4A"/>
                </a:solidFill>
                <a:latin typeface="Calibri"/>
              </a:rPr>
              <a:t>Inventariar</a:t>
            </a:r>
          </a:p>
        </p:txBody>
      </p:sp>
      <p:sp>
        <p:nvSpPr>
          <p:cNvPr id="7" name="Texto"/>
          <p:cNvSpPr txBox="1"/>
          <p:nvPr/>
        </p:nvSpPr>
        <p:spPr>
          <a:xfrm>
            <a:off x="685800" y="3337560"/>
            <a:ext cx="1856232" cy="1280160"/>
          </a:xfrm>
          <a:prstGeom prst="rect">
            <a:avLst/>
          </a:prstGeom>
          <a:noFill/>
        </p:spPr>
        <p:txBody>
          <a:bodyPr wrap="square" lIns="0" tIns="0" rIns="0" bIns="0" anchor="t">
            <a:noAutofit/>
          </a:bodyPr>
          <a:lstStyle/>
          <a:p>
            <a:pPr algn="ctr"/>
            <a:r>
              <a:rPr sz="1500" b="0" i="0">
                <a:solidFill>
                  <a:srgbClr val="5B6472"/>
                </a:solidFill>
                <a:latin typeface="Calibri"/>
              </a:rPr>
              <a:t>Listar los sistemas de IA, sus dueños, datos y modelos</a:t>
            </a:r>
          </a:p>
        </p:txBody>
      </p:sp>
      <p:sp>
        <p:nvSpPr>
          <p:cNvPr id="8" name="Tarjeta"/>
          <p:cNvSpPr/>
          <p:nvPr/>
        </p:nvSpPr>
        <p:spPr>
          <a:xfrm>
            <a:off x="548640" y="4754880"/>
            <a:ext cx="2130552" cy="640080"/>
          </a:xfrm>
          <a:prstGeom prst="roundRect">
            <a:avLst>
              <a:gd name="adj" fmla="val 1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o"/>
          <p:cNvSpPr txBox="1"/>
          <p:nvPr/>
        </p:nvSpPr>
        <p:spPr>
          <a:xfrm>
            <a:off x="594360" y="4754880"/>
            <a:ext cx="2039112" cy="640080"/>
          </a:xfrm>
          <a:prstGeom prst="rect">
            <a:avLst/>
          </a:prstGeom>
          <a:noFill/>
        </p:spPr>
        <p:txBody>
          <a:bodyPr wrap="square" lIns="0" tIns="0" rIns="0" bIns="0" anchor="ctr">
            <a:noAutofit/>
          </a:bodyPr>
          <a:lstStyle/>
          <a:p>
            <a:pPr algn="ctr"/>
            <a:r>
              <a:rPr sz="1350" b="0" i="0">
                <a:solidFill>
                  <a:srgbClr val="FFFFFF"/>
                </a:solidFill>
                <a:latin typeface="Calibri"/>
              </a:rPr>
              <a:t>ISO: Planificar</a:t>
            </a:r>
          </a:p>
          <a:p>
            <a:pPr algn="ctr"/>
            <a:r>
              <a:rPr sz="1350" b="1" i="0">
                <a:solidFill>
                  <a:srgbClr val="FFA400"/>
                </a:solidFill>
                <a:latin typeface="Calibri"/>
              </a:rPr>
              <a:t>NIST: Map</a:t>
            </a:r>
          </a:p>
        </p:txBody>
      </p:sp>
      <p:sp>
        <p:nvSpPr>
          <p:cNvPr id="10" name="Tarjeta"/>
          <p:cNvSpPr/>
          <p:nvPr/>
        </p:nvSpPr>
        <p:spPr>
          <a:xfrm>
            <a:off x="2788920" y="2286000"/>
            <a:ext cx="2130552" cy="237744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Número 2"/>
          <p:cNvSpPr/>
          <p:nvPr/>
        </p:nvSpPr>
        <p:spPr>
          <a:xfrm>
            <a:off x="3625596" y="2423160"/>
            <a:ext cx="457200" cy="457200"/>
          </a:xfrm>
          <a:prstGeom prst="ellipse">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dirty="0">
                <a:solidFill>
                  <a:srgbClr val="1B2A4A"/>
                </a:solidFill>
                <a:latin typeface="Calibri"/>
              </a:rPr>
              <a:t>2</a:t>
            </a:r>
          </a:p>
        </p:txBody>
      </p:sp>
      <p:sp>
        <p:nvSpPr>
          <p:cNvPr id="12" name="Texto"/>
          <p:cNvSpPr txBox="1"/>
          <p:nvPr/>
        </p:nvSpPr>
        <p:spPr>
          <a:xfrm>
            <a:off x="2880360" y="2971800"/>
            <a:ext cx="1947672" cy="320040"/>
          </a:xfrm>
          <a:prstGeom prst="rect">
            <a:avLst/>
          </a:prstGeom>
          <a:noFill/>
        </p:spPr>
        <p:txBody>
          <a:bodyPr wrap="square" lIns="0" tIns="0" rIns="0" bIns="0" anchor="t">
            <a:noAutofit/>
          </a:bodyPr>
          <a:lstStyle/>
          <a:p>
            <a:pPr algn="ctr"/>
            <a:r>
              <a:rPr sz="1700" b="1" i="0">
                <a:solidFill>
                  <a:srgbClr val="1B2A4A"/>
                </a:solidFill>
                <a:latin typeface="Calibri"/>
              </a:rPr>
              <a:t>Hacer triage</a:t>
            </a:r>
          </a:p>
        </p:txBody>
      </p:sp>
      <p:sp>
        <p:nvSpPr>
          <p:cNvPr id="13" name="Texto"/>
          <p:cNvSpPr txBox="1"/>
          <p:nvPr/>
        </p:nvSpPr>
        <p:spPr>
          <a:xfrm>
            <a:off x="2926080" y="3337560"/>
            <a:ext cx="1856232" cy="1280160"/>
          </a:xfrm>
          <a:prstGeom prst="rect">
            <a:avLst/>
          </a:prstGeom>
          <a:noFill/>
        </p:spPr>
        <p:txBody>
          <a:bodyPr wrap="square" lIns="0" tIns="0" rIns="0" bIns="0" anchor="t">
            <a:noAutofit/>
          </a:bodyPr>
          <a:lstStyle/>
          <a:p>
            <a:pPr algn="ctr"/>
            <a:r>
              <a:rPr sz="1500" b="0" i="0">
                <a:solidFill>
                  <a:srgbClr val="5B6472"/>
                </a:solidFill>
                <a:latin typeface="Calibri"/>
              </a:rPr>
              <a:t>Contrastar cada sistema con el suelo legal y el techo de agilidad</a:t>
            </a:r>
          </a:p>
        </p:txBody>
      </p:sp>
      <p:sp>
        <p:nvSpPr>
          <p:cNvPr id="14" name="Tarjeta"/>
          <p:cNvSpPr/>
          <p:nvPr/>
        </p:nvSpPr>
        <p:spPr>
          <a:xfrm>
            <a:off x="2788920" y="4754880"/>
            <a:ext cx="2130552" cy="640080"/>
          </a:xfrm>
          <a:prstGeom prst="roundRect">
            <a:avLst>
              <a:gd name="adj" fmla="val 1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o"/>
          <p:cNvSpPr txBox="1"/>
          <p:nvPr/>
        </p:nvSpPr>
        <p:spPr>
          <a:xfrm>
            <a:off x="2834640" y="4754880"/>
            <a:ext cx="2039112" cy="640080"/>
          </a:xfrm>
          <a:prstGeom prst="rect">
            <a:avLst/>
          </a:prstGeom>
          <a:noFill/>
        </p:spPr>
        <p:txBody>
          <a:bodyPr wrap="square" lIns="0" tIns="0" rIns="0" bIns="0" anchor="ctr">
            <a:noAutofit/>
          </a:bodyPr>
          <a:lstStyle/>
          <a:p>
            <a:pPr algn="ctr"/>
            <a:r>
              <a:rPr sz="1350" b="0" i="0">
                <a:solidFill>
                  <a:srgbClr val="FFFFFF"/>
                </a:solidFill>
                <a:latin typeface="Calibri"/>
              </a:rPr>
              <a:t>ISO: Planificar</a:t>
            </a:r>
          </a:p>
          <a:p>
            <a:pPr algn="ctr"/>
            <a:r>
              <a:rPr sz="1350" b="1" i="0">
                <a:solidFill>
                  <a:srgbClr val="FFA400"/>
                </a:solidFill>
                <a:latin typeface="Calibri"/>
              </a:rPr>
              <a:t>NIST: Map</a:t>
            </a:r>
          </a:p>
        </p:txBody>
      </p:sp>
      <p:sp>
        <p:nvSpPr>
          <p:cNvPr id="16" name="Tarjeta"/>
          <p:cNvSpPr/>
          <p:nvPr/>
        </p:nvSpPr>
        <p:spPr>
          <a:xfrm>
            <a:off x="5029200" y="2286000"/>
            <a:ext cx="2130552" cy="237744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úmero 3"/>
          <p:cNvSpPr/>
          <p:nvPr/>
        </p:nvSpPr>
        <p:spPr>
          <a:xfrm>
            <a:off x="5865876" y="242316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3</a:t>
            </a:r>
          </a:p>
        </p:txBody>
      </p:sp>
      <p:sp>
        <p:nvSpPr>
          <p:cNvPr id="18" name="Texto"/>
          <p:cNvSpPr txBox="1"/>
          <p:nvPr/>
        </p:nvSpPr>
        <p:spPr>
          <a:xfrm>
            <a:off x="5120640" y="2971800"/>
            <a:ext cx="1947672" cy="320040"/>
          </a:xfrm>
          <a:prstGeom prst="rect">
            <a:avLst/>
          </a:prstGeom>
          <a:noFill/>
        </p:spPr>
        <p:txBody>
          <a:bodyPr wrap="square" lIns="0" tIns="0" rIns="0" bIns="0" anchor="t">
            <a:noAutofit/>
          </a:bodyPr>
          <a:lstStyle/>
          <a:p>
            <a:pPr algn="ctr"/>
            <a:r>
              <a:rPr sz="1700" b="1" i="0">
                <a:solidFill>
                  <a:srgbClr val="1B2A4A"/>
                </a:solidFill>
                <a:latin typeface="Calibri"/>
              </a:rPr>
              <a:t>Asignar tier</a:t>
            </a:r>
          </a:p>
        </p:txBody>
      </p:sp>
      <p:sp>
        <p:nvSpPr>
          <p:cNvPr id="19" name="Texto"/>
          <p:cNvSpPr txBox="1"/>
          <p:nvPr/>
        </p:nvSpPr>
        <p:spPr>
          <a:xfrm>
            <a:off x="5166360" y="3337560"/>
            <a:ext cx="1856232" cy="1280160"/>
          </a:xfrm>
          <a:prstGeom prst="rect">
            <a:avLst/>
          </a:prstGeom>
          <a:noFill/>
        </p:spPr>
        <p:txBody>
          <a:bodyPr wrap="square" lIns="0" tIns="0" rIns="0" bIns="0" anchor="t">
            <a:noAutofit/>
          </a:bodyPr>
          <a:lstStyle/>
          <a:p>
            <a:pPr algn="ctr"/>
            <a:r>
              <a:rPr sz="1500" b="0" i="0">
                <a:solidFill>
                  <a:srgbClr val="5B6472"/>
                </a:solidFill>
                <a:latin typeface="Calibri"/>
              </a:rPr>
              <a:t>Clasificar y registrar la decisión con su norma de respaldo</a:t>
            </a:r>
          </a:p>
        </p:txBody>
      </p:sp>
      <p:sp>
        <p:nvSpPr>
          <p:cNvPr id="20" name="Tarjeta"/>
          <p:cNvSpPr/>
          <p:nvPr/>
        </p:nvSpPr>
        <p:spPr>
          <a:xfrm>
            <a:off x="5029200" y="4754880"/>
            <a:ext cx="2130552" cy="640080"/>
          </a:xfrm>
          <a:prstGeom prst="roundRect">
            <a:avLst>
              <a:gd name="adj" fmla="val 1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o"/>
          <p:cNvSpPr txBox="1"/>
          <p:nvPr/>
        </p:nvSpPr>
        <p:spPr>
          <a:xfrm>
            <a:off x="5074920" y="4754880"/>
            <a:ext cx="2039112" cy="640080"/>
          </a:xfrm>
          <a:prstGeom prst="rect">
            <a:avLst/>
          </a:prstGeom>
          <a:noFill/>
        </p:spPr>
        <p:txBody>
          <a:bodyPr wrap="square" lIns="0" tIns="0" rIns="0" bIns="0" anchor="ctr">
            <a:noAutofit/>
          </a:bodyPr>
          <a:lstStyle/>
          <a:p>
            <a:pPr algn="ctr"/>
            <a:r>
              <a:rPr sz="1350" b="0" i="0">
                <a:solidFill>
                  <a:srgbClr val="FFFFFF"/>
                </a:solidFill>
                <a:latin typeface="Calibri"/>
              </a:rPr>
              <a:t>ISO: Planificar</a:t>
            </a:r>
          </a:p>
          <a:p>
            <a:pPr algn="ctr"/>
            <a:r>
              <a:rPr sz="1350" b="1" i="0">
                <a:solidFill>
                  <a:srgbClr val="FFA400"/>
                </a:solidFill>
                <a:latin typeface="Calibri"/>
              </a:rPr>
              <a:t>NIST: Govern</a:t>
            </a:r>
          </a:p>
        </p:txBody>
      </p:sp>
      <p:sp>
        <p:nvSpPr>
          <p:cNvPr id="22" name="Tarjeta"/>
          <p:cNvSpPr/>
          <p:nvPr/>
        </p:nvSpPr>
        <p:spPr>
          <a:xfrm>
            <a:off x="7269480" y="2286000"/>
            <a:ext cx="2130552" cy="237744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Número 4"/>
          <p:cNvSpPr/>
          <p:nvPr/>
        </p:nvSpPr>
        <p:spPr>
          <a:xfrm>
            <a:off x="8106156" y="2423160"/>
            <a:ext cx="457200" cy="457200"/>
          </a:xfrm>
          <a:prstGeom prst="ellipse">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1B2A4A"/>
                </a:solidFill>
                <a:latin typeface="Calibri"/>
              </a:rPr>
              <a:t>4</a:t>
            </a:r>
          </a:p>
        </p:txBody>
      </p:sp>
      <p:sp>
        <p:nvSpPr>
          <p:cNvPr id="24" name="Texto"/>
          <p:cNvSpPr txBox="1"/>
          <p:nvPr/>
        </p:nvSpPr>
        <p:spPr>
          <a:xfrm>
            <a:off x="7360920" y="2971800"/>
            <a:ext cx="1947672" cy="320040"/>
          </a:xfrm>
          <a:prstGeom prst="rect">
            <a:avLst/>
          </a:prstGeom>
          <a:noFill/>
        </p:spPr>
        <p:txBody>
          <a:bodyPr wrap="square" lIns="0" tIns="0" rIns="0" bIns="0" anchor="t">
            <a:noAutofit/>
          </a:bodyPr>
          <a:lstStyle/>
          <a:p>
            <a:pPr algn="ctr"/>
            <a:r>
              <a:rPr sz="1700" b="1" i="0">
                <a:solidFill>
                  <a:srgbClr val="1B2A4A"/>
                </a:solidFill>
                <a:latin typeface="Calibri"/>
              </a:rPr>
              <a:t>Aplicar controles</a:t>
            </a:r>
          </a:p>
        </p:txBody>
      </p:sp>
      <p:sp>
        <p:nvSpPr>
          <p:cNvPr id="25" name="Texto"/>
          <p:cNvSpPr txBox="1"/>
          <p:nvPr/>
        </p:nvSpPr>
        <p:spPr>
          <a:xfrm>
            <a:off x="7406640" y="3337560"/>
            <a:ext cx="1856232" cy="1280160"/>
          </a:xfrm>
          <a:prstGeom prst="rect">
            <a:avLst/>
          </a:prstGeom>
          <a:noFill/>
        </p:spPr>
        <p:txBody>
          <a:bodyPr wrap="square" lIns="0" tIns="0" rIns="0" bIns="0" anchor="t">
            <a:noAutofit/>
          </a:bodyPr>
          <a:lstStyle/>
          <a:p>
            <a:pPr algn="ctr"/>
            <a:r>
              <a:rPr sz="1500" b="0" i="0">
                <a:solidFill>
                  <a:srgbClr val="5B6472"/>
                </a:solidFill>
                <a:latin typeface="Calibri"/>
              </a:rPr>
              <a:t>Controles proporcionales al tier sobre datos, modelo y despliegue</a:t>
            </a:r>
          </a:p>
        </p:txBody>
      </p:sp>
      <p:sp>
        <p:nvSpPr>
          <p:cNvPr id="26" name="Tarjeta"/>
          <p:cNvSpPr/>
          <p:nvPr/>
        </p:nvSpPr>
        <p:spPr>
          <a:xfrm>
            <a:off x="7269480" y="4754880"/>
            <a:ext cx="2130552" cy="640080"/>
          </a:xfrm>
          <a:prstGeom prst="roundRect">
            <a:avLst>
              <a:gd name="adj" fmla="val 1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o"/>
          <p:cNvSpPr txBox="1"/>
          <p:nvPr/>
        </p:nvSpPr>
        <p:spPr>
          <a:xfrm>
            <a:off x="7315200" y="4754880"/>
            <a:ext cx="2039112" cy="640080"/>
          </a:xfrm>
          <a:prstGeom prst="rect">
            <a:avLst/>
          </a:prstGeom>
          <a:noFill/>
        </p:spPr>
        <p:txBody>
          <a:bodyPr wrap="square" lIns="0" tIns="0" rIns="0" bIns="0" anchor="ctr">
            <a:noAutofit/>
          </a:bodyPr>
          <a:lstStyle/>
          <a:p>
            <a:pPr algn="ctr"/>
            <a:r>
              <a:rPr sz="1350" b="0" i="0">
                <a:solidFill>
                  <a:srgbClr val="FFFFFF"/>
                </a:solidFill>
                <a:latin typeface="Calibri"/>
              </a:rPr>
              <a:t>ISO: Hacer</a:t>
            </a:r>
          </a:p>
          <a:p>
            <a:pPr algn="ctr"/>
            <a:r>
              <a:rPr sz="1350" b="1" i="0">
                <a:solidFill>
                  <a:srgbClr val="FFA400"/>
                </a:solidFill>
                <a:latin typeface="Calibri"/>
              </a:rPr>
              <a:t>NIST: Manage</a:t>
            </a:r>
          </a:p>
        </p:txBody>
      </p:sp>
      <p:sp>
        <p:nvSpPr>
          <p:cNvPr id="28" name="Tarjeta"/>
          <p:cNvSpPr/>
          <p:nvPr/>
        </p:nvSpPr>
        <p:spPr>
          <a:xfrm>
            <a:off x="9509760" y="2286000"/>
            <a:ext cx="2130552" cy="237744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úmero 5"/>
          <p:cNvSpPr/>
          <p:nvPr/>
        </p:nvSpPr>
        <p:spPr>
          <a:xfrm>
            <a:off x="10346436" y="242316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Calibri"/>
              </a:rPr>
              <a:t>5</a:t>
            </a:r>
          </a:p>
        </p:txBody>
      </p:sp>
      <p:sp>
        <p:nvSpPr>
          <p:cNvPr id="30" name="Texto"/>
          <p:cNvSpPr txBox="1"/>
          <p:nvPr/>
        </p:nvSpPr>
        <p:spPr>
          <a:xfrm>
            <a:off x="9601200" y="2971800"/>
            <a:ext cx="1947672" cy="320040"/>
          </a:xfrm>
          <a:prstGeom prst="rect">
            <a:avLst/>
          </a:prstGeom>
          <a:noFill/>
        </p:spPr>
        <p:txBody>
          <a:bodyPr wrap="square" lIns="0" tIns="0" rIns="0" bIns="0" anchor="t">
            <a:noAutofit/>
          </a:bodyPr>
          <a:lstStyle/>
          <a:p>
            <a:pPr algn="ctr"/>
            <a:r>
              <a:rPr sz="1700" b="1" i="0">
                <a:solidFill>
                  <a:srgbClr val="1B2A4A"/>
                </a:solidFill>
                <a:latin typeface="Calibri"/>
              </a:rPr>
              <a:t>Medir y reclasificar</a:t>
            </a:r>
          </a:p>
        </p:txBody>
      </p:sp>
      <p:sp>
        <p:nvSpPr>
          <p:cNvPr id="31" name="Texto"/>
          <p:cNvSpPr txBox="1"/>
          <p:nvPr/>
        </p:nvSpPr>
        <p:spPr>
          <a:xfrm>
            <a:off x="9646920" y="3337560"/>
            <a:ext cx="1856232" cy="1280160"/>
          </a:xfrm>
          <a:prstGeom prst="rect">
            <a:avLst/>
          </a:prstGeom>
          <a:noFill/>
        </p:spPr>
        <p:txBody>
          <a:bodyPr wrap="square" lIns="0" tIns="0" rIns="0" bIns="0" anchor="t">
            <a:noAutofit/>
          </a:bodyPr>
          <a:lstStyle/>
          <a:p>
            <a:pPr algn="ctr"/>
            <a:r>
              <a:rPr sz="1500" b="0" i="0">
                <a:solidFill>
                  <a:srgbClr val="5B6472"/>
                </a:solidFill>
                <a:latin typeface="Calibri"/>
              </a:rPr>
              <a:t>Monitorear, auditar y ajustar el tier si cambia el riesgo</a:t>
            </a:r>
          </a:p>
        </p:txBody>
      </p:sp>
      <p:sp>
        <p:nvSpPr>
          <p:cNvPr id="32" name="Tarjeta"/>
          <p:cNvSpPr/>
          <p:nvPr/>
        </p:nvSpPr>
        <p:spPr>
          <a:xfrm>
            <a:off x="9509760" y="4754880"/>
            <a:ext cx="2130552" cy="640080"/>
          </a:xfrm>
          <a:prstGeom prst="roundRect">
            <a:avLst>
              <a:gd name="adj" fmla="val 1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o"/>
          <p:cNvSpPr txBox="1"/>
          <p:nvPr/>
        </p:nvSpPr>
        <p:spPr>
          <a:xfrm>
            <a:off x="9555480" y="4754880"/>
            <a:ext cx="2039112" cy="640080"/>
          </a:xfrm>
          <a:prstGeom prst="rect">
            <a:avLst/>
          </a:prstGeom>
          <a:noFill/>
        </p:spPr>
        <p:txBody>
          <a:bodyPr wrap="square" lIns="0" tIns="0" rIns="0" bIns="0" anchor="ctr">
            <a:noAutofit/>
          </a:bodyPr>
          <a:lstStyle/>
          <a:p>
            <a:pPr algn="ctr"/>
            <a:r>
              <a:rPr sz="1350" b="0" i="0">
                <a:solidFill>
                  <a:srgbClr val="FFFFFF"/>
                </a:solidFill>
                <a:latin typeface="Calibri"/>
              </a:rPr>
              <a:t>ISO: Verificar · Actuar</a:t>
            </a:r>
          </a:p>
          <a:p>
            <a:pPr algn="ctr"/>
            <a:r>
              <a:rPr sz="1350" b="1" i="0">
                <a:solidFill>
                  <a:srgbClr val="FFA400"/>
                </a:solidFill>
                <a:latin typeface="Calibri"/>
              </a:rPr>
              <a:t>NIST: Measure</a:t>
            </a:r>
          </a:p>
        </p:txBody>
      </p:sp>
      <p:sp>
        <p:nvSpPr>
          <p:cNvPr id="34" name="Texto"/>
          <p:cNvSpPr txBox="1"/>
          <p:nvPr/>
        </p:nvSpPr>
        <p:spPr>
          <a:xfrm>
            <a:off x="548640" y="4572000"/>
            <a:ext cx="11064240" cy="182880"/>
          </a:xfrm>
          <a:prstGeom prst="rect">
            <a:avLst/>
          </a:prstGeom>
          <a:noFill/>
        </p:spPr>
        <p:txBody>
          <a:bodyPr wrap="square" lIns="0" tIns="0" rIns="0" bIns="0" anchor="t">
            <a:noAutofit/>
          </a:bodyPr>
          <a:lstStyle/>
          <a:p>
            <a:pPr algn="l"/>
            <a:endParaRPr/>
          </a:p>
        </p:txBody>
      </p:sp>
      <p:sp>
        <p:nvSpPr>
          <p:cNvPr id="35"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Es un ciclo: un cambio en los datos, el modelo o el uso puede reclasificar el sistema.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Caso ilustrativo: MVG aplicado a 8 sistemas</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MODELO MVG</a:t>
            </a:r>
          </a:p>
        </p:txBody>
      </p:sp>
      <p:sp>
        <p:nvSpPr>
          <p:cNvPr id="4" name="Tarjeta"/>
          <p:cNvSpPr/>
          <p:nvPr/>
        </p:nvSpPr>
        <p:spPr>
          <a:xfrm>
            <a:off x="548640" y="2286000"/>
            <a:ext cx="2130552" cy="457200"/>
          </a:xfrm>
          <a:prstGeom prst="roundRect">
            <a:avLst>
              <a:gd name="adj" fmla="val 30000"/>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500" b="1" i="0">
                <a:solidFill>
                  <a:srgbClr val="FFFFFF"/>
                </a:solidFill>
                <a:latin typeface="Calibri"/>
              </a:rPr>
              <a:t>1 · Ad hoc</a:t>
            </a:r>
          </a:p>
        </p:txBody>
      </p:sp>
      <p:sp>
        <p:nvSpPr>
          <p:cNvPr id="5" name="Tarjeta"/>
          <p:cNvSpPr/>
          <p:nvPr/>
        </p:nvSpPr>
        <p:spPr>
          <a:xfrm>
            <a:off x="2788920" y="2286000"/>
            <a:ext cx="2130552" cy="457200"/>
          </a:xfrm>
          <a:prstGeom prst="roundRect">
            <a:avLst>
              <a:gd name="adj" fmla="val 3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500" b="0" i="0">
                <a:solidFill>
                  <a:srgbClr val="5B6472"/>
                </a:solidFill>
                <a:latin typeface="Calibri"/>
              </a:rPr>
              <a:t>2 · Repetible</a:t>
            </a:r>
          </a:p>
        </p:txBody>
      </p:sp>
      <p:sp>
        <p:nvSpPr>
          <p:cNvPr id="6" name="Tarjeta"/>
          <p:cNvSpPr/>
          <p:nvPr/>
        </p:nvSpPr>
        <p:spPr>
          <a:xfrm>
            <a:off x="5029200" y="2286000"/>
            <a:ext cx="2130552" cy="457200"/>
          </a:xfrm>
          <a:prstGeom prst="roundRect">
            <a:avLst>
              <a:gd name="adj" fmla="val 3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500" b="0" i="0">
                <a:solidFill>
                  <a:srgbClr val="5B6472"/>
                </a:solidFill>
                <a:latin typeface="Calibri"/>
              </a:rPr>
              <a:t>3 · Definido</a:t>
            </a:r>
          </a:p>
        </p:txBody>
      </p:sp>
      <p:sp>
        <p:nvSpPr>
          <p:cNvPr id="7" name="Tarjeta"/>
          <p:cNvSpPr/>
          <p:nvPr/>
        </p:nvSpPr>
        <p:spPr>
          <a:xfrm>
            <a:off x="7269480" y="2286000"/>
            <a:ext cx="2130552" cy="457200"/>
          </a:xfrm>
          <a:prstGeom prst="roundRect">
            <a:avLst>
              <a:gd name="adj" fmla="val 3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500" b="0" i="0">
                <a:solidFill>
                  <a:srgbClr val="5B6472"/>
                </a:solidFill>
                <a:latin typeface="Calibri"/>
              </a:rPr>
              <a:t>4 · Gestionado</a:t>
            </a:r>
          </a:p>
        </p:txBody>
      </p:sp>
      <p:sp>
        <p:nvSpPr>
          <p:cNvPr id="8" name="Tarjeta"/>
          <p:cNvSpPr/>
          <p:nvPr/>
        </p:nvSpPr>
        <p:spPr>
          <a:xfrm>
            <a:off x="9509760" y="2286000"/>
            <a:ext cx="2130552" cy="457200"/>
          </a:xfrm>
          <a:prstGeom prst="roundRect">
            <a:avLst>
              <a:gd name="adj" fmla="val 3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500" b="0" i="0">
                <a:solidFill>
                  <a:srgbClr val="5B6472"/>
                </a:solidFill>
                <a:latin typeface="Calibri"/>
              </a:rPr>
              <a:t>5 · Optimizado</a:t>
            </a:r>
          </a:p>
        </p:txBody>
      </p:sp>
      <p:sp>
        <p:nvSpPr>
          <p:cNvPr id="9" name="Texto"/>
          <p:cNvSpPr txBox="1"/>
          <p:nvPr/>
        </p:nvSpPr>
        <p:spPr>
          <a:xfrm>
            <a:off x="548640" y="2788920"/>
            <a:ext cx="5486400" cy="274320"/>
          </a:xfrm>
          <a:prstGeom prst="rect">
            <a:avLst/>
          </a:prstGeom>
          <a:noFill/>
        </p:spPr>
        <p:txBody>
          <a:bodyPr wrap="square" lIns="0" tIns="0" rIns="0" bIns="0" anchor="t">
            <a:noAutofit/>
          </a:bodyPr>
          <a:lstStyle/>
          <a:p>
            <a:pPr algn="l"/>
            <a:r>
              <a:rPr sz="1350" b="1" i="0">
                <a:solidFill>
                  <a:srgbClr val="9200EE"/>
                </a:solidFill>
                <a:latin typeface="Calibri"/>
              </a:rPr>
              <a:t>Entidad del caso: madurez nivel 1</a:t>
            </a:r>
          </a:p>
        </p:txBody>
      </p:sp>
      <p:sp>
        <p:nvSpPr>
          <p:cNvPr id="10" name="Tarjeta"/>
          <p:cNvSpPr/>
          <p:nvPr/>
        </p:nvSpPr>
        <p:spPr>
          <a:xfrm>
            <a:off x="548640" y="3108960"/>
            <a:ext cx="3648456" cy="23317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arjeta"/>
          <p:cNvSpPr/>
          <p:nvPr/>
        </p:nvSpPr>
        <p:spPr>
          <a:xfrm>
            <a:off x="548640" y="3108960"/>
            <a:ext cx="3648456" cy="41148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o"/>
          <p:cNvSpPr txBox="1"/>
          <p:nvPr/>
        </p:nvSpPr>
        <p:spPr>
          <a:xfrm>
            <a:off x="685800" y="3108960"/>
            <a:ext cx="3383280" cy="411480"/>
          </a:xfrm>
          <a:prstGeom prst="rect">
            <a:avLst/>
          </a:prstGeom>
          <a:noFill/>
        </p:spPr>
        <p:txBody>
          <a:bodyPr wrap="square" lIns="0" tIns="0" rIns="0" bIns="0" anchor="ctr">
            <a:noAutofit/>
          </a:bodyPr>
          <a:lstStyle/>
          <a:p>
            <a:pPr algn="l"/>
            <a:r>
              <a:rPr sz="1600" b="1" i="0">
                <a:solidFill>
                  <a:srgbClr val="FFFFFF"/>
                </a:solidFill>
                <a:latin typeface="Calibri"/>
              </a:rPr>
              <a:t>TIER 1 · MÍNIMO</a:t>
            </a:r>
          </a:p>
        </p:txBody>
      </p:sp>
      <p:sp>
        <p:nvSpPr>
          <p:cNvPr id="13" name="Tarjeta"/>
          <p:cNvSpPr/>
          <p:nvPr/>
        </p:nvSpPr>
        <p:spPr>
          <a:xfrm>
            <a:off x="685800" y="3611880"/>
            <a:ext cx="3374136" cy="38404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500" b="0" i="0">
                <a:solidFill>
                  <a:srgbClr val="1B2A4A"/>
                </a:solidFill>
                <a:latin typeface="Calibri"/>
              </a:rPr>
              <a:t>S2 · Asistente interno GenAI</a:t>
            </a:r>
          </a:p>
        </p:txBody>
      </p:sp>
      <p:sp>
        <p:nvSpPr>
          <p:cNvPr id="14" name="Tarjeta"/>
          <p:cNvSpPr/>
          <p:nvPr/>
        </p:nvSpPr>
        <p:spPr>
          <a:xfrm>
            <a:off x="685800" y="4069080"/>
            <a:ext cx="3374136" cy="38404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500" b="0" i="0">
                <a:solidFill>
                  <a:srgbClr val="1B2A4A"/>
                </a:solidFill>
                <a:latin typeface="Calibri"/>
              </a:rPr>
              <a:t>S5 · Fidelización comercial</a:t>
            </a:r>
          </a:p>
        </p:txBody>
      </p:sp>
      <p:sp>
        <p:nvSpPr>
          <p:cNvPr id="15" name="Tarjeta"/>
          <p:cNvSpPr/>
          <p:nvPr/>
        </p:nvSpPr>
        <p:spPr>
          <a:xfrm>
            <a:off x="4270248" y="3108960"/>
            <a:ext cx="3648456" cy="23317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arjeta"/>
          <p:cNvSpPr/>
          <p:nvPr/>
        </p:nvSpPr>
        <p:spPr>
          <a:xfrm>
            <a:off x="4270248" y="3108960"/>
            <a:ext cx="3648456" cy="411480"/>
          </a:xfrm>
          <a:prstGeom prst="roundRect">
            <a:avLst>
              <a:gd name="adj" fmla="val 6000"/>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o"/>
          <p:cNvSpPr txBox="1"/>
          <p:nvPr/>
        </p:nvSpPr>
        <p:spPr>
          <a:xfrm>
            <a:off x="4407408" y="3108960"/>
            <a:ext cx="3383280" cy="411480"/>
          </a:xfrm>
          <a:prstGeom prst="rect">
            <a:avLst/>
          </a:prstGeom>
          <a:noFill/>
        </p:spPr>
        <p:txBody>
          <a:bodyPr wrap="square" lIns="0" tIns="0" rIns="0" bIns="0" anchor="ctr">
            <a:noAutofit/>
          </a:bodyPr>
          <a:lstStyle/>
          <a:p>
            <a:pPr algn="l"/>
            <a:r>
              <a:rPr sz="1600" b="1" i="0">
                <a:solidFill>
                  <a:srgbClr val="1B2A4A"/>
                </a:solidFill>
                <a:latin typeface="Calibri"/>
              </a:rPr>
              <a:t>TIER 2 · LIMITADO</a:t>
            </a:r>
          </a:p>
        </p:txBody>
      </p:sp>
      <p:sp>
        <p:nvSpPr>
          <p:cNvPr id="18" name="Tarjeta"/>
          <p:cNvSpPr/>
          <p:nvPr/>
        </p:nvSpPr>
        <p:spPr>
          <a:xfrm>
            <a:off x="4407408" y="3611880"/>
            <a:ext cx="3374136" cy="38404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500" b="0" i="0">
                <a:solidFill>
                  <a:srgbClr val="1B2A4A"/>
                </a:solidFill>
                <a:latin typeface="Calibri"/>
              </a:rPr>
              <a:t>S1 · Chatbot de clientes</a:t>
            </a:r>
          </a:p>
        </p:txBody>
      </p:sp>
      <p:sp>
        <p:nvSpPr>
          <p:cNvPr id="19" name="Tarjeta"/>
          <p:cNvSpPr/>
          <p:nvPr/>
        </p:nvSpPr>
        <p:spPr>
          <a:xfrm>
            <a:off x="4407408" y="4069080"/>
            <a:ext cx="3374136" cy="38404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500" b="0" i="0">
                <a:solidFill>
                  <a:srgbClr val="1B2A4A"/>
                </a:solidFill>
                <a:latin typeface="Calibri"/>
              </a:rPr>
              <a:t>S8 · Soporte a decisiones comerciales</a:t>
            </a:r>
          </a:p>
        </p:txBody>
      </p:sp>
      <p:sp>
        <p:nvSpPr>
          <p:cNvPr id="20" name="Tarjeta"/>
          <p:cNvSpPr/>
          <p:nvPr/>
        </p:nvSpPr>
        <p:spPr>
          <a:xfrm>
            <a:off x="7991856" y="3108960"/>
            <a:ext cx="3648456" cy="23317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arjeta"/>
          <p:cNvSpPr/>
          <p:nvPr/>
        </p:nvSpPr>
        <p:spPr>
          <a:xfrm>
            <a:off x="7991856" y="3108960"/>
            <a:ext cx="3648456" cy="411480"/>
          </a:xfrm>
          <a:prstGeom prst="roundRect">
            <a:avLst>
              <a:gd name="adj" fmla="val 6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o"/>
          <p:cNvSpPr txBox="1"/>
          <p:nvPr/>
        </p:nvSpPr>
        <p:spPr>
          <a:xfrm>
            <a:off x="8129016" y="3108960"/>
            <a:ext cx="3383280" cy="411480"/>
          </a:xfrm>
          <a:prstGeom prst="rect">
            <a:avLst/>
          </a:prstGeom>
          <a:solidFill>
            <a:srgbClr val="567B54"/>
          </a:solidFill>
        </p:spPr>
        <p:txBody>
          <a:bodyPr wrap="square" lIns="0" tIns="0" rIns="0" bIns="0" anchor="ctr">
            <a:noAutofit/>
          </a:bodyPr>
          <a:lstStyle/>
          <a:p>
            <a:pPr algn="l"/>
            <a:r>
              <a:rPr sz="1600" b="1" i="0">
                <a:solidFill>
                  <a:srgbClr val="FFFFFF"/>
                </a:solidFill>
                <a:latin typeface="Calibri"/>
              </a:rPr>
              <a:t>TIER 3 · ALTO RIESGO</a:t>
            </a:r>
          </a:p>
        </p:txBody>
      </p:sp>
      <p:sp>
        <p:nvSpPr>
          <p:cNvPr id="23" name="Tarjeta"/>
          <p:cNvSpPr/>
          <p:nvPr/>
        </p:nvSpPr>
        <p:spPr>
          <a:xfrm>
            <a:off x="8129016" y="3611880"/>
            <a:ext cx="3374136" cy="38404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500" b="0" i="0">
                <a:solidFill>
                  <a:srgbClr val="1B2A4A"/>
                </a:solidFill>
                <a:latin typeface="Calibri"/>
              </a:rPr>
              <a:t>S3 · Scoring crediticio (ML)</a:t>
            </a:r>
          </a:p>
        </p:txBody>
      </p:sp>
      <p:sp>
        <p:nvSpPr>
          <p:cNvPr id="24" name="Tarjeta"/>
          <p:cNvSpPr/>
          <p:nvPr/>
        </p:nvSpPr>
        <p:spPr>
          <a:xfrm>
            <a:off x="8129016" y="4069080"/>
            <a:ext cx="3374136" cy="38404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500" b="0" i="0">
                <a:solidFill>
                  <a:srgbClr val="1B2A4A"/>
                </a:solidFill>
                <a:latin typeface="Calibri"/>
              </a:rPr>
              <a:t>S4 · Detección de fraude (ML)</a:t>
            </a:r>
          </a:p>
        </p:txBody>
      </p:sp>
      <p:sp>
        <p:nvSpPr>
          <p:cNvPr id="25" name="Tarjeta"/>
          <p:cNvSpPr/>
          <p:nvPr/>
        </p:nvSpPr>
        <p:spPr>
          <a:xfrm>
            <a:off x="8129016" y="4526280"/>
            <a:ext cx="3374136" cy="38404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500" b="0" i="0">
                <a:solidFill>
                  <a:srgbClr val="1B2A4A"/>
                </a:solidFill>
                <a:latin typeface="Calibri"/>
              </a:rPr>
              <a:t>S6 · Análisis documental de créditos</a:t>
            </a:r>
          </a:p>
        </p:txBody>
      </p:sp>
      <p:sp>
        <p:nvSpPr>
          <p:cNvPr id="26" name="Tarjeta"/>
          <p:cNvSpPr/>
          <p:nvPr/>
        </p:nvSpPr>
        <p:spPr>
          <a:xfrm>
            <a:off x="8129016" y="4983480"/>
            <a:ext cx="3374136" cy="38404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500" b="0" i="0">
                <a:solidFill>
                  <a:srgbClr val="1B2A4A"/>
                </a:solidFill>
                <a:latin typeface="Calibri"/>
              </a:rPr>
              <a:t>S7 · Monitoreo transaccional</a:t>
            </a:r>
          </a:p>
        </p:txBody>
      </p:sp>
      <p:sp>
        <p:nvSpPr>
          <p:cNvPr id="27"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Caso simulado de entidad financiera digital. El tier depende del impacto sobre las personas y del regulador, no de la tecnología.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MVG: del tier al entorno de despliegue</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MODELO MVG</a:t>
            </a:r>
          </a:p>
        </p:txBody>
      </p:sp>
      <p:graphicFrame>
        <p:nvGraphicFramePr>
          <p:cNvPr id="4" name="Tabla"/>
          <p:cNvGraphicFramePr>
            <a:graphicFrameLocks noGrp="1"/>
          </p:cNvGraphicFramePr>
          <p:nvPr>
            <p:extLst>
              <p:ext uri="{D42A27DB-BD31-4B8C-83A1-F6EECF244321}">
                <p14:modId xmlns:p14="http://schemas.microsoft.com/office/powerpoint/2010/main" val="4239163768"/>
              </p:ext>
            </p:extLst>
          </p:nvPr>
        </p:nvGraphicFramePr>
        <p:xfrm>
          <a:off x="548640" y="2286000"/>
          <a:ext cx="11091670" cy="2990088"/>
        </p:xfrm>
        <a:graphic>
          <a:graphicData uri="http://schemas.openxmlformats.org/drawingml/2006/table">
            <a:tbl>
              <a:tblPr firstRow="1">
                <a:tableStyleId>{F2DE63D5-997A-4646-A377-4702673A728D}</a:tableStyleId>
              </a:tblPr>
              <a:tblGrid>
                <a:gridCol w="1556725">
                  <a:extLst>
                    <a:ext uri="{9D8B030D-6E8A-4147-A177-3AD203B41FA5}">
                      <a16:colId xmlns:a16="http://schemas.microsoft.com/office/drawing/2014/main" val="20000"/>
                    </a:ext>
                  </a:extLst>
                </a:gridCol>
                <a:gridCol w="2918861">
                  <a:extLst>
                    <a:ext uri="{9D8B030D-6E8A-4147-A177-3AD203B41FA5}">
                      <a16:colId xmlns:a16="http://schemas.microsoft.com/office/drawing/2014/main" val="20001"/>
                    </a:ext>
                  </a:extLst>
                </a:gridCol>
                <a:gridCol w="2529679">
                  <a:extLst>
                    <a:ext uri="{9D8B030D-6E8A-4147-A177-3AD203B41FA5}">
                      <a16:colId xmlns:a16="http://schemas.microsoft.com/office/drawing/2014/main" val="20002"/>
                    </a:ext>
                  </a:extLst>
                </a:gridCol>
                <a:gridCol w="4086405">
                  <a:extLst>
                    <a:ext uri="{9D8B030D-6E8A-4147-A177-3AD203B41FA5}">
                      <a16:colId xmlns:a16="http://schemas.microsoft.com/office/drawing/2014/main" val="20003"/>
                    </a:ext>
                  </a:extLst>
                </a:gridCol>
              </a:tblGrid>
              <a:tr h="384048">
                <a:tc>
                  <a:txBody>
                    <a:bodyPr/>
                    <a:lstStyle/>
                    <a:p>
                      <a:r>
                        <a:rPr sz="1400" b="1">
                          <a:solidFill>
                            <a:srgbClr val="FFFFFF"/>
                          </a:solidFill>
                        </a:rPr>
                        <a:t>Tier</a:t>
                      </a:r>
                      <a:endParaRPr sz="1400" b="1">
                        <a:solidFill>
                          <a:srgbClr val="FFFFFF"/>
                        </a:solidFill>
                        <a:latin typeface="Calibri"/>
                      </a:endParaRPr>
                    </a:p>
                  </a:txBody>
                  <a:tcPr marL="73152" marR="73152" marT="27432" marB="27432" anchor="ctr"/>
                </a:tc>
                <a:tc>
                  <a:txBody>
                    <a:bodyPr/>
                    <a:lstStyle/>
                    <a:p>
                      <a:r>
                        <a:rPr sz="1400" b="1">
                          <a:solidFill>
                            <a:srgbClr val="FFFFFF"/>
                          </a:solidFill>
                        </a:rPr>
                        <a:t>Dónde se ejecuta</a:t>
                      </a:r>
                      <a:endParaRPr sz="1400" b="1">
                        <a:solidFill>
                          <a:srgbClr val="FFFFFF"/>
                        </a:solidFill>
                        <a:latin typeface="Calibri"/>
                      </a:endParaRPr>
                    </a:p>
                  </a:txBody>
                  <a:tcPr marL="73152" marR="73152" marT="27432" marB="27432" anchor="ctr"/>
                </a:tc>
                <a:tc>
                  <a:txBody>
                    <a:bodyPr/>
                    <a:lstStyle/>
                    <a:p>
                      <a:r>
                        <a:rPr sz="1400" b="1">
                          <a:solidFill>
                            <a:srgbClr val="FFFFFF"/>
                          </a:solidFill>
                        </a:rPr>
                        <a:t>Datos permitidos</a:t>
                      </a:r>
                      <a:endParaRPr sz="1400" b="1">
                        <a:solidFill>
                          <a:srgbClr val="FFFFFF"/>
                        </a:solidFill>
                        <a:latin typeface="Calibri"/>
                      </a:endParaRPr>
                    </a:p>
                  </a:txBody>
                  <a:tcPr marL="73152" marR="73152" marT="27432" marB="27432" anchor="ctr"/>
                </a:tc>
                <a:tc>
                  <a:txBody>
                    <a:bodyPr/>
                    <a:lstStyle/>
                    <a:p>
                      <a:r>
                        <a:rPr sz="1400" b="1">
                          <a:solidFill>
                            <a:srgbClr val="FFFFFF"/>
                          </a:solidFill>
                        </a:rPr>
                        <a:t>Controles de plataforma</a:t>
                      </a:r>
                      <a:endParaRPr sz="1400" b="1">
                        <a:solidFill>
                          <a:srgbClr val="FFFFFF"/>
                        </a:solidFill>
                        <a:latin typeface="Calibri"/>
                      </a:endParaRPr>
                    </a:p>
                  </a:txBody>
                  <a:tcPr marL="73152" marR="73152" marT="27432" marB="27432" anchor="ctr"/>
                </a:tc>
                <a:extLst>
                  <a:ext uri="{0D108BD9-81ED-4DB2-BD59-A6C34878D82A}">
                    <a16:rowId xmlns:a16="http://schemas.microsoft.com/office/drawing/2014/main" val="10000"/>
                  </a:ext>
                </a:extLst>
              </a:tr>
              <a:tr h="868680">
                <a:tc>
                  <a:txBody>
                    <a:bodyPr/>
                    <a:lstStyle/>
                    <a:p>
                      <a:r>
                        <a:rPr sz="1400" b="1">
                          <a:solidFill>
                            <a:srgbClr val="1B2A4A"/>
                          </a:solidFill>
                        </a:rPr>
                        <a:t>Tier 1 · Mínimo</a:t>
                      </a:r>
                      <a:endParaRPr sz="1400" b="1">
                        <a:solidFill>
                          <a:srgbClr val="1B2A4A"/>
                        </a:solidFill>
                        <a:latin typeface="Calibri"/>
                      </a:endParaRPr>
                    </a:p>
                  </a:txBody>
                  <a:tcPr marL="73152" marR="73152" marT="27432" marB="27432" anchor="ctr"/>
                </a:tc>
                <a:tc>
                  <a:txBody>
                    <a:bodyPr/>
                    <a:lstStyle/>
                    <a:p>
                      <a:r>
                        <a:rPr sz="1400" b="0">
                          <a:solidFill>
                            <a:srgbClr val="1B2A4A"/>
                          </a:solidFill>
                        </a:rPr>
                        <a:t>Entorno de uso general aprobado por la organización</a:t>
                      </a:r>
                      <a:endParaRPr sz="1400" b="0">
                        <a:solidFill>
                          <a:srgbClr val="1B2A4A"/>
                        </a:solidFill>
                        <a:latin typeface="Calibri"/>
                      </a:endParaRPr>
                    </a:p>
                  </a:txBody>
                  <a:tcPr marL="73152" marR="73152" marT="27432" marB="27432" anchor="ctr"/>
                </a:tc>
                <a:tc>
                  <a:txBody>
                    <a:bodyPr/>
                    <a:lstStyle/>
                    <a:p>
                      <a:r>
                        <a:rPr sz="1400" b="0">
                          <a:solidFill>
                            <a:srgbClr val="1B2A4A"/>
                          </a:solidFill>
                        </a:rPr>
                        <a:t>No sensibles</a:t>
                      </a:r>
                      <a:endParaRPr sz="1400" b="0">
                        <a:solidFill>
                          <a:srgbClr val="1B2A4A"/>
                        </a:solidFill>
                        <a:latin typeface="Calibri"/>
                      </a:endParaRPr>
                    </a:p>
                  </a:txBody>
                  <a:tcPr marL="73152" marR="73152" marT="27432" marB="27432" anchor="ctr"/>
                </a:tc>
                <a:tc>
                  <a:txBody>
                    <a:bodyPr/>
                    <a:lstStyle/>
                    <a:p>
                      <a:r>
                        <a:rPr sz="1400" b="0">
                          <a:solidFill>
                            <a:srgbClr val="1B2A4A"/>
                          </a:solidFill>
                        </a:rPr>
                        <a:t>Inventario, política de uso aceptable (PUA) y prevención de pérdida de datos (DLP)</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1"/>
                  </a:ext>
                </a:extLst>
              </a:tr>
              <a:tr h="868680">
                <a:tc>
                  <a:txBody>
                    <a:bodyPr/>
                    <a:lstStyle/>
                    <a:p>
                      <a:r>
                        <a:rPr sz="1400" b="1">
                          <a:solidFill>
                            <a:srgbClr val="1B2A4A"/>
                          </a:solidFill>
                        </a:rPr>
                        <a:t>Tier 2 · Limitado</a:t>
                      </a:r>
                      <a:endParaRPr sz="1400" b="1">
                        <a:solidFill>
                          <a:srgbClr val="1B2A4A"/>
                        </a:solidFill>
                        <a:latin typeface="Calibri"/>
                      </a:endParaRPr>
                    </a:p>
                  </a:txBody>
                  <a:tcPr marL="73152" marR="73152" marT="27432" marB="27432" anchor="ctr"/>
                </a:tc>
                <a:tc>
                  <a:txBody>
                    <a:bodyPr/>
                    <a:lstStyle/>
                    <a:p>
                      <a:r>
                        <a:rPr sz="1400" b="0">
                          <a:solidFill>
                            <a:srgbClr val="1B2A4A"/>
                          </a:solidFill>
                        </a:rPr>
                        <a:t>Entorno segmentado o servicio aprobado con contrato</a:t>
                      </a:r>
                      <a:endParaRPr sz="1400" b="0">
                        <a:solidFill>
                          <a:srgbClr val="1B2A4A"/>
                        </a:solidFill>
                        <a:latin typeface="Calibri"/>
                      </a:endParaRPr>
                    </a:p>
                  </a:txBody>
                  <a:tcPr marL="73152" marR="73152" marT="27432" marB="27432" anchor="ctr"/>
                </a:tc>
                <a:tc>
                  <a:txBody>
                    <a:bodyPr/>
                    <a:lstStyle/>
                    <a:p>
                      <a:r>
                        <a:rPr sz="1400" b="0">
                          <a:solidFill>
                            <a:srgbClr val="1B2A4A"/>
                          </a:solidFill>
                        </a:rPr>
                        <a:t>Internos; personales con autorización</a:t>
                      </a:r>
                      <a:endParaRPr sz="1400" b="0">
                        <a:solidFill>
                          <a:srgbClr val="1B2A4A"/>
                        </a:solidFill>
                        <a:latin typeface="Calibri"/>
                      </a:endParaRPr>
                    </a:p>
                  </a:txBody>
                  <a:tcPr marL="73152" marR="73152" marT="27432" marB="27432" anchor="ctr"/>
                </a:tc>
                <a:tc>
                  <a:txBody>
                    <a:bodyPr/>
                    <a:lstStyle/>
                    <a:p>
                      <a:r>
                        <a:rPr sz="1400" b="0">
                          <a:solidFill>
                            <a:srgbClr val="1B2A4A"/>
                          </a:solidFill>
                        </a:rPr>
                        <a:t>Aviso de IA al usuario, registros básicos y monitoreo</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2"/>
                  </a:ext>
                </a:extLst>
              </a:tr>
              <a:tr h="868680">
                <a:tc>
                  <a:txBody>
                    <a:bodyPr/>
                    <a:lstStyle/>
                    <a:p>
                      <a:r>
                        <a:rPr sz="1400" b="1">
                          <a:solidFill>
                            <a:srgbClr val="1B2A4A"/>
                          </a:solidFill>
                        </a:rPr>
                        <a:t>Tier 3 · Alto riesgo</a:t>
                      </a:r>
                      <a:endParaRPr sz="1400" b="1">
                        <a:solidFill>
                          <a:srgbClr val="1B2A4A"/>
                        </a:solidFill>
                        <a:latin typeface="Calibri"/>
                      </a:endParaRPr>
                    </a:p>
                  </a:txBody>
                  <a:tcPr marL="73152" marR="73152" marT="27432" marB="27432" anchor="ctr"/>
                </a:tc>
                <a:tc>
                  <a:txBody>
                    <a:bodyPr/>
                    <a:lstStyle/>
                    <a:p>
                      <a:r>
                        <a:rPr sz="1400" b="0">
                          <a:solidFill>
                            <a:srgbClr val="1B2A4A"/>
                          </a:solidFill>
                        </a:rPr>
                        <a:t>Entorno dedicado y aislado, dentro del perímetro definido</a:t>
                      </a:r>
                      <a:endParaRPr sz="1400" b="0">
                        <a:solidFill>
                          <a:srgbClr val="1B2A4A"/>
                        </a:solidFill>
                        <a:latin typeface="Calibri"/>
                      </a:endParaRPr>
                    </a:p>
                  </a:txBody>
                  <a:tcPr marL="73152" marR="73152" marT="27432" marB="27432" anchor="ctr"/>
                </a:tc>
                <a:tc>
                  <a:txBody>
                    <a:bodyPr/>
                    <a:lstStyle/>
                    <a:p>
                      <a:r>
                        <a:rPr sz="1400" b="0">
                          <a:solidFill>
                            <a:srgbClr val="1B2A4A"/>
                          </a:solidFill>
                        </a:rPr>
                        <a:t>Sensibles y personales, solo dentro del perímetro</a:t>
                      </a:r>
                      <a:endParaRPr sz="1400" b="0">
                        <a:solidFill>
                          <a:srgbClr val="1B2A4A"/>
                        </a:solidFill>
                        <a:latin typeface="Calibri"/>
                      </a:endParaRPr>
                    </a:p>
                  </a:txBody>
                  <a:tcPr marL="73152" marR="73152" marT="27432" marB="27432" anchor="ctr"/>
                </a:tc>
                <a:tc>
                  <a:txBody>
                    <a:bodyPr/>
                    <a:lstStyle/>
                    <a:p>
                      <a:r>
                        <a:rPr sz="1400" b="0" dirty="0">
                          <a:solidFill>
                            <a:srgbClr val="1B2A4A"/>
                          </a:solidFill>
                        </a:rPr>
                        <a:t>RBAC, registro completo, evaluación de impacto, supervisión humana y apagado (</a:t>
                      </a:r>
                      <a:r>
                        <a:rPr sz="1400" b="0" dirty="0" err="1">
                          <a:solidFill>
                            <a:srgbClr val="1B2A4A"/>
                          </a:solidFill>
                        </a:rPr>
                        <a:t>kill</a:t>
                      </a:r>
                      <a:r>
                        <a:rPr sz="1400" b="0" dirty="0">
                          <a:solidFill>
                            <a:srgbClr val="1B2A4A"/>
                          </a:solidFill>
                        </a:rPr>
                        <a:t> switch)</a:t>
                      </a:r>
                      <a:endParaRPr sz="1400" b="0" dirty="0">
                        <a:solidFill>
                          <a:srgbClr val="1B2A4A"/>
                        </a:solidFill>
                        <a:latin typeface="Calibri"/>
                      </a:endParaRPr>
                    </a:p>
                  </a:txBody>
                  <a:tcPr marL="73152" marR="73152" marT="27432" marB="27432" anchor="ctr"/>
                </a:tc>
                <a:extLst>
                  <a:ext uri="{0D108BD9-81ED-4DB2-BD59-A6C34878D82A}">
                    <a16:rowId xmlns:a16="http://schemas.microsoft.com/office/drawing/2014/main" val="10003"/>
                  </a:ext>
                </a:extLst>
              </a:tr>
            </a:tbl>
          </a:graphicData>
        </a:graphic>
      </p:graphicFrame>
      <p:sp>
        <p:nvSpPr>
          <p:cNvPr id="5"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Propuesta de referencia: se ajusta al análisis de riesgos de cada organización y a la ley aplicable.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Ciclo de vida de IA: datos, modelo, despliegue</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CICLO DE VIDA</a:t>
            </a:r>
          </a:p>
        </p:txBody>
      </p:sp>
      <p:sp>
        <p:nvSpPr>
          <p:cNvPr id="4" name="Tarjeta"/>
          <p:cNvSpPr/>
          <p:nvPr/>
        </p:nvSpPr>
        <p:spPr>
          <a:xfrm>
            <a:off x="548640" y="2286000"/>
            <a:ext cx="3575304" cy="3154680"/>
          </a:xfrm>
          <a:prstGeom prst="roundRect">
            <a:avLst>
              <a:gd name="adj" fmla="val 6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777240" y="2514600"/>
            <a:ext cx="594360" cy="5943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bg1"/>
                </a:solidFill>
              </a:rPr>
              <a:t>1</a:t>
            </a:r>
          </a:p>
        </p:txBody>
      </p:sp>
      <p:sp>
        <p:nvSpPr>
          <p:cNvPr id="7" name="Texto"/>
          <p:cNvSpPr txBox="1"/>
          <p:nvPr/>
        </p:nvSpPr>
        <p:spPr>
          <a:xfrm>
            <a:off x="1554480" y="2468880"/>
            <a:ext cx="2386584" cy="365760"/>
          </a:xfrm>
          <a:prstGeom prst="rect">
            <a:avLst/>
          </a:prstGeom>
          <a:noFill/>
        </p:spPr>
        <p:txBody>
          <a:bodyPr wrap="square" lIns="0" tIns="0" rIns="0" bIns="0" anchor="t">
            <a:noAutofit/>
          </a:bodyPr>
          <a:lstStyle/>
          <a:p>
            <a:pPr algn="l"/>
            <a:r>
              <a:rPr sz="2100" b="1" i="0">
                <a:solidFill>
                  <a:srgbClr val="FFFFFF"/>
                </a:solidFill>
                <a:latin typeface="Arial"/>
              </a:rPr>
              <a:t>1 · DATOS</a:t>
            </a:r>
          </a:p>
        </p:txBody>
      </p:sp>
      <p:sp>
        <p:nvSpPr>
          <p:cNvPr id="8" name="Texto"/>
          <p:cNvSpPr txBox="1"/>
          <p:nvPr/>
        </p:nvSpPr>
        <p:spPr>
          <a:xfrm>
            <a:off x="1554480" y="2852928"/>
            <a:ext cx="2386584" cy="320040"/>
          </a:xfrm>
          <a:prstGeom prst="rect">
            <a:avLst/>
          </a:prstGeom>
          <a:noFill/>
        </p:spPr>
        <p:txBody>
          <a:bodyPr wrap="square" lIns="0" tIns="0" rIns="0" bIns="0" anchor="t">
            <a:noAutofit/>
          </a:bodyPr>
          <a:lstStyle/>
          <a:p>
            <a:pPr algn="l"/>
            <a:r>
              <a:rPr sz="1500" b="0" i="1">
                <a:solidFill>
                  <a:srgbClr val="FFFFFF"/>
                </a:solidFill>
                <a:latin typeface="Calibri"/>
              </a:rPr>
              <a:t>¿Son confiables y lícitos?</a:t>
            </a:r>
          </a:p>
        </p:txBody>
      </p:sp>
      <p:sp>
        <p:nvSpPr>
          <p:cNvPr id="9" name="Lista"/>
          <p:cNvSpPr txBox="1"/>
          <p:nvPr/>
        </p:nvSpPr>
        <p:spPr>
          <a:xfrm>
            <a:off x="822959" y="3520440"/>
            <a:ext cx="3026664" cy="1828800"/>
          </a:xfrm>
          <a:prstGeom prst="rect">
            <a:avLst/>
          </a:prstGeom>
          <a:noFill/>
        </p:spPr>
        <p:txBody>
          <a:bodyPr wrap="square" lIns="0" tIns="0" rIns="0" bIns="0">
            <a:noAutofit/>
          </a:bodyPr>
          <a:lstStyle/>
          <a:p>
            <a:pPr marL="182880" indent="-182880">
              <a:spcAft>
                <a:spcPts val="1000"/>
              </a:spcAft>
              <a:buClr>
                <a:srgbClr val="FFFFFF"/>
              </a:buClr>
              <a:buFont typeface="Arial"/>
              <a:buChar char="•"/>
            </a:pPr>
            <a:r>
              <a:rPr sz="1700" b="0">
                <a:solidFill>
                  <a:srgbClr val="FFFFFF"/>
                </a:solidFill>
                <a:latin typeface="Calibri"/>
              </a:rPr>
              <a:t>Procedencia y calidad</a:t>
            </a:r>
          </a:p>
          <a:p>
            <a:pPr marL="182880" indent="-182880">
              <a:spcAft>
                <a:spcPts val="1000"/>
              </a:spcAft>
              <a:buClr>
                <a:srgbClr val="FFFFFF"/>
              </a:buClr>
              <a:buFont typeface="Arial"/>
              <a:buChar char="•"/>
            </a:pPr>
            <a:r>
              <a:rPr sz="1700" b="0">
                <a:solidFill>
                  <a:srgbClr val="FFFFFF"/>
                </a:solidFill>
                <a:latin typeface="Calibri"/>
              </a:rPr>
              <a:t>Base legal y consentimiento</a:t>
            </a:r>
          </a:p>
          <a:p>
            <a:pPr marL="182880" indent="-182880">
              <a:spcAft>
                <a:spcPts val="1000"/>
              </a:spcAft>
              <a:buClr>
                <a:srgbClr val="FFFFFF"/>
              </a:buClr>
              <a:buFont typeface="Arial"/>
              <a:buChar char="•"/>
            </a:pPr>
            <a:r>
              <a:rPr sz="1700" b="0">
                <a:solidFill>
                  <a:srgbClr val="FFFFFF"/>
                </a:solidFill>
                <a:latin typeface="Calibri"/>
              </a:rPr>
              <a:t>Linaje y control de acceso</a:t>
            </a:r>
          </a:p>
        </p:txBody>
      </p:sp>
      <p:sp>
        <p:nvSpPr>
          <p:cNvPr id="10" name="Tarjeta"/>
          <p:cNvSpPr/>
          <p:nvPr/>
        </p:nvSpPr>
        <p:spPr>
          <a:xfrm>
            <a:off x="4306824" y="2286000"/>
            <a:ext cx="3575304" cy="3154680"/>
          </a:xfrm>
          <a:prstGeom prst="roundRect">
            <a:avLst>
              <a:gd name="adj" fmla="val 6000"/>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írculo de ícono"/>
          <p:cNvSpPr/>
          <p:nvPr/>
        </p:nvSpPr>
        <p:spPr>
          <a:xfrm>
            <a:off x="4535424" y="2514600"/>
            <a:ext cx="594360" cy="5943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bg1"/>
                </a:solidFill>
              </a:rPr>
              <a:t>2</a:t>
            </a:r>
          </a:p>
        </p:txBody>
      </p:sp>
      <p:sp>
        <p:nvSpPr>
          <p:cNvPr id="13" name="Texto"/>
          <p:cNvSpPr txBox="1"/>
          <p:nvPr/>
        </p:nvSpPr>
        <p:spPr>
          <a:xfrm>
            <a:off x="5312664" y="2468880"/>
            <a:ext cx="2386584" cy="365760"/>
          </a:xfrm>
          <a:prstGeom prst="rect">
            <a:avLst/>
          </a:prstGeom>
          <a:noFill/>
        </p:spPr>
        <p:txBody>
          <a:bodyPr wrap="square" lIns="0" tIns="0" rIns="0" bIns="0" anchor="t">
            <a:noAutofit/>
          </a:bodyPr>
          <a:lstStyle/>
          <a:p>
            <a:pPr algn="l"/>
            <a:r>
              <a:rPr sz="2100" b="1" i="0">
                <a:solidFill>
                  <a:srgbClr val="1B2A4A"/>
                </a:solidFill>
                <a:latin typeface="Arial"/>
              </a:rPr>
              <a:t>2 · MODELO</a:t>
            </a:r>
          </a:p>
        </p:txBody>
      </p:sp>
      <p:sp>
        <p:nvSpPr>
          <p:cNvPr id="14" name="Texto"/>
          <p:cNvSpPr txBox="1"/>
          <p:nvPr/>
        </p:nvSpPr>
        <p:spPr>
          <a:xfrm>
            <a:off x="5312664" y="2852928"/>
            <a:ext cx="2386584" cy="320040"/>
          </a:xfrm>
          <a:prstGeom prst="rect">
            <a:avLst/>
          </a:prstGeom>
          <a:noFill/>
        </p:spPr>
        <p:txBody>
          <a:bodyPr wrap="square" lIns="0" tIns="0" rIns="0" bIns="0" anchor="t">
            <a:noAutofit/>
          </a:bodyPr>
          <a:lstStyle/>
          <a:p>
            <a:pPr algn="l"/>
            <a:r>
              <a:rPr sz="1500" b="0" i="1">
                <a:solidFill>
                  <a:srgbClr val="1B2A4A"/>
                </a:solidFill>
                <a:latin typeface="Calibri"/>
              </a:rPr>
              <a:t>¿Es robusto, justo y explicable?</a:t>
            </a:r>
          </a:p>
        </p:txBody>
      </p:sp>
      <p:sp>
        <p:nvSpPr>
          <p:cNvPr id="15" name="Lista"/>
          <p:cNvSpPr txBox="1"/>
          <p:nvPr/>
        </p:nvSpPr>
        <p:spPr>
          <a:xfrm>
            <a:off x="4581144" y="3520440"/>
            <a:ext cx="3026664" cy="1828800"/>
          </a:xfrm>
          <a:prstGeom prst="rect">
            <a:avLst/>
          </a:prstGeom>
          <a:noFill/>
        </p:spPr>
        <p:txBody>
          <a:bodyPr wrap="square" lIns="0" tIns="0" rIns="0" bIns="0">
            <a:noAutofit/>
          </a:bodyPr>
          <a:lstStyle/>
          <a:p>
            <a:pPr marL="182880" indent="-182880">
              <a:spcAft>
                <a:spcPts val="1000"/>
              </a:spcAft>
              <a:buClr>
                <a:srgbClr val="1B2A4A"/>
              </a:buClr>
              <a:buFont typeface="Arial"/>
              <a:buChar char="•"/>
            </a:pPr>
            <a:r>
              <a:rPr sz="1700" b="0">
                <a:solidFill>
                  <a:srgbClr val="1B2A4A"/>
                </a:solidFill>
                <a:latin typeface="Calibri"/>
              </a:rPr>
              <a:t>Entrenamiento reproducible</a:t>
            </a:r>
          </a:p>
          <a:p>
            <a:pPr marL="182880" indent="-182880">
              <a:spcAft>
                <a:spcPts val="1000"/>
              </a:spcAft>
              <a:buClr>
                <a:srgbClr val="1B2A4A"/>
              </a:buClr>
              <a:buFont typeface="Arial"/>
              <a:buChar char="•"/>
            </a:pPr>
            <a:r>
              <a:rPr sz="1700" b="0">
                <a:solidFill>
                  <a:srgbClr val="1B2A4A"/>
                </a:solidFill>
                <a:latin typeface="Calibri"/>
              </a:rPr>
              <a:t>Pruebas de sesgo y precisión</a:t>
            </a:r>
          </a:p>
          <a:p>
            <a:pPr marL="182880" indent="-182880">
              <a:spcAft>
                <a:spcPts val="1000"/>
              </a:spcAft>
              <a:buClr>
                <a:srgbClr val="1B2A4A"/>
              </a:buClr>
              <a:buFont typeface="Arial"/>
              <a:buChar char="•"/>
            </a:pPr>
            <a:r>
              <a:rPr sz="1700" b="0">
                <a:solidFill>
                  <a:srgbClr val="1B2A4A"/>
                </a:solidFill>
                <a:latin typeface="Calibri"/>
              </a:rPr>
              <a:t>Aprobación antes de producción</a:t>
            </a:r>
          </a:p>
        </p:txBody>
      </p:sp>
      <p:sp>
        <p:nvSpPr>
          <p:cNvPr id="16" name="Tarjeta"/>
          <p:cNvSpPr/>
          <p:nvPr/>
        </p:nvSpPr>
        <p:spPr>
          <a:xfrm>
            <a:off x="8065008" y="2286000"/>
            <a:ext cx="3575304" cy="315468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írculo de ícono"/>
          <p:cNvSpPr/>
          <p:nvPr/>
        </p:nvSpPr>
        <p:spPr>
          <a:xfrm>
            <a:off x="8293608" y="2514600"/>
            <a:ext cx="594360" cy="5943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bg1"/>
                </a:solidFill>
              </a:rPr>
              <a:t>3</a:t>
            </a:r>
          </a:p>
        </p:txBody>
      </p:sp>
      <p:sp>
        <p:nvSpPr>
          <p:cNvPr id="19" name="Texto"/>
          <p:cNvSpPr txBox="1"/>
          <p:nvPr/>
        </p:nvSpPr>
        <p:spPr>
          <a:xfrm>
            <a:off x="9070848" y="2468880"/>
            <a:ext cx="2386584" cy="365760"/>
          </a:xfrm>
          <a:prstGeom prst="rect">
            <a:avLst/>
          </a:prstGeom>
          <a:noFill/>
        </p:spPr>
        <p:txBody>
          <a:bodyPr wrap="square" lIns="0" tIns="0" rIns="0" bIns="0" anchor="t">
            <a:noAutofit/>
          </a:bodyPr>
          <a:lstStyle/>
          <a:p>
            <a:pPr algn="l"/>
            <a:r>
              <a:rPr sz="2100" b="1" i="0">
                <a:solidFill>
                  <a:srgbClr val="FFFFFF"/>
                </a:solidFill>
                <a:latin typeface="Arial"/>
              </a:rPr>
              <a:t>3 · DESPLIEGUE</a:t>
            </a:r>
          </a:p>
        </p:txBody>
      </p:sp>
      <p:sp>
        <p:nvSpPr>
          <p:cNvPr id="20" name="Texto"/>
          <p:cNvSpPr txBox="1"/>
          <p:nvPr/>
        </p:nvSpPr>
        <p:spPr>
          <a:xfrm>
            <a:off x="9070848" y="2852928"/>
            <a:ext cx="2386584" cy="320040"/>
          </a:xfrm>
          <a:prstGeom prst="rect">
            <a:avLst/>
          </a:prstGeom>
          <a:noFill/>
        </p:spPr>
        <p:txBody>
          <a:bodyPr wrap="square" lIns="0" tIns="0" rIns="0" bIns="0" anchor="t">
            <a:noAutofit/>
          </a:bodyPr>
          <a:lstStyle/>
          <a:p>
            <a:pPr algn="l"/>
            <a:r>
              <a:rPr sz="1500" b="0" i="1">
                <a:solidFill>
                  <a:srgbClr val="FFFFFF"/>
                </a:solidFill>
                <a:latin typeface="Calibri"/>
              </a:rPr>
              <a:t>¿Opera bajo control humano?</a:t>
            </a:r>
          </a:p>
        </p:txBody>
      </p:sp>
      <p:sp>
        <p:nvSpPr>
          <p:cNvPr id="21" name="Lista"/>
          <p:cNvSpPr txBox="1"/>
          <p:nvPr/>
        </p:nvSpPr>
        <p:spPr>
          <a:xfrm>
            <a:off x="8339328" y="3520440"/>
            <a:ext cx="3026664" cy="1828800"/>
          </a:xfrm>
          <a:prstGeom prst="rect">
            <a:avLst/>
          </a:prstGeom>
          <a:noFill/>
        </p:spPr>
        <p:txBody>
          <a:bodyPr wrap="square" lIns="0" tIns="0" rIns="0" bIns="0">
            <a:noAutofit/>
          </a:bodyPr>
          <a:lstStyle/>
          <a:p>
            <a:pPr marL="182880" indent="-182880">
              <a:spcAft>
                <a:spcPts val="1000"/>
              </a:spcAft>
              <a:buClr>
                <a:srgbClr val="FFFFFF"/>
              </a:buClr>
              <a:buFont typeface="Arial"/>
              <a:buChar char="•"/>
            </a:pPr>
            <a:r>
              <a:rPr sz="1700" b="0">
                <a:solidFill>
                  <a:srgbClr val="FFFFFF"/>
                </a:solidFill>
                <a:latin typeface="Calibri"/>
              </a:rPr>
              <a:t>Monitoreo y deriva</a:t>
            </a:r>
          </a:p>
          <a:p>
            <a:pPr marL="182880" indent="-182880">
              <a:spcAft>
                <a:spcPts val="1000"/>
              </a:spcAft>
              <a:buClr>
                <a:srgbClr val="FFFFFF"/>
              </a:buClr>
              <a:buFont typeface="Arial"/>
              <a:buChar char="•"/>
            </a:pPr>
            <a:r>
              <a:rPr sz="1700" b="0">
                <a:solidFill>
                  <a:srgbClr val="FFFFFF"/>
                </a:solidFill>
                <a:latin typeface="Calibri"/>
              </a:rPr>
              <a:t>Registros y auditoría</a:t>
            </a:r>
          </a:p>
          <a:p>
            <a:pPr marL="182880" indent="-182880">
              <a:spcAft>
                <a:spcPts val="1000"/>
              </a:spcAft>
              <a:buClr>
                <a:srgbClr val="FFFFFF"/>
              </a:buClr>
              <a:buFont typeface="Arial"/>
              <a:buChar char="•"/>
            </a:pPr>
            <a:r>
              <a:rPr sz="1700" b="0">
                <a:solidFill>
                  <a:srgbClr val="FFFFFF"/>
                </a:solidFill>
                <a:latin typeface="Calibri"/>
              </a:rPr>
              <a:t>Pausar o apagar el sistema</a:t>
            </a:r>
          </a:p>
        </p:txBody>
      </p:sp>
      <p:sp>
        <p:nvSpPr>
          <p:cNvPr id="22"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Gobernanza transversal: ISO/IEC 42001 + EU AI Act + marco colombiano, aplicados en las tres fases.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Fase 1 · Datos: gobernar desde el origen</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CICLO DE VIDA</a:t>
            </a:r>
          </a:p>
        </p:txBody>
      </p:sp>
      <p:sp>
        <p:nvSpPr>
          <p:cNvPr id="4" name="Tarjeta"/>
          <p:cNvSpPr/>
          <p:nvPr/>
        </p:nvSpPr>
        <p:spPr>
          <a:xfrm>
            <a:off x="548640" y="2286000"/>
            <a:ext cx="4572000"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o"/>
          <p:cNvSpPr txBox="1"/>
          <p:nvPr/>
        </p:nvSpPr>
        <p:spPr>
          <a:xfrm>
            <a:off x="777240" y="2377440"/>
            <a:ext cx="4114800" cy="365760"/>
          </a:xfrm>
          <a:prstGeom prst="rect">
            <a:avLst/>
          </a:prstGeom>
          <a:noFill/>
        </p:spPr>
        <p:txBody>
          <a:bodyPr wrap="square" lIns="0" tIns="0" rIns="0" bIns="0" anchor="t">
            <a:noAutofit/>
          </a:bodyPr>
          <a:lstStyle/>
          <a:p>
            <a:pPr algn="l"/>
            <a:r>
              <a:rPr sz="1700" b="1" i="0" dirty="0">
                <a:solidFill>
                  <a:srgbClr val="567B54"/>
                </a:solidFill>
                <a:latin typeface="Calibri"/>
              </a:rPr>
              <a:t>Cuatro criterios de calidad (ISO/IEC 5259)</a:t>
            </a:r>
          </a:p>
        </p:txBody>
      </p:sp>
      <p:sp>
        <p:nvSpPr>
          <p:cNvPr id="6" name="Tarjeta"/>
          <p:cNvSpPr/>
          <p:nvPr/>
        </p:nvSpPr>
        <p:spPr>
          <a:xfrm>
            <a:off x="777240" y="2880360"/>
            <a:ext cx="1965960" cy="1097280"/>
          </a:xfrm>
          <a:prstGeom prst="roundRect">
            <a:avLst>
              <a:gd name="adj" fmla="val 6000"/>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p:cNvSpPr txBox="1"/>
          <p:nvPr/>
        </p:nvSpPr>
        <p:spPr>
          <a:xfrm>
            <a:off x="886968" y="3017520"/>
            <a:ext cx="1737360" cy="365760"/>
          </a:xfrm>
          <a:prstGeom prst="rect">
            <a:avLst/>
          </a:prstGeom>
          <a:noFill/>
        </p:spPr>
        <p:txBody>
          <a:bodyPr wrap="square" lIns="0" tIns="0" rIns="0" bIns="0" anchor="t">
            <a:noAutofit/>
          </a:bodyPr>
          <a:lstStyle/>
          <a:p>
            <a:pPr algn="l"/>
            <a:r>
              <a:rPr sz="1700" b="1" i="0">
                <a:solidFill>
                  <a:srgbClr val="FFFFFF"/>
                </a:solidFill>
                <a:latin typeface="Calibri"/>
              </a:rPr>
              <a:t>Pertinentes</a:t>
            </a:r>
          </a:p>
        </p:txBody>
      </p:sp>
      <p:sp>
        <p:nvSpPr>
          <p:cNvPr id="8" name="Texto"/>
          <p:cNvSpPr txBox="1"/>
          <p:nvPr/>
        </p:nvSpPr>
        <p:spPr>
          <a:xfrm>
            <a:off x="886968" y="3429000"/>
            <a:ext cx="1737360" cy="457200"/>
          </a:xfrm>
          <a:prstGeom prst="rect">
            <a:avLst/>
          </a:prstGeom>
          <a:noFill/>
        </p:spPr>
        <p:txBody>
          <a:bodyPr wrap="square" lIns="0" tIns="0" rIns="0" bIns="0" anchor="t">
            <a:noAutofit/>
          </a:bodyPr>
          <a:lstStyle/>
          <a:p>
            <a:pPr algn="l"/>
            <a:r>
              <a:rPr sz="1350" b="0" i="0">
                <a:solidFill>
                  <a:srgbClr val="FFFFFF"/>
                </a:solidFill>
                <a:latin typeface="Calibri"/>
              </a:rPr>
              <a:t>Sirven al propósito</a:t>
            </a:r>
          </a:p>
        </p:txBody>
      </p:sp>
      <p:sp>
        <p:nvSpPr>
          <p:cNvPr id="9" name="Tarjeta"/>
          <p:cNvSpPr/>
          <p:nvPr/>
        </p:nvSpPr>
        <p:spPr>
          <a:xfrm>
            <a:off x="2880360" y="2880360"/>
            <a:ext cx="1965960" cy="1097280"/>
          </a:xfrm>
          <a:prstGeom prst="roundRect">
            <a:avLst>
              <a:gd name="adj" fmla="val 6000"/>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p:cNvSpPr txBox="1"/>
          <p:nvPr/>
        </p:nvSpPr>
        <p:spPr>
          <a:xfrm>
            <a:off x="2990088" y="3017520"/>
            <a:ext cx="1737360" cy="365760"/>
          </a:xfrm>
          <a:prstGeom prst="rect">
            <a:avLst/>
          </a:prstGeom>
          <a:noFill/>
        </p:spPr>
        <p:txBody>
          <a:bodyPr wrap="square" lIns="0" tIns="0" rIns="0" bIns="0" anchor="t">
            <a:noAutofit/>
          </a:bodyPr>
          <a:lstStyle/>
          <a:p>
            <a:pPr algn="l"/>
            <a:r>
              <a:rPr sz="1700" b="1" i="0">
                <a:solidFill>
                  <a:srgbClr val="1B2A4A"/>
                </a:solidFill>
                <a:latin typeface="Calibri"/>
              </a:rPr>
              <a:t>Representativos</a:t>
            </a:r>
          </a:p>
        </p:txBody>
      </p:sp>
      <p:sp>
        <p:nvSpPr>
          <p:cNvPr id="11" name="Texto"/>
          <p:cNvSpPr txBox="1"/>
          <p:nvPr/>
        </p:nvSpPr>
        <p:spPr>
          <a:xfrm>
            <a:off x="2990088" y="3429000"/>
            <a:ext cx="1737360" cy="457200"/>
          </a:xfrm>
          <a:prstGeom prst="rect">
            <a:avLst/>
          </a:prstGeom>
          <a:noFill/>
        </p:spPr>
        <p:txBody>
          <a:bodyPr wrap="square" lIns="0" tIns="0" rIns="0" bIns="0" anchor="t">
            <a:noAutofit/>
          </a:bodyPr>
          <a:lstStyle/>
          <a:p>
            <a:pPr algn="l"/>
            <a:r>
              <a:rPr sz="1350" b="0" i="0">
                <a:solidFill>
                  <a:srgbClr val="1B2A4A"/>
                </a:solidFill>
                <a:latin typeface="Calibri"/>
              </a:rPr>
              <a:t>Reflejan la población</a:t>
            </a:r>
          </a:p>
        </p:txBody>
      </p:sp>
      <p:sp>
        <p:nvSpPr>
          <p:cNvPr id="12" name="Tarjeta"/>
          <p:cNvSpPr/>
          <p:nvPr/>
        </p:nvSpPr>
        <p:spPr>
          <a:xfrm>
            <a:off x="777240" y="4114800"/>
            <a:ext cx="1965960" cy="1097280"/>
          </a:xfrm>
          <a:prstGeom prst="roundRect">
            <a:avLst>
              <a:gd name="adj" fmla="val 6000"/>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p:cNvSpPr txBox="1"/>
          <p:nvPr/>
        </p:nvSpPr>
        <p:spPr>
          <a:xfrm>
            <a:off x="886968" y="4251960"/>
            <a:ext cx="1737360" cy="365760"/>
          </a:xfrm>
          <a:prstGeom prst="rect">
            <a:avLst/>
          </a:prstGeom>
          <a:noFill/>
        </p:spPr>
        <p:txBody>
          <a:bodyPr wrap="square" lIns="0" tIns="0" rIns="0" bIns="0" anchor="t">
            <a:noAutofit/>
          </a:bodyPr>
          <a:lstStyle/>
          <a:p>
            <a:pPr algn="l"/>
            <a:r>
              <a:rPr sz="1700" b="1" i="0">
                <a:solidFill>
                  <a:srgbClr val="1B2A4A"/>
                </a:solidFill>
                <a:latin typeface="Calibri"/>
              </a:rPr>
              <a:t>Completos</a:t>
            </a:r>
          </a:p>
        </p:txBody>
      </p:sp>
      <p:sp>
        <p:nvSpPr>
          <p:cNvPr id="14" name="Texto"/>
          <p:cNvSpPr txBox="1"/>
          <p:nvPr/>
        </p:nvSpPr>
        <p:spPr>
          <a:xfrm>
            <a:off x="886968" y="4663440"/>
            <a:ext cx="1737360" cy="457200"/>
          </a:xfrm>
          <a:prstGeom prst="rect">
            <a:avLst/>
          </a:prstGeom>
          <a:noFill/>
        </p:spPr>
        <p:txBody>
          <a:bodyPr wrap="square" lIns="0" tIns="0" rIns="0" bIns="0" anchor="t">
            <a:noAutofit/>
          </a:bodyPr>
          <a:lstStyle/>
          <a:p>
            <a:pPr algn="l"/>
            <a:r>
              <a:rPr sz="1350" b="0" i="0">
                <a:solidFill>
                  <a:srgbClr val="1B2A4A"/>
                </a:solidFill>
                <a:latin typeface="Calibri"/>
              </a:rPr>
              <a:t>Sin vacíos relevantes</a:t>
            </a:r>
          </a:p>
        </p:txBody>
      </p:sp>
      <p:sp>
        <p:nvSpPr>
          <p:cNvPr id="15" name="Tarjeta"/>
          <p:cNvSpPr/>
          <p:nvPr/>
        </p:nvSpPr>
        <p:spPr>
          <a:xfrm>
            <a:off x="2880360" y="4114800"/>
            <a:ext cx="1965960" cy="1097280"/>
          </a:xfrm>
          <a:prstGeom prst="roundRect">
            <a:avLst>
              <a:gd name="adj" fmla="val 6000"/>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o"/>
          <p:cNvSpPr txBox="1"/>
          <p:nvPr/>
        </p:nvSpPr>
        <p:spPr>
          <a:xfrm>
            <a:off x="2990088" y="4251960"/>
            <a:ext cx="1737360" cy="365760"/>
          </a:xfrm>
          <a:prstGeom prst="rect">
            <a:avLst/>
          </a:prstGeom>
          <a:noFill/>
        </p:spPr>
        <p:txBody>
          <a:bodyPr wrap="square" lIns="0" tIns="0" rIns="0" bIns="0" anchor="t">
            <a:noAutofit/>
          </a:bodyPr>
          <a:lstStyle/>
          <a:p>
            <a:pPr algn="l"/>
            <a:r>
              <a:rPr sz="1700" b="1" i="0">
                <a:solidFill>
                  <a:srgbClr val="FFFFFF"/>
                </a:solidFill>
                <a:latin typeface="Calibri"/>
              </a:rPr>
              <a:t>Libres de errores</a:t>
            </a:r>
          </a:p>
        </p:txBody>
      </p:sp>
      <p:sp>
        <p:nvSpPr>
          <p:cNvPr id="17" name="Texto"/>
          <p:cNvSpPr txBox="1"/>
          <p:nvPr/>
        </p:nvSpPr>
        <p:spPr>
          <a:xfrm>
            <a:off x="2990088" y="4663440"/>
            <a:ext cx="1737360" cy="457200"/>
          </a:xfrm>
          <a:prstGeom prst="rect">
            <a:avLst/>
          </a:prstGeom>
          <a:noFill/>
        </p:spPr>
        <p:txBody>
          <a:bodyPr wrap="square" lIns="0" tIns="0" rIns="0" bIns="0" anchor="t">
            <a:noAutofit/>
          </a:bodyPr>
          <a:lstStyle/>
          <a:p>
            <a:pPr algn="l"/>
            <a:r>
              <a:rPr sz="1350" b="0" i="0">
                <a:solidFill>
                  <a:srgbClr val="FFFFFF"/>
                </a:solidFill>
                <a:latin typeface="Calibri"/>
              </a:rPr>
              <a:t>Exactos y consistentes</a:t>
            </a:r>
          </a:p>
        </p:txBody>
      </p:sp>
      <p:sp>
        <p:nvSpPr>
          <p:cNvPr id="18" name="Tarjeta"/>
          <p:cNvSpPr/>
          <p:nvPr/>
        </p:nvSpPr>
        <p:spPr>
          <a:xfrm>
            <a:off x="5303520" y="2286000"/>
            <a:ext cx="6336792" cy="713232"/>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írculo de ícono"/>
          <p:cNvSpPr/>
          <p:nvPr/>
        </p:nvSpPr>
        <p:spPr>
          <a:xfrm>
            <a:off x="5440680" y="2377440"/>
            <a:ext cx="530352" cy="530352"/>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1</a:t>
            </a:r>
          </a:p>
        </p:txBody>
      </p:sp>
      <p:sp>
        <p:nvSpPr>
          <p:cNvPr id="21" name="Texto"/>
          <p:cNvSpPr txBox="1"/>
          <p:nvPr/>
        </p:nvSpPr>
        <p:spPr>
          <a:xfrm>
            <a:off x="6126480" y="2340864"/>
            <a:ext cx="5394960" cy="274320"/>
          </a:xfrm>
          <a:prstGeom prst="rect">
            <a:avLst/>
          </a:prstGeom>
          <a:noFill/>
        </p:spPr>
        <p:txBody>
          <a:bodyPr wrap="square" lIns="0" tIns="0" rIns="0" bIns="0" anchor="t">
            <a:noAutofit/>
          </a:bodyPr>
          <a:lstStyle/>
          <a:p>
            <a:pPr algn="l"/>
            <a:r>
              <a:rPr sz="1400" b="1" i="0">
                <a:solidFill>
                  <a:srgbClr val="1B2A4A"/>
                </a:solidFill>
                <a:latin typeface="Calibri"/>
              </a:rPr>
              <a:t>Pipeline y almacenamiento centralizados</a:t>
            </a:r>
          </a:p>
        </p:txBody>
      </p:sp>
      <p:sp>
        <p:nvSpPr>
          <p:cNvPr id="22" name="Texto"/>
          <p:cNvSpPr txBox="1"/>
          <p:nvPr/>
        </p:nvSpPr>
        <p:spPr>
          <a:xfrm>
            <a:off x="6126480" y="2633472"/>
            <a:ext cx="5394960" cy="320040"/>
          </a:xfrm>
          <a:prstGeom prst="rect">
            <a:avLst/>
          </a:prstGeom>
          <a:noFill/>
        </p:spPr>
        <p:txBody>
          <a:bodyPr wrap="square" lIns="0" tIns="0" rIns="0" bIns="0" anchor="t">
            <a:noAutofit/>
          </a:bodyPr>
          <a:lstStyle/>
          <a:p>
            <a:pPr algn="l"/>
            <a:r>
              <a:rPr sz="1200" b="0" i="0">
                <a:solidFill>
                  <a:srgbClr val="5B6472"/>
                </a:solidFill>
                <a:latin typeface="Calibri"/>
              </a:rPr>
              <a:t>Un solo lugar donde se prepara y guarda cada dataset.</a:t>
            </a:r>
          </a:p>
        </p:txBody>
      </p:sp>
      <p:sp>
        <p:nvSpPr>
          <p:cNvPr id="23" name="Tarjeta"/>
          <p:cNvSpPr/>
          <p:nvPr/>
        </p:nvSpPr>
        <p:spPr>
          <a:xfrm>
            <a:off x="5303520" y="3086100"/>
            <a:ext cx="6336792" cy="713232"/>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írculo de ícono"/>
          <p:cNvSpPr/>
          <p:nvPr/>
        </p:nvSpPr>
        <p:spPr>
          <a:xfrm>
            <a:off x="5440680" y="3177540"/>
            <a:ext cx="530352" cy="530352"/>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2</a:t>
            </a:r>
          </a:p>
        </p:txBody>
      </p:sp>
      <p:sp>
        <p:nvSpPr>
          <p:cNvPr id="26" name="Texto"/>
          <p:cNvSpPr txBox="1"/>
          <p:nvPr/>
        </p:nvSpPr>
        <p:spPr>
          <a:xfrm>
            <a:off x="6126480" y="3140964"/>
            <a:ext cx="5394960" cy="274320"/>
          </a:xfrm>
          <a:prstGeom prst="rect">
            <a:avLst/>
          </a:prstGeom>
          <a:noFill/>
        </p:spPr>
        <p:txBody>
          <a:bodyPr wrap="square" lIns="0" tIns="0" rIns="0" bIns="0" anchor="t">
            <a:noAutofit/>
          </a:bodyPr>
          <a:lstStyle/>
          <a:p>
            <a:pPr algn="l"/>
            <a:r>
              <a:rPr sz="1400" b="1" i="0">
                <a:solidFill>
                  <a:srgbClr val="1B2A4A"/>
                </a:solidFill>
                <a:latin typeface="Calibri"/>
              </a:rPr>
              <a:t>Linaje y trazabilidad de punta a punta</a:t>
            </a:r>
          </a:p>
        </p:txBody>
      </p:sp>
      <p:sp>
        <p:nvSpPr>
          <p:cNvPr id="27" name="Texto"/>
          <p:cNvSpPr txBox="1"/>
          <p:nvPr/>
        </p:nvSpPr>
        <p:spPr>
          <a:xfrm>
            <a:off x="6126480" y="3433572"/>
            <a:ext cx="5394960" cy="320040"/>
          </a:xfrm>
          <a:prstGeom prst="rect">
            <a:avLst/>
          </a:prstGeom>
          <a:noFill/>
        </p:spPr>
        <p:txBody>
          <a:bodyPr wrap="square" lIns="0" tIns="0" rIns="0" bIns="0" anchor="t">
            <a:noAutofit/>
          </a:bodyPr>
          <a:lstStyle/>
          <a:p>
            <a:pPr algn="l"/>
            <a:r>
              <a:rPr sz="1200" b="0" i="0">
                <a:solidFill>
                  <a:srgbClr val="5B6472"/>
                </a:solidFill>
                <a:latin typeface="Calibri"/>
              </a:rPr>
              <a:t>Saber de dónde viene cada dato y qué lo transformó (DVC).</a:t>
            </a:r>
          </a:p>
        </p:txBody>
      </p:sp>
      <p:sp>
        <p:nvSpPr>
          <p:cNvPr id="28" name="Tarjeta"/>
          <p:cNvSpPr/>
          <p:nvPr/>
        </p:nvSpPr>
        <p:spPr>
          <a:xfrm>
            <a:off x="5303520" y="3886200"/>
            <a:ext cx="6336792" cy="713232"/>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írculo de ícono"/>
          <p:cNvSpPr/>
          <p:nvPr/>
        </p:nvSpPr>
        <p:spPr>
          <a:xfrm>
            <a:off x="5440680" y="3977639"/>
            <a:ext cx="530352" cy="530352"/>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3</a:t>
            </a:r>
          </a:p>
        </p:txBody>
      </p:sp>
      <p:sp>
        <p:nvSpPr>
          <p:cNvPr id="31" name="Texto"/>
          <p:cNvSpPr txBox="1"/>
          <p:nvPr/>
        </p:nvSpPr>
        <p:spPr>
          <a:xfrm>
            <a:off x="6126480" y="3941063"/>
            <a:ext cx="5394960" cy="274320"/>
          </a:xfrm>
          <a:prstGeom prst="rect">
            <a:avLst/>
          </a:prstGeom>
          <a:noFill/>
        </p:spPr>
        <p:txBody>
          <a:bodyPr wrap="square" lIns="0" tIns="0" rIns="0" bIns="0" anchor="t">
            <a:noAutofit/>
          </a:bodyPr>
          <a:lstStyle/>
          <a:p>
            <a:pPr algn="l"/>
            <a:r>
              <a:rPr sz="1400" b="1" i="0">
                <a:solidFill>
                  <a:srgbClr val="1B2A4A"/>
                </a:solidFill>
                <a:latin typeface="Calibri"/>
              </a:rPr>
              <a:t>Cifrado, segmentación y RBAC</a:t>
            </a:r>
          </a:p>
        </p:txBody>
      </p:sp>
      <p:sp>
        <p:nvSpPr>
          <p:cNvPr id="32" name="Texto"/>
          <p:cNvSpPr txBox="1"/>
          <p:nvPr/>
        </p:nvSpPr>
        <p:spPr>
          <a:xfrm>
            <a:off x="6126480" y="4233672"/>
            <a:ext cx="5394960" cy="320040"/>
          </a:xfrm>
          <a:prstGeom prst="rect">
            <a:avLst/>
          </a:prstGeom>
          <a:noFill/>
        </p:spPr>
        <p:txBody>
          <a:bodyPr wrap="square" lIns="0" tIns="0" rIns="0" bIns="0" anchor="t">
            <a:noAutofit/>
          </a:bodyPr>
          <a:lstStyle/>
          <a:p>
            <a:pPr algn="l"/>
            <a:r>
              <a:rPr sz="1200" b="0" i="0">
                <a:solidFill>
                  <a:srgbClr val="5B6472"/>
                </a:solidFill>
                <a:latin typeface="Calibri"/>
              </a:rPr>
              <a:t>Protección de datos personales según la Ley 1581.</a:t>
            </a:r>
          </a:p>
        </p:txBody>
      </p:sp>
      <p:sp>
        <p:nvSpPr>
          <p:cNvPr id="33" name="Tarjeta"/>
          <p:cNvSpPr/>
          <p:nvPr/>
        </p:nvSpPr>
        <p:spPr>
          <a:xfrm>
            <a:off x="5303520" y="4686300"/>
            <a:ext cx="6336792" cy="713232"/>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írculo de ícono"/>
          <p:cNvSpPr/>
          <p:nvPr/>
        </p:nvSpPr>
        <p:spPr>
          <a:xfrm>
            <a:off x="5440680" y="4777740"/>
            <a:ext cx="530352" cy="530352"/>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4</a:t>
            </a:r>
          </a:p>
        </p:txBody>
      </p:sp>
      <p:sp>
        <p:nvSpPr>
          <p:cNvPr id="36" name="Texto"/>
          <p:cNvSpPr txBox="1"/>
          <p:nvPr/>
        </p:nvSpPr>
        <p:spPr>
          <a:xfrm>
            <a:off x="6126480" y="4686300"/>
            <a:ext cx="5394960" cy="274320"/>
          </a:xfrm>
          <a:prstGeom prst="rect">
            <a:avLst/>
          </a:prstGeom>
          <a:noFill/>
        </p:spPr>
        <p:txBody>
          <a:bodyPr wrap="square" lIns="0" tIns="0" rIns="0" bIns="0" anchor="t">
            <a:noAutofit/>
          </a:bodyPr>
          <a:lstStyle/>
          <a:p>
            <a:pPr algn="l"/>
            <a:r>
              <a:rPr sz="1400" b="1" i="0">
                <a:solidFill>
                  <a:srgbClr val="1B2A4A"/>
                </a:solidFill>
                <a:latin typeface="Calibri"/>
              </a:rPr>
              <a:t>Residencia definida</a:t>
            </a:r>
          </a:p>
        </p:txBody>
      </p:sp>
      <p:sp>
        <p:nvSpPr>
          <p:cNvPr id="37" name="Texto"/>
          <p:cNvSpPr txBox="1"/>
          <p:nvPr/>
        </p:nvSpPr>
        <p:spPr>
          <a:xfrm>
            <a:off x="6126480" y="5033772"/>
            <a:ext cx="5394960" cy="320040"/>
          </a:xfrm>
          <a:prstGeom prst="rect">
            <a:avLst/>
          </a:prstGeom>
          <a:noFill/>
        </p:spPr>
        <p:txBody>
          <a:bodyPr wrap="square" lIns="0" tIns="0" rIns="0" bIns="0" anchor="t">
            <a:noAutofit/>
          </a:bodyPr>
          <a:lstStyle/>
          <a:p>
            <a:pPr algn="l"/>
            <a:r>
              <a:rPr sz="1200" b="0" i="0">
                <a:solidFill>
                  <a:srgbClr val="5B6472"/>
                </a:solidFill>
                <a:latin typeface="Calibri"/>
              </a:rPr>
              <a:t>Sin transferencia transfronteriza no autorizada.</a:t>
            </a:r>
          </a:p>
        </p:txBody>
      </p:sp>
      <p:sp>
        <p:nvSpPr>
          <p:cNvPr id="38"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Marco: ISO/IEC 42001 Anexo A.7 (datos para IA) · EU AI Act Art. 10 · Ley 1581/2012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Fase 2 · Modelo: entrenar con evidencia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CICLO DE VIDA</a:t>
            </a:r>
          </a:p>
        </p:txBody>
      </p:sp>
      <p:sp>
        <p:nvSpPr>
          <p:cNvPr id="4" name="Tarjeta"/>
          <p:cNvSpPr/>
          <p:nvPr/>
        </p:nvSpPr>
        <p:spPr>
          <a:xfrm>
            <a:off x="548640" y="2286000"/>
            <a:ext cx="3575304"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731520" y="2468880"/>
            <a:ext cx="548640" cy="54864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p:cNvSpPr txBox="1"/>
          <p:nvPr/>
        </p:nvSpPr>
        <p:spPr>
          <a:xfrm>
            <a:off x="1417319" y="2468880"/>
            <a:ext cx="2569464" cy="548640"/>
          </a:xfrm>
          <a:prstGeom prst="rect">
            <a:avLst/>
          </a:prstGeom>
          <a:noFill/>
        </p:spPr>
        <p:txBody>
          <a:bodyPr wrap="square" lIns="0" tIns="0" rIns="0" bIns="0" anchor="ctr">
            <a:noAutofit/>
          </a:bodyPr>
          <a:lstStyle/>
          <a:p>
            <a:pPr algn="l"/>
            <a:r>
              <a:rPr sz="1700" b="1" i="0">
                <a:solidFill>
                  <a:srgbClr val="1B2A4A"/>
                </a:solidFill>
                <a:latin typeface="Calibri"/>
              </a:rPr>
              <a:t>Entrenamiento reproducible</a:t>
            </a:r>
          </a:p>
        </p:txBody>
      </p:sp>
      <p:sp>
        <p:nvSpPr>
          <p:cNvPr id="8" name="Texto"/>
          <p:cNvSpPr txBox="1"/>
          <p:nvPr/>
        </p:nvSpPr>
        <p:spPr>
          <a:xfrm>
            <a:off x="731520" y="3154680"/>
            <a:ext cx="3209544" cy="571500"/>
          </a:xfrm>
          <a:prstGeom prst="rect">
            <a:avLst/>
          </a:prstGeom>
          <a:noFill/>
        </p:spPr>
        <p:txBody>
          <a:bodyPr wrap="square" lIns="0" tIns="0" rIns="0" bIns="0" anchor="t">
            <a:noAutofit/>
          </a:bodyPr>
          <a:lstStyle/>
          <a:p>
            <a:pPr algn="l"/>
            <a:r>
              <a:rPr sz="1500" b="0" i="0">
                <a:solidFill>
                  <a:srgbClr val="5B6472"/>
                </a:solidFill>
                <a:latin typeface="Calibri"/>
              </a:rPr>
              <a:t>Código, datos y parámetros fijados para repetir el resultado</a:t>
            </a:r>
          </a:p>
        </p:txBody>
      </p:sp>
      <p:sp>
        <p:nvSpPr>
          <p:cNvPr id="9" name="Tarjeta"/>
          <p:cNvSpPr/>
          <p:nvPr/>
        </p:nvSpPr>
        <p:spPr>
          <a:xfrm>
            <a:off x="4306824" y="2286000"/>
            <a:ext cx="3575304"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írculo de ícono"/>
          <p:cNvSpPr/>
          <p:nvPr/>
        </p:nvSpPr>
        <p:spPr>
          <a:xfrm>
            <a:off x="4489704" y="2468880"/>
            <a:ext cx="548640" cy="54864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o"/>
          <p:cNvSpPr txBox="1"/>
          <p:nvPr/>
        </p:nvSpPr>
        <p:spPr>
          <a:xfrm>
            <a:off x="5175504" y="2468880"/>
            <a:ext cx="2569464" cy="548640"/>
          </a:xfrm>
          <a:prstGeom prst="rect">
            <a:avLst/>
          </a:prstGeom>
          <a:noFill/>
        </p:spPr>
        <p:txBody>
          <a:bodyPr wrap="square" lIns="0" tIns="0" rIns="0" bIns="0" anchor="ctr">
            <a:noAutofit/>
          </a:bodyPr>
          <a:lstStyle/>
          <a:p>
            <a:pPr algn="l"/>
            <a:r>
              <a:rPr sz="1700" b="1" i="0">
                <a:solidFill>
                  <a:srgbClr val="1B2A4A"/>
                </a:solidFill>
                <a:latin typeface="Calibri"/>
              </a:rPr>
              <a:t>Versionamiento y registro</a:t>
            </a:r>
          </a:p>
        </p:txBody>
      </p:sp>
      <p:sp>
        <p:nvSpPr>
          <p:cNvPr id="13" name="Texto"/>
          <p:cNvSpPr txBox="1"/>
          <p:nvPr/>
        </p:nvSpPr>
        <p:spPr>
          <a:xfrm>
            <a:off x="4489704" y="3154680"/>
            <a:ext cx="3209544" cy="571500"/>
          </a:xfrm>
          <a:prstGeom prst="rect">
            <a:avLst/>
          </a:prstGeom>
          <a:noFill/>
        </p:spPr>
        <p:txBody>
          <a:bodyPr wrap="square" lIns="0" tIns="0" rIns="0" bIns="0" anchor="t">
            <a:noAutofit/>
          </a:bodyPr>
          <a:lstStyle/>
          <a:p>
            <a:pPr algn="l"/>
            <a:r>
              <a:rPr sz="1500" b="0" i="0">
                <a:solidFill>
                  <a:srgbClr val="5B6472"/>
                </a:solidFill>
                <a:latin typeface="Calibri"/>
              </a:rPr>
              <a:t>Experimentos, datasets y modelos con su historial (MLflow, DVC)</a:t>
            </a:r>
          </a:p>
        </p:txBody>
      </p:sp>
      <p:sp>
        <p:nvSpPr>
          <p:cNvPr id="14" name="Tarjeta"/>
          <p:cNvSpPr/>
          <p:nvPr/>
        </p:nvSpPr>
        <p:spPr>
          <a:xfrm>
            <a:off x="8065008" y="2286000"/>
            <a:ext cx="3575304"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írculo de ícono"/>
          <p:cNvSpPr/>
          <p:nvPr/>
        </p:nvSpPr>
        <p:spPr>
          <a:xfrm>
            <a:off x="8247888" y="2468880"/>
            <a:ext cx="548640" cy="54864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o"/>
          <p:cNvSpPr txBox="1"/>
          <p:nvPr/>
        </p:nvSpPr>
        <p:spPr>
          <a:xfrm>
            <a:off x="8933688" y="2468880"/>
            <a:ext cx="2569464" cy="548640"/>
          </a:xfrm>
          <a:prstGeom prst="rect">
            <a:avLst/>
          </a:prstGeom>
          <a:noFill/>
        </p:spPr>
        <p:txBody>
          <a:bodyPr wrap="square" lIns="0" tIns="0" rIns="0" bIns="0" anchor="ctr">
            <a:noAutofit/>
          </a:bodyPr>
          <a:lstStyle/>
          <a:p>
            <a:pPr algn="l"/>
            <a:r>
              <a:rPr sz="1700" b="1" i="0">
                <a:solidFill>
                  <a:srgbClr val="1B2A4A"/>
                </a:solidFill>
                <a:latin typeface="Calibri"/>
              </a:rPr>
              <a:t>Evaluación integral</a:t>
            </a:r>
          </a:p>
        </p:txBody>
      </p:sp>
      <p:sp>
        <p:nvSpPr>
          <p:cNvPr id="18" name="Texto"/>
          <p:cNvSpPr txBox="1"/>
          <p:nvPr/>
        </p:nvSpPr>
        <p:spPr>
          <a:xfrm>
            <a:off x="8247888" y="3154680"/>
            <a:ext cx="3209544" cy="571500"/>
          </a:xfrm>
          <a:prstGeom prst="rect">
            <a:avLst/>
          </a:prstGeom>
          <a:noFill/>
        </p:spPr>
        <p:txBody>
          <a:bodyPr wrap="square" lIns="0" tIns="0" rIns="0" bIns="0" anchor="t">
            <a:noAutofit/>
          </a:bodyPr>
          <a:lstStyle/>
          <a:p>
            <a:pPr algn="l"/>
            <a:r>
              <a:rPr sz="1500" b="0" i="0">
                <a:solidFill>
                  <a:srgbClr val="5B6472"/>
                </a:solidFill>
                <a:latin typeface="Calibri"/>
              </a:rPr>
              <a:t>Precisión, robustez, sesgos y explicabilidad (SHAP)</a:t>
            </a:r>
          </a:p>
        </p:txBody>
      </p:sp>
      <p:sp>
        <p:nvSpPr>
          <p:cNvPr id="19" name="Tarjeta"/>
          <p:cNvSpPr/>
          <p:nvPr/>
        </p:nvSpPr>
        <p:spPr>
          <a:xfrm>
            <a:off x="548640" y="3954780"/>
            <a:ext cx="3575304"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írculo de ícono"/>
          <p:cNvSpPr/>
          <p:nvPr/>
        </p:nvSpPr>
        <p:spPr>
          <a:xfrm>
            <a:off x="731520" y="4137660"/>
            <a:ext cx="548640" cy="54864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o"/>
          <p:cNvSpPr txBox="1"/>
          <p:nvPr/>
        </p:nvSpPr>
        <p:spPr>
          <a:xfrm>
            <a:off x="1417319" y="4137660"/>
            <a:ext cx="2569464" cy="548640"/>
          </a:xfrm>
          <a:prstGeom prst="rect">
            <a:avLst/>
          </a:prstGeom>
          <a:noFill/>
        </p:spPr>
        <p:txBody>
          <a:bodyPr wrap="square" lIns="0" tIns="0" rIns="0" bIns="0" anchor="ctr">
            <a:noAutofit/>
          </a:bodyPr>
          <a:lstStyle/>
          <a:p>
            <a:pPr algn="l"/>
            <a:r>
              <a:rPr sz="1700" b="1" i="0">
                <a:solidFill>
                  <a:srgbClr val="1B2A4A"/>
                </a:solidFill>
                <a:latin typeface="Calibri"/>
              </a:rPr>
              <a:t>Seguridad del modelo</a:t>
            </a:r>
          </a:p>
        </p:txBody>
      </p:sp>
      <p:sp>
        <p:nvSpPr>
          <p:cNvPr id="23" name="Texto"/>
          <p:cNvSpPr txBox="1"/>
          <p:nvPr/>
        </p:nvSpPr>
        <p:spPr>
          <a:xfrm>
            <a:off x="731520" y="4823460"/>
            <a:ext cx="3209544" cy="571500"/>
          </a:xfrm>
          <a:prstGeom prst="rect">
            <a:avLst/>
          </a:prstGeom>
          <a:noFill/>
        </p:spPr>
        <p:txBody>
          <a:bodyPr wrap="square" lIns="0" tIns="0" rIns="0" bIns="0" anchor="t">
            <a:noAutofit/>
          </a:bodyPr>
          <a:lstStyle/>
          <a:p>
            <a:pPr algn="l"/>
            <a:r>
              <a:rPr sz="1500" b="0" i="0">
                <a:solidFill>
                  <a:srgbClr val="5B6472"/>
                </a:solidFill>
                <a:latin typeface="Calibri"/>
              </a:rPr>
              <a:t>Defensa ante envenenamiento de datos y accesos no autorizados</a:t>
            </a:r>
          </a:p>
        </p:txBody>
      </p:sp>
      <p:sp>
        <p:nvSpPr>
          <p:cNvPr id="24" name="Tarjeta"/>
          <p:cNvSpPr/>
          <p:nvPr/>
        </p:nvSpPr>
        <p:spPr>
          <a:xfrm>
            <a:off x="4306824" y="3954780"/>
            <a:ext cx="3575304"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írculo de ícono"/>
          <p:cNvSpPr/>
          <p:nvPr/>
        </p:nvSpPr>
        <p:spPr>
          <a:xfrm>
            <a:off x="4489704" y="4137660"/>
            <a:ext cx="548640" cy="548640"/>
          </a:xfrm>
          <a:prstGeom prst="ellipse">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o"/>
          <p:cNvSpPr txBox="1"/>
          <p:nvPr/>
        </p:nvSpPr>
        <p:spPr>
          <a:xfrm>
            <a:off x="5175504" y="4137660"/>
            <a:ext cx="2569464" cy="548640"/>
          </a:xfrm>
          <a:prstGeom prst="rect">
            <a:avLst/>
          </a:prstGeom>
          <a:noFill/>
        </p:spPr>
        <p:txBody>
          <a:bodyPr wrap="square" lIns="0" tIns="0" rIns="0" bIns="0" anchor="ctr">
            <a:noAutofit/>
          </a:bodyPr>
          <a:lstStyle/>
          <a:p>
            <a:pPr algn="l"/>
            <a:r>
              <a:rPr sz="1700" b="1" i="0">
                <a:solidFill>
                  <a:srgbClr val="1B2A4A"/>
                </a:solidFill>
                <a:latin typeface="Calibri"/>
              </a:rPr>
              <a:t>Documentación técnica</a:t>
            </a:r>
          </a:p>
        </p:txBody>
      </p:sp>
      <p:sp>
        <p:nvSpPr>
          <p:cNvPr id="28" name="Texto"/>
          <p:cNvSpPr txBox="1"/>
          <p:nvPr/>
        </p:nvSpPr>
        <p:spPr>
          <a:xfrm>
            <a:off x="4489704" y="4823460"/>
            <a:ext cx="3209544" cy="571500"/>
          </a:xfrm>
          <a:prstGeom prst="rect">
            <a:avLst/>
          </a:prstGeom>
          <a:noFill/>
        </p:spPr>
        <p:txBody>
          <a:bodyPr wrap="square" lIns="0" tIns="0" rIns="0" bIns="0" anchor="t">
            <a:noAutofit/>
          </a:bodyPr>
          <a:lstStyle/>
          <a:p>
            <a:pPr algn="l"/>
            <a:r>
              <a:rPr sz="1500" b="0" i="0">
                <a:solidFill>
                  <a:srgbClr val="5B6472"/>
                </a:solidFill>
                <a:latin typeface="Calibri"/>
              </a:rPr>
              <a:t>Fichas de modelo, límites de uso y resultados de pruebas</a:t>
            </a:r>
          </a:p>
        </p:txBody>
      </p:sp>
      <p:sp>
        <p:nvSpPr>
          <p:cNvPr id="29" name="Tarjeta"/>
          <p:cNvSpPr/>
          <p:nvPr/>
        </p:nvSpPr>
        <p:spPr>
          <a:xfrm>
            <a:off x="8065008" y="3954780"/>
            <a:ext cx="3575304"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írculo de ícono"/>
          <p:cNvSpPr/>
          <p:nvPr/>
        </p:nvSpPr>
        <p:spPr>
          <a:xfrm>
            <a:off x="8247888" y="413766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6</a:t>
            </a:r>
          </a:p>
        </p:txBody>
      </p:sp>
      <p:sp>
        <p:nvSpPr>
          <p:cNvPr id="32" name="Texto"/>
          <p:cNvSpPr txBox="1"/>
          <p:nvPr/>
        </p:nvSpPr>
        <p:spPr>
          <a:xfrm>
            <a:off x="8933688" y="4137660"/>
            <a:ext cx="2569464" cy="548640"/>
          </a:xfrm>
          <a:prstGeom prst="rect">
            <a:avLst/>
          </a:prstGeom>
          <a:noFill/>
        </p:spPr>
        <p:txBody>
          <a:bodyPr wrap="square" lIns="0" tIns="0" rIns="0" bIns="0" anchor="ctr">
            <a:noAutofit/>
          </a:bodyPr>
          <a:lstStyle/>
          <a:p>
            <a:pPr algn="l"/>
            <a:r>
              <a:rPr sz="1700" b="1" i="0">
                <a:solidFill>
                  <a:srgbClr val="1B2A4A"/>
                </a:solidFill>
                <a:latin typeface="Calibri"/>
              </a:rPr>
              <a:t>Aprobación formal</a:t>
            </a:r>
          </a:p>
        </p:txBody>
      </p:sp>
      <p:sp>
        <p:nvSpPr>
          <p:cNvPr id="33" name="Texto"/>
          <p:cNvSpPr txBox="1"/>
          <p:nvPr/>
        </p:nvSpPr>
        <p:spPr>
          <a:xfrm>
            <a:off x="8247888" y="4823460"/>
            <a:ext cx="3209544" cy="571500"/>
          </a:xfrm>
          <a:prstGeom prst="rect">
            <a:avLst/>
          </a:prstGeom>
          <a:noFill/>
        </p:spPr>
        <p:txBody>
          <a:bodyPr wrap="square" lIns="0" tIns="0" rIns="0" bIns="0" anchor="t">
            <a:noAutofit/>
          </a:bodyPr>
          <a:lstStyle/>
          <a:p>
            <a:pPr algn="l"/>
            <a:r>
              <a:rPr sz="1500" b="0" i="0">
                <a:solidFill>
                  <a:srgbClr val="5B6472"/>
                </a:solidFill>
                <a:latin typeface="Calibri"/>
              </a:rPr>
              <a:t>Puerta de calidad y riesgo antes de pasar a producción</a:t>
            </a:r>
          </a:p>
        </p:txBody>
      </p:sp>
      <p:sp>
        <p:nvSpPr>
          <p:cNvPr id="34"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Marco: EU AI Act Arts. 11 y 15 · ISO/IEC 42001 Anexo A.6 (ciclo de vida) · HLEG: solidez y transparencia</a:t>
            </a:r>
          </a:p>
        </p:txBody>
      </p:sp>
      <p:sp>
        <p:nvSpPr>
          <p:cNvPr id="35" name="Círculo de ícono">
            <a:extLst>
              <a:ext uri="{FF2B5EF4-FFF2-40B4-BE49-F238E27FC236}">
                <a16:creationId xmlns:a16="http://schemas.microsoft.com/office/drawing/2014/main" id="{F20497AA-104B-7A2E-AD46-91523B880E45}"/>
              </a:ext>
            </a:extLst>
          </p:cNvPr>
          <p:cNvSpPr/>
          <p:nvPr/>
        </p:nvSpPr>
        <p:spPr>
          <a:xfrm>
            <a:off x="777240" y="246888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1</a:t>
            </a:r>
          </a:p>
        </p:txBody>
      </p:sp>
      <p:sp>
        <p:nvSpPr>
          <p:cNvPr id="36" name="Círculo de ícono">
            <a:extLst>
              <a:ext uri="{FF2B5EF4-FFF2-40B4-BE49-F238E27FC236}">
                <a16:creationId xmlns:a16="http://schemas.microsoft.com/office/drawing/2014/main" id="{F94983F4-51C6-691D-DB9C-E0D0D716BCD5}"/>
              </a:ext>
            </a:extLst>
          </p:cNvPr>
          <p:cNvSpPr/>
          <p:nvPr/>
        </p:nvSpPr>
        <p:spPr>
          <a:xfrm>
            <a:off x="4535424" y="246888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2</a:t>
            </a:r>
          </a:p>
        </p:txBody>
      </p:sp>
      <p:sp>
        <p:nvSpPr>
          <p:cNvPr id="37" name="Círculo de ícono">
            <a:extLst>
              <a:ext uri="{FF2B5EF4-FFF2-40B4-BE49-F238E27FC236}">
                <a16:creationId xmlns:a16="http://schemas.microsoft.com/office/drawing/2014/main" id="{0D36082E-031D-C076-0ED0-71D29E0D7AE4}"/>
              </a:ext>
            </a:extLst>
          </p:cNvPr>
          <p:cNvSpPr/>
          <p:nvPr/>
        </p:nvSpPr>
        <p:spPr>
          <a:xfrm>
            <a:off x="8293608" y="246888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3</a:t>
            </a:r>
          </a:p>
        </p:txBody>
      </p:sp>
      <p:sp>
        <p:nvSpPr>
          <p:cNvPr id="38" name="Círculo de ícono">
            <a:extLst>
              <a:ext uri="{FF2B5EF4-FFF2-40B4-BE49-F238E27FC236}">
                <a16:creationId xmlns:a16="http://schemas.microsoft.com/office/drawing/2014/main" id="{C8ADB33F-39BB-BAA5-7CDF-8EEA2C925BA9}"/>
              </a:ext>
            </a:extLst>
          </p:cNvPr>
          <p:cNvSpPr/>
          <p:nvPr/>
        </p:nvSpPr>
        <p:spPr>
          <a:xfrm>
            <a:off x="777240" y="413766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4</a:t>
            </a:r>
          </a:p>
        </p:txBody>
      </p:sp>
      <p:sp>
        <p:nvSpPr>
          <p:cNvPr id="39" name="Círculo de ícono">
            <a:extLst>
              <a:ext uri="{FF2B5EF4-FFF2-40B4-BE49-F238E27FC236}">
                <a16:creationId xmlns:a16="http://schemas.microsoft.com/office/drawing/2014/main" id="{6371D829-481F-2B30-EE65-B8FED0BE834A}"/>
              </a:ext>
            </a:extLst>
          </p:cNvPr>
          <p:cNvSpPr/>
          <p:nvPr/>
        </p:nvSpPr>
        <p:spPr>
          <a:xfrm>
            <a:off x="4535424" y="413766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dirty="0"/>
              <a:t>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Fase 3 · Despliegue: operar bajo control</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CICLO DE VIDA</a:t>
            </a:r>
          </a:p>
        </p:txBody>
      </p:sp>
      <p:sp>
        <p:nvSpPr>
          <p:cNvPr id="4" name="Tarjeta"/>
          <p:cNvSpPr/>
          <p:nvPr/>
        </p:nvSpPr>
        <p:spPr>
          <a:xfrm>
            <a:off x="548640" y="2286000"/>
            <a:ext cx="6766560" cy="566928"/>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640080" y="2340864"/>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p:cNvSpPr txBox="1"/>
          <p:nvPr/>
        </p:nvSpPr>
        <p:spPr>
          <a:xfrm>
            <a:off x="1234440" y="2304288"/>
            <a:ext cx="5943600" cy="274320"/>
          </a:xfrm>
          <a:prstGeom prst="rect">
            <a:avLst/>
          </a:prstGeom>
          <a:noFill/>
        </p:spPr>
        <p:txBody>
          <a:bodyPr wrap="square" lIns="0" tIns="0" rIns="0" bIns="0" anchor="t">
            <a:noAutofit/>
          </a:bodyPr>
          <a:lstStyle/>
          <a:p>
            <a:pPr algn="l"/>
            <a:r>
              <a:rPr sz="1400" b="1" i="0">
                <a:solidFill>
                  <a:srgbClr val="1B2A4A"/>
                </a:solidFill>
                <a:latin typeface="Calibri"/>
              </a:rPr>
              <a:t>Monitoreo continuo</a:t>
            </a:r>
          </a:p>
        </p:txBody>
      </p:sp>
      <p:sp>
        <p:nvSpPr>
          <p:cNvPr id="8" name="Texto"/>
          <p:cNvSpPr txBox="1"/>
          <p:nvPr/>
        </p:nvSpPr>
        <p:spPr>
          <a:xfrm>
            <a:off x="1234440" y="2569464"/>
            <a:ext cx="5943600" cy="274320"/>
          </a:xfrm>
          <a:prstGeom prst="rect">
            <a:avLst/>
          </a:prstGeom>
          <a:noFill/>
        </p:spPr>
        <p:txBody>
          <a:bodyPr wrap="square" lIns="0" tIns="0" rIns="0" bIns="0" anchor="t">
            <a:noAutofit/>
          </a:bodyPr>
          <a:lstStyle/>
          <a:p>
            <a:pPr algn="l"/>
            <a:r>
              <a:rPr sz="1200" b="0" i="0">
                <a:solidFill>
                  <a:srgbClr val="5B6472"/>
                </a:solidFill>
                <a:latin typeface="Calibri"/>
              </a:rPr>
              <a:t>Desempeño, deriva y disponibilidad</a:t>
            </a:r>
          </a:p>
        </p:txBody>
      </p:sp>
      <p:sp>
        <p:nvSpPr>
          <p:cNvPr id="9" name="Tarjeta"/>
          <p:cNvSpPr/>
          <p:nvPr/>
        </p:nvSpPr>
        <p:spPr>
          <a:xfrm>
            <a:off x="548640" y="2926080"/>
            <a:ext cx="6766560" cy="566928"/>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írculo de ícono"/>
          <p:cNvSpPr/>
          <p:nvPr/>
        </p:nvSpPr>
        <p:spPr>
          <a:xfrm>
            <a:off x="640080" y="2980944"/>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o"/>
          <p:cNvSpPr txBox="1"/>
          <p:nvPr/>
        </p:nvSpPr>
        <p:spPr>
          <a:xfrm>
            <a:off x="1234440" y="2944368"/>
            <a:ext cx="5943600" cy="274320"/>
          </a:xfrm>
          <a:prstGeom prst="rect">
            <a:avLst/>
          </a:prstGeom>
          <a:noFill/>
        </p:spPr>
        <p:txBody>
          <a:bodyPr wrap="square" lIns="0" tIns="0" rIns="0" bIns="0" anchor="t">
            <a:noAutofit/>
          </a:bodyPr>
          <a:lstStyle/>
          <a:p>
            <a:pPr algn="l"/>
            <a:r>
              <a:rPr sz="1400" b="1" i="0">
                <a:solidFill>
                  <a:srgbClr val="1B2A4A"/>
                </a:solidFill>
                <a:latin typeface="Calibri"/>
              </a:rPr>
              <a:t>Registro automático de eventos</a:t>
            </a:r>
          </a:p>
        </p:txBody>
      </p:sp>
      <p:sp>
        <p:nvSpPr>
          <p:cNvPr id="13" name="Texto"/>
          <p:cNvSpPr txBox="1"/>
          <p:nvPr/>
        </p:nvSpPr>
        <p:spPr>
          <a:xfrm>
            <a:off x="1234440" y="3209544"/>
            <a:ext cx="5943600" cy="274320"/>
          </a:xfrm>
          <a:prstGeom prst="rect">
            <a:avLst/>
          </a:prstGeom>
          <a:noFill/>
        </p:spPr>
        <p:txBody>
          <a:bodyPr wrap="square" lIns="0" tIns="0" rIns="0" bIns="0" anchor="t">
            <a:noAutofit/>
          </a:bodyPr>
          <a:lstStyle/>
          <a:p>
            <a:pPr algn="l"/>
            <a:r>
              <a:rPr sz="1200" b="0" i="0">
                <a:solidFill>
                  <a:srgbClr val="5B6472"/>
                </a:solidFill>
                <a:latin typeface="Calibri"/>
              </a:rPr>
              <a:t>Quién consultó, qué se preguntó y cómo respondió</a:t>
            </a:r>
          </a:p>
        </p:txBody>
      </p:sp>
      <p:sp>
        <p:nvSpPr>
          <p:cNvPr id="14" name="Tarjeta"/>
          <p:cNvSpPr/>
          <p:nvPr/>
        </p:nvSpPr>
        <p:spPr>
          <a:xfrm>
            <a:off x="548640" y="3566160"/>
            <a:ext cx="6766560" cy="566928"/>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írculo de ícono"/>
          <p:cNvSpPr/>
          <p:nvPr/>
        </p:nvSpPr>
        <p:spPr>
          <a:xfrm>
            <a:off x="640080" y="3621024"/>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o"/>
          <p:cNvSpPr txBox="1"/>
          <p:nvPr/>
        </p:nvSpPr>
        <p:spPr>
          <a:xfrm>
            <a:off x="1234440" y="3584448"/>
            <a:ext cx="5943600" cy="274320"/>
          </a:xfrm>
          <a:prstGeom prst="rect">
            <a:avLst/>
          </a:prstGeom>
          <a:noFill/>
        </p:spPr>
        <p:txBody>
          <a:bodyPr wrap="square" lIns="0" tIns="0" rIns="0" bIns="0" anchor="t">
            <a:noAutofit/>
          </a:bodyPr>
          <a:lstStyle/>
          <a:p>
            <a:pPr algn="l"/>
            <a:r>
              <a:rPr sz="1400" b="1" i="0">
                <a:solidFill>
                  <a:srgbClr val="1B2A4A"/>
                </a:solidFill>
                <a:latin typeface="Calibri"/>
              </a:rPr>
              <a:t>Supervisión humana real</a:t>
            </a:r>
          </a:p>
        </p:txBody>
      </p:sp>
      <p:sp>
        <p:nvSpPr>
          <p:cNvPr id="18" name="Texto"/>
          <p:cNvSpPr txBox="1"/>
          <p:nvPr/>
        </p:nvSpPr>
        <p:spPr>
          <a:xfrm>
            <a:off x="1234440" y="3849624"/>
            <a:ext cx="5943600" cy="274320"/>
          </a:xfrm>
          <a:prstGeom prst="rect">
            <a:avLst/>
          </a:prstGeom>
          <a:noFill/>
        </p:spPr>
        <p:txBody>
          <a:bodyPr wrap="square" lIns="0" tIns="0" rIns="0" bIns="0" anchor="t">
            <a:noAutofit/>
          </a:bodyPr>
          <a:lstStyle/>
          <a:p>
            <a:pPr algn="l"/>
            <a:r>
              <a:rPr sz="1200" b="0" i="0">
                <a:solidFill>
                  <a:srgbClr val="5B6472"/>
                </a:solidFill>
                <a:latin typeface="Calibri"/>
              </a:rPr>
              <a:t>Intervenir, pausar o apagar en tiempo real</a:t>
            </a:r>
          </a:p>
        </p:txBody>
      </p:sp>
      <p:sp>
        <p:nvSpPr>
          <p:cNvPr id="19" name="Tarjeta"/>
          <p:cNvSpPr/>
          <p:nvPr/>
        </p:nvSpPr>
        <p:spPr>
          <a:xfrm>
            <a:off x="548640" y="4206240"/>
            <a:ext cx="6766560" cy="566928"/>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írculo de ícono"/>
          <p:cNvSpPr/>
          <p:nvPr/>
        </p:nvSpPr>
        <p:spPr>
          <a:xfrm>
            <a:off x="640080" y="4261103"/>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o"/>
          <p:cNvSpPr txBox="1"/>
          <p:nvPr/>
        </p:nvSpPr>
        <p:spPr>
          <a:xfrm>
            <a:off x="1234440" y="4224527"/>
            <a:ext cx="5943600" cy="274320"/>
          </a:xfrm>
          <a:prstGeom prst="rect">
            <a:avLst/>
          </a:prstGeom>
          <a:noFill/>
        </p:spPr>
        <p:txBody>
          <a:bodyPr wrap="square" lIns="0" tIns="0" rIns="0" bIns="0" anchor="t">
            <a:noAutofit/>
          </a:bodyPr>
          <a:lstStyle/>
          <a:p>
            <a:pPr algn="l"/>
            <a:r>
              <a:rPr sz="1400" b="1" i="0">
                <a:solidFill>
                  <a:srgbClr val="1B2A4A"/>
                </a:solidFill>
                <a:latin typeface="Calibri"/>
              </a:rPr>
              <a:t>Gestión de incidentes</a:t>
            </a:r>
          </a:p>
        </p:txBody>
      </p:sp>
      <p:sp>
        <p:nvSpPr>
          <p:cNvPr id="23" name="Texto"/>
          <p:cNvSpPr txBox="1"/>
          <p:nvPr/>
        </p:nvSpPr>
        <p:spPr>
          <a:xfrm>
            <a:off x="1234440" y="4489703"/>
            <a:ext cx="5943600" cy="274320"/>
          </a:xfrm>
          <a:prstGeom prst="rect">
            <a:avLst/>
          </a:prstGeom>
          <a:noFill/>
        </p:spPr>
        <p:txBody>
          <a:bodyPr wrap="square" lIns="0" tIns="0" rIns="0" bIns="0" anchor="t">
            <a:noAutofit/>
          </a:bodyPr>
          <a:lstStyle/>
          <a:p>
            <a:pPr algn="l"/>
            <a:r>
              <a:rPr sz="1200" b="0" i="0">
                <a:solidFill>
                  <a:srgbClr val="5B6472"/>
                </a:solidFill>
                <a:latin typeface="Calibri"/>
              </a:rPr>
              <a:t>Detección, respuesta y mejora continua</a:t>
            </a:r>
          </a:p>
        </p:txBody>
      </p:sp>
      <p:sp>
        <p:nvSpPr>
          <p:cNvPr id="24" name="Tarjeta"/>
          <p:cNvSpPr/>
          <p:nvPr/>
        </p:nvSpPr>
        <p:spPr>
          <a:xfrm>
            <a:off x="548640" y="4892040"/>
            <a:ext cx="6766560" cy="548640"/>
          </a:xfrm>
          <a:prstGeom prst="roundRect">
            <a:avLst>
              <a:gd name="adj" fmla="val 12000"/>
            </a:avLst>
          </a:prstGeom>
          <a:solidFill>
            <a:srgbClr val="FFF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o"/>
          <p:cNvSpPr txBox="1"/>
          <p:nvPr/>
        </p:nvSpPr>
        <p:spPr>
          <a:xfrm>
            <a:off x="731520" y="4892040"/>
            <a:ext cx="6492240" cy="548640"/>
          </a:xfrm>
          <a:prstGeom prst="rect">
            <a:avLst/>
          </a:prstGeom>
          <a:noFill/>
        </p:spPr>
        <p:txBody>
          <a:bodyPr wrap="square" lIns="0" tIns="0" rIns="0" bIns="0" anchor="ctr">
            <a:noAutofit/>
          </a:bodyPr>
          <a:lstStyle/>
          <a:p>
            <a:pPr algn="l"/>
            <a:r>
              <a:rPr sz="1350" b="0" i="1">
                <a:solidFill>
                  <a:srgbClr val="1B2A4A"/>
                </a:solidFill>
                <a:latin typeface="Calibri"/>
              </a:rPr>
              <a:t>MLOps: prácticas que unen desarrollo de modelos, ingeniería de datos y DevOps para operar ML en producción.</a:t>
            </a:r>
          </a:p>
        </p:txBody>
      </p:sp>
      <p:sp>
        <p:nvSpPr>
          <p:cNvPr id="26" name="Tarjeta"/>
          <p:cNvSpPr/>
          <p:nvPr/>
        </p:nvSpPr>
        <p:spPr>
          <a:xfrm>
            <a:off x="7498079" y="2286000"/>
            <a:ext cx="4142232" cy="315468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o"/>
          <p:cNvSpPr txBox="1"/>
          <p:nvPr/>
        </p:nvSpPr>
        <p:spPr>
          <a:xfrm>
            <a:off x="7772400" y="2423160"/>
            <a:ext cx="3657600" cy="320040"/>
          </a:xfrm>
          <a:prstGeom prst="rect">
            <a:avLst/>
          </a:prstGeom>
          <a:noFill/>
        </p:spPr>
        <p:txBody>
          <a:bodyPr wrap="square" lIns="0" tIns="0" rIns="0" bIns="0" anchor="t">
            <a:noAutofit/>
          </a:bodyPr>
          <a:lstStyle/>
          <a:p>
            <a:pPr algn="l"/>
            <a:r>
              <a:rPr sz="1500" b="1" i="0">
                <a:solidFill>
                  <a:srgbClr val="FFA400"/>
                </a:solidFill>
                <a:latin typeface="Calibri"/>
              </a:rPr>
              <a:t>EVIDENCIA PARA AUDITORÍA</a:t>
            </a:r>
          </a:p>
        </p:txBody>
      </p:sp>
      <p:sp>
        <p:nvSpPr>
          <p:cNvPr id="28" name="Lista"/>
          <p:cNvSpPr txBox="1"/>
          <p:nvPr/>
        </p:nvSpPr>
        <p:spPr>
          <a:xfrm>
            <a:off x="7772400" y="2880360"/>
            <a:ext cx="3657600" cy="2468880"/>
          </a:xfrm>
          <a:prstGeom prst="rect">
            <a:avLst/>
          </a:prstGeom>
          <a:noFill/>
        </p:spPr>
        <p:txBody>
          <a:bodyPr wrap="square" lIns="0" tIns="0" rIns="0" bIns="0">
            <a:noAutofit/>
          </a:bodyPr>
          <a:lstStyle/>
          <a:p>
            <a:pPr marL="182880" indent="-182880">
              <a:spcAft>
                <a:spcPts val="800"/>
              </a:spcAft>
              <a:buClr>
                <a:srgbClr val="FFA400"/>
              </a:buClr>
              <a:buFont typeface="Arial"/>
              <a:buChar char="•"/>
            </a:pPr>
            <a:r>
              <a:rPr sz="1600" b="0">
                <a:solidFill>
                  <a:srgbClr val="FFFFFF"/>
                </a:solidFill>
                <a:latin typeface="Calibri"/>
              </a:rPr>
              <a:t>Registros de acceso y autenticación</a:t>
            </a:r>
          </a:p>
          <a:p>
            <a:pPr marL="182880" indent="-182880">
              <a:spcAft>
                <a:spcPts val="800"/>
              </a:spcAft>
              <a:buClr>
                <a:srgbClr val="FFA400"/>
              </a:buClr>
              <a:buFont typeface="Arial"/>
              <a:buChar char="•"/>
            </a:pPr>
            <a:r>
              <a:rPr sz="1600" b="0">
                <a:solidFill>
                  <a:srgbClr val="FFFFFF"/>
                </a:solidFill>
                <a:latin typeface="Calibri"/>
              </a:rPr>
              <a:t>Registro de consultas y respuestas</a:t>
            </a:r>
          </a:p>
          <a:p>
            <a:pPr marL="182880" indent="-182880">
              <a:spcAft>
                <a:spcPts val="800"/>
              </a:spcAft>
              <a:buClr>
                <a:srgbClr val="FFA400"/>
              </a:buClr>
              <a:buFont typeface="Arial"/>
              <a:buChar char="•"/>
            </a:pPr>
            <a:r>
              <a:rPr sz="1600" b="0">
                <a:solidFill>
                  <a:srgbClr val="FFFFFF"/>
                </a:solidFill>
                <a:latin typeface="Calibri"/>
              </a:rPr>
              <a:t>Cambios y versiones del modelo</a:t>
            </a:r>
          </a:p>
          <a:p>
            <a:pPr marL="182880" indent="-182880">
              <a:spcAft>
                <a:spcPts val="800"/>
              </a:spcAft>
              <a:buClr>
                <a:srgbClr val="FFA400"/>
              </a:buClr>
              <a:buFont typeface="Arial"/>
              <a:buChar char="•"/>
            </a:pPr>
            <a:r>
              <a:rPr sz="1600" b="0">
                <a:solidFill>
                  <a:srgbClr val="FFFFFF"/>
                </a:solidFill>
                <a:latin typeface="Calibri"/>
              </a:rPr>
              <a:t>Informes de incidentes</a:t>
            </a:r>
          </a:p>
          <a:p>
            <a:pPr marL="182880" indent="-182880">
              <a:spcAft>
                <a:spcPts val="800"/>
              </a:spcAft>
              <a:buClr>
                <a:srgbClr val="FFA400"/>
              </a:buClr>
              <a:buFont typeface="Arial"/>
              <a:buChar char="•"/>
            </a:pPr>
            <a:r>
              <a:rPr sz="1600" b="0">
                <a:solidFill>
                  <a:srgbClr val="FFFFFF"/>
                </a:solidFill>
                <a:latin typeface="Calibri"/>
              </a:rPr>
              <a:t>Pruebas de supervisión humana</a:t>
            </a:r>
          </a:p>
        </p:txBody>
      </p:sp>
      <p:sp>
        <p:nvSpPr>
          <p:cNvPr id="29"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Marco: EU AI Act Arts. 12, 14 y 15 · ISO/IEC 42001 Anexo A.6 y A.9 · Ley 1581 (seguridad)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Componentes de MLOps y su aporte a la gobernanza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CICLO DE VIDA</a:t>
            </a:r>
          </a:p>
        </p:txBody>
      </p:sp>
      <p:graphicFrame>
        <p:nvGraphicFramePr>
          <p:cNvPr id="4" name="Tabla"/>
          <p:cNvGraphicFramePr>
            <a:graphicFrameLocks noGrp="1"/>
          </p:cNvGraphicFramePr>
          <p:nvPr>
            <p:extLst>
              <p:ext uri="{D42A27DB-BD31-4B8C-83A1-F6EECF244321}">
                <p14:modId xmlns:p14="http://schemas.microsoft.com/office/powerpoint/2010/main" val="1757384482"/>
              </p:ext>
            </p:extLst>
          </p:nvPr>
        </p:nvGraphicFramePr>
        <p:xfrm>
          <a:off x="548640" y="2286000"/>
          <a:ext cx="11091670" cy="3127248"/>
        </p:xfrm>
        <a:graphic>
          <a:graphicData uri="http://schemas.openxmlformats.org/drawingml/2006/table">
            <a:tbl>
              <a:tblPr firstRow="1">
                <a:tableStyleId>{F5AB1C69-6EDB-4FF4-983F-18BD219EF322}</a:tableStyleId>
              </a:tblPr>
              <a:tblGrid>
                <a:gridCol w="2529679">
                  <a:extLst>
                    <a:ext uri="{9D8B030D-6E8A-4147-A177-3AD203B41FA5}">
                      <a16:colId xmlns:a16="http://schemas.microsoft.com/office/drawing/2014/main" val="20000"/>
                    </a:ext>
                  </a:extLst>
                </a:gridCol>
                <a:gridCol w="4475586">
                  <a:extLst>
                    <a:ext uri="{9D8B030D-6E8A-4147-A177-3AD203B41FA5}">
                      <a16:colId xmlns:a16="http://schemas.microsoft.com/office/drawing/2014/main" val="20001"/>
                    </a:ext>
                  </a:extLst>
                </a:gridCol>
                <a:gridCol w="4086405">
                  <a:extLst>
                    <a:ext uri="{9D8B030D-6E8A-4147-A177-3AD203B41FA5}">
                      <a16:colId xmlns:a16="http://schemas.microsoft.com/office/drawing/2014/main" val="20002"/>
                    </a:ext>
                  </a:extLst>
                </a:gridCol>
              </a:tblGrid>
              <a:tr h="384048">
                <a:tc>
                  <a:txBody>
                    <a:bodyPr/>
                    <a:lstStyle/>
                    <a:p>
                      <a:r>
                        <a:rPr sz="1400" b="1">
                          <a:solidFill>
                            <a:srgbClr val="FFFFFF"/>
                          </a:solidFill>
                        </a:rPr>
                        <a:t>Capacidad</a:t>
                      </a:r>
                      <a:endParaRPr sz="1400" b="1">
                        <a:solidFill>
                          <a:srgbClr val="FFFFFF"/>
                        </a:solidFill>
                        <a:latin typeface="Calibri"/>
                      </a:endParaRPr>
                    </a:p>
                  </a:txBody>
                  <a:tcPr marL="73152" marR="73152" marT="27432" marB="27432" anchor="ctr"/>
                </a:tc>
                <a:tc>
                  <a:txBody>
                    <a:bodyPr/>
                    <a:lstStyle/>
                    <a:p>
                      <a:r>
                        <a:rPr sz="1400" b="1">
                          <a:solidFill>
                            <a:srgbClr val="FFFFFF"/>
                          </a:solidFill>
                        </a:rPr>
                        <a:t>Qué aporta a la gobernanza</a:t>
                      </a:r>
                      <a:endParaRPr sz="1400" b="1">
                        <a:solidFill>
                          <a:srgbClr val="FFFFFF"/>
                        </a:solidFill>
                        <a:latin typeface="Calibri"/>
                      </a:endParaRPr>
                    </a:p>
                  </a:txBody>
                  <a:tcPr marL="73152" marR="73152" marT="27432" marB="27432" anchor="ctr"/>
                </a:tc>
                <a:tc>
                  <a:txBody>
                    <a:bodyPr/>
                    <a:lstStyle/>
                    <a:p>
                      <a:r>
                        <a:rPr sz="1400" b="1">
                          <a:solidFill>
                            <a:srgbClr val="FFFFFF"/>
                          </a:solidFill>
                        </a:rPr>
                        <a:t>Herramientas de ejemplo</a:t>
                      </a:r>
                      <a:endParaRPr sz="1400" b="1">
                        <a:solidFill>
                          <a:srgbClr val="FFFFFF"/>
                        </a:solidFill>
                        <a:latin typeface="Calibri"/>
                      </a:endParaRPr>
                    </a:p>
                  </a:txBody>
                  <a:tcPr marL="73152" marR="73152" marT="27432" marB="27432" anchor="ctr"/>
                </a:tc>
                <a:extLst>
                  <a:ext uri="{0D108BD9-81ED-4DB2-BD59-A6C34878D82A}">
                    <a16:rowId xmlns:a16="http://schemas.microsoft.com/office/drawing/2014/main" val="10000"/>
                  </a:ext>
                </a:extLst>
              </a:tr>
              <a:tr h="457200">
                <a:tc>
                  <a:txBody>
                    <a:bodyPr/>
                    <a:lstStyle/>
                    <a:p>
                      <a:r>
                        <a:rPr sz="1400" b="1">
                          <a:solidFill>
                            <a:srgbClr val="1B2A4A"/>
                          </a:solidFill>
                        </a:rPr>
                        <a:t>Control de versiones</a:t>
                      </a:r>
                      <a:endParaRPr sz="1400" b="1">
                        <a:solidFill>
                          <a:srgbClr val="1B2A4A"/>
                        </a:solidFill>
                        <a:latin typeface="Calibri"/>
                      </a:endParaRPr>
                    </a:p>
                  </a:txBody>
                  <a:tcPr marL="73152" marR="73152" marT="27432" marB="27432" anchor="ctr"/>
                </a:tc>
                <a:tc>
                  <a:txBody>
                    <a:bodyPr/>
                    <a:lstStyle/>
                    <a:p>
                      <a:r>
                        <a:rPr sz="1400" b="0">
                          <a:solidFill>
                            <a:srgbClr val="1B2A4A"/>
                          </a:solidFill>
                        </a:rPr>
                        <a:t>Trazabilidad y revisión de cambios en código y políticas</a:t>
                      </a:r>
                      <a:endParaRPr sz="1400" b="0">
                        <a:solidFill>
                          <a:srgbClr val="1B2A4A"/>
                        </a:solidFill>
                        <a:latin typeface="Calibri"/>
                      </a:endParaRPr>
                    </a:p>
                  </a:txBody>
                  <a:tcPr marL="73152" marR="73152" marT="27432" marB="27432" anchor="ctr"/>
                </a:tc>
                <a:tc>
                  <a:txBody>
                    <a:bodyPr/>
                    <a:lstStyle/>
                    <a:p>
                      <a:r>
                        <a:rPr sz="1400" b="0">
                          <a:solidFill>
                            <a:srgbClr val="1B2A4A"/>
                          </a:solidFill>
                        </a:rPr>
                        <a:t>Git, GitHub, GitLab</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1"/>
                  </a:ext>
                </a:extLst>
              </a:tr>
              <a:tr h="457200">
                <a:tc>
                  <a:txBody>
                    <a:bodyPr/>
                    <a:lstStyle/>
                    <a:p>
                      <a:r>
                        <a:rPr sz="1400" b="1">
                          <a:solidFill>
                            <a:srgbClr val="1B2A4A"/>
                          </a:solidFill>
                        </a:rPr>
                        <a:t>Versionado de datos</a:t>
                      </a:r>
                      <a:endParaRPr sz="1400" b="1">
                        <a:solidFill>
                          <a:srgbClr val="1B2A4A"/>
                        </a:solidFill>
                        <a:latin typeface="Calibri"/>
                      </a:endParaRPr>
                    </a:p>
                  </a:txBody>
                  <a:tcPr marL="73152" marR="73152" marT="27432" marB="27432" anchor="ctr"/>
                </a:tc>
                <a:tc>
                  <a:txBody>
                    <a:bodyPr/>
                    <a:lstStyle/>
                    <a:p>
                      <a:r>
                        <a:rPr sz="1400" b="0">
                          <a:solidFill>
                            <a:srgbClr val="1B2A4A"/>
                          </a:solidFill>
                        </a:rPr>
                        <a:t>Reproducibilidad y linaje de los datasets</a:t>
                      </a:r>
                      <a:endParaRPr sz="1400" b="0">
                        <a:solidFill>
                          <a:srgbClr val="1B2A4A"/>
                        </a:solidFill>
                        <a:latin typeface="Calibri"/>
                      </a:endParaRPr>
                    </a:p>
                  </a:txBody>
                  <a:tcPr marL="73152" marR="73152" marT="27432" marB="27432" anchor="ctr"/>
                </a:tc>
                <a:tc>
                  <a:txBody>
                    <a:bodyPr/>
                    <a:lstStyle/>
                    <a:p>
                      <a:r>
                        <a:rPr sz="1400" b="0">
                          <a:solidFill>
                            <a:srgbClr val="1B2A4A"/>
                          </a:solidFill>
                        </a:rPr>
                        <a:t>DVC, lakeFS, Delta Lake</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2"/>
                  </a:ext>
                </a:extLst>
              </a:tr>
              <a:tr h="457200">
                <a:tc>
                  <a:txBody>
                    <a:bodyPr/>
                    <a:lstStyle/>
                    <a:p>
                      <a:r>
                        <a:rPr sz="1400" b="1">
                          <a:solidFill>
                            <a:srgbClr val="1B2A4A"/>
                          </a:solidFill>
                        </a:rPr>
                        <a:t>Seguimiento de experimentos</a:t>
                      </a:r>
                      <a:endParaRPr sz="1400" b="1">
                        <a:solidFill>
                          <a:srgbClr val="1B2A4A"/>
                        </a:solidFill>
                        <a:latin typeface="Calibri"/>
                      </a:endParaRPr>
                    </a:p>
                  </a:txBody>
                  <a:tcPr marL="73152" marR="73152" marT="27432" marB="27432" anchor="ctr"/>
                </a:tc>
                <a:tc>
                  <a:txBody>
                    <a:bodyPr/>
                    <a:lstStyle/>
                    <a:p>
                      <a:r>
                        <a:rPr sz="1400" b="0">
                          <a:solidFill>
                            <a:srgbClr val="1B2A4A"/>
                          </a:solidFill>
                        </a:rPr>
                        <a:t>Comparar y justificar la elección de un modelo</a:t>
                      </a:r>
                      <a:endParaRPr sz="1400" b="0">
                        <a:solidFill>
                          <a:srgbClr val="1B2A4A"/>
                        </a:solidFill>
                        <a:latin typeface="Calibri"/>
                      </a:endParaRPr>
                    </a:p>
                  </a:txBody>
                  <a:tcPr marL="73152" marR="73152" marT="27432" marB="27432" anchor="ctr"/>
                </a:tc>
                <a:tc>
                  <a:txBody>
                    <a:bodyPr/>
                    <a:lstStyle/>
                    <a:p>
                      <a:r>
                        <a:rPr sz="1400" b="0">
                          <a:solidFill>
                            <a:srgbClr val="1B2A4A"/>
                          </a:solidFill>
                        </a:rPr>
                        <a:t>MLflow Tracking, Weights &amp; Biases</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3"/>
                  </a:ext>
                </a:extLst>
              </a:tr>
              <a:tr h="457200">
                <a:tc>
                  <a:txBody>
                    <a:bodyPr/>
                    <a:lstStyle/>
                    <a:p>
                      <a:r>
                        <a:rPr sz="1400" b="1">
                          <a:solidFill>
                            <a:srgbClr val="1B2A4A"/>
                          </a:solidFill>
                        </a:rPr>
                        <a:t>Registro de modelos</a:t>
                      </a:r>
                      <a:endParaRPr sz="1400" b="1">
                        <a:solidFill>
                          <a:srgbClr val="1B2A4A"/>
                        </a:solidFill>
                        <a:latin typeface="Calibri"/>
                      </a:endParaRPr>
                    </a:p>
                  </a:txBody>
                  <a:tcPr marL="73152" marR="73152" marT="27432" marB="27432" anchor="ctr"/>
                </a:tc>
                <a:tc>
                  <a:txBody>
                    <a:bodyPr/>
                    <a:lstStyle/>
                    <a:p>
                      <a:r>
                        <a:rPr sz="1400" b="0">
                          <a:solidFill>
                            <a:srgbClr val="1B2A4A"/>
                          </a:solidFill>
                        </a:rPr>
                        <a:t>Versiones, estados y aprobaciones formales</a:t>
                      </a:r>
                      <a:endParaRPr sz="1400" b="0">
                        <a:solidFill>
                          <a:srgbClr val="1B2A4A"/>
                        </a:solidFill>
                        <a:latin typeface="Calibri"/>
                      </a:endParaRPr>
                    </a:p>
                  </a:txBody>
                  <a:tcPr marL="73152" marR="73152" marT="27432" marB="27432" anchor="ctr"/>
                </a:tc>
                <a:tc>
                  <a:txBody>
                    <a:bodyPr/>
                    <a:lstStyle/>
                    <a:p>
                      <a:r>
                        <a:rPr sz="1400" b="0">
                          <a:solidFill>
                            <a:srgbClr val="1B2A4A"/>
                          </a:solidFill>
                        </a:rPr>
                        <a:t>MLflow Model Registry</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4"/>
                  </a:ext>
                </a:extLst>
              </a:tr>
              <a:tr h="457200">
                <a:tc>
                  <a:txBody>
                    <a:bodyPr/>
                    <a:lstStyle/>
                    <a:p>
                      <a:r>
                        <a:rPr sz="1400" b="1">
                          <a:solidFill>
                            <a:srgbClr val="1B2A4A"/>
                          </a:solidFill>
                        </a:rPr>
                        <a:t>Orquestación y CI/CD</a:t>
                      </a:r>
                      <a:endParaRPr sz="1400" b="1">
                        <a:solidFill>
                          <a:srgbClr val="1B2A4A"/>
                        </a:solidFill>
                        <a:latin typeface="Calibri"/>
                      </a:endParaRPr>
                    </a:p>
                  </a:txBody>
                  <a:tcPr marL="73152" marR="73152" marT="27432" marB="27432" anchor="ctr"/>
                </a:tc>
                <a:tc>
                  <a:txBody>
                    <a:bodyPr/>
                    <a:lstStyle/>
                    <a:p>
                      <a:r>
                        <a:rPr sz="1400" b="0">
                          <a:solidFill>
                            <a:srgbClr val="1B2A4A"/>
                          </a:solidFill>
                        </a:rPr>
                        <a:t>Puertas de calidad automáticas antes de producción</a:t>
                      </a:r>
                      <a:endParaRPr sz="1400" b="0">
                        <a:solidFill>
                          <a:srgbClr val="1B2A4A"/>
                        </a:solidFill>
                        <a:latin typeface="Calibri"/>
                      </a:endParaRPr>
                    </a:p>
                  </a:txBody>
                  <a:tcPr marL="73152" marR="73152" marT="27432" marB="27432" anchor="ctr"/>
                </a:tc>
                <a:tc>
                  <a:txBody>
                    <a:bodyPr/>
                    <a:lstStyle/>
                    <a:p>
                      <a:r>
                        <a:rPr sz="1400" b="0">
                          <a:solidFill>
                            <a:srgbClr val="1B2A4A"/>
                          </a:solidFill>
                        </a:rPr>
                        <a:t>GitHub Actions, Airflow, Kubeflow</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5"/>
                  </a:ext>
                </a:extLst>
              </a:tr>
              <a:tr h="457200">
                <a:tc>
                  <a:txBody>
                    <a:bodyPr/>
                    <a:lstStyle/>
                    <a:p>
                      <a:r>
                        <a:rPr sz="1400" b="1">
                          <a:solidFill>
                            <a:srgbClr val="1B2A4A"/>
                          </a:solidFill>
                        </a:rPr>
                        <a:t>Monitoreo</a:t>
                      </a:r>
                      <a:endParaRPr sz="1400" b="1">
                        <a:solidFill>
                          <a:srgbClr val="1B2A4A"/>
                        </a:solidFill>
                        <a:latin typeface="Calibri"/>
                      </a:endParaRPr>
                    </a:p>
                  </a:txBody>
                  <a:tcPr marL="73152" marR="73152" marT="27432" marB="27432" anchor="ctr"/>
                </a:tc>
                <a:tc>
                  <a:txBody>
                    <a:bodyPr/>
                    <a:lstStyle/>
                    <a:p>
                      <a:r>
                        <a:rPr sz="1400" b="0">
                          <a:solidFill>
                            <a:srgbClr val="1B2A4A"/>
                          </a:solidFill>
                        </a:rPr>
                        <a:t>Deriva, desempeño y alertas en producción</a:t>
                      </a:r>
                      <a:endParaRPr sz="1400" b="0">
                        <a:solidFill>
                          <a:srgbClr val="1B2A4A"/>
                        </a:solidFill>
                        <a:latin typeface="Calibri"/>
                      </a:endParaRPr>
                    </a:p>
                  </a:txBody>
                  <a:tcPr marL="73152" marR="73152" marT="27432" marB="27432" anchor="ctr"/>
                </a:tc>
                <a:tc>
                  <a:txBody>
                    <a:bodyPr/>
                    <a:lstStyle/>
                    <a:p>
                      <a:r>
                        <a:rPr sz="1400" b="0" dirty="0" err="1">
                          <a:solidFill>
                            <a:srgbClr val="1B2A4A"/>
                          </a:solidFill>
                        </a:rPr>
                        <a:t>Evidently</a:t>
                      </a:r>
                      <a:r>
                        <a:rPr sz="1400" b="0" dirty="0">
                          <a:solidFill>
                            <a:srgbClr val="1B2A4A"/>
                          </a:solidFill>
                        </a:rPr>
                        <a:t>, </a:t>
                      </a:r>
                      <a:r>
                        <a:rPr sz="1400" b="0" dirty="0" err="1">
                          <a:solidFill>
                            <a:srgbClr val="1B2A4A"/>
                          </a:solidFill>
                        </a:rPr>
                        <a:t>Prometheus</a:t>
                      </a:r>
                      <a:r>
                        <a:rPr sz="1400" b="0" dirty="0">
                          <a:solidFill>
                            <a:srgbClr val="1B2A4A"/>
                          </a:solidFill>
                        </a:rPr>
                        <a:t> + </a:t>
                      </a:r>
                      <a:r>
                        <a:rPr sz="1400" b="0" dirty="0" err="1">
                          <a:solidFill>
                            <a:srgbClr val="1B2A4A"/>
                          </a:solidFill>
                        </a:rPr>
                        <a:t>Grafana</a:t>
                      </a:r>
                      <a:endParaRPr sz="1400" b="0" dirty="0">
                        <a:solidFill>
                          <a:srgbClr val="1B2A4A"/>
                        </a:solidFill>
                        <a:latin typeface="Calibri"/>
                      </a:endParaRPr>
                    </a:p>
                  </a:txBody>
                  <a:tcPr marL="73152" marR="73152" marT="27432" marB="27432" anchor="ctr"/>
                </a:tc>
                <a:extLst>
                  <a:ext uri="{0D108BD9-81ED-4DB2-BD59-A6C34878D82A}">
                    <a16:rowId xmlns:a16="http://schemas.microsoft.com/office/drawing/2014/main" val="10006"/>
                  </a:ext>
                </a:extLst>
              </a:tr>
            </a:tbl>
          </a:graphicData>
        </a:graphic>
      </p:graphicFrame>
      <p:sp>
        <p:nvSpPr>
          <p:cNvPr id="5"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Las herramientas son ejemplos: lo importante es la capacidad y la evidencia que produce.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Medir para gobernar: ¿qué se mide?</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MEDICIÓN</a:t>
            </a:r>
          </a:p>
        </p:txBody>
      </p:sp>
      <p:sp>
        <p:nvSpPr>
          <p:cNvPr id="4" name="Tarjeta"/>
          <p:cNvSpPr/>
          <p:nvPr/>
        </p:nvSpPr>
        <p:spPr>
          <a:xfrm>
            <a:off x="548640" y="2286000"/>
            <a:ext cx="2635758"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777240" y="2468880"/>
            <a:ext cx="548640" cy="54864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p:cNvSpPr txBox="1"/>
          <p:nvPr/>
        </p:nvSpPr>
        <p:spPr>
          <a:xfrm>
            <a:off x="1417319" y="2468880"/>
            <a:ext cx="1675638" cy="548640"/>
          </a:xfrm>
          <a:prstGeom prst="rect">
            <a:avLst/>
          </a:prstGeom>
          <a:noFill/>
        </p:spPr>
        <p:txBody>
          <a:bodyPr wrap="square" lIns="0" tIns="0" rIns="0" bIns="0" anchor="ctr">
            <a:noAutofit/>
          </a:bodyPr>
          <a:lstStyle/>
          <a:p>
            <a:pPr algn="l"/>
            <a:r>
              <a:rPr sz="1800" b="1" i="0">
                <a:solidFill>
                  <a:srgbClr val="1B2A4A"/>
                </a:solidFill>
                <a:latin typeface="Calibri"/>
              </a:rPr>
              <a:t>Proceso y cobertura</a:t>
            </a:r>
          </a:p>
        </p:txBody>
      </p:sp>
      <p:sp>
        <p:nvSpPr>
          <p:cNvPr id="8" name="Lista"/>
          <p:cNvSpPr txBox="1"/>
          <p:nvPr/>
        </p:nvSpPr>
        <p:spPr>
          <a:xfrm>
            <a:off x="777240" y="3291840"/>
            <a:ext cx="2224278" cy="2103120"/>
          </a:xfrm>
          <a:prstGeom prst="rect">
            <a:avLst/>
          </a:prstGeom>
          <a:noFill/>
        </p:spPr>
        <p:txBody>
          <a:bodyPr wrap="square" lIns="0" tIns="0" rIns="0" bIns="0">
            <a:noAutofit/>
          </a:bodyPr>
          <a:lstStyle/>
          <a:p>
            <a:pPr marL="182880" indent="-182880">
              <a:spcAft>
                <a:spcPts val="1000"/>
              </a:spcAft>
              <a:buClr>
                <a:srgbClr val="9200EE"/>
              </a:buClr>
              <a:buFont typeface="Arial"/>
              <a:buChar char="•"/>
            </a:pPr>
            <a:r>
              <a:rPr sz="1600" b="0">
                <a:solidFill>
                  <a:srgbClr val="1B2A4A"/>
                </a:solidFill>
                <a:latin typeface="Calibri"/>
              </a:rPr>
              <a:t>% de sistemas inventariados</a:t>
            </a:r>
          </a:p>
          <a:p>
            <a:pPr marL="182880" indent="-182880">
              <a:spcAft>
                <a:spcPts val="1000"/>
              </a:spcAft>
              <a:buClr>
                <a:srgbClr val="9200EE"/>
              </a:buClr>
              <a:buFont typeface="Arial"/>
              <a:buChar char="•"/>
            </a:pPr>
            <a:r>
              <a:rPr sz="1600" b="0">
                <a:solidFill>
                  <a:srgbClr val="1B2A4A"/>
                </a:solidFill>
                <a:latin typeface="Calibri"/>
              </a:rPr>
              <a:t>% con tier asignado</a:t>
            </a:r>
          </a:p>
          <a:p>
            <a:pPr marL="182880" indent="-182880">
              <a:spcAft>
                <a:spcPts val="1000"/>
              </a:spcAft>
              <a:buClr>
                <a:srgbClr val="9200EE"/>
              </a:buClr>
              <a:buFont typeface="Arial"/>
              <a:buChar char="•"/>
            </a:pPr>
            <a:r>
              <a:rPr sz="1600" b="0">
                <a:solidFill>
                  <a:srgbClr val="1B2A4A"/>
                </a:solidFill>
                <a:latin typeface="Calibri"/>
              </a:rPr>
              <a:t>% con evaluación de impacto aprobada</a:t>
            </a:r>
          </a:p>
        </p:txBody>
      </p:sp>
      <p:sp>
        <p:nvSpPr>
          <p:cNvPr id="9" name="Tarjeta"/>
          <p:cNvSpPr/>
          <p:nvPr/>
        </p:nvSpPr>
        <p:spPr>
          <a:xfrm>
            <a:off x="3367278" y="2286000"/>
            <a:ext cx="2635758"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írculo de ícono"/>
          <p:cNvSpPr/>
          <p:nvPr/>
        </p:nvSpPr>
        <p:spPr>
          <a:xfrm>
            <a:off x="3550158" y="2468880"/>
            <a:ext cx="548640" cy="54864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o"/>
          <p:cNvSpPr txBox="1"/>
          <p:nvPr/>
        </p:nvSpPr>
        <p:spPr>
          <a:xfrm>
            <a:off x="4235958" y="2468880"/>
            <a:ext cx="1675638" cy="548640"/>
          </a:xfrm>
          <a:prstGeom prst="rect">
            <a:avLst/>
          </a:prstGeom>
          <a:noFill/>
        </p:spPr>
        <p:txBody>
          <a:bodyPr wrap="square" lIns="0" tIns="0" rIns="0" bIns="0" anchor="ctr">
            <a:noAutofit/>
          </a:bodyPr>
          <a:lstStyle/>
          <a:p>
            <a:pPr algn="l"/>
            <a:r>
              <a:rPr sz="1800" b="1" i="0">
                <a:solidFill>
                  <a:srgbClr val="1B2A4A"/>
                </a:solidFill>
                <a:latin typeface="Calibri"/>
              </a:rPr>
              <a:t>Datos</a:t>
            </a:r>
          </a:p>
        </p:txBody>
      </p:sp>
      <p:sp>
        <p:nvSpPr>
          <p:cNvPr id="13" name="Lista"/>
          <p:cNvSpPr txBox="1"/>
          <p:nvPr/>
        </p:nvSpPr>
        <p:spPr>
          <a:xfrm>
            <a:off x="3595878" y="3291840"/>
            <a:ext cx="2224278" cy="2103120"/>
          </a:xfrm>
          <a:prstGeom prst="rect">
            <a:avLst/>
          </a:prstGeom>
          <a:noFill/>
        </p:spPr>
        <p:txBody>
          <a:bodyPr wrap="square" lIns="0" tIns="0" rIns="0" bIns="0">
            <a:noAutofit/>
          </a:bodyPr>
          <a:lstStyle/>
          <a:p>
            <a:pPr marL="182880" indent="-182880">
              <a:spcAft>
                <a:spcPts val="1000"/>
              </a:spcAft>
              <a:buClr>
                <a:srgbClr val="9200EE"/>
              </a:buClr>
              <a:buFont typeface="Arial"/>
              <a:buChar char="•"/>
            </a:pPr>
            <a:r>
              <a:rPr sz="1600" b="0">
                <a:solidFill>
                  <a:srgbClr val="1B2A4A"/>
                </a:solidFill>
                <a:latin typeface="Calibri"/>
              </a:rPr>
              <a:t>Completitud y duplicados</a:t>
            </a:r>
          </a:p>
          <a:p>
            <a:pPr marL="182880" indent="-182880">
              <a:spcAft>
                <a:spcPts val="1000"/>
              </a:spcAft>
              <a:buClr>
                <a:srgbClr val="9200EE"/>
              </a:buClr>
              <a:buFont typeface="Arial"/>
              <a:buChar char="•"/>
            </a:pPr>
            <a:r>
              <a:rPr sz="1600" b="0">
                <a:solidFill>
                  <a:srgbClr val="1B2A4A"/>
                </a:solidFill>
                <a:latin typeface="Calibri"/>
              </a:rPr>
              <a:t>Representatividad por grupo</a:t>
            </a:r>
          </a:p>
          <a:p>
            <a:pPr marL="182880" indent="-182880">
              <a:spcAft>
                <a:spcPts val="1000"/>
              </a:spcAft>
              <a:buClr>
                <a:srgbClr val="9200EE"/>
              </a:buClr>
              <a:buFont typeface="Arial"/>
              <a:buChar char="•"/>
            </a:pPr>
            <a:r>
              <a:rPr sz="1600" b="0">
                <a:solidFill>
                  <a:srgbClr val="1B2A4A"/>
                </a:solidFill>
                <a:latin typeface="Calibri"/>
              </a:rPr>
              <a:t>% de datasets con linaje documentado</a:t>
            </a:r>
          </a:p>
        </p:txBody>
      </p:sp>
      <p:sp>
        <p:nvSpPr>
          <p:cNvPr id="14" name="Tarjeta"/>
          <p:cNvSpPr/>
          <p:nvPr/>
        </p:nvSpPr>
        <p:spPr>
          <a:xfrm>
            <a:off x="6185916" y="2286000"/>
            <a:ext cx="2635758"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írculo de ícono"/>
          <p:cNvSpPr/>
          <p:nvPr/>
        </p:nvSpPr>
        <p:spPr>
          <a:xfrm>
            <a:off x="6368796" y="2468880"/>
            <a:ext cx="548640" cy="54864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o"/>
          <p:cNvSpPr txBox="1"/>
          <p:nvPr/>
        </p:nvSpPr>
        <p:spPr>
          <a:xfrm>
            <a:off x="7054596" y="2468880"/>
            <a:ext cx="1675638" cy="548640"/>
          </a:xfrm>
          <a:prstGeom prst="rect">
            <a:avLst/>
          </a:prstGeom>
          <a:noFill/>
        </p:spPr>
        <p:txBody>
          <a:bodyPr wrap="square" lIns="0" tIns="0" rIns="0" bIns="0" anchor="ctr">
            <a:noAutofit/>
          </a:bodyPr>
          <a:lstStyle/>
          <a:p>
            <a:pPr algn="l"/>
            <a:r>
              <a:rPr sz="1800" b="1" i="0">
                <a:solidFill>
                  <a:srgbClr val="1B2A4A"/>
                </a:solidFill>
                <a:latin typeface="Calibri"/>
              </a:rPr>
              <a:t>Modelo</a:t>
            </a:r>
          </a:p>
        </p:txBody>
      </p:sp>
      <p:sp>
        <p:nvSpPr>
          <p:cNvPr id="18" name="Lista"/>
          <p:cNvSpPr txBox="1"/>
          <p:nvPr/>
        </p:nvSpPr>
        <p:spPr>
          <a:xfrm>
            <a:off x="6414516" y="3291840"/>
            <a:ext cx="2224278" cy="2103120"/>
          </a:xfrm>
          <a:prstGeom prst="rect">
            <a:avLst/>
          </a:prstGeom>
          <a:noFill/>
        </p:spPr>
        <p:txBody>
          <a:bodyPr wrap="square" lIns="0" tIns="0" rIns="0" bIns="0">
            <a:noAutofit/>
          </a:bodyPr>
          <a:lstStyle/>
          <a:p>
            <a:pPr marL="182880" indent="-182880">
              <a:spcAft>
                <a:spcPts val="1000"/>
              </a:spcAft>
              <a:buClr>
                <a:srgbClr val="9200EE"/>
              </a:buClr>
              <a:buFont typeface="Arial"/>
              <a:buChar char="•"/>
            </a:pPr>
            <a:r>
              <a:rPr sz="1600" b="0">
                <a:solidFill>
                  <a:srgbClr val="1B2A4A"/>
                </a:solidFill>
                <a:latin typeface="Calibri"/>
              </a:rPr>
              <a:t>Exactitud, F1 y AUC</a:t>
            </a:r>
          </a:p>
          <a:p>
            <a:pPr marL="182880" indent="-182880">
              <a:spcAft>
                <a:spcPts val="1000"/>
              </a:spcAft>
              <a:buClr>
                <a:srgbClr val="9200EE"/>
              </a:buClr>
              <a:buFont typeface="Arial"/>
              <a:buChar char="•"/>
            </a:pPr>
            <a:r>
              <a:rPr sz="1600" b="0">
                <a:solidFill>
                  <a:srgbClr val="1B2A4A"/>
                </a:solidFill>
                <a:latin typeface="Calibri"/>
              </a:rPr>
              <a:t>Brechas de equidad entre grupos</a:t>
            </a:r>
          </a:p>
          <a:p>
            <a:pPr marL="182880" indent="-182880">
              <a:spcAft>
                <a:spcPts val="1000"/>
              </a:spcAft>
              <a:buClr>
                <a:srgbClr val="9200EE"/>
              </a:buClr>
              <a:buFont typeface="Arial"/>
              <a:buChar char="•"/>
            </a:pPr>
            <a:r>
              <a:rPr sz="1600" b="0">
                <a:solidFill>
                  <a:srgbClr val="1B2A4A"/>
                </a:solidFill>
                <a:latin typeface="Calibri"/>
              </a:rPr>
              <a:t>Importancia de variables (SHAP)</a:t>
            </a:r>
          </a:p>
        </p:txBody>
      </p:sp>
      <p:sp>
        <p:nvSpPr>
          <p:cNvPr id="19" name="Tarjeta"/>
          <p:cNvSpPr/>
          <p:nvPr/>
        </p:nvSpPr>
        <p:spPr>
          <a:xfrm>
            <a:off x="9004554" y="2286000"/>
            <a:ext cx="2635758"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Ícono FaTachometerAlt" descr="TachometerAlt"/>
          <p:cNvPicPr>
            <a:picLocks noChangeAspect="1"/>
          </p:cNvPicPr>
          <p:nvPr/>
        </p:nvPicPr>
        <p:blipFill>
          <a:blip r:embed="rId3"/>
          <a:stretch>
            <a:fillRect/>
          </a:stretch>
        </p:blipFill>
        <p:spPr>
          <a:xfrm>
            <a:off x="9319107" y="2600553"/>
            <a:ext cx="285292" cy="285292"/>
          </a:xfrm>
          <a:prstGeom prst="rect">
            <a:avLst/>
          </a:prstGeom>
        </p:spPr>
      </p:pic>
      <p:sp>
        <p:nvSpPr>
          <p:cNvPr id="22" name="Texto"/>
          <p:cNvSpPr txBox="1"/>
          <p:nvPr/>
        </p:nvSpPr>
        <p:spPr>
          <a:xfrm>
            <a:off x="9873234" y="2468880"/>
            <a:ext cx="1675638" cy="548640"/>
          </a:xfrm>
          <a:prstGeom prst="rect">
            <a:avLst/>
          </a:prstGeom>
          <a:noFill/>
        </p:spPr>
        <p:txBody>
          <a:bodyPr wrap="square" lIns="0" tIns="0" rIns="0" bIns="0" anchor="ctr">
            <a:noAutofit/>
          </a:bodyPr>
          <a:lstStyle/>
          <a:p>
            <a:pPr algn="l"/>
            <a:r>
              <a:rPr sz="1800" b="1" i="0">
                <a:solidFill>
                  <a:srgbClr val="1B2A4A"/>
                </a:solidFill>
                <a:latin typeface="Calibri"/>
              </a:rPr>
              <a:t>Operación</a:t>
            </a:r>
          </a:p>
        </p:txBody>
      </p:sp>
      <p:sp>
        <p:nvSpPr>
          <p:cNvPr id="23" name="Lista"/>
          <p:cNvSpPr txBox="1"/>
          <p:nvPr/>
        </p:nvSpPr>
        <p:spPr>
          <a:xfrm>
            <a:off x="9233154" y="3291840"/>
            <a:ext cx="2224278" cy="2103120"/>
          </a:xfrm>
          <a:prstGeom prst="rect">
            <a:avLst/>
          </a:prstGeom>
          <a:noFill/>
        </p:spPr>
        <p:txBody>
          <a:bodyPr wrap="square" lIns="0" tIns="0" rIns="0" bIns="0">
            <a:noAutofit/>
          </a:bodyPr>
          <a:lstStyle/>
          <a:p>
            <a:pPr marL="182880" indent="-182880">
              <a:spcAft>
                <a:spcPts val="1000"/>
              </a:spcAft>
              <a:buClr>
                <a:srgbClr val="9200EE"/>
              </a:buClr>
              <a:buFont typeface="Arial"/>
              <a:buChar char="•"/>
            </a:pPr>
            <a:r>
              <a:rPr sz="1600" b="0">
                <a:solidFill>
                  <a:srgbClr val="1B2A4A"/>
                </a:solidFill>
                <a:latin typeface="Calibri"/>
              </a:rPr>
              <a:t>Deriva de datos (PSI)</a:t>
            </a:r>
          </a:p>
          <a:p>
            <a:pPr marL="182880" indent="-182880">
              <a:spcAft>
                <a:spcPts val="1000"/>
              </a:spcAft>
              <a:buClr>
                <a:srgbClr val="9200EE"/>
              </a:buClr>
              <a:buFont typeface="Arial"/>
              <a:buChar char="•"/>
            </a:pPr>
            <a:r>
              <a:rPr sz="1600" b="0">
                <a:solidFill>
                  <a:srgbClr val="1B2A4A"/>
                </a:solidFill>
                <a:latin typeface="Calibri"/>
              </a:rPr>
              <a:t>Disponibilidad y latencia</a:t>
            </a:r>
          </a:p>
          <a:p>
            <a:pPr marL="182880" indent="-182880">
              <a:spcAft>
                <a:spcPts val="1000"/>
              </a:spcAft>
              <a:buClr>
                <a:srgbClr val="9200EE"/>
              </a:buClr>
              <a:buFont typeface="Arial"/>
              <a:buChar char="•"/>
            </a:pPr>
            <a:r>
              <a:rPr sz="1600" b="0">
                <a:solidFill>
                  <a:srgbClr val="1B2A4A"/>
                </a:solidFill>
                <a:latin typeface="Calibri"/>
              </a:rPr>
              <a:t>Incidentes y tiempo de resolución</a:t>
            </a:r>
          </a:p>
        </p:txBody>
      </p:sp>
      <p:sp>
        <p:nvSpPr>
          <p:cNvPr id="24" name="Nota"/>
          <p:cNvSpPr/>
          <p:nvPr/>
        </p:nvSpPr>
        <p:spPr>
          <a:xfrm>
            <a:off x="548640" y="5559552"/>
            <a:ext cx="11091672" cy="347472"/>
          </a:xfrm>
          <a:prstGeom prst="roundRect">
            <a:avLst>
              <a:gd name="adj" fmla="val 20000"/>
            </a:avLst>
          </a:prstGeom>
          <a:solidFill>
            <a:srgbClr val="FFF4D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Lo que no se mide no se puede gobernar: cada métrica necesita una herramienta que la calcule y deje evidencia.</a:t>
            </a:r>
          </a:p>
        </p:txBody>
      </p:sp>
      <p:sp>
        <p:nvSpPr>
          <p:cNvPr id="25" name="Círculo de ícono">
            <a:extLst>
              <a:ext uri="{FF2B5EF4-FFF2-40B4-BE49-F238E27FC236}">
                <a16:creationId xmlns:a16="http://schemas.microsoft.com/office/drawing/2014/main" id="{80C17AB8-16F7-14FF-A5AA-4489B660512E}"/>
              </a:ext>
            </a:extLst>
          </p:cNvPr>
          <p:cNvSpPr/>
          <p:nvPr/>
        </p:nvSpPr>
        <p:spPr>
          <a:xfrm>
            <a:off x="9172818" y="2483483"/>
            <a:ext cx="548640" cy="54864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Indicadores y umbrales de referencia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MEDICIÓN</a:t>
            </a:r>
          </a:p>
        </p:txBody>
      </p:sp>
      <p:graphicFrame>
        <p:nvGraphicFramePr>
          <p:cNvPr id="4" name="Tabla"/>
          <p:cNvGraphicFramePr>
            <a:graphicFrameLocks noGrp="1"/>
          </p:cNvGraphicFramePr>
          <p:nvPr>
            <p:extLst>
              <p:ext uri="{D42A27DB-BD31-4B8C-83A1-F6EECF244321}">
                <p14:modId xmlns:p14="http://schemas.microsoft.com/office/powerpoint/2010/main" val="185068369"/>
              </p:ext>
            </p:extLst>
          </p:nvPr>
        </p:nvGraphicFramePr>
        <p:xfrm>
          <a:off x="548640" y="2286000"/>
          <a:ext cx="11091670" cy="3108960"/>
        </p:xfrm>
        <a:graphic>
          <a:graphicData uri="http://schemas.openxmlformats.org/drawingml/2006/table">
            <a:tbl>
              <a:tblPr firstRow="1">
                <a:tableStyleId>{F5AB1C69-6EDB-4FF4-983F-18BD219EF322}</a:tableStyleId>
              </a:tblPr>
              <a:tblGrid>
                <a:gridCol w="2545629">
                  <a:extLst>
                    <a:ext uri="{9D8B030D-6E8A-4147-A177-3AD203B41FA5}">
                      <a16:colId xmlns:a16="http://schemas.microsoft.com/office/drawing/2014/main" val="20000"/>
                    </a:ext>
                  </a:extLst>
                </a:gridCol>
                <a:gridCol w="3272952">
                  <a:extLst>
                    <a:ext uri="{9D8B030D-6E8A-4147-A177-3AD203B41FA5}">
                      <a16:colId xmlns:a16="http://schemas.microsoft.com/office/drawing/2014/main" val="20001"/>
                    </a:ext>
                  </a:extLst>
                </a:gridCol>
                <a:gridCol w="3091121">
                  <a:extLst>
                    <a:ext uri="{9D8B030D-6E8A-4147-A177-3AD203B41FA5}">
                      <a16:colId xmlns:a16="http://schemas.microsoft.com/office/drawing/2014/main" val="20002"/>
                    </a:ext>
                  </a:extLst>
                </a:gridCol>
                <a:gridCol w="2181968">
                  <a:extLst>
                    <a:ext uri="{9D8B030D-6E8A-4147-A177-3AD203B41FA5}">
                      <a16:colId xmlns:a16="http://schemas.microsoft.com/office/drawing/2014/main" val="20003"/>
                    </a:ext>
                  </a:extLst>
                </a:gridCol>
              </a:tblGrid>
              <a:tr h="365760">
                <a:tc>
                  <a:txBody>
                    <a:bodyPr/>
                    <a:lstStyle/>
                    <a:p>
                      <a:r>
                        <a:rPr sz="1300" b="1">
                          <a:solidFill>
                            <a:srgbClr val="FFFFFF"/>
                          </a:solidFill>
                        </a:rPr>
                        <a:t>Indicador</a:t>
                      </a:r>
                      <a:endParaRPr sz="1300" b="1">
                        <a:solidFill>
                          <a:srgbClr val="FFFFFF"/>
                        </a:solidFill>
                        <a:latin typeface="Calibri"/>
                      </a:endParaRPr>
                    </a:p>
                  </a:txBody>
                  <a:tcPr marL="73152" marR="73152" marT="27432" marB="27432" anchor="ctr"/>
                </a:tc>
                <a:tc>
                  <a:txBody>
                    <a:bodyPr/>
                    <a:lstStyle/>
                    <a:p>
                      <a:r>
                        <a:rPr sz="1300" b="1">
                          <a:solidFill>
                            <a:srgbClr val="FFFFFF"/>
                          </a:solidFill>
                        </a:rPr>
                        <a:t>Qué indica</a:t>
                      </a:r>
                      <a:endParaRPr sz="1300" b="1">
                        <a:solidFill>
                          <a:srgbClr val="FFFFFF"/>
                        </a:solidFill>
                        <a:latin typeface="Calibri"/>
                      </a:endParaRPr>
                    </a:p>
                  </a:txBody>
                  <a:tcPr marL="73152" marR="73152" marT="27432" marB="27432" anchor="ctr"/>
                </a:tc>
                <a:tc>
                  <a:txBody>
                    <a:bodyPr/>
                    <a:lstStyle/>
                    <a:p>
                      <a:r>
                        <a:rPr sz="1300" b="1">
                          <a:solidFill>
                            <a:srgbClr val="FFFFFF"/>
                          </a:solidFill>
                        </a:rPr>
                        <a:t>Umbral de referencia</a:t>
                      </a:r>
                      <a:endParaRPr sz="1300" b="1">
                        <a:solidFill>
                          <a:srgbClr val="FFFFFF"/>
                        </a:solidFill>
                        <a:latin typeface="Calibri"/>
                      </a:endParaRPr>
                    </a:p>
                  </a:txBody>
                  <a:tcPr marL="73152" marR="73152" marT="27432" marB="27432" anchor="ctr"/>
                </a:tc>
                <a:tc>
                  <a:txBody>
                    <a:bodyPr/>
                    <a:lstStyle/>
                    <a:p>
                      <a:r>
                        <a:rPr sz="1300" b="1">
                          <a:solidFill>
                            <a:srgbClr val="FFFFFF"/>
                          </a:solidFill>
                        </a:rPr>
                        <a:t>Herramienta</a:t>
                      </a:r>
                      <a:endParaRPr sz="1300" b="1">
                        <a:solidFill>
                          <a:srgbClr val="FFFFFF"/>
                        </a:solidFill>
                        <a:latin typeface="Calibri"/>
                      </a:endParaRPr>
                    </a:p>
                  </a:txBody>
                  <a:tcPr marL="73152" marR="73152" marT="27432" marB="27432" anchor="ctr"/>
                </a:tc>
                <a:extLst>
                  <a:ext uri="{0D108BD9-81ED-4DB2-BD59-A6C34878D82A}">
                    <a16:rowId xmlns:a16="http://schemas.microsoft.com/office/drawing/2014/main" val="10000"/>
                  </a:ext>
                </a:extLst>
              </a:tr>
              <a:tr h="457200">
                <a:tc>
                  <a:txBody>
                    <a:bodyPr/>
                    <a:lstStyle/>
                    <a:p>
                      <a:r>
                        <a:rPr sz="1300" b="1">
                          <a:solidFill>
                            <a:srgbClr val="1B2A4A"/>
                          </a:solidFill>
                        </a:rPr>
                        <a:t>Cobertura del inventario</a:t>
                      </a:r>
                      <a:endParaRPr sz="1300" b="1">
                        <a:solidFill>
                          <a:srgbClr val="1B2A4A"/>
                        </a:solidFill>
                        <a:latin typeface="Calibri"/>
                      </a:endParaRPr>
                    </a:p>
                  </a:txBody>
                  <a:tcPr marL="73152" marR="73152" marT="27432" marB="27432" anchor="ctr"/>
                </a:tc>
                <a:tc>
                  <a:txBody>
                    <a:bodyPr/>
                    <a:lstStyle/>
                    <a:p>
                      <a:r>
                        <a:rPr sz="1300" b="0">
                          <a:solidFill>
                            <a:srgbClr val="1B2A4A"/>
                          </a:solidFill>
                        </a:rPr>
                        <a:t>Sistemas de IA registrados frente a los existentes</a:t>
                      </a:r>
                      <a:endParaRPr sz="1300" b="0">
                        <a:solidFill>
                          <a:srgbClr val="1B2A4A"/>
                        </a:solidFill>
                        <a:latin typeface="Calibri"/>
                      </a:endParaRPr>
                    </a:p>
                  </a:txBody>
                  <a:tcPr marL="73152" marR="73152" marT="27432" marB="27432" anchor="ctr"/>
                </a:tc>
                <a:tc>
                  <a:txBody>
                    <a:bodyPr/>
                    <a:lstStyle/>
                    <a:p>
                      <a:r>
                        <a:rPr sz="1300" b="0">
                          <a:solidFill>
                            <a:srgbClr val="1B2A4A"/>
                          </a:solidFill>
                        </a:rPr>
                        <a:t>Meta: 100 %</a:t>
                      </a:r>
                      <a:endParaRPr sz="1300" b="0">
                        <a:solidFill>
                          <a:srgbClr val="1B2A4A"/>
                        </a:solidFill>
                        <a:latin typeface="Calibri"/>
                      </a:endParaRPr>
                    </a:p>
                  </a:txBody>
                  <a:tcPr marL="73152" marR="73152" marT="27432" marB="27432" anchor="ctr"/>
                </a:tc>
                <a:tc>
                  <a:txBody>
                    <a:bodyPr/>
                    <a:lstStyle/>
                    <a:p>
                      <a:r>
                        <a:rPr sz="1300" b="0">
                          <a:solidFill>
                            <a:srgbClr val="1B2A4A"/>
                          </a:solidFill>
                        </a:rPr>
                        <a:t>Inventario + revisión de repos</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1"/>
                  </a:ext>
                </a:extLst>
              </a:tr>
              <a:tr h="457200">
                <a:tc>
                  <a:txBody>
                    <a:bodyPr/>
                    <a:lstStyle/>
                    <a:p>
                      <a:r>
                        <a:rPr sz="1300" b="1">
                          <a:solidFill>
                            <a:srgbClr val="1B2A4A"/>
                          </a:solidFill>
                        </a:rPr>
                        <a:t>PSI (deriva de datos)</a:t>
                      </a:r>
                      <a:endParaRPr sz="1300" b="1">
                        <a:solidFill>
                          <a:srgbClr val="1B2A4A"/>
                        </a:solidFill>
                        <a:latin typeface="Calibri"/>
                      </a:endParaRPr>
                    </a:p>
                  </a:txBody>
                  <a:tcPr marL="73152" marR="73152" marT="27432" marB="27432" anchor="ctr"/>
                </a:tc>
                <a:tc>
                  <a:txBody>
                    <a:bodyPr/>
                    <a:lstStyle/>
                    <a:p>
                      <a:r>
                        <a:rPr sz="1300" b="0">
                          <a:solidFill>
                            <a:srgbClr val="1B2A4A"/>
                          </a:solidFill>
                        </a:rPr>
                        <a:t>Cambio en la distribución de los datos de entrada</a:t>
                      </a:r>
                      <a:endParaRPr sz="1300" b="0">
                        <a:solidFill>
                          <a:srgbClr val="1B2A4A"/>
                        </a:solidFill>
                        <a:latin typeface="Calibri"/>
                      </a:endParaRPr>
                    </a:p>
                  </a:txBody>
                  <a:tcPr marL="73152" marR="73152" marT="27432" marB="27432" anchor="ctr"/>
                </a:tc>
                <a:tc>
                  <a:txBody>
                    <a:bodyPr/>
                    <a:lstStyle/>
                    <a:p>
                      <a:r>
                        <a:rPr sz="1300" b="0">
                          <a:solidFill>
                            <a:srgbClr val="1B2A4A"/>
                          </a:solidFill>
                        </a:rPr>
                        <a:t>&lt; 0,1 estable · 0,1–0,25 vigilar · &gt; 0,25 actuar</a:t>
                      </a:r>
                      <a:endParaRPr sz="1300" b="0">
                        <a:solidFill>
                          <a:srgbClr val="1B2A4A"/>
                        </a:solidFill>
                        <a:latin typeface="Calibri"/>
                      </a:endParaRPr>
                    </a:p>
                  </a:txBody>
                  <a:tcPr marL="73152" marR="73152" marT="27432" marB="27432" anchor="ctr"/>
                </a:tc>
                <a:tc>
                  <a:txBody>
                    <a:bodyPr/>
                    <a:lstStyle/>
                    <a:p>
                      <a:r>
                        <a:rPr sz="1300" b="0">
                          <a:solidFill>
                            <a:srgbClr val="1B2A4A"/>
                          </a:solidFill>
                        </a:rPr>
                        <a:t>Evidently, Python</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2"/>
                  </a:ext>
                </a:extLst>
              </a:tr>
              <a:tr h="457200">
                <a:tc>
                  <a:txBody>
                    <a:bodyPr/>
                    <a:lstStyle/>
                    <a:p>
                      <a:r>
                        <a:rPr sz="1300" b="1">
                          <a:solidFill>
                            <a:srgbClr val="1B2A4A"/>
                          </a:solidFill>
                        </a:rPr>
                        <a:t>Razón de impacto dispar</a:t>
                      </a:r>
                      <a:endParaRPr sz="1300" b="1">
                        <a:solidFill>
                          <a:srgbClr val="1B2A4A"/>
                        </a:solidFill>
                        <a:latin typeface="Calibri"/>
                      </a:endParaRPr>
                    </a:p>
                  </a:txBody>
                  <a:tcPr marL="73152" marR="73152" marT="27432" marB="27432" anchor="ctr"/>
                </a:tc>
                <a:tc>
                  <a:txBody>
                    <a:bodyPr/>
                    <a:lstStyle/>
                    <a:p>
                      <a:r>
                        <a:rPr sz="1300" b="0">
                          <a:solidFill>
                            <a:srgbClr val="1B2A4A"/>
                          </a:solidFill>
                        </a:rPr>
                        <a:t>Trato desigual de resultados entre grupos</a:t>
                      </a:r>
                      <a:endParaRPr sz="1300" b="0">
                        <a:solidFill>
                          <a:srgbClr val="1B2A4A"/>
                        </a:solidFill>
                        <a:latin typeface="Calibri"/>
                      </a:endParaRPr>
                    </a:p>
                  </a:txBody>
                  <a:tcPr marL="73152" marR="73152" marT="27432" marB="27432" anchor="ctr"/>
                </a:tc>
                <a:tc>
                  <a:txBody>
                    <a:bodyPr/>
                    <a:lstStyle/>
                    <a:p>
                      <a:r>
                        <a:rPr sz="1300" b="0">
                          <a:solidFill>
                            <a:srgbClr val="1B2A4A"/>
                          </a:solidFill>
                        </a:rPr>
                        <a:t>≥ 0,80 (regla de los cuatro quintos)</a:t>
                      </a:r>
                      <a:endParaRPr sz="1300" b="0">
                        <a:solidFill>
                          <a:srgbClr val="1B2A4A"/>
                        </a:solidFill>
                        <a:latin typeface="Calibri"/>
                      </a:endParaRPr>
                    </a:p>
                  </a:txBody>
                  <a:tcPr marL="73152" marR="73152" marT="27432" marB="27432" anchor="ctr"/>
                </a:tc>
                <a:tc>
                  <a:txBody>
                    <a:bodyPr/>
                    <a:lstStyle/>
                    <a:p>
                      <a:r>
                        <a:rPr sz="1300" b="0">
                          <a:solidFill>
                            <a:srgbClr val="1B2A4A"/>
                          </a:solidFill>
                        </a:rPr>
                        <a:t>Fairlearn, AIF360</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3"/>
                  </a:ext>
                </a:extLst>
              </a:tr>
              <a:tr h="457200">
                <a:tc>
                  <a:txBody>
                    <a:bodyPr/>
                    <a:lstStyle/>
                    <a:p>
                      <a:r>
                        <a:rPr sz="1300" b="1">
                          <a:solidFill>
                            <a:srgbClr val="1B2A4A"/>
                          </a:solidFill>
                        </a:rPr>
                        <a:t>Diferencia de paridad demográfica</a:t>
                      </a:r>
                      <a:endParaRPr sz="1300" b="1">
                        <a:solidFill>
                          <a:srgbClr val="1B2A4A"/>
                        </a:solidFill>
                        <a:latin typeface="Calibri"/>
                      </a:endParaRPr>
                    </a:p>
                  </a:txBody>
                  <a:tcPr marL="73152" marR="73152" marT="27432" marB="27432" anchor="ctr"/>
                </a:tc>
                <a:tc>
                  <a:txBody>
                    <a:bodyPr/>
                    <a:lstStyle/>
                    <a:p>
                      <a:r>
                        <a:rPr sz="1300" b="0">
                          <a:solidFill>
                            <a:srgbClr val="1B2A4A"/>
                          </a:solidFill>
                        </a:rPr>
                        <a:t>Brecha en la tasa de resultados positivos</a:t>
                      </a:r>
                      <a:endParaRPr sz="1300" b="0">
                        <a:solidFill>
                          <a:srgbClr val="1B2A4A"/>
                        </a:solidFill>
                        <a:latin typeface="Calibri"/>
                      </a:endParaRPr>
                    </a:p>
                  </a:txBody>
                  <a:tcPr marL="73152" marR="73152" marT="27432" marB="27432" anchor="ctr"/>
                </a:tc>
                <a:tc>
                  <a:txBody>
                    <a:bodyPr/>
                    <a:lstStyle/>
                    <a:p>
                      <a:r>
                        <a:rPr sz="1300" b="0">
                          <a:solidFill>
                            <a:srgbClr val="1B2A4A"/>
                          </a:solidFill>
                        </a:rPr>
                        <a:t>Cercana a 0; tolerancia definida por caso</a:t>
                      </a:r>
                      <a:endParaRPr sz="1300" b="0">
                        <a:solidFill>
                          <a:srgbClr val="1B2A4A"/>
                        </a:solidFill>
                        <a:latin typeface="Calibri"/>
                      </a:endParaRPr>
                    </a:p>
                  </a:txBody>
                  <a:tcPr marL="73152" marR="73152" marT="27432" marB="27432" anchor="ctr"/>
                </a:tc>
                <a:tc>
                  <a:txBody>
                    <a:bodyPr/>
                    <a:lstStyle/>
                    <a:p>
                      <a:r>
                        <a:rPr sz="1300" b="0">
                          <a:solidFill>
                            <a:srgbClr val="1B2A4A"/>
                          </a:solidFill>
                        </a:rPr>
                        <a:t>Fairlearn</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4"/>
                  </a:ext>
                </a:extLst>
              </a:tr>
              <a:tr h="457200">
                <a:tc>
                  <a:txBody>
                    <a:bodyPr/>
                    <a:lstStyle/>
                    <a:p>
                      <a:r>
                        <a:rPr sz="1300" b="1">
                          <a:solidFill>
                            <a:srgbClr val="1B2A4A"/>
                          </a:solidFill>
                        </a:rPr>
                        <a:t>Cambios con pruebas aprobadas</a:t>
                      </a:r>
                      <a:endParaRPr sz="1300" b="1">
                        <a:solidFill>
                          <a:srgbClr val="1B2A4A"/>
                        </a:solidFill>
                        <a:latin typeface="Calibri"/>
                      </a:endParaRPr>
                    </a:p>
                  </a:txBody>
                  <a:tcPr marL="73152" marR="73152" marT="27432" marB="27432" anchor="ctr"/>
                </a:tc>
                <a:tc>
                  <a:txBody>
                    <a:bodyPr/>
                    <a:lstStyle/>
                    <a:p>
                      <a:r>
                        <a:rPr sz="1300" b="0">
                          <a:solidFill>
                            <a:srgbClr val="1B2A4A"/>
                          </a:solidFill>
                        </a:rPr>
                        <a:t>Cambios que pasan las puertas de calidad (CI)</a:t>
                      </a:r>
                      <a:endParaRPr sz="1300" b="0">
                        <a:solidFill>
                          <a:srgbClr val="1B2A4A"/>
                        </a:solidFill>
                        <a:latin typeface="Calibri"/>
                      </a:endParaRPr>
                    </a:p>
                  </a:txBody>
                  <a:tcPr marL="73152" marR="73152" marT="27432" marB="27432" anchor="ctr"/>
                </a:tc>
                <a:tc>
                  <a:txBody>
                    <a:bodyPr/>
                    <a:lstStyle/>
                    <a:p>
                      <a:r>
                        <a:rPr sz="1300" b="0">
                          <a:solidFill>
                            <a:srgbClr val="1B2A4A"/>
                          </a:solidFill>
                        </a:rPr>
                        <a:t>Meta: 100 % en Tier 3</a:t>
                      </a:r>
                      <a:endParaRPr sz="1300" b="0">
                        <a:solidFill>
                          <a:srgbClr val="1B2A4A"/>
                        </a:solidFill>
                        <a:latin typeface="Calibri"/>
                      </a:endParaRPr>
                    </a:p>
                  </a:txBody>
                  <a:tcPr marL="73152" marR="73152" marT="27432" marB="27432" anchor="ctr"/>
                </a:tc>
                <a:tc>
                  <a:txBody>
                    <a:bodyPr/>
                    <a:lstStyle/>
                    <a:p>
                      <a:r>
                        <a:rPr sz="1300" b="0">
                          <a:solidFill>
                            <a:srgbClr val="1B2A4A"/>
                          </a:solidFill>
                        </a:rPr>
                        <a:t>GitHub Actions</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5"/>
                  </a:ext>
                </a:extLst>
              </a:tr>
              <a:tr h="457200">
                <a:tc>
                  <a:txBody>
                    <a:bodyPr/>
                    <a:lstStyle/>
                    <a:p>
                      <a:r>
                        <a:rPr sz="1300" b="1">
                          <a:solidFill>
                            <a:srgbClr val="1B2A4A"/>
                          </a:solidFill>
                        </a:rPr>
                        <a:t>Tiempo de resolución (MTTR)</a:t>
                      </a:r>
                      <a:endParaRPr sz="1300" b="1">
                        <a:solidFill>
                          <a:srgbClr val="1B2A4A"/>
                        </a:solidFill>
                        <a:latin typeface="Calibri"/>
                      </a:endParaRPr>
                    </a:p>
                  </a:txBody>
                  <a:tcPr marL="73152" marR="73152" marT="27432" marB="27432" anchor="ctr"/>
                </a:tc>
                <a:tc>
                  <a:txBody>
                    <a:bodyPr/>
                    <a:lstStyle/>
                    <a:p>
                      <a:r>
                        <a:rPr sz="1300" b="0">
                          <a:solidFill>
                            <a:srgbClr val="1B2A4A"/>
                          </a:solidFill>
                        </a:rPr>
                        <a:t>Rapidez de respuesta ante incidentes</a:t>
                      </a:r>
                      <a:endParaRPr sz="1300" b="0">
                        <a:solidFill>
                          <a:srgbClr val="1B2A4A"/>
                        </a:solidFill>
                        <a:latin typeface="Calibri"/>
                      </a:endParaRPr>
                    </a:p>
                  </a:txBody>
                  <a:tcPr marL="73152" marR="73152" marT="27432" marB="27432" anchor="ctr"/>
                </a:tc>
                <a:tc>
                  <a:txBody>
                    <a:bodyPr/>
                    <a:lstStyle/>
                    <a:p>
                      <a:r>
                        <a:rPr sz="1300" b="0">
                          <a:solidFill>
                            <a:srgbClr val="1B2A4A"/>
                          </a:solidFill>
                        </a:rPr>
                        <a:t>Definido por tier</a:t>
                      </a:r>
                      <a:endParaRPr sz="1300" b="0">
                        <a:solidFill>
                          <a:srgbClr val="1B2A4A"/>
                        </a:solidFill>
                        <a:latin typeface="Calibri"/>
                      </a:endParaRPr>
                    </a:p>
                  </a:txBody>
                  <a:tcPr marL="73152" marR="73152" marT="27432" marB="27432" anchor="ctr"/>
                </a:tc>
                <a:tc>
                  <a:txBody>
                    <a:bodyPr/>
                    <a:lstStyle/>
                    <a:p>
                      <a:r>
                        <a:rPr sz="1300" b="0" dirty="0">
                          <a:solidFill>
                            <a:srgbClr val="1B2A4A"/>
                          </a:solidFill>
                        </a:rPr>
                        <a:t>Tickets + registros</a:t>
                      </a:r>
                      <a:endParaRPr sz="1300" b="0" dirty="0">
                        <a:solidFill>
                          <a:srgbClr val="1B2A4A"/>
                        </a:solidFill>
                        <a:latin typeface="Calibri"/>
                      </a:endParaRPr>
                    </a:p>
                  </a:txBody>
                  <a:tcPr marL="73152" marR="73152" marT="27432" marB="27432" anchor="ctr"/>
                </a:tc>
                <a:extLst>
                  <a:ext uri="{0D108BD9-81ED-4DB2-BD59-A6C34878D82A}">
                    <a16:rowId xmlns:a16="http://schemas.microsoft.com/office/drawing/2014/main" val="10006"/>
                  </a:ext>
                </a:extLst>
              </a:tr>
            </a:tbl>
          </a:graphicData>
        </a:graphic>
      </p:graphicFrame>
      <p:sp>
        <p:nvSpPr>
          <p:cNvPr id="5"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Son umbrales de referencia: cada organización debe definir los suyos según su riesgo y su regulación.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Mapa de herramientas: del control a la evidencia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HERRAMIENTAS</a:t>
            </a:r>
          </a:p>
        </p:txBody>
      </p:sp>
      <p:sp>
        <p:nvSpPr>
          <p:cNvPr id="4" name="Tarjeta"/>
          <p:cNvSpPr/>
          <p:nvPr/>
        </p:nvSpPr>
        <p:spPr>
          <a:xfrm>
            <a:off x="548640" y="2286000"/>
            <a:ext cx="1772412"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1114806" y="246888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Ícono FaGithub" descr="Github"/>
          <p:cNvPicPr>
            <a:picLocks noChangeAspect="1"/>
          </p:cNvPicPr>
          <p:nvPr/>
        </p:nvPicPr>
        <p:blipFill>
          <a:blip r:embed="rId3"/>
          <a:stretch>
            <a:fillRect/>
          </a:stretch>
        </p:blipFill>
        <p:spPr>
          <a:xfrm>
            <a:off x="1268425" y="2622499"/>
            <a:ext cx="332841" cy="332841"/>
          </a:xfrm>
          <a:prstGeom prst="rect">
            <a:avLst/>
          </a:prstGeom>
          <a:solidFill>
            <a:srgbClr val="567B54"/>
          </a:solidFill>
        </p:spPr>
      </p:pic>
      <p:sp>
        <p:nvSpPr>
          <p:cNvPr id="7" name="Texto"/>
          <p:cNvSpPr txBox="1"/>
          <p:nvPr/>
        </p:nvSpPr>
        <p:spPr>
          <a:xfrm>
            <a:off x="621792" y="3246120"/>
            <a:ext cx="1626108" cy="274320"/>
          </a:xfrm>
          <a:prstGeom prst="rect">
            <a:avLst/>
          </a:prstGeom>
          <a:noFill/>
        </p:spPr>
        <p:txBody>
          <a:bodyPr wrap="square" lIns="0" tIns="0" rIns="0" bIns="0" anchor="t">
            <a:noAutofit/>
          </a:bodyPr>
          <a:lstStyle/>
          <a:p>
            <a:pPr algn="ctr"/>
            <a:r>
              <a:rPr sz="1200" b="1" i="0">
                <a:solidFill>
                  <a:srgbClr val="9200EE"/>
                </a:solidFill>
                <a:latin typeface="Calibri"/>
              </a:rPr>
              <a:t>CÓDIGO</a:t>
            </a:r>
          </a:p>
        </p:txBody>
      </p:sp>
      <p:sp>
        <p:nvSpPr>
          <p:cNvPr id="8" name="Texto"/>
          <p:cNvSpPr txBox="1"/>
          <p:nvPr/>
        </p:nvSpPr>
        <p:spPr>
          <a:xfrm>
            <a:off x="621792" y="3566160"/>
            <a:ext cx="1626108" cy="731520"/>
          </a:xfrm>
          <a:prstGeom prst="rect">
            <a:avLst/>
          </a:prstGeom>
          <a:noFill/>
        </p:spPr>
        <p:txBody>
          <a:bodyPr wrap="square" lIns="0" tIns="0" rIns="0" bIns="0" anchor="t">
            <a:noAutofit/>
          </a:bodyPr>
          <a:lstStyle/>
          <a:p>
            <a:pPr algn="ctr"/>
            <a:r>
              <a:rPr sz="1600" b="1" i="0">
                <a:solidFill>
                  <a:srgbClr val="1B2A4A"/>
                </a:solidFill>
                <a:latin typeface="Calibri"/>
              </a:rPr>
              <a:t>Git / GitHub</a:t>
            </a:r>
          </a:p>
        </p:txBody>
      </p:sp>
      <p:sp>
        <p:nvSpPr>
          <p:cNvPr id="9" name="Texto"/>
          <p:cNvSpPr txBox="1"/>
          <p:nvPr/>
        </p:nvSpPr>
        <p:spPr>
          <a:xfrm>
            <a:off x="640080" y="4343400"/>
            <a:ext cx="1589532" cy="1005840"/>
          </a:xfrm>
          <a:prstGeom prst="rect">
            <a:avLst/>
          </a:prstGeom>
          <a:noFill/>
        </p:spPr>
        <p:txBody>
          <a:bodyPr wrap="square" lIns="0" tIns="0" rIns="0" bIns="0" anchor="t">
            <a:noAutofit/>
          </a:bodyPr>
          <a:lstStyle/>
          <a:p>
            <a:pPr algn="ctr"/>
            <a:r>
              <a:rPr sz="1350" b="0" i="0">
                <a:solidFill>
                  <a:srgbClr val="5B6472"/>
                </a:solidFill>
                <a:latin typeface="Calibri"/>
              </a:rPr>
              <a:t>Commits, revisiones y versiones</a:t>
            </a:r>
          </a:p>
        </p:txBody>
      </p:sp>
      <p:sp>
        <p:nvSpPr>
          <p:cNvPr id="10" name="Tarjeta"/>
          <p:cNvSpPr/>
          <p:nvPr/>
        </p:nvSpPr>
        <p:spPr>
          <a:xfrm>
            <a:off x="2412492" y="2286000"/>
            <a:ext cx="1772412"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írculo de ícono"/>
          <p:cNvSpPr/>
          <p:nvPr/>
        </p:nvSpPr>
        <p:spPr>
          <a:xfrm>
            <a:off x="2978658" y="246888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Ícono FaDatabase" descr="Database"/>
          <p:cNvPicPr>
            <a:picLocks noChangeAspect="1"/>
          </p:cNvPicPr>
          <p:nvPr/>
        </p:nvPicPr>
        <p:blipFill>
          <a:blip r:embed="rId4"/>
          <a:stretch>
            <a:fillRect/>
          </a:stretch>
        </p:blipFill>
        <p:spPr>
          <a:xfrm>
            <a:off x="3132277" y="2622499"/>
            <a:ext cx="332841" cy="332841"/>
          </a:xfrm>
          <a:prstGeom prst="rect">
            <a:avLst/>
          </a:prstGeom>
          <a:solidFill>
            <a:srgbClr val="567B54"/>
          </a:solidFill>
        </p:spPr>
      </p:pic>
      <p:sp>
        <p:nvSpPr>
          <p:cNvPr id="13" name="Texto"/>
          <p:cNvSpPr txBox="1"/>
          <p:nvPr/>
        </p:nvSpPr>
        <p:spPr>
          <a:xfrm>
            <a:off x="2485644" y="3246120"/>
            <a:ext cx="1626108" cy="274320"/>
          </a:xfrm>
          <a:prstGeom prst="rect">
            <a:avLst/>
          </a:prstGeom>
          <a:noFill/>
        </p:spPr>
        <p:txBody>
          <a:bodyPr wrap="square" lIns="0" tIns="0" rIns="0" bIns="0" anchor="t">
            <a:noAutofit/>
          </a:bodyPr>
          <a:lstStyle/>
          <a:p>
            <a:pPr algn="ctr"/>
            <a:r>
              <a:rPr sz="1200" b="1" i="0">
                <a:solidFill>
                  <a:srgbClr val="9200EE"/>
                </a:solidFill>
                <a:latin typeface="Calibri"/>
              </a:rPr>
              <a:t>DATOS</a:t>
            </a:r>
          </a:p>
        </p:txBody>
      </p:sp>
      <p:sp>
        <p:nvSpPr>
          <p:cNvPr id="14" name="Texto"/>
          <p:cNvSpPr txBox="1"/>
          <p:nvPr/>
        </p:nvSpPr>
        <p:spPr>
          <a:xfrm>
            <a:off x="2485644" y="3566160"/>
            <a:ext cx="1626108" cy="731520"/>
          </a:xfrm>
          <a:prstGeom prst="rect">
            <a:avLst/>
          </a:prstGeom>
          <a:noFill/>
        </p:spPr>
        <p:txBody>
          <a:bodyPr wrap="square" lIns="0" tIns="0" rIns="0" bIns="0" anchor="t">
            <a:noAutofit/>
          </a:bodyPr>
          <a:lstStyle/>
          <a:p>
            <a:pPr algn="ctr"/>
            <a:r>
              <a:rPr sz="1600" b="1" i="0">
                <a:solidFill>
                  <a:srgbClr val="1B2A4A"/>
                </a:solidFill>
                <a:latin typeface="Calibri"/>
              </a:rPr>
              <a:t>DVC</a:t>
            </a:r>
          </a:p>
        </p:txBody>
      </p:sp>
      <p:sp>
        <p:nvSpPr>
          <p:cNvPr id="15" name="Texto"/>
          <p:cNvSpPr txBox="1"/>
          <p:nvPr/>
        </p:nvSpPr>
        <p:spPr>
          <a:xfrm>
            <a:off x="2503932" y="4343400"/>
            <a:ext cx="1589532" cy="1005840"/>
          </a:xfrm>
          <a:prstGeom prst="rect">
            <a:avLst/>
          </a:prstGeom>
          <a:noFill/>
        </p:spPr>
        <p:txBody>
          <a:bodyPr wrap="square" lIns="0" tIns="0" rIns="0" bIns="0" anchor="t">
            <a:noAutofit/>
          </a:bodyPr>
          <a:lstStyle/>
          <a:p>
            <a:pPr algn="ctr"/>
            <a:r>
              <a:rPr sz="1350" b="0" i="0">
                <a:solidFill>
                  <a:srgbClr val="5B6472"/>
                </a:solidFill>
                <a:latin typeface="Calibri"/>
              </a:rPr>
              <a:t>Hash y versión de cada dataset</a:t>
            </a:r>
          </a:p>
        </p:txBody>
      </p:sp>
      <p:sp>
        <p:nvSpPr>
          <p:cNvPr id="16" name="Tarjeta"/>
          <p:cNvSpPr/>
          <p:nvPr/>
        </p:nvSpPr>
        <p:spPr>
          <a:xfrm>
            <a:off x="4276344" y="2286000"/>
            <a:ext cx="1772412"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írculo de ícono"/>
          <p:cNvSpPr/>
          <p:nvPr/>
        </p:nvSpPr>
        <p:spPr>
          <a:xfrm>
            <a:off x="4842510" y="246888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Ícono FaFlask" descr="Flask"/>
          <p:cNvPicPr>
            <a:picLocks noChangeAspect="1"/>
          </p:cNvPicPr>
          <p:nvPr/>
        </p:nvPicPr>
        <p:blipFill>
          <a:blip r:embed="rId5"/>
          <a:stretch>
            <a:fillRect/>
          </a:stretch>
        </p:blipFill>
        <p:spPr>
          <a:xfrm>
            <a:off x="4996129" y="2622499"/>
            <a:ext cx="332841" cy="332841"/>
          </a:xfrm>
          <a:prstGeom prst="rect">
            <a:avLst/>
          </a:prstGeom>
          <a:solidFill>
            <a:srgbClr val="567B54"/>
          </a:solidFill>
        </p:spPr>
      </p:pic>
      <p:sp>
        <p:nvSpPr>
          <p:cNvPr id="19" name="Texto"/>
          <p:cNvSpPr txBox="1"/>
          <p:nvPr/>
        </p:nvSpPr>
        <p:spPr>
          <a:xfrm>
            <a:off x="4349496" y="3246120"/>
            <a:ext cx="1626108" cy="274320"/>
          </a:xfrm>
          <a:prstGeom prst="rect">
            <a:avLst/>
          </a:prstGeom>
          <a:noFill/>
        </p:spPr>
        <p:txBody>
          <a:bodyPr wrap="square" lIns="0" tIns="0" rIns="0" bIns="0" anchor="t">
            <a:noAutofit/>
          </a:bodyPr>
          <a:lstStyle/>
          <a:p>
            <a:pPr algn="ctr"/>
            <a:r>
              <a:rPr sz="1200" b="1" i="0">
                <a:solidFill>
                  <a:srgbClr val="9200EE"/>
                </a:solidFill>
                <a:latin typeface="Calibri"/>
              </a:rPr>
              <a:t>MODELOS</a:t>
            </a:r>
          </a:p>
        </p:txBody>
      </p:sp>
      <p:sp>
        <p:nvSpPr>
          <p:cNvPr id="20" name="Texto"/>
          <p:cNvSpPr txBox="1"/>
          <p:nvPr/>
        </p:nvSpPr>
        <p:spPr>
          <a:xfrm>
            <a:off x="4349496" y="3566160"/>
            <a:ext cx="1626108" cy="731520"/>
          </a:xfrm>
          <a:prstGeom prst="rect">
            <a:avLst/>
          </a:prstGeom>
          <a:noFill/>
        </p:spPr>
        <p:txBody>
          <a:bodyPr wrap="square" lIns="0" tIns="0" rIns="0" bIns="0" anchor="t">
            <a:noAutofit/>
          </a:bodyPr>
          <a:lstStyle/>
          <a:p>
            <a:pPr algn="ctr"/>
            <a:r>
              <a:rPr sz="1600" b="1" i="0">
                <a:solidFill>
                  <a:srgbClr val="1B2A4A"/>
                </a:solidFill>
                <a:latin typeface="Calibri"/>
              </a:rPr>
              <a:t>MLflow</a:t>
            </a:r>
          </a:p>
        </p:txBody>
      </p:sp>
      <p:sp>
        <p:nvSpPr>
          <p:cNvPr id="21" name="Texto"/>
          <p:cNvSpPr txBox="1"/>
          <p:nvPr/>
        </p:nvSpPr>
        <p:spPr>
          <a:xfrm>
            <a:off x="4367784" y="4343400"/>
            <a:ext cx="1589532" cy="1005840"/>
          </a:xfrm>
          <a:prstGeom prst="rect">
            <a:avLst/>
          </a:prstGeom>
          <a:noFill/>
        </p:spPr>
        <p:txBody>
          <a:bodyPr wrap="square" lIns="0" tIns="0" rIns="0" bIns="0" anchor="t">
            <a:noAutofit/>
          </a:bodyPr>
          <a:lstStyle/>
          <a:p>
            <a:pPr algn="ctr"/>
            <a:r>
              <a:rPr sz="1350" b="0" i="0">
                <a:solidFill>
                  <a:srgbClr val="5B6472"/>
                </a:solidFill>
                <a:latin typeface="Calibri"/>
              </a:rPr>
              <a:t>Corridas, métricas y modelos registrados</a:t>
            </a:r>
          </a:p>
        </p:txBody>
      </p:sp>
      <p:sp>
        <p:nvSpPr>
          <p:cNvPr id="22" name="Tarjeta"/>
          <p:cNvSpPr/>
          <p:nvPr/>
        </p:nvSpPr>
        <p:spPr>
          <a:xfrm>
            <a:off x="6140196" y="2286000"/>
            <a:ext cx="1772412"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írculo de ícono"/>
          <p:cNvSpPr/>
          <p:nvPr/>
        </p:nvSpPr>
        <p:spPr>
          <a:xfrm>
            <a:off x="6706362" y="246888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Ícono FaSearch" descr="Search"/>
          <p:cNvPicPr>
            <a:picLocks noChangeAspect="1"/>
          </p:cNvPicPr>
          <p:nvPr/>
        </p:nvPicPr>
        <p:blipFill>
          <a:blip r:embed="rId6"/>
          <a:stretch>
            <a:fillRect/>
          </a:stretch>
        </p:blipFill>
        <p:spPr>
          <a:xfrm>
            <a:off x="6859981" y="2622499"/>
            <a:ext cx="332841" cy="332841"/>
          </a:xfrm>
          <a:prstGeom prst="rect">
            <a:avLst/>
          </a:prstGeom>
          <a:solidFill>
            <a:srgbClr val="567B54"/>
          </a:solidFill>
        </p:spPr>
      </p:pic>
      <p:sp>
        <p:nvSpPr>
          <p:cNvPr id="25" name="Texto"/>
          <p:cNvSpPr txBox="1"/>
          <p:nvPr/>
        </p:nvSpPr>
        <p:spPr>
          <a:xfrm>
            <a:off x="6213348" y="3246120"/>
            <a:ext cx="1626108" cy="274320"/>
          </a:xfrm>
          <a:prstGeom prst="rect">
            <a:avLst/>
          </a:prstGeom>
          <a:noFill/>
        </p:spPr>
        <p:txBody>
          <a:bodyPr wrap="square" lIns="0" tIns="0" rIns="0" bIns="0" anchor="t">
            <a:noAutofit/>
          </a:bodyPr>
          <a:lstStyle/>
          <a:p>
            <a:pPr algn="ctr"/>
            <a:r>
              <a:rPr sz="1200" b="1" i="0">
                <a:solidFill>
                  <a:srgbClr val="9200EE"/>
                </a:solidFill>
                <a:latin typeface="Calibri"/>
              </a:rPr>
              <a:t>EXPLICAR Y EQUIDAD</a:t>
            </a:r>
          </a:p>
        </p:txBody>
      </p:sp>
      <p:sp>
        <p:nvSpPr>
          <p:cNvPr id="26" name="Texto"/>
          <p:cNvSpPr txBox="1"/>
          <p:nvPr/>
        </p:nvSpPr>
        <p:spPr>
          <a:xfrm>
            <a:off x="6213348" y="3566160"/>
            <a:ext cx="1626108" cy="731520"/>
          </a:xfrm>
          <a:prstGeom prst="rect">
            <a:avLst/>
          </a:prstGeom>
          <a:noFill/>
        </p:spPr>
        <p:txBody>
          <a:bodyPr wrap="square" lIns="0" tIns="0" rIns="0" bIns="0" anchor="t">
            <a:noAutofit/>
          </a:bodyPr>
          <a:lstStyle/>
          <a:p>
            <a:pPr algn="ctr"/>
            <a:r>
              <a:rPr sz="1600" b="1" i="0">
                <a:solidFill>
                  <a:srgbClr val="1B2A4A"/>
                </a:solidFill>
                <a:latin typeface="Calibri"/>
              </a:rPr>
              <a:t>SHAP · TensorBoard</a:t>
            </a:r>
          </a:p>
        </p:txBody>
      </p:sp>
      <p:sp>
        <p:nvSpPr>
          <p:cNvPr id="27" name="Texto"/>
          <p:cNvSpPr txBox="1"/>
          <p:nvPr/>
        </p:nvSpPr>
        <p:spPr>
          <a:xfrm>
            <a:off x="6231636" y="4343400"/>
            <a:ext cx="1589532" cy="1005840"/>
          </a:xfrm>
          <a:prstGeom prst="rect">
            <a:avLst/>
          </a:prstGeom>
          <a:noFill/>
        </p:spPr>
        <p:txBody>
          <a:bodyPr wrap="square" lIns="0" tIns="0" rIns="0" bIns="0" anchor="t">
            <a:noAutofit/>
          </a:bodyPr>
          <a:lstStyle/>
          <a:p>
            <a:pPr algn="ctr"/>
            <a:r>
              <a:rPr sz="1350" b="0" i="0">
                <a:solidFill>
                  <a:srgbClr val="5B6472"/>
                </a:solidFill>
                <a:latin typeface="Calibri"/>
              </a:rPr>
              <a:t>Gráficos SHAP y métricas de equidad (Fairlearn)</a:t>
            </a:r>
          </a:p>
        </p:txBody>
      </p:sp>
      <p:sp>
        <p:nvSpPr>
          <p:cNvPr id="28" name="Tarjeta"/>
          <p:cNvSpPr/>
          <p:nvPr/>
        </p:nvSpPr>
        <p:spPr>
          <a:xfrm>
            <a:off x="8004048" y="2286000"/>
            <a:ext cx="1772412"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írculo de ícono"/>
          <p:cNvSpPr/>
          <p:nvPr/>
        </p:nvSpPr>
        <p:spPr>
          <a:xfrm>
            <a:off x="8570214" y="246888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Ícono FaChartLine" descr="ChartLine"/>
          <p:cNvPicPr>
            <a:picLocks noChangeAspect="1"/>
          </p:cNvPicPr>
          <p:nvPr/>
        </p:nvPicPr>
        <p:blipFill>
          <a:blip r:embed="rId7"/>
          <a:stretch>
            <a:fillRect/>
          </a:stretch>
        </p:blipFill>
        <p:spPr>
          <a:xfrm>
            <a:off x="8723833" y="2622499"/>
            <a:ext cx="332841" cy="332841"/>
          </a:xfrm>
          <a:prstGeom prst="rect">
            <a:avLst/>
          </a:prstGeom>
          <a:solidFill>
            <a:srgbClr val="567B54"/>
          </a:solidFill>
        </p:spPr>
      </p:pic>
      <p:sp>
        <p:nvSpPr>
          <p:cNvPr id="31" name="Texto"/>
          <p:cNvSpPr txBox="1"/>
          <p:nvPr/>
        </p:nvSpPr>
        <p:spPr>
          <a:xfrm>
            <a:off x="8077200" y="3246120"/>
            <a:ext cx="1626108" cy="274320"/>
          </a:xfrm>
          <a:prstGeom prst="rect">
            <a:avLst/>
          </a:prstGeom>
          <a:noFill/>
        </p:spPr>
        <p:txBody>
          <a:bodyPr wrap="square" lIns="0" tIns="0" rIns="0" bIns="0" anchor="t">
            <a:noAutofit/>
          </a:bodyPr>
          <a:lstStyle/>
          <a:p>
            <a:pPr algn="ctr"/>
            <a:r>
              <a:rPr sz="1200" b="1" i="0">
                <a:solidFill>
                  <a:srgbClr val="9200EE"/>
                </a:solidFill>
                <a:latin typeface="Calibri"/>
              </a:rPr>
              <a:t>MONITOREO</a:t>
            </a:r>
          </a:p>
        </p:txBody>
      </p:sp>
      <p:sp>
        <p:nvSpPr>
          <p:cNvPr id="32" name="Texto"/>
          <p:cNvSpPr txBox="1"/>
          <p:nvPr/>
        </p:nvSpPr>
        <p:spPr>
          <a:xfrm>
            <a:off x="8077200" y="3566160"/>
            <a:ext cx="1626108" cy="731520"/>
          </a:xfrm>
          <a:prstGeom prst="rect">
            <a:avLst/>
          </a:prstGeom>
          <a:noFill/>
        </p:spPr>
        <p:txBody>
          <a:bodyPr wrap="square" lIns="0" tIns="0" rIns="0" bIns="0" anchor="t">
            <a:noAutofit/>
          </a:bodyPr>
          <a:lstStyle/>
          <a:p>
            <a:pPr algn="ctr"/>
            <a:r>
              <a:rPr sz="1600" b="1" i="0">
                <a:solidFill>
                  <a:srgbClr val="1B2A4A"/>
                </a:solidFill>
                <a:latin typeface="Calibri"/>
              </a:rPr>
              <a:t>Evidently · Grafana</a:t>
            </a:r>
          </a:p>
        </p:txBody>
      </p:sp>
      <p:sp>
        <p:nvSpPr>
          <p:cNvPr id="33" name="Texto"/>
          <p:cNvSpPr txBox="1"/>
          <p:nvPr/>
        </p:nvSpPr>
        <p:spPr>
          <a:xfrm>
            <a:off x="8095488" y="4343400"/>
            <a:ext cx="1589532" cy="1005840"/>
          </a:xfrm>
          <a:prstGeom prst="rect">
            <a:avLst/>
          </a:prstGeom>
          <a:noFill/>
        </p:spPr>
        <p:txBody>
          <a:bodyPr wrap="square" lIns="0" tIns="0" rIns="0" bIns="0" anchor="t">
            <a:noAutofit/>
          </a:bodyPr>
          <a:lstStyle/>
          <a:p>
            <a:pPr algn="ctr"/>
            <a:r>
              <a:rPr sz="1350" b="0" i="0">
                <a:solidFill>
                  <a:srgbClr val="5B6472"/>
                </a:solidFill>
                <a:latin typeface="Calibri"/>
              </a:rPr>
              <a:t>Reportes de deriva y alertas</a:t>
            </a:r>
          </a:p>
        </p:txBody>
      </p:sp>
      <p:sp>
        <p:nvSpPr>
          <p:cNvPr id="34" name="Tarjeta"/>
          <p:cNvSpPr/>
          <p:nvPr/>
        </p:nvSpPr>
        <p:spPr>
          <a:xfrm>
            <a:off x="9867900" y="2286000"/>
            <a:ext cx="1772412"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írculo de ícono"/>
          <p:cNvSpPr/>
          <p:nvPr/>
        </p:nvSpPr>
        <p:spPr>
          <a:xfrm>
            <a:off x="10434066" y="2468880"/>
            <a:ext cx="640080" cy="64008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Ícono FaCertificate" descr="Certificate"/>
          <p:cNvPicPr>
            <a:picLocks noChangeAspect="1"/>
          </p:cNvPicPr>
          <p:nvPr/>
        </p:nvPicPr>
        <p:blipFill>
          <a:blip r:embed="rId8"/>
          <a:stretch>
            <a:fillRect/>
          </a:stretch>
        </p:blipFill>
        <p:spPr>
          <a:xfrm>
            <a:off x="10587685" y="2622499"/>
            <a:ext cx="332841" cy="332841"/>
          </a:xfrm>
          <a:prstGeom prst="rect">
            <a:avLst/>
          </a:prstGeom>
          <a:solidFill>
            <a:srgbClr val="567B54"/>
          </a:solidFill>
        </p:spPr>
      </p:pic>
      <p:sp>
        <p:nvSpPr>
          <p:cNvPr id="37" name="Texto"/>
          <p:cNvSpPr txBox="1"/>
          <p:nvPr/>
        </p:nvSpPr>
        <p:spPr>
          <a:xfrm>
            <a:off x="9941052" y="3246120"/>
            <a:ext cx="1626108" cy="274320"/>
          </a:xfrm>
          <a:prstGeom prst="rect">
            <a:avLst/>
          </a:prstGeom>
          <a:noFill/>
        </p:spPr>
        <p:txBody>
          <a:bodyPr wrap="square" lIns="0" tIns="0" rIns="0" bIns="0" anchor="t">
            <a:noAutofit/>
          </a:bodyPr>
          <a:lstStyle/>
          <a:p>
            <a:pPr algn="ctr"/>
            <a:r>
              <a:rPr sz="1200" b="1" i="0">
                <a:solidFill>
                  <a:srgbClr val="9200EE"/>
                </a:solidFill>
                <a:latin typeface="Calibri"/>
              </a:rPr>
              <a:t>GESTIÓN ISO</a:t>
            </a:r>
          </a:p>
        </p:txBody>
      </p:sp>
      <p:sp>
        <p:nvSpPr>
          <p:cNvPr id="38" name="Texto"/>
          <p:cNvSpPr txBox="1"/>
          <p:nvPr/>
        </p:nvSpPr>
        <p:spPr>
          <a:xfrm>
            <a:off x="9941052" y="3566160"/>
            <a:ext cx="1626108" cy="731520"/>
          </a:xfrm>
          <a:prstGeom prst="rect">
            <a:avLst/>
          </a:prstGeom>
          <a:noFill/>
        </p:spPr>
        <p:txBody>
          <a:bodyPr wrap="square" lIns="0" tIns="0" rIns="0" bIns="0" anchor="t">
            <a:noAutofit/>
          </a:bodyPr>
          <a:lstStyle/>
          <a:p>
            <a:pPr algn="ctr"/>
            <a:r>
              <a:rPr sz="1600" b="1" i="0">
                <a:solidFill>
                  <a:srgbClr val="1B2A4A"/>
                </a:solidFill>
                <a:latin typeface="Calibri"/>
              </a:rPr>
              <a:t>SGIA ISO/IEC 42001</a:t>
            </a:r>
          </a:p>
        </p:txBody>
      </p:sp>
      <p:sp>
        <p:nvSpPr>
          <p:cNvPr id="39" name="Texto"/>
          <p:cNvSpPr txBox="1"/>
          <p:nvPr/>
        </p:nvSpPr>
        <p:spPr>
          <a:xfrm>
            <a:off x="9959340" y="4343400"/>
            <a:ext cx="1589532" cy="1005840"/>
          </a:xfrm>
          <a:prstGeom prst="rect">
            <a:avLst/>
          </a:prstGeom>
          <a:noFill/>
        </p:spPr>
        <p:txBody>
          <a:bodyPr wrap="square" lIns="0" tIns="0" rIns="0" bIns="0" anchor="t">
            <a:noAutofit/>
          </a:bodyPr>
          <a:lstStyle/>
          <a:p>
            <a:pPr algn="ctr"/>
            <a:r>
              <a:rPr sz="1350" b="0" i="0">
                <a:solidFill>
                  <a:srgbClr val="5B6472"/>
                </a:solidFill>
                <a:latin typeface="Calibri"/>
              </a:rPr>
              <a:t>Auditorías y mejora continua</a:t>
            </a:r>
          </a:p>
        </p:txBody>
      </p:sp>
      <p:sp>
        <p:nvSpPr>
          <p:cNvPr id="40" name="Nota"/>
          <p:cNvSpPr/>
          <p:nvPr/>
        </p:nvSpPr>
        <p:spPr>
          <a:xfrm>
            <a:off x="548640" y="5559552"/>
            <a:ext cx="11091672" cy="347472"/>
          </a:xfrm>
          <a:prstGeom prst="roundRect">
            <a:avLst>
              <a:gd name="adj" fmla="val 20000"/>
            </a:avLst>
          </a:prstGeom>
          <a:solidFill>
            <a:srgbClr val="FFF4D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Ninguna herramienta reemplaza la gobernanza: producen la evidencia que la sostiene.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GitHub: trazabilidad y control de cambios</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HERRAMIENTAS</a:t>
            </a:r>
          </a:p>
        </p:txBody>
      </p:sp>
      <p:sp>
        <p:nvSpPr>
          <p:cNvPr id="4" name="Tarjeta"/>
          <p:cNvSpPr/>
          <p:nvPr/>
        </p:nvSpPr>
        <p:spPr>
          <a:xfrm>
            <a:off x="548640" y="2286000"/>
            <a:ext cx="4480560"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o"/>
          <p:cNvSpPr txBox="1"/>
          <p:nvPr/>
        </p:nvSpPr>
        <p:spPr>
          <a:xfrm>
            <a:off x="777240" y="2377440"/>
            <a:ext cx="4023360" cy="320040"/>
          </a:xfrm>
          <a:prstGeom prst="rect">
            <a:avLst/>
          </a:prstGeom>
          <a:noFill/>
        </p:spPr>
        <p:txBody>
          <a:bodyPr wrap="square" lIns="0" tIns="0" rIns="0" bIns="0" anchor="t">
            <a:noAutofit/>
          </a:bodyPr>
          <a:lstStyle/>
          <a:p>
            <a:pPr algn="l"/>
            <a:r>
              <a:rPr sz="1600" b="1" i="0" dirty="0">
                <a:solidFill>
                  <a:srgbClr val="567B54"/>
                </a:solidFill>
                <a:latin typeface="Calibri"/>
              </a:rPr>
              <a:t>Ejemplo: archivo CODEOWNERS</a:t>
            </a:r>
          </a:p>
        </p:txBody>
      </p:sp>
      <p:sp>
        <p:nvSpPr>
          <p:cNvPr id="6" name="Bloque de código"/>
          <p:cNvSpPr/>
          <p:nvPr/>
        </p:nvSpPr>
        <p:spPr>
          <a:xfrm>
            <a:off x="777240" y="2788920"/>
            <a:ext cx="4023360" cy="1463040"/>
          </a:xfrm>
          <a:prstGeom prst="roundRect">
            <a:avLst>
              <a:gd name="adj" fmla="val 4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ódigo"/>
          <p:cNvSpPr txBox="1"/>
          <p:nvPr/>
        </p:nvSpPr>
        <p:spPr>
          <a:xfrm>
            <a:off x="941832" y="2898648"/>
            <a:ext cx="3694176" cy="1243584"/>
          </a:xfrm>
          <a:prstGeom prst="rect">
            <a:avLst/>
          </a:prstGeom>
          <a:noFill/>
        </p:spPr>
        <p:txBody>
          <a:bodyPr wrap="square" lIns="0" tIns="0" rIns="0" bIns="0" anchor="t">
            <a:noAutofit/>
          </a:bodyPr>
          <a:lstStyle/>
          <a:p>
            <a:pPr algn="l">
              <a:spcAft>
                <a:spcPts val="200"/>
              </a:spcAft>
            </a:pPr>
            <a:r>
              <a:rPr sz="1350" b="0" i="0">
                <a:solidFill>
                  <a:srgbClr val="FFA400"/>
                </a:solidFill>
                <a:latin typeface="Courier New"/>
              </a:rPr>
              <a:t># CODEOWNERS</a:t>
            </a:r>
          </a:p>
          <a:p>
            <a:pPr algn="l">
              <a:spcAft>
                <a:spcPts val="200"/>
              </a:spcAft>
            </a:pPr>
            <a:r>
              <a:rPr sz="1350" b="0" i="0">
                <a:solidFill>
                  <a:srgbClr val="FFFFFF"/>
                </a:solidFill>
                <a:latin typeface="Courier New"/>
              </a:rPr>
              <a:t>/politicas/        @comite-ia</a:t>
            </a:r>
          </a:p>
          <a:p>
            <a:pPr algn="l">
              <a:spcAft>
                <a:spcPts val="200"/>
              </a:spcAft>
            </a:pPr>
            <a:r>
              <a:rPr sz="1350" b="0" i="0">
                <a:solidFill>
                  <a:srgbClr val="FFFFFF"/>
                </a:solidFill>
                <a:latin typeface="Courier New"/>
              </a:rPr>
              <a:t>/modelos/scoring/  @riesgos</a:t>
            </a:r>
          </a:p>
          <a:p>
            <a:pPr algn="l">
              <a:spcAft>
                <a:spcPts val="200"/>
              </a:spcAft>
            </a:pPr>
            <a:r>
              <a:rPr sz="1350" b="0" i="0">
                <a:solidFill>
                  <a:srgbClr val="FFFFFF"/>
                </a:solidFill>
                <a:latin typeface="Courier New"/>
              </a:rPr>
              <a:t>/datos/            @datos-lead</a:t>
            </a:r>
          </a:p>
        </p:txBody>
      </p:sp>
      <p:sp>
        <p:nvSpPr>
          <p:cNvPr id="8" name="Texto"/>
          <p:cNvSpPr txBox="1"/>
          <p:nvPr/>
        </p:nvSpPr>
        <p:spPr>
          <a:xfrm>
            <a:off x="777240" y="4389120"/>
            <a:ext cx="4023360" cy="1005840"/>
          </a:xfrm>
          <a:prstGeom prst="rect">
            <a:avLst/>
          </a:prstGeom>
          <a:noFill/>
        </p:spPr>
        <p:txBody>
          <a:bodyPr wrap="square" lIns="0" tIns="0" rIns="0" bIns="0" anchor="t">
            <a:noAutofit/>
          </a:bodyPr>
          <a:lstStyle/>
          <a:p>
            <a:pPr algn="l"/>
            <a:r>
              <a:rPr sz="1500" b="0" i="0">
                <a:solidFill>
                  <a:srgbClr val="5B6472"/>
                </a:solidFill>
                <a:latin typeface="Calibri"/>
              </a:rPr>
              <a:t>Los cambios en esas carpetas exigen la aprobación de las personas listadas: segregación de funciones demostrable.</a:t>
            </a:r>
          </a:p>
        </p:txBody>
      </p:sp>
      <p:sp>
        <p:nvSpPr>
          <p:cNvPr id="9" name="Tarjeta"/>
          <p:cNvSpPr/>
          <p:nvPr/>
        </p:nvSpPr>
        <p:spPr>
          <a:xfrm>
            <a:off x="5212080" y="2286000"/>
            <a:ext cx="6428232" cy="47548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írculo de ícono"/>
          <p:cNvSpPr/>
          <p:nvPr/>
        </p:nvSpPr>
        <p:spPr>
          <a:xfrm>
            <a:off x="5303520" y="2350008"/>
            <a:ext cx="347472" cy="347472"/>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o"/>
          <p:cNvSpPr txBox="1"/>
          <p:nvPr/>
        </p:nvSpPr>
        <p:spPr>
          <a:xfrm>
            <a:off x="5760720" y="2286000"/>
            <a:ext cx="3566160" cy="475488"/>
          </a:xfrm>
          <a:prstGeom prst="rect">
            <a:avLst/>
          </a:prstGeom>
          <a:noFill/>
        </p:spPr>
        <p:txBody>
          <a:bodyPr wrap="square" lIns="0" tIns="0" rIns="0" bIns="0" anchor="ctr">
            <a:noAutofit/>
          </a:bodyPr>
          <a:lstStyle/>
          <a:p>
            <a:pPr algn="l"/>
            <a:r>
              <a:rPr sz="1300" b="1" i="0">
                <a:solidFill>
                  <a:srgbClr val="1B2A4A"/>
                </a:solidFill>
                <a:latin typeface="Calibri"/>
              </a:rPr>
              <a:t>Commits, etiquetas y releases</a:t>
            </a:r>
          </a:p>
        </p:txBody>
      </p:sp>
      <p:sp>
        <p:nvSpPr>
          <p:cNvPr id="13" name="Texto"/>
          <p:cNvSpPr txBox="1"/>
          <p:nvPr/>
        </p:nvSpPr>
        <p:spPr>
          <a:xfrm>
            <a:off x="9326880" y="2286000"/>
            <a:ext cx="2286000" cy="475488"/>
          </a:xfrm>
          <a:prstGeom prst="rect">
            <a:avLst/>
          </a:prstGeom>
          <a:noFill/>
        </p:spPr>
        <p:txBody>
          <a:bodyPr wrap="square" lIns="0" tIns="0" rIns="0" bIns="0" anchor="ctr">
            <a:noAutofit/>
          </a:bodyPr>
          <a:lstStyle/>
          <a:p>
            <a:pPr algn="l"/>
            <a:r>
              <a:rPr sz="1100" b="0" i="0">
                <a:solidFill>
                  <a:srgbClr val="5B6472"/>
                </a:solidFill>
                <a:latin typeface="Calibri"/>
              </a:rPr>
              <a:t>Versión exacta de código y documentos</a:t>
            </a:r>
          </a:p>
        </p:txBody>
      </p:sp>
      <p:sp>
        <p:nvSpPr>
          <p:cNvPr id="14" name="Tarjeta"/>
          <p:cNvSpPr/>
          <p:nvPr/>
        </p:nvSpPr>
        <p:spPr>
          <a:xfrm>
            <a:off x="5212080" y="2816352"/>
            <a:ext cx="6428232" cy="47548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írculo de ícono"/>
          <p:cNvSpPr/>
          <p:nvPr/>
        </p:nvSpPr>
        <p:spPr>
          <a:xfrm>
            <a:off x="5303520" y="2880360"/>
            <a:ext cx="347472" cy="347472"/>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o"/>
          <p:cNvSpPr txBox="1"/>
          <p:nvPr/>
        </p:nvSpPr>
        <p:spPr>
          <a:xfrm>
            <a:off x="5760720" y="2816352"/>
            <a:ext cx="3566160" cy="475488"/>
          </a:xfrm>
          <a:prstGeom prst="rect">
            <a:avLst/>
          </a:prstGeom>
          <a:noFill/>
        </p:spPr>
        <p:txBody>
          <a:bodyPr wrap="square" lIns="0" tIns="0" rIns="0" bIns="0" anchor="ctr">
            <a:noAutofit/>
          </a:bodyPr>
          <a:lstStyle/>
          <a:p>
            <a:pPr algn="l"/>
            <a:r>
              <a:rPr sz="1300" b="1" i="0">
                <a:solidFill>
                  <a:srgbClr val="1B2A4A"/>
                </a:solidFill>
                <a:latin typeface="Calibri"/>
              </a:rPr>
              <a:t>Pull requests con revisión obligatoria</a:t>
            </a:r>
          </a:p>
        </p:txBody>
      </p:sp>
      <p:sp>
        <p:nvSpPr>
          <p:cNvPr id="18" name="Texto"/>
          <p:cNvSpPr txBox="1"/>
          <p:nvPr/>
        </p:nvSpPr>
        <p:spPr>
          <a:xfrm>
            <a:off x="9326880" y="2816352"/>
            <a:ext cx="2286000" cy="475488"/>
          </a:xfrm>
          <a:prstGeom prst="rect">
            <a:avLst/>
          </a:prstGeom>
          <a:noFill/>
        </p:spPr>
        <p:txBody>
          <a:bodyPr wrap="square" lIns="0" tIns="0" rIns="0" bIns="0" anchor="ctr">
            <a:noAutofit/>
          </a:bodyPr>
          <a:lstStyle/>
          <a:p>
            <a:pPr algn="l"/>
            <a:r>
              <a:rPr sz="1100" b="0" i="0">
                <a:solidFill>
                  <a:srgbClr val="5B6472"/>
                </a:solidFill>
                <a:latin typeface="Calibri"/>
              </a:rPr>
              <a:t>Aprobación formal y trazable de cambios</a:t>
            </a:r>
          </a:p>
        </p:txBody>
      </p:sp>
      <p:sp>
        <p:nvSpPr>
          <p:cNvPr id="19" name="Tarjeta"/>
          <p:cNvSpPr/>
          <p:nvPr/>
        </p:nvSpPr>
        <p:spPr>
          <a:xfrm>
            <a:off x="5212080" y="3346704"/>
            <a:ext cx="6428232" cy="47548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írculo de ícono"/>
          <p:cNvSpPr/>
          <p:nvPr/>
        </p:nvSpPr>
        <p:spPr>
          <a:xfrm>
            <a:off x="5303520" y="3410712"/>
            <a:ext cx="347472" cy="347472"/>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o"/>
          <p:cNvSpPr txBox="1"/>
          <p:nvPr/>
        </p:nvSpPr>
        <p:spPr>
          <a:xfrm>
            <a:off x="5760720" y="3346704"/>
            <a:ext cx="3566160" cy="475488"/>
          </a:xfrm>
          <a:prstGeom prst="rect">
            <a:avLst/>
          </a:prstGeom>
          <a:noFill/>
        </p:spPr>
        <p:txBody>
          <a:bodyPr wrap="square" lIns="0" tIns="0" rIns="0" bIns="0" anchor="ctr">
            <a:noAutofit/>
          </a:bodyPr>
          <a:lstStyle/>
          <a:p>
            <a:pPr algn="l"/>
            <a:r>
              <a:rPr sz="1300" b="1" i="0">
                <a:solidFill>
                  <a:srgbClr val="1B2A4A"/>
                </a:solidFill>
                <a:latin typeface="Calibri"/>
              </a:rPr>
              <a:t>Ramas protegidas y CODEOWNERS</a:t>
            </a:r>
          </a:p>
        </p:txBody>
      </p:sp>
      <p:sp>
        <p:nvSpPr>
          <p:cNvPr id="23" name="Texto"/>
          <p:cNvSpPr txBox="1"/>
          <p:nvPr/>
        </p:nvSpPr>
        <p:spPr>
          <a:xfrm>
            <a:off x="9326880" y="3346704"/>
            <a:ext cx="2286000" cy="475488"/>
          </a:xfrm>
          <a:prstGeom prst="rect">
            <a:avLst/>
          </a:prstGeom>
          <a:noFill/>
        </p:spPr>
        <p:txBody>
          <a:bodyPr wrap="square" lIns="0" tIns="0" rIns="0" bIns="0" anchor="ctr">
            <a:noAutofit/>
          </a:bodyPr>
          <a:lstStyle/>
          <a:p>
            <a:pPr algn="l"/>
            <a:r>
              <a:rPr sz="1100" b="0" i="0">
                <a:solidFill>
                  <a:srgbClr val="5B6472"/>
                </a:solidFill>
                <a:latin typeface="Calibri"/>
              </a:rPr>
              <a:t>Segregación de funciones</a:t>
            </a:r>
          </a:p>
        </p:txBody>
      </p:sp>
      <p:sp>
        <p:nvSpPr>
          <p:cNvPr id="24" name="Tarjeta"/>
          <p:cNvSpPr/>
          <p:nvPr/>
        </p:nvSpPr>
        <p:spPr>
          <a:xfrm>
            <a:off x="5212080" y="3877056"/>
            <a:ext cx="6428232" cy="47548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írculo de ícono"/>
          <p:cNvSpPr/>
          <p:nvPr/>
        </p:nvSpPr>
        <p:spPr>
          <a:xfrm>
            <a:off x="5303520" y="3941064"/>
            <a:ext cx="347472" cy="347472"/>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o"/>
          <p:cNvSpPr txBox="1"/>
          <p:nvPr/>
        </p:nvSpPr>
        <p:spPr>
          <a:xfrm>
            <a:off x="5760720" y="3877056"/>
            <a:ext cx="3566160" cy="475488"/>
          </a:xfrm>
          <a:prstGeom prst="rect">
            <a:avLst/>
          </a:prstGeom>
          <a:noFill/>
        </p:spPr>
        <p:txBody>
          <a:bodyPr wrap="square" lIns="0" tIns="0" rIns="0" bIns="0" anchor="ctr">
            <a:noAutofit/>
          </a:bodyPr>
          <a:lstStyle/>
          <a:p>
            <a:pPr algn="l"/>
            <a:r>
              <a:rPr sz="1300" b="1" i="0">
                <a:solidFill>
                  <a:srgbClr val="1B2A4A"/>
                </a:solidFill>
                <a:latin typeface="Calibri"/>
              </a:rPr>
              <a:t>GitHub Actions</a:t>
            </a:r>
          </a:p>
        </p:txBody>
      </p:sp>
      <p:sp>
        <p:nvSpPr>
          <p:cNvPr id="28" name="Texto"/>
          <p:cNvSpPr txBox="1"/>
          <p:nvPr/>
        </p:nvSpPr>
        <p:spPr>
          <a:xfrm>
            <a:off x="9326880" y="3877056"/>
            <a:ext cx="2286000" cy="475488"/>
          </a:xfrm>
          <a:prstGeom prst="rect">
            <a:avLst/>
          </a:prstGeom>
          <a:noFill/>
        </p:spPr>
        <p:txBody>
          <a:bodyPr wrap="square" lIns="0" tIns="0" rIns="0" bIns="0" anchor="ctr">
            <a:noAutofit/>
          </a:bodyPr>
          <a:lstStyle/>
          <a:p>
            <a:pPr algn="l"/>
            <a:r>
              <a:rPr sz="1100" b="0" i="0">
                <a:solidFill>
                  <a:srgbClr val="5B6472"/>
                </a:solidFill>
                <a:latin typeface="Calibri"/>
              </a:rPr>
              <a:t>Pruebas y puertas de calidad automáticas</a:t>
            </a:r>
          </a:p>
        </p:txBody>
      </p:sp>
      <p:sp>
        <p:nvSpPr>
          <p:cNvPr id="29" name="Tarjeta"/>
          <p:cNvSpPr/>
          <p:nvPr/>
        </p:nvSpPr>
        <p:spPr>
          <a:xfrm>
            <a:off x="5212080" y="4407408"/>
            <a:ext cx="6428232" cy="47548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írculo de ícono"/>
          <p:cNvSpPr/>
          <p:nvPr/>
        </p:nvSpPr>
        <p:spPr>
          <a:xfrm>
            <a:off x="5303520" y="4471416"/>
            <a:ext cx="347472" cy="347472"/>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o"/>
          <p:cNvSpPr txBox="1"/>
          <p:nvPr/>
        </p:nvSpPr>
        <p:spPr>
          <a:xfrm>
            <a:off x="5760720" y="4407408"/>
            <a:ext cx="3566160" cy="475488"/>
          </a:xfrm>
          <a:prstGeom prst="rect">
            <a:avLst/>
          </a:prstGeom>
          <a:noFill/>
        </p:spPr>
        <p:txBody>
          <a:bodyPr wrap="square" lIns="0" tIns="0" rIns="0" bIns="0" anchor="ctr">
            <a:noAutofit/>
          </a:bodyPr>
          <a:lstStyle/>
          <a:p>
            <a:pPr algn="l"/>
            <a:r>
              <a:rPr sz="1300" b="1" i="0">
                <a:solidFill>
                  <a:srgbClr val="1B2A4A"/>
                </a:solidFill>
                <a:latin typeface="Calibri"/>
              </a:rPr>
              <a:t>Escaneo de secretos y dependencias</a:t>
            </a:r>
          </a:p>
        </p:txBody>
      </p:sp>
      <p:sp>
        <p:nvSpPr>
          <p:cNvPr id="33" name="Texto"/>
          <p:cNvSpPr txBox="1"/>
          <p:nvPr/>
        </p:nvSpPr>
        <p:spPr>
          <a:xfrm>
            <a:off x="9326880" y="4407408"/>
            <a:ext cx="2286000" cy="475488"/>
          </a:xfrm>
          <a:prstGeom prst="rect">
            <a:avLst/>
          </a:prstGeom>
          <a:noFill/>
        </p:spPr>
        <p:txBody>
          <a:bodyPr wrap="square" lIns="0" tIns="0" rIns="0" bIns="0" anchor="ctr">
            <a:noAutofit/>
          </a:bodyPr>
          <a:lstStyle/>
          <a:p>
            <a:pPr algn="l"/>
            <a:r>
              <a:rPr sz="1100" b="0" i="0">
                <a:solidFill>
                  <a:srgbClr val="5B6472"/>
                </a:solidFill>
                <a:latin typeface="Calibri"/>
              </a:rPr>
              <a:t>Seguridad de la cadena de suministro</a:t>
            </a:r>
          </a:p>
        </p:txBody>
      </p:sp>
      <p:sp>
        <p:nvSpPr>
          <p:cNvPr id="34" name="Tarjeta"/>
          <p:cNvSpPr/>
          <p:nvPr/>
        </p:nvSpPr>
        <p:spPr>
          <a:xfrm>
            <a:off x="5212080" y="4937760"/>
            <a:ext cx="6428232" cy="47548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írculo de ícono"/>
          <p:cNvSpPr/>
          <p:nvPr/>
        </p:nvSpPr>
        <p:spPr>
          <a:xfrm>
            <a:off x="5303520" y="5001768"/>
            <a:ext cx="347472" cy="347472"/>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o"/>
          <p:cNvSpPr txBox="1"/>
          <p:nvPr/>
        </p:nvSpPr>
        <p:spPr>
          <a:xfrm>
            <a:off x="5760720" y="4937760"/>
            <a:ext cx="3566160" cy="475488"/>
          </a:xfrm>
          <a:prstGeom prst="rect">
            <a:avLst/>
          </a:prstGeom>
          <a:noFill/>
        </p:spPr>
        <p:txBody>
          <a:bodyPr wrap="square" lIns="0" tIns="0" rIns="0" bIns="0" anchor="ctr">
            <a:noAutofit/>
          </a:bodyPr>
          <a:lstStyle/>
          <a:p>
            <a:pPr algn="l"/>
            <a:r>
              <a:rPr sz="1300" b="1" i="0">
                <a:solidFill>
                  <a:srgbClr val="1B2A4A"/>
                </a:solidFill>
                <a:latin typeface="Calibri"/>
              </a:rPr>
              <a:t>Issues y Projects · registro de auditoría</a:t>
            </a:r>
          </a:p>
        </p:txBody>
      </p:sp>
      <p:sp>
        <p:nvSpPr>
          <p:cNvPr id="38" name="Texto"/>
          <p:cNvSpPr txBox="1"/>
          <p:nvPr/>
        </p:nvSpPr>
        <p:spPr>
          <a:xfrm>
            <a:off x="9326880" y="4937760"/>
            <a:ext cx="2286000" cy="475488"/>
          </a:xfrm>
          <a:prstGeom prst="rect">
            <a:avLst/>
          </a:prstGeom>
          <a:noFill/>
        </p:spPr>
        <p:txBody>
          <a:bodyPr wrap="square" lIns="0" tIns="0" rIns="0" bIns="0" anchor="ctr">
            <a:noAutofit/>
          </a:bodyPr>
          <a:lstStyle/>
          <a:p>
            <a:pPr algn="l"/>
            <a:r>
              <a:rPr sz="1100" b="0" i="0">
                <a:solidFill>
                  <a:srgbClr val="5B6472"/>
                </a:solidFill>
                <a:latin typeface="Calibri"/>
              </a:rPr>
              <a:t>Riesgos, incidentes y actividad de la organización</a:t>
            </a:r>
          </a:p>
        </p:txBody>
      </p:sp>
      <p:sp>
        <p:nvSpPr>
          <p:cNvPr id="39"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Evidencia para: ISO/IEC 42001 A.6 (ciclo de vida) · EU AI Act Arts. 11 y 12 · T-323/24 (trazabilidad)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DVC: versionar datos como se versiona código</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HERRAMIENTAS</a:t>
            </a:r>
          </a:p>
        </p:txBody>
      </p:sp>
      <p:sp>
        <p:nvSpPr>
          <p:cNvPr id="4" name="Tarjeta"/>
          <p:cNvSpPr/>
          <p:nvPr/>
        </p:nvSpPr>
        <p:spPr>
          <a:xfrm>
            <a:off x="548640" y="2286000"/>
            <a:ext cx="5669280"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o"/>
          <p:cNvSpPr txBox="1"/>
          <p:nvPr/>
        </p:nvSpPr>
        <p:spPr>
          <a:xfrm>
            <a:off x="777240" y="2377440"/>
            <a:ext cx="5212080" cy="320040"/>
          </a:xfrm>
          <a:prstGeom prst="rect">
            <a:avLst/>
          </a:prstGeom>
          <a:noFill/>
        </p:spPr>
        <p:txBody>
          <a:bodyPr wrap="square" lIns="0" tIns="0" rIns="0" bIns="0" anchor="t">
            <a:noAutofit/>
          </a:bodyPr>
          <a:lstStyle/>
          <a:p>
            <a:pPr algn="l"/>
            <a:r>
              <a:rPr sz="1600" b="1" i="0" dirty="0">
                <a:solidFill>
                  <a:srgbClr val="567B54"/>
                </a:solidFill>
                <a:latin typeface="Calibri"/>
              </a:rPr>
              <a:t>Flujo básico</a:t>
            </a:r>
          </a:p>
        </p:txBody>
      </p:sp>
      <p:sp>
        <p:nvSpPr>
          <p:cNvPr id="6" name="Bloque de código"/>
          <p:cNvSpPr/>
          <p:nvPr/>
        </p:nvSpPr>
        <p:spPr>
          <a:xfrm>
            <a:off x="777240" y="2788920"/>
            <a:ext cx="5212080" cy="2468880"/>
          </a:xfrm>
          <a:prstGeom prst="roundRect">
            <a:avLst>
              <a:gd name="adj" fmla="val 4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ódigo"/>
          <p:cNvSpPr txBox="1"/>
          <p:nvPr/>
        </p:nvSpPr>
        <p:spPr>
          <a:xfrm>
            <a:off x="941832" y="2898648"/>
            <a:ext cx="4882896" cy="2249424"/>
          </a:xfrm>
          <a:prstGeom prst="rect">
            <a:avLst/>
          </a:prstGeom>
          <a:noFill/>
        </p:spPr>
        <p:txBody>
          <a:bodyPr wrap="square" lIns="0" tIns="0" rIns="0" bIns="0" anchor="t">
            <a:noAutofit/>
          </a:bodyPr>
          <a:lstStyle/>
          <a:p>
            <a:pPr algn="l">
              <a:spcAft>
                <a:spcPts val="200"/>
              </a:spcAft>
            </a:pPr>
            <a:r>
              <a:rPr sz="1350" b="0" i="0">
                <a:solidFill>
                  <a:srgbClr val="FFA400"/>
                </a:solidFill>
                <a:latin typeface="Courier New"/>
              </a:rPr>
              <a:t># Versionar un dataset</a:t>
            </a:r>
          </a:p>
          <a:p>
            <a:pPr algn="l">
              <a:spcAft>
                <a:spcPts val="200"/>
              </a:spcAft>
            </a:pPr>
            <a:r>
              <a:rPr sz="1350" b="0" i="0">
                <a:solidFill>
                  <a:srgbClr val="FFFFFF"/>
                </a:solidFill>
                <a:latin typeface="Courier New"/>
              </a:rPr>
              <a:t>$ dvc init</a:t>
            </a:r>
          </a:p>
          <a:p>
            <a:pPr algn="l">
              <a:spcAft>
                <a:spcPts val="200"/>
              </a:spcAft>
            </a:pPr>
            <a:r>
              <a:rPr sz="1350" b="0" i="0">
                <a:solidFill>
                  <a:srgbClr val="FFFFFF"/>
                </a:solidFill>
                <a:latin typeface="Courier New"/>
              </a:rPr>
              <a:t>$ dvc add data/clientes.csv</a:t>
            </a:r>
          </a:p>
          <a:p>
            <a:pPr algn="l">
              <a:spcAft>
                <a:spcPts val="200"/>
              </a:spcAft>
            </a:pPr>
            <a:r>
              <a:rPr sz="1350" b="0" i="0">
                <a:solidFill>
                  <a:srgbClr val="FFFFFF"/>
                </a:solidFill>
                <a:latin typeface="Courier New"/>
              </a:rPr>
              <a:t>$ git add data/clientes.csv.dvc .gitignore</a:t>
            </a:r>
          </a:p>
          <a:p>
            <a:pPr algn="l">
              <a:spcAft>
                <a:spcPts val="200"/>
              </a:spcAft>
            </a:pPr>
            <a:r>
              <a:rPr sz="1350" b="0" i="0">
                <a:solidFill>
                  <a:srgbClr val="FFFFFF"/>
                </a:solidFill>
                <a:latin typeface="Courier New"/>
              </a:rPr>
              <a:t>$ git commit -m "Dataset v1"</a:t>
            </a:r>
          </a:p>
          <a:p>
            <a:pPr algn="l">
              <a:spcAft>
                <a:spcPts val="200"/>
              </a:spcAft>
            </a:pPr>
            <a:r>
              <a:rPr sz="1350" b="0" i="0">
                <a:solidFill>
                  <a:srgbClr val="FFA400"/>
                </a:solidFill>
                <a:latin typeface="Courier New"/>
              </a:rPr>
              <a:t># Almacenamiento remoto</a:t>
            </a:r>
          </a:p>
          <a:p>
            <a:pPr algn="l">
              <a:spcAft>
                <a:spcPts val="200"/>
              </a:spcAft>
            </a:pPr>
            <a:r>
              <a:rPr sz="1350" b="0" i="0">
                <a:solidFill>
                  <a:srgbClr val="FFFFFF"/>
                </a:solidFill>
                <a:latin typeface="Courier New"/>
              </a:rPr>
              <a:t>$ dvc remote add -d storage s3://bucket/dvc</a:t>
            </a:r>
          </a:p>
          <a:p>
            <a:pPr algn="l">
              <a:spcAft>
                <a:spcPts val="200"/>
              </a:spcAft>
            </a:pPr>
            <a:r>
              <a:rPr sz="1350" b="0" i="0">
                <a:solidFill>
                  <a:srgbClr val="FFFFFF"/>
                </a:solidFill>
                <a:latin typeface="Courier New"/>
              </a:rPr>
              <a:t>$ dvc push</a:t>
            </a:r>
          </a:p>
        </p:txBody>
      </p:sp>
      <p:sp>
        <p:nvSpPr>
          <p:cNvPr id="8" name="Tarjeta"/>
          <p:cNvSpPr/>
          <p:nvPr/>
        </p:nvSpPr>
        <p:spPr>
          <a:xfrm>
            <a:off x="6400800" y="2286000"/>
            <a:ext cx="5239512" cy="960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írculo de ícono"/>
          <p:cNvSpPr/>
          <p:nvPr/>
        </p:nvSpPr>
        <p:spPr>
          <a:xfrm>
            <a:off x="6537960" y="251460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p:cNvSpPr txBox="1"/>
          <p:nvPr/>
        </p:nvSpPr>
        <p:spPr>
          <a:xfrm>
            <a:off x="7269480" y="2377440"/>
            <a:ext cx="4251960" cy="320040"/>
          </a:xfrm>
          <a:prstGeom prst="rect">
            <a:avLst/>
          </a:prstGeom>
          <a:noFill/>
        </p:spPr>
        <p:txBody>
          <a:bodyPr wrap="square" lIns="0" tIns="0" rIns="0" bIns="0" anchor="t">
            <a:noAutofit/>
          </a:bodyPr>
          <a:lstStyle/>
          <a:p>
            <a:pPr algn="l"/>
            <a:r>
              <a:rPr sz="1700" b="1" i="0">
                <a:solidFill>
                  <a:srgbClr val="1B2A4A"/>
                </a:solidFill>
                <a:latin typeface="Calibri"/>
              </a:rPr>
              <a:t>Hash por dataset</a:t>
            </a:r>
          </a:p>
        </p:txBody>
      </p:sp>
      <p:sp>
        <p:nvSpPr>
          <p:cNvPr id="12" name="Texto"/>
          <p:cNvSpPr txBox="1"/>
          <p:nvPr/>
        </p:nvSpPr>
        <p:spPr>
          <a:xfrm>
            <a:off x="7269480" y="2724912"/>
            <a:ext cx="4251960" cy="502920"/>
          </a:xfrm>
          <a:prstGeom prst="rect">
            <a:avLst/>
          </a:prstGeom>
          <a:noFill/>
        </p:spPr>
        <p:txBody>
          <a:bodyPr wrap="square" lIns="0" tIns="0" rIns="0" bIns="0" anchor="t">
            <a:noAutofit/>
          </a:bodyPr>
          <a:lstStyle/>
          <a:p>
            <a:pPr algn="l"/>
            <a:r>
              <a:rPr sz="1350" b="0" i="0">
                <a:solidFill>
                  <a:srgbClr val="5B6472"/>
                </a:solidFill>
                <a:latin typeface="Calibri"/>
              </a:rPr>
              <a:t>Cada versión queda identificada y atada a un commit</a:t>
            </a:r>
          </a:p>
        </p:txBody>
      </p:sp>
      <p:sp>
        <p:nvSpPr>
          <p:cNvPr id="13" name="Tarjeta"/>
          <p:cNvSpPr/>
          <p:nvPr/>
        </p:nvSpPr>
        <p:spPr>
          <a:xfrm>
            <a:off x="6400800" y="3337560"/>
            <a:ext cx="5239512" cy="960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írculo de ícono"/>
          <p:cNvSpPr/>
          <p:nvPr/>
        </p:nvSpPr>
        <p:spPr>
          <a:xfrm>
            <a:off x="6537960" y="3538728"/>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o"/>
          <p:cNvSpPr txBox="1"/>
          <p:nvPr/>
        </p:nvSpPr>
        <p:spPr>
          <a:xfrm>
            <a:off x="7269480" y="3429000"/>
            <a:ext cx="4251960" cy="320040"/>
          </a:xfrm>
          <a:prstGeom prst="rect">
            <a:avLst/>
          </a:prstGeom>
          <a:noFill/>
        </p:spPr>
        <p:txBody>
          <a:bodyPr wrap="square" lIns="0" tIns="0" rIns="0" bIns="0" anchor="t">
            <a:noAutofit/>
          </a:bodyPr>
          <a:lstStyle/>
          <a:p>
            <a:pPr algn="l"/>
            <a:r>
              <a:rPr sz="1700" b="1" i="0">
                <a:solidFill>
                  <a:srgbClr val="1B2A4A"/>
                </a:solidFill>
                <a:latin typeface="Calibri"/>
              </a:rPr>
              <a:t>Pipelines reproducibles</a:t>
            </a:r>
          </a:p>
        </p:txBody>
      </p:sp>
      <p:sp>
        <p:nvSpPr>
          <p:cNvPr id="17" name="Texto"/>
          <p:cNvSpPr txBox="1"/>
          <p:nvPr/>
        </p:nvSpPr>
        <p:spPr>
          <a:xfrm>
            <a:off x="7269480" y="3776472"/>
            <a:ext cx="4251960" cy="502920"/>
          </a:xfrm>
          <a:prstGeom prst="rect">
            <a:avLst/>
          </a:prstGeom>
          <a:noFill/>
        </p:spPr>
        <p:txBody>
          <a:bodyPr wrap="square" lIns="0" tIns="0" rIns="0" bIns="0" anchor="t">
            <a:noAutofit/>
          </a:bodyPr>
          <a:lstStyle/>
          <a:p>
            <a:pPr algn="l"/>
            <a:r>
              <a:rPr sz="1350" b="0" i="0">
                <a:solidFill>
                  <a:srgbClr val="5B6472"/>
                </a:solidFill>
                <a:latin typeface="Calibri"/>
              </a:rPr>
              <a:t>dvc.yaml y dvc repro reconstruyen resultados</a:t>
            </a:r>
          </a:p>
        </p:txBody>
      </p:sp>
      <p:sp>
        <p:nvSpPr>
          <p:cNvPr id="18" name="Tarjeta"/>
          <p:cNvSpPr/>
          <p:nvPr/>
        </p:nvSpPr>
        <p:spPr>
          <a:xfrm>
            <a:off x="6400800" y="4389120"/>
            <a:ext cx="5239512" cy="960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írculo de ícono"/>
          <p:cNvSpPr/>
          <p:nvPr/>
        </p:nvSpPr>
        <p:spPr>
          <a:xfrm>
            <a:off x="6537960" y="4631436"/>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o"/>
          <p:cNvSpPr txBox="1"/>
          <p:nvPr/>
        </p:nvSpPr>
        <p:spPr>
          <a:xfrm>
            <a:off x="7269480" y="4480559"/>
            <a:ext cx="4251960" cy="320040"/>
          </a:xfrm>
          <a:prstGeom prst="rect">
            <a:avLst/>
          </a:prstGeom>
          <a:noFill/>
        </p:spPr>
        <p:txBody>
          <a:bodyPr wrap="square" lIns="0" tIns="0" rIns="0" bIns="0" anchor="t">
            <a:noAutofit/>
          </a:bodyPr>
          <a:lstStyle/>
          <a:p>
            <a:pPr algn="l"/>
            <a:r>
              <a:rPr sz="1700" b="1" i="0">
                <a:solidFill>
                  <a:srgbClr val="1B2A4A"/>
                </a:solidFill>
                <a:latin typeface="Calibri"/>
              </a:rPr>
              <a:t>Métricas y parámetros</a:t>
            </a:r>
          </a:p>
        </p:txBody>
      </p:sp>
      <p:sp>
        <p:nvSpPr>
          <p:cNvPr id="22" name="Texto"/>
          <p:cNvSpPr txBox="1"/>
          <p:nvPr/>
        </p:nvSpPr>
        <p:spPr>
          <a:xfrm>
            <a:off x="7269480" y="4828031"/>
            <a:ext cx="4251960" cy="502920"/>
          </a:xfrm>
          <a:prstGeom prst="rect">
            <a:avLst/>
          </a:prstGeom>
          <a:noFill/>
        </p:spPr>
        <p:txBody>
          <a:bodyPr wrap="square" lIns="0" tIns="0" rIns="0" bIns="0" anchor="t">
            <a:noAutofit/>
          </a:bodyPr>
          <a:lstStyle/>
          <a:p>
            <a:pPr algn="l"/>
            <a:r>
              <a:rPr sz="1350" b="0" i="0">
                <a:solidFill>
                  <a:srgbClr val="5B6472"/>
                </a:solidFill>
                <a:latin typeface="Calibri"/>
              </a:rPr>
              <a:t>dvc params diff y dvc metrics diff comparan versiones</a:t>
            </a:r>
          </a:p>
        </p:txBody>
      </p:sp>
      <p:sp>
        <p:nvSpPr>
          <p:cNvPr id="23" name="Texto"/>
          <p:cNvSpPr txBox="1"/>
          <p:nvPr/>
        </p:nvSpPr>
        <p:spPr>
          <a:xfrm>
            <a:off x="6400800" y="5440680"/>
            <a:ext cx="5239512" cy="91440"/>
          </a:xfrm>
          <a:prstGeom prst="rect">
            <a:avLst/>
          </a:prstGeom>
          <a:noFill/>
        </p:spPr>
        <p:txBody>
          <a:bodyPr wrap="square" lIns="0" tIns="0" rIns="0" bIns="0" anchor="t">
            <a:noAutofit/>
          </a:bodyPr>
          <a:lstStyle/>
          <a:p>
            <a:pPr algn="l"/>
            <a:endParaRPr/>
          </a:p>
        </p:txBody>
      </p:sp>
      <p:sp>
        <p:nvSpPr>
          <p:cNvPr id="24"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Evidencia para: ISO/IEC 42001 A.7 (datos) · EU AI Act Art. 10 · alternativas: lakeFS, Delta Lake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MLflow: experimentos y registro de modelos</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HERRAMIENTAS</a:t>
            </a:r>
          </a:p>
        </p:txBody>
      </p:sp>
      <p:sp>
        <p:nvSpPr>
          <p:cNvPr id="4" name="Tarjeta"/>
          <p:cNvSpPr/>
          <p:nvPr/>
        </p:nvSpPr>
        <p:spPr>
          <a:xfrm>
            <a:off x="548640" y="2286000"/>
            <a:ext cx="6035040"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o"/>
          <p:cNvSpPr txBox="1"/>
          <p:nvPr/>
        </p:nvSpPr>
        <p:spPr>
          <a:xfrm>
            <a:off x="777240" y="2377440"/>
            <a:ext cx="5577840" cy="320040"/>
          </a:xfrm>
          <a:prstGeom prst="rect">
            <a:avLst/>
          </a:prstGeom>
          <a:noFill/>
        </p:spPr>
        <p:txBody>
          <a:bodyPr wrap="square" lIns="0" tIns="0" rIns="0" bIns="0" anchor="t">
            <a:noAutofit/>
          </a:bodyPr>
          <a:lstStyle/>
          <a:p>
            <a:pPr algn="l"/>
            <a:r>
              <a:rPr sz="1600" b="1" i="0" dirty="0">
                <a:solidFill>
                  <a:srgbClr val="567B54"/>
                </a:solidFill>
                <a:latin typeface="Calibri"/>
              </a:rPr>
              <a:t>Ejemplo mínimo en Python</a:t>
            </a:r>
          </a:p>
        </p:txBody>
      </p:sp>
      <p:sp>
        <p:nvSpPr>
          <p:cNvPr id="6" name="Bloque de código"/>
          <p:cNvSpPr/>
          <p:nvPr/>
        </p:nvSpPr>
        <p:spPr>
          <a:xfrm>
            <a:off x="777240" y="2788920"/>
            <a:ext cx="5577840" cy="2468880"/>
          </a:xfrm>
          <a:prstGeom prst="roundRect">
            <a:avLst>
              <a:gd name="adj" fmla="val 4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ódigo"/>
          <p:cNvSpPr txBox="1"/>
          <p:nvPr/>
        </p:nvSpPr>
        <p:spPr>
          <a:xfrm>
            <a:off x="941832" y="2898648"/>
            <a:ext cx="5248655" cy="2249424"/>
          </a:xfrm>
          <a:prstGeom prst="rect">
            <a:avLst/>
          </a:prstGeom>
          <a:noFill/>
        </p:spPr>
        <p:txBody>
          <a:bodyPr wrap="square" lIns="0" tIns="0" rIns="0" bIns="0" anchor="t">
            <a:noAutofit/>
          </a:bodyPr>
          <a:lstStyle/>
          <a:p>
            <a:pPr algn="l">
              <a:spcAft>
                <a:spcPts val="200"/>
              </a:spcAft>
            </a:pPr>
            <a:r>
              <a:rPr sz="1350" b="0" i="0">
                <a:solidFill>
                  <a:srgbClr val="FFFFFF"/>
                </a:solidFill>
                <a:latin typeface="Courier New"/>
              </a:rPr>
              <a:t>import mlflow</a:t>
            </a:r>
          </a:p>
          <a:p>
            <a:pPr algn="l">
              <a:spcAft>
                <a:spcPts val="200"/>
              </a:spcAft>
            </a:pPr>
            <a:r>
              <a:rPr sz="1350" b="0" i="0">
                <a:solidFill>
                  <a:srgbClr val="FFFFFF"/>
                </a:solidFill>
                <a:latin typeface="Courier New"/>
              </a:rPr>
              <a:t>mlflow.set_experiment("scoring-credito")</a:t>
            </a:r>
          </a:p>
          <a:p>
            <a:pPr algn="l">
              <a:spcAft>
                <a:spcPts val="200"/>
              </a:spcAft>
            </a:pPr>
            <a:r>
              <a:rPr sz="1350" b="0" i="0">
                <a:solidFill>
                  <a:srgbClr val="FFFFFF"/>
                </a:solidFill>
                <a:latin typeface="Courier New"/>
              </a:rPr>
              <a:t>with mlflow.start_run():</a:t>
            </a:r>
          </a:p>
          <a:p>
            <a:pPr algn="l">
              <a:spcAft>
                <a:spcPts val="200"/>
              </a:spcAft>
            </a:pPr>
            <a:r>
              <a:rPr sz="1350" b="0" i="0">
                <a:solidFill>
                  <a:srgbClr val="FFFFFF"/>
                </a:solidFill>
                <a:latin typeface="Courier New"/>
              </a:rPr>
              <a:t>    mlflow.log_param("max_depth", 6)</a:t>
            </a:r>
          </a:p>
          <a:p>
            <a:pPr algn="l">
              <a:spcAft>
                <a:spcPts val="200"/>
              </a:spcAft>
            </a:pPr>
            <a:r>
              <a:rPr sz="1350" b="0" i="0">
                <a:solidFill>
                  <a:srgbClr val="FFFFFF"/>
                </a:solidFill>
                <a:latin typeface="Courier New"/>
              </a:rPr>
              <a:t>    mlflow.log_metric("auc", 0.87)</a:t>
            </a:r>
          </a:p>
          <a:p>
            <a:pPr algn="l">
              <a:spcAft>
                <a:spcPts val="200"/>
              </a:spcAft>
            </a:pPr>
            <a:r>
              <a:rPr sz="1350" b="0" i="0">
                <a:solidFill>
                  <a:srgbClr val="FFFFFF"/>
                </a:solidFill>
                <a:latin typeface="Courier New"/>
              </a:rPr>
              <a:t>    mlflow.sklearn.log_model(</a:t>
            </a:r>
          </a:p>
          <a:p>
            <a:pPr algn="l">
              <a:spcAft>
                <a:spcPts val="200"/>
              </a:spcAft>
            </a:pPr>
            <a:r>
              <a:rPr sz="1350" b="0" i="0">
                <a:solidFill>
                  <a:srgbClr val="FFFFFF"/>
                </a:solidFill>
                <a:latin typeface="Courier New"/>
              </a:rPr>
              <a:t>        model, "model",</a:t>
            </a:r>
          </a:p>
          <a:p>
            <a:pPr algn="l">
              <a:spcAft>
                <a:spcPts val="200"/>
              </a:spcAft>
            </a:pPr>
            <a:r>
              <a:rPr sz="1350" b="0" i="0">
                <a:solidFill>
                  <a:srgbClr val="FFFFFF"/>
                </a:solidFill>
                <a:latin typeface="Courier New"/>
              </a:rPr>
              <a:t>        registered_model_name="scoring_credito")</a:t>
            </a:r>
          </a:p>
        </p:txBody>
      </p:sp>
      <p:sp>
        <p:nvSpPr>
          <p:cNvPr id="8" name="Tarjeta"/>
          <p:cNvSpPr/>
          <p:nvPr/>
        </p:nvSpPr>
        <p:spPr>
          <a:xfrm>
            <a:off x="6766560" y="2286000"/>
            <a:ext cx="4873752" cy="960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írculo de ícono"/>
          <p:cNvSpPr/>
          <p:nvPr/>
        </p:nvSpPr>
        <p:spPr>
          <a:xfrm>
            <a:off x="6903720" y="2450592"/>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p:cNvSpPr txBox="1"/>
          <p:nvPr/>
        </p:nvSpPr>
        <p:spPr>
          <a:xfrm>
            <a:off x="7635240" y="2377440"/>
            <a:ext cx="3886200" cy="320040"/>
          </a:xfrm>
          <a:prstGeom prst="rect">
            <a:avLst/>
          </a:prstGeom>
          <a:noFill/>
        </p:spPr>
        <p:txBody>
          <a:bodyPr wrap="square" lIns="0" tIns="0" rIns="0" bIns="0" anchor="t">
            <a:noAutofit/>
          </a:bodyPr>
          <a:lstStyle/>
          <a:p>
            <a:pPr algn="l"/>
            <a:r>
              <a:rPr sz="1700" b="1" i="0">
                <a:solidFill>
                  <a:srgbClr val="1B2A4A"/>
                </a:solidFill>
                <a:latin typeface="Calibri"/>
              </a:rPr>
              <a:t>Tracking</a:t>
            </a:r>
          </a:p>
        </p:txBody>
      </p:sp>
      <p:sp>
        <p:nvSpPr>
          <p:cNvPr id="12" name="Texto"/>
          <p:cNvSpPr txBox="1"/>
          <p:nvPr/>
        </p:nvSpPr>
        <p:spPr>
          <a:xfrm>
            <a:off x="7635240" y="2724912"/>
            <a:ext cx="3886200" cy="502920"/>
          </a:xfrm>
          <a:prstGeom prst="rect">
            <a:avLst/>
          </a:prstGeom>
          <a:noFill/>
        </p:spPr>
        <p:txBody>
          <a:bodyPr wrap="square" lIns="0" tIns="0" rIns="0" bIns="0" anchor="t">
            <a:noAutofit/>
          </a:bodyPr>
          <a:lstStyle/>
          <a:p>
            <a:pPr algn="l"/>
            <a:r>
              <a:rPr sz="1350" b="0" i="0">
                <a:solidFill>
                  <a:srgbClr val="5B6472"/>
                </a:solidFill>
                <a:latin typeface="Calibri"/>
              </a:rPr>
              <a:t>Parámetros, métricas, artefactos y versión del código de cada corrida</a:t>
            </a:r>
          </a:p>
        </p:txBody>
      </p:sp>
      <p:sp>
        <p:nvSpPr>
          <p:cNvPr id="13" name="Tarjeta"/>
          <p:cNvSpPr/>
          <p:nvPr/>
        </p:nvSpPr>
        <p:spPr>
          <a:xfrm>
            <a:off x="6766560" y="3337560"/>
            <a:ext cx="4873752" cy="960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írculo de ícono"/>
          <p:cNvSpPr/>
          <p:nvPr/>
        </p:nvSpPr>
        <p:spPr>
          <a:xfrm>
            <a:off x="6903720" y="3538728"/>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o"/>
          <p:cNvSpPr txBox="1"/>
          <p:nvPr/>
        </p:nvSpPr>
        <p:spPr>
          <a:xfrm>
            <a:off x="7635240" y="3429000"/>
            <a:ext cx="3886200" cy="320040"/>
          </a:xfrm>
          <a:prstGeom prst="rect">
            <a:avLst/>
          </a:prstGeom>
          <a:noFill/>
        </p:spPr>
        <p:txBody>
          <a:bodyPr wrap="square" lIns="0" tIns="0" rIns="0" bIns="0" anchor="t">
            <a:noAutofit/>
          </a:bodyPr>
          <a:lstStyle/>
          <a:p>
            <a:pPr algn="l"/>
            <a:r>
              <a:rPr sz="1700" b="1" i="0">
                <a:solidFill>
                  <a:srgbClr val="1B2A4A"/>
                </a:solidFill>
                <a:latin typeface="Calibri"/>
              </a:rPr>
              <a:t>Model Registry</a:t>
            </a:r>
          </a:p>
        </p:txBody>
      </p:sp>
      <p:sp>
        <p:nvSpPr>
          <p:cNvPr id="17" name="Texto"/>
          <p:cNvSpPr txBox="1"/>
          <p:nvPr/>
        </p:nvSpPr>
        <p:spPr>
          <a:xfrm>
            <a:off x="7635240" y="3776472"/>
            <a:ext cx="3886200" cy="502920"/>
          </a:xfrm>
          <a:prstGeom prst="rect">
            <a:avLst/>
          </a:prstGeom>
          <a:noFill/>
        </p:spPr>
        <p:txBody>
          <a:bodyPr wrap="square" lIns="0" tIns="0" rIns="0" bIns="0" anchor="t">
            <a:noAutofit/>
          </a:bodyPr>
          <a:lstStyle/>
          <a:p>
            <a:pPr algn="l"/>
            <a:r>
              <a:rPr sz="1350" b="0" i="0">
                <a:solidFill>
                  <a:srgbClr val="5B6472"/>
                </a:solidFill>
                <a:latin typeface="Calibri"/>
              </a:rPr>
              <a:t>Versiones, alias y etiquetas de aprobación por modelo</a:t>
            </a:r>
          </a:p>
        </p:txBody>
      </p:sp>
      <p:sp>
        <p:nvSpPr>
          <p:cNvPr id="18" name="Tarjeta"/>
          <p:cNvSpPr/>
          <p:nvPr/>
        </p:nvSpPr>
        <p:spPr>
          <a:xfrm>
            <a:off x="6766560" y="4389120"/>
            <a:ext cx="4873752" cy="960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írculo de ícono"/>
          <p:cNvSpPr/>
          <p:nvPr/>
        </p:nvSpPr>
        <p:spPr>
          <a:xfrm>
            <a:off x="6903720" y="4590288"/>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o"/>
          <p:cNvSpPr txBox="1"/>
          <p:nvPr/>
        </p:nvSpPr>
        <p:spPr>
          <a:xfrm>
            <a:off x="7635240" y="4480559"/>
            <a:ext cx="3886200" cy="320040"/>
          </a:xfrm>
          <a:prstGeom prst="rect">
            <a:avLst/>
          </a:prstGeom>
          <a:noFill/>
        </p:spPr>
        <p:txBody>
          <a:bodyPr wrap="square" lIns="0" tIns="0" rIns="0" bIns="0" anchor="t">
            <a:noAutofit/>
          </a:bodyPr>
          <a:lstStyle/>
          <a:p>
            <a:pPr algn="l"/>
            <a:r>
              <a:rPr sz="1700" b="1" i="0">
                <a:solidFill>
                  <a:srgbClr val="1B2A4A"/>
                </a:solidFill>
                <a:latin typeface="Calibri"/>
              </a:rPr>
              <a:t>Artefactos</a:t>
            </a:r>
          </a:p>
        </p:txBody>
      </p:sp>
      <p:sp>
        <p:nvSpPr>
          <p:cNvPr id="22" name="Texto"/>
          <p:cNvSpPr txBox="1"/>
          <p:nvPr/>
        </p:nvSpPr>
        <p:spPr>
          <a:xfrm>
            <a:off x="7635240" y="4828031"/>
            <a:ext cx="3886200" cy="502920"/>
          </a:xfrm>
          <a:prstGeom prst="rect">
            <a:avLst/>
          </a:prstGeom>
          <a:noFill/>
        </p:spPr>
        <p:txBody>
          <a:bodyPr wrap="square" lIns="0" tIns="0" rIns="0" bIns="0" anchor="t">
            <a:noAutofit/>
          </a:bodyPr>
          <a:lstStyle/>
          <a:p>
            <a:pPr algn="l"/>
            <a:r>
              <a:rPr sz="1350" b="0" i="0">
                <a:solidFill>
                  <a:srgbClr val="5B6472"/>
                </a:solidFill>
                <a:latin typeface="Calibri"/>
              </a:rPr>
              <a:t>Gráficos SHAP, fichas de modelo y reportes anexados a la corrida</a:t>
            </a:r>
          </a:p>
        </p:txBody>
      </p:sp>
      <p:sp>
        <p:nvSpPr>
          <p:cNvPr id="23"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Evidencia para: ISO/IEC 42001 A.6 · EU AI Act Arts. 11 y 12 · ficha de modelo y aprobación formal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Explicabilidad: SHAP y TensorBoard</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HERRAMIENTAS</a:t>
            </a:r>
          </a:p>
        </p:txBody>
      </p:sp>
      <p:sp>
        <p:nvSpPr>
          <p:cNvPr id="4" name="Tarjeta"/>
          <p:cNvSpPr/>
          <p:nvPr/>
        </p:nvSpPr>
        <p:spPr>
          <a:xfrm>
            <a:off x="548640" y="2286000"/>
            <a:ext cx="5468112"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o"/>
          <p:cNvSpPr txBox="1"/>
          <p:nvPr/>
        </p:nvSpPr>
        <p:spPr>
          <a:xfrm>
            <a:off x="777240" y="2377440"/>
            <a:ext cx="5029200" cy="320040"/>
          </a:xfrm>
          <a:prstGeom prst="rect">
            <a:avLst/>
          </a:prstGeom>
          <a:noFill/>
        </p:spPr>
        <p:txBody>
          <a:bodyPr wrap="square" lIns="0" tIns="0" rIns="0" bIns="0" anchor="t">
            <a:noAutofit/>
          </a:bodyPr>
          <a:lstStyle/>
          <a:p>
            <a:pPr algn="l"/>
            <a:r>
              <a:rPr sz="1700" b="1" i="0" dirty="0">
                <a:solidFill>
                  <a:srgbClr val="567B54"/>
                </a:solidFill>
                <a:latin typeface="Calibri"/>
              </a:rPr>
              <a:t>SHAP · explica las decisiones</a:t>
            </a:r>
          </a:p>
        </p:txBody>
      </p:sp>
      <p:sp>
        <p:nvSpPr>
          <p:cNvPr id="6" name="Texto"/>
          <p:cNvSpPr txBox="1"/>
          <p:nvPr/>
        </p:nvSpPr>
        <p:spPr>
          <a:xfrm>
            <a:off x="777240" y="2724912"/>
            <a:ext cx="5029200" cy="502920"/>
          </a:xfrm>
          <a:prstGeom prst="rect">
            <a:avLst/>
          </a:prstGeom>
          <a:noFill/>
        </p:spPr>
        <p:txBody>
          <a:bodyPr wrap="square" lIns="0" tIns="0" rIns="0" bIns="0" anchor="t">
            <a:noAutofit/>
          </a:bodyPr>
          <a:lstStyle/>
          <a:p>
            <a:pPr algn="l"/>
            <a:r>
              <a:rPr sz="1500" b="0" i="0">
                <a:solidFill>
                  <a:srgbClr val="1B2A4A"/>
                </a:solidFill>
                <a:latin typeface="Calibri"/>
              </a:rPr>
              <a:t>Aporte de cada variable a una predicción: global y local.</a:t>
            </a:r>
          </a:p>
        </p:txBody>
      </p:sp>
      <p:sp>
        <p:nvSpPr>
          <p:cNvPr id="7" name="Bloque de código"/>
          <p:cNvSpPr/>
          <p:nvPr/>
        </p:nvSpPr>
        <p:spPr>
          <a:xfrm>
            <a:off x="777240" y="3337560"/>
            <a:ext cx="5010912" cy="1965960"/>
          </a:xfrm>
          <a:prstGeom prst="roundRect">
            <a:avLst>
              <a:gd name="adj" fmla="val 4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ódigo"/>
          <p:cNvSpPr txBox="1"/>
          <p:nvPr/>
        </p:nvSpPr>
        <p:spPr>
          <a:xfrm>
            <a:off x="941832" y="3447288"/>
            <a:ext cx="4681728" cy="1746504"/>
          </a:xfrm>
          <a:prstGeom prst="rect">
            <a:avLst/>
          </a:prstGeom>
          <a:noFill/>
        </p:spPr>
        <p:txBody>
          <a:bodyPr wrap="square" lIns="0" tIns="0" rIns="0" bIns="0" anchor="t">
            <a:noAutofit/>
          </a:bodyPr>
          <a:lstStyle/>
          <a:p>
            <a:pPr algn="l">
              <a:spcAft>
                <a:spcPts val="200"/>
              </a:spcAft>
            </a:pPr>
            <a:r>
              <a:rPr sz="1350" b="0" i="0">
                <a:solidFill>
                  <a:srgbClr val="FFFFFF"/>
                </a:solidFill>
                <a:latin typeface="Courier New"/>
              </a:rPr>
              <a:t>import shap</a:t>
            </a:r>
          </a:p>
          <a:p>
            <a:pPr algn="l">
              <a:spcAft>
                <a:spcPts val="200"/>
              </a:spcAft>
            </a:pPr>
            <a:r>
              <a:rPr sz="1350" b="0" i="0">
                <a:solidFill>
                  <a:srgbClr val="FFFFFF"/>
                </a:solidFill>
                <a:latin typeface="Courier New"/>
              </a:rPr>
              <a:t>explainer = shap.Explainer(model, X_train)</a:t>
            </a:r>
          </a:p>
          <a:p>
            <a:pPr algn="l">
              <a:spcAft>
                <a:spcPts val="200"/>
              </a:spcAft>
            </a:pPr>
            <a:r>
              <a:rPr sz="1350" b="0" i="0">
                <a:solidFill>
                  <a:srgbClr val="FFFFFF"/>
                </a:solidFill>
                <a:latin typeface="Courier New"/>
              </a:rPr>
              <a:t>sv = explainer(X_test)</a:t>
            </a:r>
          </a:p>
          <a:p>
            <a:pPr algn="l">
              <a:spcAft>
                <a:spcPts val="200"/>
              </a:spcAft>
            </a:pPr>
            <a:r>
              <a:rPr sz="1350" b="0" i="0">
                <a:solidFill>
                  <a:srgbClr val="FFFFFF"/>
                </a:solidFill>
                <a:latin typeface="Courier New"/>
              </a:rPr>
              <a:t>shap.plots.beeswarm(sv)   # global</a:t>
            </a:r>
          </a:p>
          <a:p>
            <a:pPr algn="l">
              <a:spcAft>
                <a:spcPts val="200"/>
              </a:spcAft>
            </a:pPr>
            <a:r>
              <a:rPr sz="1350" b="0" i="0">
                <a:solidFill>
                  <a:srgbClr val="FFFFFF"/>
                </a:solidFill>
                <a:latin typeface="Courier New"/>
              </a:rPr>
              <a:t>shap.plots.waterfall(sv[0]) # una decisión</a:t>
            </a:r>
          </a:p>
        </p:txBody>
      </p:sp>
      <p:sp>
        <p:nvSpPr>
          <p:cNvPr id="9" name="Tarjeta"/>
          <p:cNvSpPr/>
          <p:nvPr/>
        </p:nvSpPr>
        <p:spPr>
          <a:xfrm>
            <a:off x="6172200" y="2286000"/>
            <a:ext cx="5468112"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p:cNvSpPr txBox="1"/>
          <p:nvPr/>
        </p:nvSpPr>
        <p:spPr>
          <a:xfrm>
            <a:off x="6400800" y="2377440"/>
            <a:ext cx="5029200" cy="320040"/>
          </a:xfrm>
          <a:prstGeom prst="rect">
            <a:avLst/>
          </a:prstGeom>
          <a:noFill/>
        </p:spPr>
        <p:txBody>
          <a:bodyPr wrap="square" lIns="0" tIns="0" rIns="0" bIns="0" anchor="t">
            <a:noAutofit/>
          </a:bodyPr>
          <a:lstStyle/>
          <a:p>
            <a:pPr algn="l"/>
            <a:r>
              <a:rPr sz="1700" b="1" i="0" dirty="0" err="1">
                <a:solidFill>
                  <a:srgbClr val="567B54"/>
                </a:solidFill>
                <a:latin typeface="Calibri"/>
              </a:rPr>
              <a:t>TensorBoard</a:t>
            </a:r>
            <a:r>
              <a:rPr sz="1700" b="1" i="0" dirty="0">
                <a:solidFill>
                  <a:srgbClr val="567B54"/>
                </a:solidFill>
                <a:latin typeface="Calibri"/>
              </a:rPr>
              <a:t> · evidencia el entrenamiento</a:t>
            </a:r>
          </a:p>
        </p:txBody>
      </p:sp>
      <p:sp>
        <p:nvSpPr>
          <p:cNvPr id="11" name="Texto"/>
          <p:cNvSpPr txBox="1"/>
          <p:nvPr/>
        </p:nvSpPr>
        <p:spPr>
          <a:xfrm>
            <a:off x="6400800" y="2724912"/>
            <a:ext cx="5029200" cy="502920"/>
          </a:xfrm>
          <a:prstGeom prst="rect">
            <a:avLst/>
          </a:prstGeom>
          <a:noFill/>
        </p:spPr>
        <p:txBody>
          <a:bodyPr wrap="square" lIns="0" tIns="0" rIns="0" bIns="0" anchor="t">
            <a:noAutofit/>
          </a:bodyPr>
          <a:lstStyle/>
          <a:p>
            <a:pPr algn="l"/>
            <a:r>
              <a:rPr sz="1500" b="0" i="0">
                <a:solidFill>
                  <a:srgbClr val="1B2A4A"/>
                </a:solidFill>
                <a:latin typeface="Calibri"/>
              </a:rPr>
              <a:t>Curvas de pérdida y métricas, histogramas y grafo del modelo.</a:t>
            </a:r>
          </a:p>
        </p:txBody>
      </p:sp>
      <p:sp>
        <p:nvSpPr>
          <p:cNvPr id="12" name="Bloque de código"/>
          <p:cNvSpPr/>
          <p:nvPr/>
        </p:nvSpPr>
        <p:spPr>
          <a:xfrm>
            <a:off x="6400800" y="3337560"/>
            <a:ext cx="5010912" cy="1965960"/>
          </a:xfrm>
          <a:prstGeom prst="roundRect">
            <a:avLst>
              <a:gd name="adj" fmla="val 4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ódigo"/>
          <p:cNvSpPr txBox="1"/>
          <p:nvPr/>
        </p:nvSpPr>
        <p:spPr>
          <a:xfrm>
            <a:off x="6565392" y="3447288"/>
            <a:ext cx="4681728" cy="1746504"/>
          </a:xfrm>
          <a:prstGeom prst="rect">
            <a:avLst/>
          </a:prstGeom>
          <a:noFill/>
        </p:spPr>
        <p:txBody>
          <a:bodyPr wrap="square" lIns="0" tIns="0" rIns="0" bIns="0" anchor="t">
            <a:noAutofit/>
          </a:bodyPr>
          <a:lstStyle/>
          <a:p>
            <a:pPr algn="l">
              <a:spcAft>
                <a:spcPts val="200"/>
              </a:spcAft>
            </a:pPr>
            <a:r>
              <a:rPr sz="1350" b="0" i="0">
                <a:solidFill>
                  <a:srgbClr val="FFFFFF"/>
                </a:solidFill>
                <a:latin typeface="Courier New"/>
              </a:rPr>
              <a:t>tb = tf.keras.callbacks.TensorBoard(</a:t>
            </a:r>
          </a:p>
          <a:p>
            <a:pPr algn="l">
              <a:spcAft>
                <a:spcPts val="200"/>
              </a:spcAft>
            </a:pPr>
            <a:r>
              <a:rPr sz="1350" b="0" i="0">
                <a:solidFill>
                  <a:srgbClr val="FFFFFF"/>
                </a:solidFill>
                <a:latin typeface="Courier New"/>
              </a:rPr>
              <a:t>    log_dir="logs/v1")</a:t>
            </a:r>
          </a:p>
          <a:p>
            <a:pPr algn="l">
              <a:spcAft>
                <a:spcPts val="200"/>
              </a:spcAft>
            </a:pPr>
            <a:r>
              <a:rPr sz="1350" b="0" i="0">
                <a:solidFill>
                  <a:srgbClr val="FFFFFF"/>
                </a:solidFill>
                <a:latin typeface="Courier New"/>
              </a:rPr>
              <a:t>model.fit(X, y, epochs=10,</a:t>
            </a:r>
          </a:p>
          <a:p>
            <a:pPr algn="l">
              <a:spcAft>
                <a:spcPts val="200"/>
              </a:spcAft>
            </a:pPr>
            <a:r>
              <a:rPr sz="1350" b="0" i="0">
                <a:solidFill>
                  <a:srgbClr val="FFFFFF"/>
                </a:solidFill>
                <a:latin typeface="Courier New"/>
              </a:rPr>
              <a:t>          callbacks=[tb])</a:t>
            </a:r>
          </a:p>
          <a:p>
            <a:pPr algn="l">
              <a:spcAft>
                <a:spcPts val="200"/>
              </a:spcAft>
            </a:pPr>
            <a:r>
              <a:rPr sz="1350" b="0" i="0">
                <a:solidFill>
                  <a:srgbClr val="FFA400"/>
                </a:solidFill>
                <a:latin typeface="Courier New"/>
              </a:rPr>
              <a:t># tensorboard --logdir logs</a:t>
            </a:r>
          </a:p>
        </p:txBody>
      </p:sp>
      <p:sp>
        <p:nvSpPr>
          <p:cNvPr id="14"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Alternativas: LIME (explicaciones locales) · Fairness Indicators (equidad en TensorFlow) · Evidencia para EU AI Act Art. 13 y T-323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Equidad, calidad de datos y monitoreo</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HERRAMIENTAS</a:t>
            </a:r>
          </a:p>
        </p:txBody>
      </p:sp>
      <p:sp>
        <p:nvSpPr>
          <p:cNvPr id="4" name="Tarjeta"/>
          <p:cNvSpPr/>
          <p:nvPr/>
        </p:nvSpPr>
        <p:spPr>
          <a:xfrm>
            <a:off x="548640" y="2286000"/>
            <a:ext cx="5454396"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731520" y="242316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p:cNvSpPr txBox="1"/>
          <p:nvPr/>
        </p:nvSpPr>
        <p:spPr>
          <a:xfrm>
            <a:off x="1417319" y="2423160"/>
            <a:ext cx="4448556" cy="548640"/>
          </a:xfrm>
          <a:prstGeom prst="rect">
            <a:avLst/>
          </a:prstGeom>
          <a:noFill/>
        </p:spPr>
        <p:txBody>
          <a:bodyPr wrap="square" lIns="0" tIns="0" rIns="0" bIns="0" anchor="ctr">
            <a:noAutofit/>
          </a:bodyPr>
          <a:lstStyle/>
          <a:p>
            <a:pPr algn="l"/>
            <a:r>
              <a:rPr sz="1600" b="1" i="0">
                <a:solidFill>
                  <a:srgbClr val="1B2A4A"/>
                </a:solidFill>
                <a:latin typeface="Calibri"/>
              </a:rPr>
              <a:t>Equidad · Fairlearn / AIF360</a:t>
            </a:r>
          </a:p>
        </p:txBody>
      </p:sp>
      <p:sp>
        <p:nvSpPr>
          <p:cNvPr id="8" name="Texto"/>
          <p:cNvSpPr txBox="1"/>
          <p:nvPr/>
        </p:nvSpPr>
        <p:spPr>
          <a:xfrm>
            <a:off x="777240" y="3063240"/>
            <a:ext cx="4997196" cy="320040"/>
          </a:xfrm>
          <a:prstGeom prst="rect">
            <a:avLst/>
          </a:prstGeom>
          <a:noFill/>
        </p:spPr>
        <p:txBody>
          <a:bodyPr wrap="square" lIns="0" tIns="0" rIns="0" bIns="0" anchor="t">
            <a:noAutofit/>
          </a:bodyPr>
          <a:lstStyle/>
          <a:p>
            <a:pPr algn="l"/>
            <a:r>
              <a:rPr sz="1500" b="0" i="0">
                <a:solidFill>
                  <a:srgbClr val="5B6472"/>
                </a:solidFill>
                <a:latin typeface="Calibri"/>
              </a:rPr>
              <a:t>Métricas por grupo y mitigación de sesgo.</a:t>
            </a:r>
          </a:p>
        </p:txBody>
      </p:sp>
      <p:sp>
        <p:nvSpPr>
          <p:cNvPr id="9" name="Texto"/>
          <p:cNvSpPr txBox="1"/>
          <p:nvPr/>
        </p:nvSpPr>
        <p:spPr>
          <a:xfrm>
            <a:off x="777240" y="3401568"/>
            <a:ext cx="4997196" cy="274320"/>
          </a:xfrm>
          <a:prstGeom prst="rect">
            <a:avLst/>
          </a:prstGeom>
          <a:noFill/>
        </p:spPr>
        <p:txBody>
          <a:bodyPr wrap="square" lIns="0" tIns="0" rIns="0" bIns="0" anchor="t">
            <a:noAutofit/>
          </a:bodyPr>
          <a:lstStyle/>
          <a:p>
            <a:pPr algn="l"/>
            <a:r>
              <a:rPr sz="1350" b="1" i="0">
                <a:solidFill>
                  <a:srgbClr val="567B54"/>
                </a:solidFill>
                <a:latin typeface="Calibri"/>
              </a:rPr>
              <a:t>T-323: no discriminación · EU AI Act Art. 10</a:t>
            </a:r>
          </a:p>
        </p:txBody>
      </p:sp>
      <p:sp>
        <p:nvSpPr>
          <p:cNvPr id="10" name="Tarjeta"/>
          <p:cNvSpPr/>
          <p:nvPr/>
        </p:nvSpPr>
        <p:spPr>
          <a:xfrm>
            <a:off x="6185916" y="2286000"/>
            <a:ext cx="5454396"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írculo de ícono"/>
          <p:cNvSpPr/>
          <p:nvPr/>
        </p:nvSpPr>
        <p:spPr>
          <a:xfrm>
            <a:off x="6368796" y="242316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p:cNvSpPr txBox="1"/>
          <p:nvPr/>
        </p:nvSpPr>
        <p:spPr>
          <a:xfrm>
            <a:off x="7054596" y="2423160"/>
            <a:ext cx="4448556" cy="548640"/>
          </a:xfrm>
          <a:prstGeom prst="rect">
            <a:avLst/>
          </a:prstGeom>
          <a:noFill/>
        </p:spPr>
        <p:txBody>
          <a:bodyPr wrap="square" lIns="0" tIns="0" rIns="0" bIns="0" anchor="ctr">
            <a:noAutofit/>
          </a:bodyPr>
          <a:lstStyle/>
          <a:p>
            <a:pPr algn="l"/>
            <a:r>
              <a:rPr sz="1600" b="1" i="0">
                <a:solidFill>
                  <a:srgbClr val="1B2A4A"/>
                </a:solidFill>
                <a:latin typeface="Calibri"/>
              </a:rPr>
              <a:t>Calidad de datos · Great Expectations</a:t>
            </a:r>
          </a:p>
        </p:txBody>
      </p:sp>
      <p:sp>
        <p:nvSpPr>
          <p:cNvPr id="14" name="Texto"/>
          <p:cNvSpPr txBox="1"/>
          <p:nvPr/>
        </p:nvSpPr>
        <p:spPr>
          <a:xfrm>
            <a:off x="6414516" y="3063240"/>
            <a:ext cx="4997196" cy="320040"/>
          </a:xfrm>
          <a:prstGeom prst="rect">
            <a:avLst/>
          </a:prstGeom>
          <a:noFill/>
        </p:spPr>
        <p:txBody>
          <a:bodyPr wrap="square" lIns="0" tIns="0" rIns="0" bIns="0" anchor="t">
            <a:noAutofit/>
          </a:bodyPr>
          <a:lstStyle/>
          <a:p>
            <a:pPr algn="l"/>
            <a:r>
              <a:rPr sz="1500" b="0" i="0">
                <a:solidFill>
                  <a:srgbClr val="5B6472"/>
                </a:solidFill>
                <a:latin typeface="Calibri"/>
              </a:rPr>
              <a:t>Reglas de calidad declarativas y su documentación.</a:t>
            </a:r>
          </a:p>
        </p:txBody>
      </p:sp>
      <p:sp>
        <p:nvSpPr>
          <p:cNvPr id="15" name="Texto"/>
          <p:cNvSpPr txBox="1"/>
          <p:nvPr/>
        </p:nvSpPr>
        <p:spPr>
          <a:xfrm>
            <a:off x="6414516" y="3401568"/>
            <a:ext cx="4997196" cy="274320"/>
          </a:xfrm>
          <a:prstGeom prst="rect">
            <a:avLst/>
          </a:prstGeom>
          <a:noFill/>
        </p:spPr>
        <p:txBody>
          <a:bodyPr wrap="square" lIns="0" tIns="0" rIns="0" bIns="0" anchor="t">
            <a:noAutofit/>
          </a:bodyPr>
          <a:lstStyle/>
          <a:p>
            <a:pPr algn="l"/>
            <a:r>
              <a:rPr sz="1350" b="1" i="0">
                <a:solidFill>
                  <a:srgbClr val="567B54"/>
                </a:solidFill>
                <a:latin typeface="Calibri"/>
              </a:rPr>
              <a:t>ISO/IEC 5259 · EU AI Act Art. 10</a:t>
            </a:r>
          </a:p>
        </p:txBody>
      </p:sp>
      <p:sp>
        <p:nvSpPr>
          <p:cNvPr id="16" name="Tarjeta"/>
          <p:cNvSpPr/>
          <p:nvPr/>
        </p:nvSpPr>
        <p:spPr>
          <a:xfrm>
            <a:off x="548640" y="3954780"/>
            <a:ext cx="5454396"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írculo de ícono"/>
          <p:cNvSpPr/>
          <p:nvPr/>
        </p:nvSpPr>
        <p:spPr>
          <a:xfrm>
            <a:off x="731520" y="409194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o"/>
          <p:cNvSpPr txBox="1"/>
          <p:nvPr/>
        </p:nvSpPr>
        <p:spPr>
          <a:xfrm>
            <a:off x="1417319" y="4091940"/>
            <a:ext cx="4448556" cy="548640"/>
          </a:xfrm>
          <a:prstGeom prst="rect">
            <a:avLst/>
          </a:prstGeom>
          <a:noFill/>
        </p:spPr>
        <p:txBody>
          <a:bodyPr wrap="square" lIns="0" tIns="0" rIns="0" bIns="0" anchor="ctr">
            <a:noAutofit/>
          </a:bodyPr>
          <a:lstStyle/>
          <a:p>
            <a:pPr algn="l"/>
            <a:r>
              <a:rPr sz="1600" b="1" i="0">
                <a:solidFill>
                  <a:srgbClr val="1B2A4A"/>
                </a:solidFill>
                <a:latin typeface="Calibri"/>
              </a:rPr>
              <a:t>Deriva · Evidently / whylogs</a:t>
            </a:r>
          </a:p>
        </p:txBody>
      </p:sp>
      <p:sp>
        <p:nvSpPr>
          <p:cNvPr id="20" name="Texto"/>
          <p:cNvSpPr txBox="1"/>
          <p:nvPr/>
        </p:nvSpPr>
        <p:spPr>
          <a:xfrm>
            <a:off x="777240" y="4732020"/>
            <a:ext cx="4997196" cy="320040"/>
          </a:xfrm>
          <a:prstGeom prst="rect">
            <a:avLst/>
          </a:prstGeom>
          <a:noFill/>
        </p:spPr>
        <p:txBody>
          <a:bodyPr wrap="square" lIns="0" tIns="0" rIns="0" bIns="0" anchor="t">
            <a:noAutofit/>
          </a:bodyPr>
          <a:lstStyle/>
          <a:p>
            <a:pPr algn="l"/>
            <a:r>
              <a:rPr sz="1500" b="0" i="0">
                <a:solidFill>
                  <a:srgbClr val="5B6472"/>
                </a:solidFill>
                <a:latin typeface="Calibri"/>
              </a:rPr>
              <a:t>Reportes de cambio en datos y desempeño.</a:t>
            </a:r>
          </a:p>
        </p:txBody>
      </p:sp>
      <p:sp>
        <p:nvSpPr>
          <p:cNvPr id="21" name="Texto"/>
          <p:cNvSpPr txBox="1"/>
          <p:nvPr/>
        </p:nvSpPr>
        <p:spPr>
          <a:xfrm>
            <a:off x="777240" y="5070348"/>
            <a:ext cx="4997196" cy="274320"/>
          </a:xfrm>
          <a:prstGeom prst="rect">
            <a:avLst/>
          </a:prstGeom>
          <a:noFill/>
        </p:spPr>
        <p:txBody>
          <a:bodyPr wrap="square" lIns="0" tIns="0" rIns="0" bIns="0" anchor="t">
            <a:noAutofit/>
          </a:bodyPr>
          <a:lstStyle/>
          <a:p>
            <a:pPr algn="l"/>
            <a:r>
              <a:rPr sz="1350" b="1" i="0">
                <a:solidFill>
                  <a:srgbClr val="567B54"/>
                </a:solidFill>
                <a:latin typeface="Calibri"/>
              </a:rPr>
              <a:t>EU AI Act Art. 15 · ISO 42001 A.6</a:t>
            </a:r>
          </a:p>
        </p:txBody>
      </p:sp>
      <p:sp>
        <p:nvSpPr>
          <p:cNvPr id="22" name="Tarjeta"/>
          <p:cNvSpPr/>
          <p:nvPr/>
        </p:nvSpPr>
        <p:spPr>
          <a:xfrm>
            <a:off x="6185916" y="3954780"/>
            <a:ext cx="5454396"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írculo de ícono"/>
          <p:cNvSpPr/>
          <p:nvPr/>
        </p:nvSpPr>
        <p:spPr>
          <a:xfrm>
            <a:off x="6368796" y="409194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o"/>
          <p:cNvSpPr txBox="1"/>
          <p:nvPr/>
        </p:nvSpPr>
        <p:spPr>
          <a:xfrm>
            <a:off x="7054596" y="4091940"/>
            <a:ext cx="4448556" cy="548640"/>
          </a:xfrm>
          <a:prstGeom prst="rect">
            <a:avLst/>
          </a:prstGeom>
          <a:noFill/>
        </p:spPr>
        <p:txBody>
          <a:bodyPr wrap="square" lIns="0" tIns="0" rIns="0" bIns="0" anchor="ctr">
            <a:noAutofit/>
          </a:bodyPr>
          <a:lstStyle/>
          <a:p>
            <a:pPr algn="l"/>
            <a:r>
              <a:rPr sz="1600" b="1" i="0">
                <a:solidFill>
                  <a:srgbClr val="1B2A4A"/>
                </a:solidFill>
                <a:latin typeface="Calibri"/>
              </a:rPr>
              <a:t>Observabilidad · Prometheus + Grafana</a:t>
            </a:r>
          </a:p>
        </p:txBody>
      </p:sp>
      <p:sp>
        <p:nvSpPr>
          <p:cNvPr id="26" name="Texto"/>
          <p:cNvSpPr txBox="1"/>
          <p:nvPr/>
        </p:nvSpPr>
        <p:spPr>
          <a:xfrm>
            <a:off x="6414516" y="4732020"/>
            <a:ext cx="4997196" cy="320040"/>
          </a:xfrm>
          <a:prstGeom prst="rect">
            <a:avLst/>
          </a:prstGeom>
          <a:noFill/>
        </p:spPr>
        <p:txBody>
          <a:bodyPr wrap="square" lIns="0" tIns="0" rIns="0" bIns="0" anchor="t">
            <a:noAutofit/>
          </a:bodyPr>
          <a:lstStyle/>
          <a:p>
            <a:pPr algn="l"/>
            <a:r>
              <a:rPr sz="1500" b="0" i="0">
                <a:solidFill>
                  <a:srgbClr val="5B6472"/>
                </a:solidFill>
                <a:latin typeface="Calibri"/>
              </a:rPr>
              <a:t>Latencia, errores, paneles y alertas.</a:t>
            </a:r>
          </a:p>
        </p:txBody>
      </p:sp>
      <p:sp>
        <p:nvSpPr>
          <p:cNvPr id="27" name="Texto"/>
          <p:cNvSpPr txBox="1"/>
          <p:nvPr/>
        </p:nvSpPr>
        <p:spPr>
          <a:xfrm>
            <a:off x="6414516" y="5070348"/>
            <a:ext cx="4997196" cy="274320"/>
          </a:xfrm>
          <a:prstGeom prst="rect">
            <a:avLst/>
          </a:prstGeom>
          <a:noFill/>
        </p:spPr>
        <p:txBody>
          <a:bodyPr wrap="square" lIns="0" tIns="0" rIns="0" bIns="0" anchor="t">
            <a:noAutofit/>
          </a:bodyPr>
          <a:lstStyle/>
          <a:p>
            <a:pPr algn="l"/>
            <a:r>
              <a:rPr sz="1350" b="1" i="0">
                <a:solidFill>
                  <a:srgbClr val="567B54"/>
                </a:solidFill>
                <a:latin typeface="Calibri"/>
              </a:rPr>
              <a:t>EU AI Act Art. 12 · ISO 42001 A.9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Sistemas de gestión ISO: ordenan la evidencia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HERRAMIENTAS</a:t>
            </a:r>
          </a:p>
        </p:txBody>
      </p:sp>
      <p:graphicFrame>
        <p:nvGraphicFramePr>
          <p:cNvPr id="4" name="Tabla"/>
          <p:cNvGraphicFramePr>
            <a:graphicFrameLocks noGrp="1"/>
          </p:cNvGraphicFramePr>
          <p:nvPr>
            <p:extLst>
              <p:ext uri="{D42A27DB-BD31-4B8C-83A1-F6EECF244321}">
                <p14:modId xmlns:p14="http://schemas.microsoft.com/office/powerpoint/2010/main" val="960646734"/>
              </p:ext>
            </p:extLst>
          </p:nvPr>
        </p:nvGraphicFramePr>
        <p:xfrm>
          <a:off x="548640" y="2286000"/>
          <a:ext cx="5852160" cy="3127248"/>
        </p:xfrm>
        <a:graphic>
          <a:graphicData uri="http://schemas.openxmlformats.org/drawingml/2006/table">
            <a:tbl>
              <a:tblPr firstRow="1">
                <a:tableStyleId>{F5AB1C69-6EDB-4FF4-983F-18BD219EF322}</a:tableStyleId>
              </a:tblPr>
              <a:tblGrid>
                <a:gridCol w="1828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84048">
                <a:tc>
                  <a:txBody>
                    <a:bodyPr/>
                    <a:lstStyle/>
                    <a:p>
                      <a:r>
                        <a:rPr sz="1400" b="1">
                          <a:solidFill>
                            <a:srgbClr val="FFFFFF"/>
                          </a:solidFill>
                        </a:rPr>
                        <a:t>Norma</a:t>
                      </a:r>
                      <a:endParaRPr sz="1400" b="1">
                        <a:solidFill>
                          <a:srgbClr val="FFFFFF"/>
                        </a:solidFill>
                        <a:latin typeface="Calibri"/>
                      </a:endParaRPr>
                    </a:p>
                  </a:txBody>
                  <a:tcPr marL="73152" marR="73152" marT="27432" marB="27432" anchor="ctr"/>
                </a:tc>
                <a:tc>
                  <a:txBody>
                    <a:bodyPr/>
                    <a:lstStyle/>
                    <a:p>
                      <a:r>
                        <a:rPr sz="1400" b="1">
                          <a:solidFill>
                            <a:srgbClr val="FFFFFF"/>
                          </a:solidFill>
                        </a:rPr>
                        <a:t>Qué gestiona</a:t>
                      </a:r>
                      <a:endParaRPr sz="1400" b="1">
                        <a:solidFill>
                          <a:srgbClr val="FFFFFF"/>
                        </a:solidFill>
                        <a:latin typeface="Calibri"/>
                      </a:endParaRPr>
                    </a:p>
                  </a:txBody>
                  <a:tcPr marL="73152" marR="73152" marT="27432" marB="27432" anchor="ctr"/>
                </a:tc>
                <a:extLst>
                  <a:ext uri="{0D108BD9-81ED-4DB2-BD59-A6C34878D82A}">
                    <a16:rowId xmlns:a16="http://schemas.microsoft.com/office/drawing/2014/main" val="10000"/>
                  </a:ext>
                </a:extLst>
              </a:tr>
              <a:tr h="457200">
                <a:tc>
                  <a:txBody>
                    <a:bodyPr/>
                    <a:lstStyle/>
                    <a:p>
                      <a:r>
                        <a:rPr sz="1400" b="1">
                          <a:solidFill>
                            <a:srgbClr val="1B2A4A"/>
                          </a:solidFill>
                        </a:rPr>
                        <a:t>ISO/IEC 42001</a:t>
                      </a:r>
                      <a:endParaRPr sz="1400" b="1">
                        <a:solidFill>
                          <a:srgbClr val="1B2A4A"/>
                        </a:solidFill>
                        <a:latin typeface="Calibri"/>
                      </a:endParaRPr>
                    </a:p>
                  </a:txBody>
                  <a:tcPr marL="73152" marR="73152" marT="27432" marB="27432" anchor="ctr"/>
                </a:tc>
                <a:tc>
                  <a:txBody>
                    <a:bodyPr/>
                    <a:lstStyle/>
                    <a:p>
                      <a:r>
                        <a:rPr sz="1400" b="0">
                          <a:solidFill>
                            <a:srgbClr val="1B2A4A"/>
                          </a:solidFill>
                        </a:rPr>
                        <a:t>Sistema de gestión de IA (certificable)</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1"/>
                  </a:ext>
                </a:extLst>
              </a:tr>
              <a:tr h="457200">
                <a:tc>
                  <a:txBody>
                    <a:bodyPr/>
                    <a:lstStyle/>
                    <a:p>
                      <a:r>
                        <a:rPr sz="1400" b="1">
                          <a:solidFill>
                            <a:srgbClr val="1B2A4A"/>
                          </a:solidFill>
                        </a:rPr>
                        <a:t>ISO/IEC 23894</a:t>
                      </a:r>
                      <a:endParaRPr sz="1400" b="1">
                        <a:solidFill>
                          <a:srgbClr val="1B2A4A"/>
                        </a:solidFill>
                        <a:latin typeface="Calibri"/>
                      </a:endParaRPr>
                    </a:p>
                  </a:txBody>
                  <a:tcPr marL="73152" marR="73152" marT="27432" marB="27432" anchor="ctr"/>
                </a:tc>
                <a:tc>
                  <a:txBody>
                    <a:bodyPr/>
                    <a:lstStyle/>
                    <a:p>
                      <a:r>
                        <a:rPr sz="1400" b="0">
                          <a:solidFill>
                            <a:srgbClr val="1B2A4A"/>
                          </a:solidFill>
                        </a:rPr>
                        <a:t>Gestión de riesgos de IA</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2"/>
                  </a:ext>
                </a:extLst>
              </a:tr>
              <a:tr h="457200">
                <a:tc>
                  <a:txBody>
                    <a:bodyPr/>
                    <a:lstStyle/>
                    <a:p>
                      <a:r>
                        <a:rPr sz="1400" b="1">
                          <a:solidFill>
                            <a:srgbClr val="1B2A4A"/>
                          </a:solidFill>
                        </a:rPr>
                        <a:t>ISO/IEC 27001</a:t>
                      </a:r>
                      <a:endParaRPr sz="1400" b="1">
                        <a:solidFill>
                          <a:srgbClr val="1B2A4A"/>
                        </a:solidFill>
                        <a:latin typeface="Calibri"/>
                      </a:endParaRPr>
                    </a:p>
                  </a:txBody>
                  <a:tcPr marL="73152" marR="73152" marT="27432" marB="27432" anchor="ctr"/>
                </a:tc>
                <a:tc>
                  <a:txBody>
                    <a:bodyPr/>
                    <a:lstStyle/>
                    <a:p>
                      <a:r>
                        <a:rPr sz="1400" b="0">
                          <a:solidFill>
                            <a:srgbClr val="1B2A4A"/>
                          </a:solidFill>
                        </a:rPr>
                        <a:t>Seguridad de la información</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3"/>
                  </a:ext>
                </a:extLst>
              </a:tr>
              <a:tr h="457200">
                <a:tc>
                  <a:txBody>
                    <a:bodyPr/>
                    <a:lstStyle/>
                    <a:p>
                      <a:r>
                        <a:rPr sz="1400" b="1">
                          <a:solidFill>
                            <a:srgbClr val="1B2A4A"/>
                          </a:solidFill>
                        </a:rPr>
                        <a:t>ISO/IEC 27701</a:t>
                      </a:r>
                      <a:endParaRPr sz="1400" b="1">
                        <a:solidFill>
                          <a:srgbClr val="1B2A4A"/>
                        </a:solidFill>
                        <a:latin typeface="Calibri"/>
                      </a:endParaRPr>
                    </a:p>
                  </a:txBody>
                  <a:tcPr marL="73152" marR="73152" marT="27432" marB="27432" anchor="ctr"/>
                </a:tc>
                <a:tc>
                  <a:txBody>
                    <a:bodyPr/>
                    <a:lstStyle/>
                    <a:p>
                      <a:r>
                        <a:rPr sz="1400" b="0">
                          <a:solidFill>
                            <a:srgbClr val="1B2A4A"/>
                          </a:solidFill>
                        </a:rPr>
                        <a:t>Privacidad (gestión de datos personales)</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4"/>
                  </a:ext>
                </a:extLst>
              </a:tr>
              <a:tr h="457200">
                <a:tc>
                  <a:txBody>
                    <a:bodyPr/>
                    <a:lstStyle/>
                    <a:p>
                      <a:r>
                        <a:rPr sz="1400" b="1">
                          <a:solidFill>
                            <a:srgbClr val="1B2A4A"/>
                          </a:solidFill>
                        </a:rPr>
                        <a:t>ISO 9001</a:t>
                      </a:r>
                      <a:endParaRPr sz="1400" b="1">
                        <a:solidFill>
                          <a:srgbClr val="1B2A4A"/>
                        </a:solidFill>
                        <a:latin typeface="Calibri"/>
                      </a:endParaRPr>
                    </a:p>
                  </a:txBody>
                  <a:tcPr marL="73152" marR="73152" marT="27432" marB="27432" anchor="ctr"/>
                </a:tc>
                <a:tc>
                  <a:txBody>
                    <a:bodyPr/>
                    <a:lstStyle/>
                    <a:p>
                      <a:r>
                        <a:rPr sz="1400" b="0">
                          <a:solidFill>
                            <a:srgbClr val="1B2A4A"/>
                          </a:solidFill>
                        </a:rPr>
                        <a:t>Calidad de procesos y productos</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5"/>
                  </a:ext>
                </a:extLst>
              </a:tr>
              <a:tr h="457200">
                <a:tc>
                  <a:txBody>
                    <a:bodyPr/>
                    <a:lstStyle/>
                    <a:p>
                      <a:r>
                        <a:rPr sz="1400" b="1" dirty="0">
                          <a:solidFill>
                            <a:srgbClr val="1B2A4A"/>
                          </a:solidFill>
                        </a:rPr>
                        <a:t>ISO/IEC 38507</a:t>
                      </a:r>
                      <a:endParaRPr sz="1400" b="1" dirty="0">
                        <a:solidFill>
                          <a:srgbClr val="1B2A4A"/>
                        </a:solidFill>
                        <a:latin typeface="Calibri"/>
                      </a:endParaRPr>
                    </a:p>
                  </a:txBody>
                  <a:tcPr marL="73152" marR="73152" marT="27432" marB="27432" anchor="ctr"/>
                </a:tc>
                <a:tc>
                  <a:txBody>
                    <a:bodyPr/>
                    <a:lstStyle/>
                    <a:p>
                      <a:r>
                        <a:rPr sz="1400" b="0" dirty="0">
                          <a:solidFill>
                            <a:srgbClr val="1B2A4A"/>
                          </a:solidFill>
                        </a:rPr>
                        <a:t>Gobernanza de la IA en la organización</a:t>
                      </a:r>
                      <a:endParaRPr sz="1400" b="0" dirty="0">
                        <a:solidFill>
                          <a:srgbClr val="1B2A4A"/>
                        </a:solidFill>
                        <a:latin typeface="Calibri"/>
                      </a:endParaRPr>
                    </a:p>
                  </a:txBody>
                  <a:tcPr marL="73152" marR="73152" marT="27432" marB="27432" anchor="ctr"/>
                </a:tc>
                <a:extLst>
                  <a:ext uri="{0D108BD9-81ED-4DB2-BD59-A6C34878D82A}">
                    <a16:rowId xmlns:a16="http://schemas.microsoft.com/office/drawing/2014/main" val="10006"/>
                  </a:ext>
                </a:extLst>
              </a:tr>
            </a:tbl>
          </a:graphicData>
        </a:graphic>
      </p:graphicFrame>
      <p:sp>
        <p:nvSpPr>
          <p:cNvPr id="5" name="Tarjeta"/>
          <p:cNvSpPr/>
          <p:nvPr/>
        </p:nvSpPr>
        <p:spPr>
          <a:xfrm>
            <a:off x="6583680" y="2286000"/>
            <a:ext cx="5056632" cy="315468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o"/>
          <p:cNvSpPr txBox="1"/>
          <p:nvPr/>
        </p:nvSpPr>
        <p:spPr>
          <a:xfrm>
            <a:off x="6858000" y="2395728"/>
            <a:ext cx="4572000" cy="320040"/>
          </a:xfrm>
          <a:prstGeom prst="rect">
            <a:avLst/>
          </a:prstGeom>
          <a:noFill/>
        </p:spPr>
        <p:txBody>
          <a:bodyPr wrap="square" lIns="0" tIns="0" rIns="0" bIns="0" anchor="t">
            <a:noAutofit/>
          </a:bodyPr>
          <a:lstStyle/>
          <a:p>
            <a:pPr algn="l"/>
            <a:r>
              <a:rPr sz="1500" b="1" i="0">
                <a:solidFill>
                  <a:srgbClr val="FFA400"/>
                </a:solidFill>
                <a:latin typeface="Calibri"/>
              </a:rPr>
              <a:t>CÓMO SE EVIDENCIA</a:t>
            </a:r>
          </a:p>
        </p:txBody>
      </p:sp>
      <p:sp>
        <p:nvSpPr>
          <p:cNvPr id="7" name="Lista"/>
          <p:cNvSpPr txBox="1"/>
          <p:nvPr/>
        </p:nvSpPr>
        <p:spPr>
          <a:xfrm>
            <a:off x="6858000" y="2788920"/>
            <a:ext cx="4572000" cy="2560320"/>
          </a:xfrm>
          <a:prstGeom prst="rect">
            <a:avLst/>
          </a:prstGeom>
          <a:noFill/>
        </p:spPr>
        <p:txBody>
          <a:bodyPr wrap="square" lIns="0" tIns="0" rIns="0" bIns="0">
            <a:noAutofit/>
          </a:bodyPr>
          <a:lstStyle/>
          <a:p>
            <a:pPr marL="182880" indent="-182880">
              <a:spcAft>
                <a:spcPts val="900"/>
              </a:spcAft>
              <a:buClr>
                <a:srgbClr val="FFA400"/>
              </a:buClr>
              <a:buFont typeface="Arial"/>
              <a:buChar char="•"/>
            </a:pPr>
            <a:r>
              <a:rPr sz="1500" b="1">
                <a:solidFill>
                  <a:srgbClr val="FFFFFF"/>
                </a:solidFill>
                <a:latin typeface="Calibri"/>
              </a:rPr>
              <a:t>Información documentada </a:t>
            </a:r>
            <a:r>
              <a:rPr sz="1500" b="0">
                <a:solidFill>
                  <a:srgbClr val="FFFFFF"/>
                </a:solidFill>
                <a:latin typeface="Calibri"/>
              </a:rPr>
              <a:t>(cl. 7.5): políticas, procedimientos y registros</a:t>
            </a:r>
          </a:p>
          <a:p>
            <a:pPr marL="182880" indent="-182880">
              <a:spcAft>
                <a:spcPts val="900"/>
              </a:spcAft>
              <a:buClr>
                <a:srgbClr val="FFA400"/>
              </a:buClr>
              <a:buFont typeface="Arial"/>
              <a:buChar char="•"/>
            </a:pPr>
            <a:r>
              <a:rPr sz="1500" b="1">
                <a:solidFill>
                  <a:srgbClr val="FFFFFF"/>
                </a:solidFill>
                <a:latin typeface="Calibri"/>
              </a:rPr>
              <a:t>Auditoría interna </a:t>
            </a:r>
            <a:r>
              <a:rPr sz="1500" b="0">
                <a:solidFill>
                  <a:srgbClr val="FFFFFF"/>
                </a:solidFill>
                <a:latin typeface="Calibri"/>
              </a:rPr>
              <a:t>(cl. 9.2) y revisión por la dirección (9.3)</a:t>
            </a:r>
          </a:p>
          <a:p>
            <a:pPr marL="182880" indent="-182880">
              <a:spcAft>
                <a:spcPts val="900"/>
              </a:spcAft>
              <a:buClr>
                <a:srgbClr val="FFA400"/>
              </a:buClr>
              <a:buFont typeface="Arial"/>
              <a:buChar char="•"/>
            </a:pPr>
            <a:r>
              <a:rPr sz="1500" b="1">
                <a:solidFill>
                  <a:srgbClr val="FFFFFF"/>
                </a:solidFill>
                <a:latin typeface="Calibri"/>
              </a:rPr>
              <a:t>No conformidades </a:t>
            </a:r>
            <a:r>
              <a:rPr sz="1500" b="0">
                <a:solidFill>
                  <a:srgbClr val="FFFFFF"/>
                </a:solidFill>
                <a:latin typeface="Calibri"/>
              </a:rPr>
              <a:t>y acciones correctivas (cl. 10.2)</a:t>
            </a:r>
          </a:p>
          <a:p>
            <a:pPr marL="182880" indent="-182880">
              <a:spcAft>
                <a:spcPts val="900"/>
              </a:spcAft>
              <a:buClr>
                <a:srgbClr val="FFA400"/>
              </a:buClr>
              <a:buFont typeface="Arial"/>
              <a:buChar char="•"/>
            </a:pPr>
            <a:r>
              <a:rPr sz="1500" b="1">
                <a:solidFill>
                  <a:srgbClr val="FFFFFF"/>
                </a:solidFill>
                <a:latin typeface="Calibri"/>
              </a:rPr>
              <a:t>Soporte: </a:t>
            </a:r>
            <a:r>
              <a:rPr sz="1500" b="0">
                <a:solidFill>
                  <a:srgbClr val="FFFFFF"/>
                </a:solidFill>
                <a:latin typeface="Calibri"/>
              </a:rPr>
              <a:t>gestor documental, plataforma GRC y tickets</a:t>
            </a:r>
          </a:p>
        </p:txBody>
      </p:sp>
      <p:sp>
        <p:nvSpPr>
          <p:cNvPr id="8"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Las normas ISO de sistemas de gestión comparten una estructura de alto nivel: pueden integrarse en un solo sistema.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De la norma a la evidencia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HERRAMIENTAS</a:t>
            </a:r>
          </a:p>
        </p:txBody>
      </p:sp>
      <p:graphicFrame>
        <p:nvGraphicFramePr>
          <p:cNvPr id="4" name="Tabla"/>
          <p:cNvGraphicFramePr>
            <a:graphicFrameLocks noGrp="1"/>
          </p:cNvGraphicFramePr>
          <p:nvPr>
            <p:extLst>
              <p:ext uri="{D42A27DB-BD31-4B8C-83A1-F6EECF244321}">
                <p14:modId xmlns:p14="http://schemas.microsoft.com/office/powerpoint/2010/main" val="2898103764"/>
              </p:ext>
            </p:extLst>
          </p:nvPr>
        </p:nvGraphicFramePr>
        <p:xfrm>
          <a:off x="548640" y="2240280"/>
          <a:ext cx="11091671" cy="3584448"/>
        </p:xfrm>
        <a:graphic>
          <a:graphicData uri="http://schemas.openxmlformats.org/drawingml/2006/table">
            <a:tbl>
              <a:tblPr firstRow="1">
                <a:tableStyleId>{F5AB1C69-6EDB-4FF4-983F-18BD219EF322}</a:tableStyleId>
              </a:tblPr>
              <a:tblGrid>
                <a:gridCol w="2200001">
                  <a:extLst>
                    <a:ext uri="{9D8B030D-6E8A-4147-A177-3AD203B41FA5}">
                      <a16:colId xmlns:a16="http://schemas.microsoft.com/office/drawing/2014/main" val="20000"/>
                    </a:ext>
                  </a:extLst>
                </a:gridCol>
                <a:gridCol w="2841668">
                  <a:extLst>
                    <a:ext uri="{9D8B030D-6E8A-4147-A177-3AD203B41FA5}">
                      <a16:colId xmlns:a16="http://schemas.microsoft.com/office/drawing/2014/main" val="20001"/>
                    </a:ext>
                  </a:extLst>
                </a:gridCol>
                <a:gridCol w="2291667">
                  <a:extLst>
                    <a:ext uri="{9D8B030D-6E8A-4147-A177-3AD203B41FA5}">
                      <a16:colId xmlns:a16="http://schemas.microsoft.com/office/drawing/2014/main" val="20002"/>
                    </a:ext>
                  </a:extLst>
                </a:gridCol>
                <a:gridCol w="3758335">
                  <a:extLst>
                    <a:ext uri="{9D8B030D-6E8A-4147-A177-3AD203B41FA5}">
                      <a16:colId xmlns:a16="http://schemas.microsoft.com/office/drawing/2014/main" val="20003"/>
                    </a:ext>
                  </a:extLst>
                </a:gridCol>
              </a:tblGrid>
              <a:tr h="365760">
                <a:tc>
                  <a:txBody>
                    <a:bodyPr/>
                    <a:lstStyle/>
                    <a:p>
                      <a:r>
                        <a:rPr sz="1300" b="1">
                          <a:solidFill>
                            <a:srgbClr val="FFFFFF"/>
                          </a:solidFill>
                        </a:rPr>
                        <a:t>Control</a:t>
                      </a:r>
                      <a:endParaRPr sz="1300" b="1">
                        <a:solidFill>
                          <a:srgbClr val="FFFFFF"/>
                        </a:solidFill>
                        <a:latin typeface="Calibri"/>
                      </a:endParaRPr>
                    </a:p>
                  </a:txBody>
                  <a:tcPr marL="73152" marR="73152" marT="27432" marB="27432" anchor="ctr"/>
                </a:tc>
                <a:tc>
                  <a:txBody>
                    <a:bodyPr/>
                    <a:lstStyle/>
                    <a:p>
                      <a:r>
                        <a:rPr sz="1300" b="1">
                          <a:solidFill>
                            <a:srgbClr val="FFFFFF"/>
                          </a:solidFill>
                        </a:rPr>
                        <a:t>Qué se mide o se registra</a:t>
                      </a:r>
                      <a:endParaRPr sz="1300" b="1">
                        <a:solidFill>
                          <a:srgbClr val="FFFFFF"/>
                        </a:solidFill>
                        <a:latin typeface="Calibri"/>
                      </a:endParaRPr>
                    </a:p>
                  </a:txBody>
                  <a:tcPr marL="73152" marR="73152" marT="27432" marB="27432" anchor="ctr"/>
                </a:tc>
                <a:tc>
                  <a:txBody>
                    <a:bodyPr/>
                    <a:lstStyle/>
                    <a:p>
                      <a:r>
                        <a:rPr sz="1300" b="1">
                          <a:solidFill>
                            <a:srgbClr val="FFFFFF"/>
                          </a:solidFill>
                        </a:rPr>
                        <a:t>Herramienta</a:t>
                      </a:r>
                      <a:endParaRPr sz="1300" b="1">
                        <a:solidFill>
                          <a:srgbClr val="FFFFFF"/>
                        </a:solidFill>
                        <a:latin typeface="Calibri"/>
                      </a:endParaRPr>
                    </a:p>
                  </a:txBody>
                  <a:tcPr marL="73152" marR="73152" marT="27432" marB="27432" anchor="ctr"/>
                </a:tc>
                <a:tc>
                  <a:txBody>
                    <a:bodyPr/>
                    <a:lstStyle/>
                    <a:p>
                      <a:r>
                        <a:rPr sz="1300" b="1">
                          <a:solidFill>
                            <a:srgbClr val="FFFFFF"/>
                          </a:solidFill>
                        </a:rPr>
                        <a:t>Referencia normativa</a:t>
                      </a:r>
                      <a:endParaRPr sz="1300" b="1">
                        <a:solidFill>
                          <a:srgbClr val="FFFFFF"/>
                        </a:solidFill>
                        <a:latin typeface="Calibri"/>
                      </a:endParaRPr>
                    </a:p>
                  </a:txBody>
                  <a:tcPr marL="73152" marR="73152" marT="27432" marB="27432" anchor="ctr"/>
                </a:tc>
                <a:extLst>
                  <a:ext uri="{0D108BD9-81ED-4DB2-BD59-A6C34878D82A}">
                    <a16:rowId xmlns:a16="http://schemas.microsoft.com/office/drawing/2014/main" val="10000"/>
                  </a:ext>
                </a:extLst>
              </a:tr>
              <a:tr h="402336">
                <a:tc>
                  <a:txBody>
                    <a:bodyPr/>
                    <a:lstStyle/>
                    <a:p>
                      <a:r>
                        <a:rPr sz="1300" b="1">
                          <a:solidFill>
                            <a:srgbClr val="1B2A4A"/>
                          </a:solidFill>
                        </a:rPr>
                        <a:t>Trazabilidad del código</a:t>
                      </a:r>
                      <a:endParaRPr sz="1300" b="1">
                        <a:solidFill>
                          <a:srgbClr val="1B2A4A"/>
                        </a:solidFill>
                        <a:latin typeface="Calibri"/>
                      </a:endParaRPr>
                    </a:p>
                  </a:txBody>
                  <a:tcPr marL="73152" marR="73152" marT="27432" marB="27432" anchor="ctr"/>
                </a:tc>
                <a:tc>
                  <a:txBody>
                    <a:bodyPr/>
                    <a:lstStyle/>
                    <a:p>
                      <a:r>
                        <a:rPr sz="1300" b="0">
                          <a:solidFill>
                            <a:srgbClr val="1B2A4A"/>
                          </a:solidFill>
                        </a:rPr>
                        <a:t>Commits y pull requests revisados</a:t>
                      </a:r>
                      <a:endParaRPr sz="1300" b="0">
                        <a:solidFill>
                          <a:srgbClr val="1B2A4A"/>
                        </a:solidFill>
                        <a:latin typeface="Calibri"/>
                      </a:endParaRPr>
                    </a:p>
                  </a:txBody>
                  <a:tcPr marL="73152" marR="73152" marT="27432" marB="27432" anchor="ctr"/>
                </a:tc>
                <a:tc>
                  <a:txBody>
                    <a:bodyPr/>
                    <a:lstStyle/>
                    <a:p>
                      <a:r>
                        <a:rPr sz="1300" b="0">
                          <a:solidFill>
                            <a:srgbClr val="1B2A4A"/>
                          </a:solidFill>
                        </a:rPr>
                        <a:t>GitHub</a:t>
                      </a:r>
                      <a:endParaRPr sz="1300" b="0">
                        <a:solidFill>
                          <a:srgbClr val="1B2A4A"/>
                        </a:solidFill>
                        <a:latin typeface="Calibri"/>
                      </a:endParaRPr>
                    </a:p>
                  </a:txBody>
                  <a:tcPr marL="73152" marR="73152" marT="27432" marB="27432" anchor="ctr"/>
                </a:tc>
                <a:tc>
                  <a:txBody>
                    <a:bodyPr/>
                    <a:lstStyle/>
                    <a:p>
                      <a:r>
                        <a:rPr sz="1300" b="0">
                          <a:solidFill>
                            <a:srgbClr val="1B2A4A"/>
                          </a:solidFill>
                        </a:rPr>
                        <a:t>ISO 42001 A.6 · EU AI Act Art. 12</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1"/>
                  </a:ext>
                </a:extLst>
              </a:tr>
              <a:tr h="402336">
                <a:tc>
                  <a:txBody>
                    <a:bodyPr/>
                    <a:lstStyle/>
                    <a:p>
                      <a:r>
                        <a:rPr sz="1300" b="1">
                          <a:solidFill>
                            <a:srgbClr val="1B2A4A"/>
                          </a:solidFill>
                        </a:rPr>
                        <a:t>Linaje de datos</a:t>
                      </a:r>
                      <a:endParaRPr sz="1300" b="1">
                        <a:solidFill>
                          <a:srgbClr val="1B2A4A"/>
                        </a:solidFill>
                        <a:latin typeface="Calibri"/>
                      </a:endParaRPr>
                    </a:p>
                  </a:txBody>
                  <a:tcPr marL="73152" marR="73152" marT="27432" marB="27432" anchor="ctr"/>
                </a:tc>
                <a:tc>
                  <a:txBody>
                    <a:bodyPr/>
                    <a:lstStyle/>
                    <a:p>
                      <a:r>
                        <a:rPr sz="1300" b="0">
                          <a:solidFill>
                            <a:srgbClr val="1B2A4A"/>
                          </a:solidFill>
                        </a:rPr>
                        <a:t>Hash y versión de cada dataset</a:t>
                      </a:r>
                      <a:endParaRPr sz="1300" b="0">
                        <a:solidFill>
                          <a:srgbClr val="1B2A4A"/>
                        </a:solidFill>
                        <a:latin typeface="Calibri"/>
                      </a:endParaRPr>
                    </a:p>
                  </a:txBody>
                  <a:tcPr marL="73152" marR="73152" marT="27432" marB="27432" anchor="ctr"/>
                </a:tc>
                <a:tc>
                  <a:txBody>
                    <a:bodyPr/>
                    <a:lstStyle/>
                    <a:p>
                      <a:r>
                        <a:rPr sz="1300" b="0">
                          <a:solidFill>
                            <a:srgbClr val="1B2A4A"/>
                          </a:solidFill>
                        </a:rPr>
                        <a:t>DVC</a:t>
                      </a:r>
                      <a:endParaRPr sz="1300" b="0">
                        <a:solidFill>
                          <a:srgbClr val="1B2A4A"/>
                        </a:solidFill>
                        <a:latin typeface="Calibri"/>
                      </a:endParaRPr>
                    </a:p>
                  </a:txBody>
                  <a:tcPr marL="73152" marR="73152" marT="27432" marB="27432" anchor="ctr"/>
                </a:tc>
                <a:tc>
                  <a:txBody>
                    <a:bodyPr/>
                    <a:lstStyle/>
                    <a:p>
                      <a:r>
                        <a:rPr sz="1300" b="0">
                          <a:solidFill>
                            <a:srgbClr val="1B2A4A"/>
                          </a:solidFill>
                        </a:rPr>
                        <a:t>ISO 42001 A.7 · EU AI Act Art. 10</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2"/>
                  </a:ext>
                </a:extLst>
              </a:tr>
              <a:tr h="402336">
                <a:tc>
                  <a:txBody>
                    <a:bodyPr/>
                    <a:lstStyle/>
                    <a:p>
                      <a:r>
                        <a:rPr sz="1300" b="1">
                          <a:solidFill>
                            <a:srgbClr val="1B2A4A"/>
                          </a:solidFill>
                        </a:rPr>
                        <a:t>Reproducibilidad del modelo</a:t>
                      </a:r>
                      <a:endParaRPr sz="1300" b="1">
                        <a:solidFill>
                          <a:srgbClr val="1B2A4A"/>
                        </a:solidFill>
                        <a:latin typeface="Calibri"/>
                      </a:endParaRPr>
                    </a:p>
                  </a:txBody>
                  <a:tcPr marL="73152" marR="73152" marT="27432" marB="27432" anchor="ctr"/>
                </a:tc>
                <a:tc>
                  <a:txBody>
                    <a:bodyPr/>
                    <a:lstStyle/>
                    <a:p>
                      <a:r>
                        <a:rPr sz="1300" b="0">
                          <a:solidFill>
                            <a:srgbClr val="1B2A4A"/>
                          </a:solidFill>
                        </a:rPr>
                        <a:t>Parámetros, métricas y artefactos</a:t>
                      </a:r>
                      <a:endParaRPr sz="1300" b="0">
                        <a:solidFill>
                          <a:srgbClr val="1B2A4A"/>
                        </a:solidFill>
                        <a:latin typeface="Calibri"/>
                      </a:endParaRPr>
                    </a:p>
                  </a:txBody>
                  <a:tcPr marL="73152" marR="73152" marT="27432" marB="27432" anchor="ctr"/>
                </a:tc>
                <a:tc>
                  <a:txBody>
                    <a:bodyPr/>
                    <a:lstStyle/>
                    <a:p>
                      <a:r>
                        <a:rPr sz="1300" b="0">
                          <a:solidFill>
                            <a:srgbClr val="1B2A4A"/>
                          </a:solidFill>
                        </a:rPr>
                        <a:t>MLflow</a:t>
                      </a:r>
                      <a:endParaRPr sz="1300" b="0">
                        <a:solidFill>
                          <a:srgbClr val="1B2A4A"/>
                        </a:solidFill>
                        <a:latin typeface="Calibri"/>
                      </a:endParaRPr>
                    </a:p>
                  </a:txBody>
                  <a:tcPr marL="73152" marR="73152" marT="27432" marB="27432" anchor="ctr"/>
                </a:tc>
                <a:tc>
                  <a:txBody>
                    <a:bodyPr/>
                    <a:lstStyle/>
                    <a:p>
                      <a:r>
                        <a:rPr sz="1300" b="0">
                          <a:solidFill>
                            <a:srgbClr val="1B2A4A"/>
                          </a:solidFill>
                        </a:rPr>
                        <a:t>ISO 42001 A.6 · EU AI Act Art. 11</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3"/>
                  </a:ext>
                </a:extLst>
              </a:tr>
              <a:tr h="402336">
                <a:tc>
                  <a:txBody>
                    <a:bodyPr/>
                    <a:lstStyle/>
                    <a:p>
                      <a:r>
                        <a:rPr sz="1300" b="1">
                          <a:solidFill>
                            <a:srgbClr val="1B2A4A"/>
                          </a:solidFill>
                        </a:rPr>
                        <a:t>Explicabilidad</a:t>
                      </a:r>
                      <a:endParaRPr sz="1300" b="1">
                        <a:solidFill>
                          <a:srgbClr val="1B2A4A"/>
                        </a:solidFill>
                        <a:latin typeface="Calibri"/>
                      </a:endParaRPr>
                    </a:p>
                  </a:txBody>
                  <a:tcPr marL="73152" marR="73152" marT="27432" marB="27432" anchor="ctr"/>
                </a:tc>
                <a:tc>
                  <a:txBody>
                    <a:bodyPr/>
                    <a:lstStyle/>
                    <a:p>
                      <a:r>
                        <a:rPr sz="1300" b="0">
                          <a:solidFill>
                            <a:srgbClr val="1B2A4A"/>
                          </a:solidFill>
                        </a:rPr>
                        <a:t>Importancia de variables por decisión</a:t>
                      </a:r>
                      <a:endParaRPr sz="1300" b="0">
                        <a:solidFill>
                          <a:srgbClr val="1B2A4A"/>
                        </a:solidFill>
                        <a:latin typeface="Calibri"/>
                      </a:endParaRPr>
                    </a:p>
                  </a:txBody>
                  <a:tcPr marL="73152" marR="73152" marT="27432" marB="27432" anchor="ctr"/>
                </a:tc>
                <a:tc>
                  <a:txBody>
                    <a:bodyPr/>
                    <a:lstStyle/>
                    <a:p>
                      <a:r>
                        <a:rPr sz="1300" b="0">
                          <a:solidFill>
                            <a:srgbClr val="1B2A4A"/>
                          </a:solidFill>
                        </a:rPr>
                        <a:t>SHAP</a:t>
                      </a:r>
                      <a:endParaRPr sz="1300" b="0">
                        <a:solidFill>
                          <a:srgbClr val="1B2A4A"/>
                        </a:solidFill>
                        <a:latin typeface="Calibri"/>
                      </a:endParaRPr>
                    </a:p>
                  </a:txBody>
                  <a:tcPr marL="73152" marR="73152" marT="27432" marB="27432" anchor="ctr"/>
                </a:tc>
                <a:tc>
                  <a:txBody>
                    <a:bodyPr/>
                    <a:lstStyle/>
                    <a:p>
                      <a:r>
                        <a:rPr sz="1300" b="0">
                          <a:solidFill>
                            <a:srgbClr val="1B2A4A"/>
                          </a:solidFill>
                        </a:rPr>
                        <a:t>EU AI Act Art. 13 · T-323</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4"/>
                  </a:ext>
                </a:extLst>
              </a:tr>
              <a:tr h="402336">
                <a:tc>
                  <a:txBody>
                    <a:bodyPr/>
                    <a:lstStyle/>
                    <a:p>
                      <a:r>
                        <a:rPr sz="1300" b="1">
                          <a:solidFill>
                            <a:srgbClr val="1B2A4A"/>
                          </a:solidFill>
                        </a:rPr>
                        <a:t>Equidad</a:t>
                      </a:r>
                      <a:endParaRPr sz="1300" b="1">
                        <a:solidFill>
                          <a:srgbClr val="1B2A4A"/>
                        </a:solidFill>
                        <a:latin typeface="Calibri"/>
                      </a:endParaRPr>
                    </a:p>
                  </a:txBody>
                  <a:tcPr marL="73152" marR="73152" marT="27432" marB="27432" anchor="ctr"/>
                </a:tc>
                <a:tc>
                  <a:txBody>
                    <a:bodyPr/>
                    <a:lstStyle/>
                    <a:p>
                      <a:r>
                        <a:rPr sz="1300" b="0">
                          <a:solidFill>
                            <a:srgbClr val="1B2A4A"/>
                          </a:solidFill>
                        </a:rPr>
                        <a:t>Brechas de resultados entre grupos</a:t>
                      </a:r>
                      <a:endParaRPr sz="1300" b="0">
                        <a:solidFill>
                          <a:srgbClr val="1B2A4A"/>
                        </a:solidFill>
                        <a:latin typeface="Calibri"/>
                      </a:endParaRPr>
                    </a:p>
                  </a:txBody>
                  <a:tcPr marL="73152" marR="73152" marT="27432" marB="27432" anchor="ctr"/>
                </a:tc>
                <a:tc>
                  <a:txBody>
                    <a:bodyPr/>
                    <a:lstStyle/>
                    <a:p>
                      <a:r>
                        <a:rPr sz="1300" b="0">
                          <a:solidFill>
                            <a:srgbClr val="1B2A4A"/>
                          </a:solidFill>
                        </a:rPr>
                        <a:t>Fairlearn / AIF360</a:t>
                      </a:r>
                      <a:endParaRPr sz="1300" b="0">
                        <a:solidFill>
                          <a:srgbClr val="1B2A4A"/>
                        </a:solidFill>
                        <a:latin typeface="Calibri"/>
                      </a:endParaRPr>
                    </a:p>
                  </a:txBody>
                  <a:tcPr marL="73152" marR="73152" marT="27432" marB="27432" anchor="ctr"/>
                </a:tc>
                <a:tc>
                  <a:txBody>
                    <a:bodyPr/>
                    <a:lstStyle/>
                    <a:p>
                      <a:r>
                        <a:rPr sz="1300" b="0">
                          <a:solidFill>
                            <a:srgbClr val="1B2A4A"/>
                          </a:solidFill>
                        </a:rPr>
                        <a:t>EU AI Act Art. 10 · T-323</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5"/>
                  </a:ext>
                </a:extLst>
              </a:tr>
              <a:tr h="402336">
                <a:tc>
                  <a:txBody>
                    <a:bodyPr/>
                    <a:lstStyle/>
                    <a:p>
                      <a:r>
                        <a:rPr sz="1300" b="1">
                          <a:solidFill>
                            <a:srgbClr val="1B2A4A"/>
                          </a:solidFill>
                        </a:rPr>
                        <a:t>Calidad de datos</a:t>
                      </a:r>
                      <a:endParaRPr sz="1300" b="1">
                        <a:solidFill>
                          <a:srgbClr val="1B2A4A"/>
                        </a:solidFill>
                        <a:latin typeface="Calibri"/>
                      </a:endParaRPr>
                    </a:p>
                  </a:txBody>
                  <a:tcPr marL="73152" marR="73152" marT="27432" marB="27432" anchor="ctr"/>
                </a:tc>
                <a:tc>
                  <a:txBody>
                    <a:bodyPr/>
                    <a:lstStyle/>
                    <a:p>
                      <a:r>
                        <a:rPr sz="1300" b="0">
                          <a:solidFill>
                            <a:srgbClr val="1B2A4A"/>
                          </a:solidFill>
                        </a:rPr>
                        <a:t>Reglas de calidad cumplidas</a:t>
                      </a:r>
                      <a:endParaRPr sz="1300" b="0">
                        <a:solidFill>
                          <a:srgbClr val="1B2A4A"/>
                        </a:solidFill>
                        <a:latin typeface="Calibri"/>
                      </a:endParaRPr>
                    </a:p>
                  </a:txBody>
                  <a:tcPr marL="73152" marR="73152" marT="27432" marB="27432" anchor="ctr"/>
                </a:tc>
                <a:tc>
                  <a:txBody>
                    <a:bodyPr/>
                    <a:lstStyle/>
                    <a:p>
                      <a:r>
                        <a:rPr sz="1300" b="0">
                          <a:solidFill>
                            <a:srgbClr val="1B2A4A"/>
                          </a:solidFill>
                        </a:rPr>
                        <a:t>Great Expectations</a:t>
                      </a:r>
                      <a:endParaRPr sz="1300" b="0">
                        <a:solidFill>
                          <a:srgbClr val="1B2A4A"/>
                        </a:solidFill>
                        <a:latin typeface="Calibri"/>
                      </a:endParaRPr>
                    </a:p>
                  </a:txBody>
                  <a:tcPr marL="73152" marR="73152" marT="27432" marB="27432" anchor="ctr"/>
                </a:tc>
                <a:tc>
                  <a:txBody>
                    <a:bodyPr/>
                    <a:lstStyle/>
                    <a:p>
                      <a:r>
                        <a:rPr sz="1300" b="0">
                          <a:solidFill>
                            <a:srgbClr val="1B2A4A"/>
                          </a:solidFill>
                        </a:rPr>
                        <a:t>ISO/IEC 5259 · EU AI Act Art. 10</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6"/>
                  </a:ext>
                </a:extLst>
              </a:tr>
              <a:tr h="402336">
                <a:tc>
                  <a:txBody>
                    <a:bodyPr/>
                    <a:lstStyle/>
                    <a:p>
                      <a:r>
                        <a:rPr sz="1300" b="1">
                          <a:solidFill>
                            <a:srgbClr val="1B2A4A"/>
                          </a:solidFill>
                        </a:rPr>
                        <a:t>Monitoreo y deriva</a:t>
                      </a:r>
                      <a:endParaRPr sz="1300" b="1">
                        <a:solidFill>
                          <a:srgbClr val="1B2A4A"/>
                        </a:solidFill>
                        <a:latin typeface="Calibri"/>
                      </a:endParaRPr>
                    </a:p>
                  </a:txBody>
                  <a:tcPr marL="73152" marR="73152" marT="27432" marB="27432" anchor="ctr"/>
                </a:tc>
                <a:tc>
                  <a:txBody>
                    <a:bodyPr/>
                    <a:lstStyle/>
                    <a:p>
                      <a:r>
                        <a:rPr sz="1300" b="0">
                          <a:solidFill>
                            <a:srgbClr val="1B2A4A"/>
                          </a:solidFill>
                        </a:rPr>
                        <a:t>PSI, desempeño y alertas</a:t>
                      </a:r>
                      <a:endParaRPr sz="1300" b="0">
                        <a:solidFill>
                          <a:srgbClr val="1B2A4A"/>
                        </a:solidFill>
                        <a:latin typeface="Calibri"/>
                      </a:endParaRPr>
                    </a:p>
                  </a:txBody>
                  <a:tcPr marL="73152" marR="73152" marT="27432" marB="27432" anchor="ctr"/>
                </a:tc>
                <a:tc>
                  <a:txBody>
                    <a:bodyPr/>
                    <a:lstStyle/>
                    <a:p>
                      <a:r>
                        <a:rPr sz="1300" b="0">
                          <a:solidFill>
                            <a:srgbClr val="1B2A4A"/>
                          </a:solidFill>
                        </a:rPr>
                        <a:t>Evidently / Grafana</a:t>
                      </a:r>
                      <a:endParaRPr sz="1300" b="0">
                        <a:solidFill>
                          <a:srgbClr val="1B2A4A"/>
                        </a:solidFill>
                        <a:latin typeface="Calibri"/>
                      </a:endParaRPr>
                    </a:p>
                  </a:txBody>
                  <a:tcPr marL="73152" marR="73152" marT="27432" marB="27432" anchor="ctr"/>
                </a:tc>
                <a:tc>
                  <a:txBody>
                    <a:bodyPr/>
                    <a:lstStyle/>
                    <a:p>
                      <a:r>
                        <a:rPr sz="1300" b="0">
                          <a:solidFill>
                            <a:srgbClr val="1B2A4A"/>
                          </a:solidFill>
                        </a:rPr>
                        <a:t>EU AI Act Art. 15 · ISO 42001 A.9</a:t>
                      </a:r>
                      <a:endParaRPr sz="1300" b="0">
                        <a:solidFill>
                          <a:srgbClr val="1B2A4A"/>
                        </a:solidFill>
                        <a:latin typeface="Calibri"/>
                      </a:endParaRPr>
                    </a:p>
                  </a:txBody>
                  <a:tcPr marL="73152" marR="73152" marT="27432" marB="27432" anchor="ctr"/>
                </a:tc>
                <a:extLst>
                  <a:ext uri="{0D108BD9-81ED-4DB2-BD59-A6C34878D82A}">
                    <a16:rowId xmlns:a16="http://schemas.microsoft.com/office/drawing/2014/main" val="10007"/>
                  </a:ext>
                </a:extLst>
              </a:tr>
              <a:tr h="402336">
                <a:tc>
                  <a:txBody>
                    <a:bodyPr/>
                    <a:lstStyle/>
                    <a:p>
                      <a:r>
                        <a:rPr sz="1300" b="1">
                          <a:solidFill>
                            <a:srgbClr val="1B2A4A"/>
                          </a:solidFill>
                        </a:rPr>
                        <a:t>Gestión y mejora</a:t>
                      </a:r>
                      <a:endParaRPr sz="1300" b="1">
                        <a:solidFill>
                          <a:srgbClr val="1B2A4A"/>
                        </a:solidFill>
                        <a:latin typeface="Calibri"/>
                      </a:endParaRPr>
                    </a:p>
                  </a:txBody>
                  <a:tcPr marL="73152" marR="73152" marT="27432" marB="27432" anchor="ctr"/>
                </a:tc>
                <a:tc>
                  <a:txBody>
                    <a:bodyPr/>
                    <a:lstStyle/>
                    <a:p>
                      <a:r>
                        <a:rPr sz="1300" b="0" dirty="0">
                          <a:solidFill>
                            <a:srgbClr val="1B2A4A"/>
                          </a:solidFill>
                        </a:rPr>
                        <a:t>Auditorías y no conformidades</a:t>
                      </a:r>
                      <a:endParaRPr sz="1300" b="0" dirty="0">
                        <a:solidFill>
                          <a:srgbClr val="1B2A4A"/>
                        </a:solidFill>
                        <a:latin typeface="Calibri"/>
                      </a:endParaRPr>
                    </a:p>
                  </a:txBody>
                  <a:tcPr marL="73152" marR="73152" marT="27432" marB="27432" anchor="ctr"/>
                </a:tc>
                <a:tc>
                  <a:txBody>
                    <a:bodyPr/>
                    <a:lstStyle/>
                    <a:p>
                      <a:r>
                        <a:rPr sz="1300" b="0">
                          <a:solidFill>
                            <a:srgbClr val="1B2A4A"/>
                          </a:solidFill>
                        </a:rPr>
                        <a:t>Sistema de gestión ISO</a:t>
                      </a:r>
                      <a:endParaRPr sz="1300" b="0">
                        <a:solidFill>
                          <a:srgbClr val="1B2A4A"/>
                        </a:solidFill>
                        <a:latin typeface="Calibri"/>
                      </a:endParaRPr>
                    </a:p>
                  </a:txBody>
                  <a:tcPr marL="73152" marR="73152" marT="27432" marB="27432" anchor="ctr"/>
                </a:tc>
                <a:tc>
                  <a:txBody>
                    <a:bodyPr/>
                    <a:lstStyle/>
                    <a:p>
                      <a:r>
                        <a:rPr sz="1300" b="0" dirty="0">
                          <a:solidFill>
                            <a:srgbClr val="1B2A4A"/>
                          </a:solidFill>
                        </a:rPr>
                        <a:t>ISO 42001 cl. 9 y 10</a:t>
                      </a:r>
                      <a:endParaRPr sz="1300" b="0" dirty="0">
                        <a:solidFill>
                          <a:srgbClr val="1B2A4A"/>
                        </a:solidFill>
                        <a:latin typeface="Calibri"/>
                      </a:endParaRPr>
                    </a:p>
                  </a:txBody>
                  <a:tcPr marL="73152" marR="73152" marT="27432" marB="27432"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EU AI Act: enfoque basado en el riesgo</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CUMPLIMIENTO</a:t>
            </a:r>
          </a:p>
        </p:txBody>
      </p:sp>
      <p:sp>
        <p:nvSpPr>
          <p:cNvPr id="4" name="Tarjeta"/>
          <p:cNvSpPr/>
          <p:nvPr/>
        </p:nvSpPr>
        <p:spPr>
          <a:xfrm>
            <a:off x="548640" y="2286000"/>
            <a:ext cx="5577840" cy="640080"/>
          </a:xfrm>
          <a:prstGeom prst="roundRect">
            <a:avLst>
              <a:gd name="adj" fmla="val 12000"/>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o"/>
          <p:cNvSpPr txBox="1"/>
          <p:nvPr/>
        </p:nvSpPr>
        <p:spPr>
          <a:xfrm>
            <a:off x="548640" y="2322576"/>
            <a:ext cx="5577840" cy="310896"/>
          </a:xfrm>
          <a:prstGeom prst="rect">
            <a:avLst/>
          </a:prstGeom>
          <a:noFill/>
        </p:spPr>
        <p:txBody>
          <a:bodyPr wrap="square" lIns="0" tIns="0" rIns="0" bIns="0" anchor="t">
            <a:noAutofit/>
          </a:bodyPr>
          <a:lstStyle/>
          <a:p>
            <a:pPr algn="ctr"/>
            <a:r>
              <a:rPr sz="1600" b="1" i="0">
                <a:solidFill>
                  <a:srgbClr val="FFFFFF"/>
                </a:solidFill>
                <a:latin typeface="Calibri"/>
              </a:rPr>
              <a:t>INACEPTABLE</a:t>
            </a:r>
          </a:p>
        </p:txBody>
      </p:sp>
      <p:sp>
        <p:nvSpPr>
          <p:cNvPr id="6" name="Texto"/>
          <p:cNvSpPr txBox="1"/>
          <p:nvPr/>
        </p:nvSpPr>
        <p:spPr>
          <a:xfrm>
            <a:off x="548640" y="2615184"/>
            <a:ext cx="5577840" cy="274320"/>
          </a:xfrm>
          <a:prstGeom prst="rect">
            <a:avLst/>
          </a:prstGeom>
          <a:noFill/>
        </p:spPr>
        <p:txBody>
          <a:bodyPr wrap="square" lIns="0" tIns="0" rIns="0" bIns="0" anchor="t">
            <a:noAutofit/>
          </a:bodyPr>
          <a:lstStyle/>
          <a:p>
            <a:pPr algn="ctr"/>
            <a:r>
              <a:rPr sz="1350" b="0" i="0">
                <a:solidFill>
                  <a:srgbClr val="FFFFFF"/>
                </a:solidFill>
                <a:latin typeface="Calibri"/>
              </a:rPr>
              <a:t>Prohibido</a:t>
            </a:r>
          </a:p>
        </p:txBody>
      </p:sp>
      <p:sp>
        <p:nvSpPr>
          <p:cNvPr id="7" name="Tarjeta"/>
          <p:cNvSpPr/>
          <p:nvPr/>
        </p:nvSpPr>
        <p:spPr>
          <a:xfrm>
            <a:off x="777240" y="2999232"/>
            <a:ext cx="5120640" cy="640080"/>
          </a:xfrm>
          <a:prstGeom prst="roundRect">
            <a:avLst>
              <a:gd name="adj" fmla="val 12000"/>
            </a:avLst>
          </a:prstGeom>
          <a:solidFill>
            <a:srgbClr val="920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o"/>
          <p:cNvSpPr txBox="1"/>
          <p:nvPr/>
        </p:nvSpPr>
        <p:spPr>
          <a:xfrm>
            <a:off x="777240" y="3035808"/>
            <a:ext cx="5120640" cy="310896"/>
          </a:xfrm>
          <a:prstGeom prst="rect">
            <a:avLst/>
          </a:prstGeom>
          <a:solidFill>
            <a:srgbClr val="064091"/>
          </a:solidFill>
        </p:spPr>
        <p:txBody>
          <a:bodyPr wrap="square" lIns="0" tIns="0" rIns="0" bIns="0" anchor="t">
            <a:noAutofit/>
          </a:bodyPr>
          <a:lstStyle/>
          <a:p>
            <a:pPr algn="ctr"/>
            <a:r>
              <a:rPr sz="1600" b="1" i="0">
                <a:solidFill>
                  <a:srgbClr val="FFFFFF"/>
                </a:solidFill>
                <a:latin typeface="Calibri"/>
              </a:rPr>
              <a:t>ALTO RIESGO</a:t>
            </a:r>
          </a:p>
        </p:txBody>
      </p:sp>
      <p:sp>
        <p:nvSpPr>
          <p:cNvPr id="9" name="Texto"/>
          <p:cNvSpPr txBox="1"/>
          <p:nvPr/>
        </p:nvSpPr>
        <p:spPr>
          <a:xfrm>
            <a:off x="777240" y="3328416"/>
            <a:ext cx="5120640" cy="274320"/>
          </a:xfrm>
          <a:prstGeom prst="rect">
            <a:avLst/>
          </a:prstGeom>
          <a:solidFill>
            <a:srgbClr val="064091"/>
          </a:solidFill>
        </p:spPr>
        <p:txBody>
          <a:bodyPr wrap="square" lIns="0" tIns="0" rIns="0" bIns="0" anchor="t">
            <a:noAutofit/>
          </a:bodyPr>
          <a:lstStyle/>
          <a:p>
            <a:pPr algn="ctr"/>
            <a:r>
              <a:rPr sz="1350" b="0" i="0">
                <a:solidFill>
                  <a:srgbClr val="FFFFFF"/>
                </a:solidFill>
                <a:latin typeface="Calibri"/>
              </a:rPr>
              <a:t>Anexo III · obligaciones estrictas</a:t>
            </a:r>
          </a:p>
        </p:txBody>
      </p:sp>
      <p:sp>
        <p:nvSpPr>
          <p:cNvPr id="10" name="Tarjeta"/>
          <p:cNvSpPr/>
          <p:nvPr/>
        </p:nvSpPr>
        <p:spPr>
          <a:xfrm>
            <a:off x="1005840" y="3712464"/>
            <a:ext cx="4663440" cy="640080"/>
          </a:xfrm>
          <a:prstGeom prst="roundRect">
            <a:avLst>
              <a:gd name="adj" fmla="val 12000"/>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p:cNvSpPr txBox="1"/>
          <p:nvPr/>
        </p:nvSpPr>
        <p:spPr>
          <a:xfrm>
            <a:off x="1005840" y="3749040"/>
            <a:ext cx="4663440" cy="310896"/>
          </a:xfrm>
          <a:prstGeom prst="rect">
            <a:avLst/>
          </a:prstGeom>
          <a:solidFill>
            <a:srgbClr val="567B54"/>
          </a:solidFill>
        </p:spPr>
        <p:txBody>
          <a:bodyPr wrap="square" lIns="0" tIns="0" rIns="0" bIns="0" anchor="t">
            <a:noAutofit/>
          </a:bodyPr>
          <a:lstStyle/>
          <a:p>
            <a:pPr algn="ctr"/>
            <a:r>
              <a:rPr sz="1600" b="1" i="0">
                <a:solidFill>
                  <a:srgbClr val="1B2A4A"/>
                </a:solidFill>
                <a:latin typeface="Calibri"/>
              </a:rPr>
              <a:t>RIESGO LIMITADO</a:t>
            </a:r>
          </a:p>
        </p:txBody>
      </p:sp>
      <p:sp>
        <p:nvSpPr>
          <p:cNvPr id="12" name="Texto"/>
          <p:cNvSpPr txBox="1"/>
          <p:nvPr/>
        </p:nvSpPr>
        <p:spPr>
          <a:xfrm>
            <a:off x="1005840" y="4041648"/>
            <a:ext cx="4663440" cy="274320"/>
          </a:xfrm>
          <a:prstGeom prst="rect">
            <a:avLst/>
          </a:prstGeom>
          <a:solidFill>
            <a:srgbClr val="567B54"/>
          </a:solidFill>
        </p:spPr>
        <p:txBody>
          <a:bodyPr wrap="square" lIns="0" tIns="0" rIns="0" bIns="0" anchor="t">
            <a:noAutofit/>
          </a:bodyPr>
          <a:lstStyle/>
          <a:p>
            <a:pPr algn="ctr"/>
            <a:r>
              <a:rPr sz="1350" b="0" i="0">
                <a:solidFill>
                  <a:srgbClr val="1B2A4A"/>
                </a:solidFill>
                <a:latin typeface="Calibri"/>
              </a:rPr>
              <a:t>Transparencia (Art. 50)</a:t>
            </a:r>
          </a:p>
        </p:txBody>
      </p:sp>
      <p:sp>
        <p:nvSpPr>
          <p:cNvPr id="13" name="Tarjeta"/>
          <p:cNvSpPr/>
          <p:nvPr/>
        </p:nvSpPr>
        <p:spPr>
          <a:xfrm>
            <a:off x="1234440" y="4425696"/>
            <a:ext cx="4206240" cy="64008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o"/>
          <p:cNvSpPr txBox="1"/>
          <p:nvPr/>
        </p:nvSpPr>
        <p:spPr>
          <a:xfrm>
            <a:off x="1234440" y="4462272"/>
            <a:ext cx="4206240" cy="310896"/>
          </a:xfrm>
          <a:prstGeom prst="rect">
            <a:avLst/>
          </a:prstGeom>
          <a:noFill/>
        </p:spPr>
        <p:txBody>
          <a:bodyPr wrap="square" lIns="0" tIns="0" rIns="0" bIns="0" anchor="t">
            <a:noAutofit/>
          </a:bodyPr>
          <a:lstStyle/>
          <a:p>
            <a:pPr algn="ctr"/>
            <a:r>
              <a:rPr sz="1600" b="1" i="0">
                <a:solidFill>
                  <a:srgbClr val="FFFFFF"/>
                </a:solidFill>
                <a:latin typeface="Calibri"/>
              </a:rPr>
              <a:t>MÍNIMO</a:t>
            </a:r>
          </a:p>
        </p:txBody>
      </p:sp>
      <p:sp>
        <p:nvSpPr>
          <p:cNvPr id="15" name="Texto"/>
          <p:cNvSpPr txBox="1"/>
          <p:nvPr/>
        </p:nvSpPr>
        <p:spPr>
          <a:xfrm>
            <a:off x="1234440" y="4754880"/>
            <a:ext cx="4206240" cy="274320"/>
          </a:xfrm>
          <a:prstGeom prst="rect">
            <a:avLst/>
          </a:prstGeom>
          <a:noFill/>
        </p:spPr>
        <p:txBody>
          <a:bodyPr wrap="square" lIns="0" tIns="0" rIns="0" bIns="0" anchor="t">
            <a:noAutofit/>
          </a:bodyPr>
          <a:lstStyle/>
          <a:p>
            <a:pPr algn="ctr"/>
            <a:r>
              <a:rPr sz="1350" b="0" i="0">
                <a:solidFill>
                  <a:srgbClr val="FFFFFF"/>
                </a:solidFill>
                <a:latin typeface="Calibri"/>
              </a:rPr>
              <a:t>Sin obligaciones específicas</a:t>
            </a:r>
          </a:p>
        </p:txBody>
      </p:sp>
      <p:sp>
        <p:nvSpPr>
          <p:cNvPr id="16" name="Texto"/>
          <p:cNvSpPr txBox="1"/>
          <p:nvPr/>
        </p:nvSpPr>
        <p:spPr>
          <a:xfrm>
            <a:off x="548640" y="5166360"/>
            <a:ext cx="5577840" cy="274320"/>
          </a:xfrm>
          <a:prstGeom prst="rect">
            <a:avLst/>
          </a:prstGeom>
          <a:noFill/>
        </p:spPr>
        <p:txBody>
          <a:bodyPr wrap="square" lIns="0" tIns="0" rIns="0" bIns="0" anchor="t">
            <a:noAutofit/>
          </a:bodyPr>
          <a:lstStyle/>
          <a:p>
            <a:pPr algn="ctr"/>
            <a:r>
              <a:rPr sz="1350" b="0" i="1">
                <a:solidFill>
                  <a:srgbClr val="5B6472"/>
                </a:solidFill>
                <a:latin typeface="Calibri"/>
              </a:rPr>
              <a:t>+ Modelos de propósito general (GPAI): obligaciones propias</a:t>
            </a:r>
          </a:p>
        </p:txBody>
      </p:sp>
      <p:sp>
        <p:nvSpPr>
          <p:cNvPr id="17" name="Texto"/>
          <p:cNvSpPr txBox="1"/>
          <p:nvPr/>
        </p:nvSpPr>
        <p:spPr>
          <a:xfrm>
            <a:off x="6400800" y="2286000"/>
            <a:ext cx="5212080" cy="320040"/>
          </a:xfrm>
          <a:prstGeom prst="rect">
            <a:avLst/>
          </a:prstGeom>
          <a:noFill/>
        </p:spPr>
        <p:txBody>
          <a:bodyPr wrap="square" lIns="0" tIns="0" rIns="0" bIns="0" anchor="t">
            <a:noAutofit/>
          </a:bodyPr>
          <a:lstStyle/>
          <a:p>
            <a:pPr algn="l"/>
            <a:r>
              <a:rPr sz="1700" b="1" i="0">
                <a:solidFill>
                  <a:srgbClr val="9200EE"/>
                </a:solidFill>
                <a:latin typeface="Calibri"/>
              </a:rPr>
              <a:t>Calendario de aplicación</a:t>
            </a:r>
          </a:p>
        </p:txBody>
      </p:sp>
      <p:sp>
        <p:nvSpPr>
          <p:cNvPr id="18" name="Tarjeta"/>
          <p:cNvSpPr/>
          <p:nvPr/>
        </p:nvSpPr>
        <p:spPr>
          <a:xfrm>
            <a:off x="6400800" y="2697480"/>
            <a:ext cx="5239512" cy="594360"/>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Etiqueta"/>
          <p:cNvSpPr/>
          <p:nvPr/>
        </p:nvSpPr>
        <p:spPr>
          <a:xfrm>
            <a:off x="6510528" y="2807208"/>
            <a:ext cx="1371600" cy="374904"/>
          </a:xfrm>
          <a:prstGeom prst="roundRect">
            <a:avLst>
              <a:gd name="adj" fmla="val 50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FFFFFF"/>
                </a:solidFill>
                <a:latin typeface="Calibri"/>
              </a:rPr>
              <a:t>2 feb 2025</a:t>
            </a:r>
          </a:p>
        </p:txBody>
      </p:sp>
      <p:sp>
        <p:nvSpPr>
          <p:cNvPr id="20" name="Texto"/>
          <p:cNvSpPr txBox="1"/>
          <p:nvPr/>
        </p:nvSpPr>
        <p:spPr>
          <a:xfrm>
            <a:off x="8046720" y="2697480"/>
            <a:ext cx="3520440" cy="594360"/>
          </a:xfrm>
          <a:prstGeom prst="rect">
            <a:avLst/>
          </a:prstGeom>
          <a:noFill/>
        </p:spPr>
        <p:txBody>
          <a:bodyPr wrap="square" lIns="0" tIns="0" rIns="0" bIns="0" anchor="ctr">
            <a:noAutofit/>
          </a:bodyPr>
          <a:lstStyle/>
          <a:p>
            <a:pPr algn="l"/>
            <a:r>
              <a:rPr sz="1350" b="0" i="0" dirty="0">
                <a:solidFill>
                  <a:srgbClr val="1B2A4A"/>
                </a:solidFill>
                <a:latin typeface="Calibri"/>
              </a:rPr>
              <a:t>Prácticas prohibidas y alfabetización en IA (Art. 4)</a:t>
            </a:r>
          </a:p>
        </p:txBody>
      </p:sp>
      <p:sp>
        <p:nvSpPr>
          <p:cNvPr id="21" name="Tarjeta"/>
          <p:cNvSpPr/>
          <p:nvPr/>
        </p:nvSpPr>
        <p:spPr>
          <a:xfrm>
            <a:off x="6400800" y="3383280"/>
            <a:ext cx="5239512" cy="594360"/>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Etiqueta"/>
          <p:cNvSpPr/>
          <p:nvPr/>
        </p:nvSpPr>
        <p:spPr>
          <a:xfrm>
            <a:off x="6510528" y="3493008"/>
            <a:ext cx="1371600" cy="374904"/>
          </a:xfrm>
          <a:prstGeom prst="roundRect">
            <a:avLst>
              <a:gd name="adj" fmla="val 50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FFFFFF"/>
                </a:solidFill>
                <a:latin typeface="Calibri"/>
              </a:rPr>
              <a:t>2 ago 2025</a:t>
            </a:r>
          </a:p>
        </p:txBody>
      </p:sp>
      <p:sp>
        <p:nvSpPr>
          <p:cNvPr id="23" name="Texto"/>
          <p:cNvSpPr txBox="1"/>
          <p:nvPr/>
        </p:nvSpPr>
        <p:spPr>
          <a:xfrm>
            <a:off x="8046720" y="3383280"/>
            <a:ext cx="3520440" cy="594360"/>
          </a:xfrm>
          <a:prstGeom prst="rect">
            <a:avLst/>
          </a:prstGeom>
          <a:noFill/>
        </p:spPr>
        <p:txBody>
          <a:bodyPr wrap="square" lIns="0" tIns="0" rIns="0" bIns="0" anchor="ctr">
            <a:noAutofit/>
          </a:bodyPr>
          <a:lstStyle/>
          <a:p>
            <a:pPr algn="l"/>
            <a:r>
              <a:rPr sz="1350" b="0" i="0">
                <a:solidFill>
                  <a:srgbClr val="1B2A4A"/>
                </a:solidFill>
                <a:latin typeface="Calibri"/>
              </a:rPr>
              <a:t>Obligaciones para modelos GPAI</a:t>
            </a:r>
          </a:p>
        </p:txBody>
      </p:sp>
      <p:sp>
        <p:nvSpPr>
          <p:cNvPr id="24" name="Tarjeta"/>
          <p:cNvSpPr/>
          <p:nvPr/>
        </p:nvSpPr>
        <p:spPr>
          <a:xfrm>
            <a:off x="6400800" y="4069080"/>
            <a:ext cx="5239512" cy="594360"/>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Etiqueta"/>
          <p:cNvSpPr/>
          <p:nvPr/>
        </p:nvSpPr>
        <p:spPr>
          <a:xfrm>
            <a:off x="6510528" y="4178808"/>
            <a:ext cx="1371600" cy="374904"/>
          </a:xfrm>
          <a:prstGeom prst="roundRect">
            <a:avLst>
              <a:gd name="adj" fmla="val 50000"/>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1B2A4A"/>
                </a:solidFill>
                <a:latin typeface="Calibri"/>
              </a:rPr>
              <a:t>2 dic 2027</a:t>
            </a:r>
          </a:p>
        </p:txBody>
      </p:sp>
      <p:sp>
        <p:nvSpPr>
          <p:cNvPr id="26" name="Texto"/>
          <p:cNvSpPr txBox="1"/>
          <p:nvPr/>
        </p:nvSpPr>
        <p:spPr>
          <a:xfrm>
            <a:off x="8046720" y="4069080"/>
            <a:ext cx="3520440" cy="594360"/>
          </a:xfrm>
          <a:prstGeom prst="rect">
            <a:avLst/>
          </a:prstGeom>
          <a:noFill/>
        </p:spPr>
        <p:txBody>
          <a:bodyPr wrap="square" lIns="0" tIns="0" rIns="0" bIns="0" anchor="ctr">
            <a:noAutofit/>
          </a:bodyPr>
          <a:lstStyle/>
          <a:p>
            <a:pPr algn="l"/>
            <a:r>
              <a:rPr sz="1350" b="0" i="0">
                <a:solidFill>
                  <a:srgbClr val="1B2A4A"/>
                </a:solidFill>
                <a:latin typeface="Calibri"/>
              </a:rPr>
              <a:t>Alto riesgo Anexo III (antes 2 ago 2026)</a:t>
            </a:r>
          </a:p>
        </p:txBody>
      </p:sp>
      <p:sp>
        <p:nvSpPr>
          <p:cNvPr id="27" name="Tarjeta"/>
          <p:cNvSpPr/>
          <p:nvPr/>
        </p:nvSpPr>
        <p:spPr>
          <a:xfrm>
            <a:off x="6400800" y="4754880"/>
            <a:ext cx="5239512" cy="594360"/>
          </a:xfrm>
          <a:prstGeom prst="roundRect">
            <a:avLst>
              <a:gd name="adj" fmla="val 12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Etiqueta"/>
          <p:cNvSpPr/>
          <p:nvPr/>
        </p:nvSpPr>
        <p:spPr>
          <a:xfrm>
            <a:off x="6510528" y="4864608"/>
            <a:ext cx="1371600" cy="374904"/>
          </a:xfrm>
          <a:prstGeom prst="roundRect">
            <a:avLst>
              <a:gd name="adj" fmla="val 50000"/>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1B2A4A"/>
                </a:solidFill>
                <a:latin typeface="Calibri"/>
              </a:rPr>
              <a:t>2 ago 2028</a:t>
            </a:r>
          </a:p>
        </p:txBody>
      </p:sp>
      <p:sp>
        <p:nvSpPr>
          <p:cNvPr id="29" name="Texto"/>
          <p:cNvSpPr txBox="1"/>
          <p:nvPr/>
        </p:nvSpPr>
        <p:spPr>
          <a:xfrm>
            <a:off x="8046720" y="4754880"/>
            <a:ext cx="3520440" cy="594360"/>
          </a:xfrm>
          <a:prstGeom prst="rect">
            <a:avLst/>
          </a:prstGeom>
          <a:noFill/>
        </p:spPr>
        <p:txBody>
          <a:bodyPr wrap="square" lIns="0" tIns="0" rIns="0" bIns="0" anchor="ctr">
            <a:noAutofit/>
          </a:bodyPr>
          <a:lstStyle/>
          <a:p>
            <a:pPr algn="l"/>
            <a:r>
              <a:rPr sz="1350" b="0" i="0">
                <a:solidFill>
                  <a:srgbClr val="1B2A4A"/>
                </a:solidFill>
                <a:latin typeface="Calibri"/>
              </a:rPr>
              <a:t>Alto riesgo Anexo I, productos regulados</a:t>
            </a:r>
          </a:p>
        </p:txBody>
      </p:sp>
      <p:sp>
        <p:nvSpPr>
          <p:cNvPr id="30"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Aplica también a empresas colombianas cuyo sistema o resultados se usen en la UE. Verifique siempre la versión vigente.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EU AI Act: obligaciones y evidencia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CUMPLIMIENTO</a:t>
            </a:r>
          </a:p>
        </p:txBody>
      </p:sp>
      <p:graphicFrame>
        <p:nvGraphicFramePr>
          <p:cNvPr id="4" name="Tabla"/>
          <p:cNvGraphicFramePr>
            <a:graphicFrameLocks noGrp="1"/>
          </p:cNvGraphicFramePr>
          <p:nvPr>
            <p:extLst>
              <p:ext uri="{D42A27DB-BD31-4B8C-83A1-F6EECF244321}">
                <p14:modId xmlns:p14="http://schemas.microsoft.com/office/powerpoint/2010/main" val="4019480347"/>
              </p:ext>
            </p:extLst>
          </p:nvPr>
        </p:nvGraphicFramePr>
        <p:xfrm>
          <a:off x="548640" y="2286000"/>
          <a:ext cx="11091670" cy="3127248"/>
        </p:xfrm>
        <a:graphic>
          <a:graphicData uri="http://schemas.openxmlformats.org/drawingml/2006/table">
            <a:tbl>
              <a:tblPr firstRow="1">
                <a:tableStyleId>{F5AB1C69-6EDB-4FF4-983F-18BD219EF322}</a:tableStyleId>
              </a:tblPr>
              <a:tblGrid>
                <a:gridCol w="2363798">
                  <a:extLst>
                    <a:ext uri="{9D8B030D-6E8A-4147-A177-3AD203B41FA5}">
                      <a16:colId xmlns:a16="http://schemas.microsoft.com/office/drawing/2014/main" val="20000"/>
                    </a:ext>
                  </a:extLst>
                </a:gridCol>
                <a:gridCol w="4000275">
                  <a:extLst>
                    <a:ext uri="{9D8B030D-6E8A-4147-A177-3AD203B41FA5}">
                      <a16:colId xmlns:a16="http://schemas.microsoft.com/office/drawing/2014/main" val="20001"/>
                    </a:ext>
                  </a:extLst>
                </a:gridCol>
                <a:gridCol w="4727597">
                  <a:extLst>
                    <a:ext uri="{9D8B030D-6E8A-4147-A177-3AD203B41FA5}">
                      <a16:colId xmlns:a16="http://schemas.microsoft.com/office/drawing/2014/main" val="20002"/>
                    </a:ext>
                  </a:extLst>
                </a:gridCol>
              </a:tblGrid>
              <a:tr h="384048">
                <a:tc>
                  <a:txBody>
                    <a:bodyPr/>
                    <a:lstStyle/>
                    <a:p>
                      <a:r>
                        <a:rPr sz="1400" b="1">
                          <a:solidFill>
                            <a:srgbClr val="FFFFFF"/>
                          </a:solidFill>
                        </a:rPr>
                        <a:t>Artículo</a:t>
                      </a:r>
                      <a:endParaRPr sz="1400" b="1">
                        <a:solidFill>
                          <a:srgbClr val="FFFFFF"/>
                        </a:solidFill>
                        <a:latin typeface="Calibri"/>
                      </a:endParaRPr>
                    </a:p>
                  </a:txBody>
                  <a:tcPr marL="73152" marR="73152" marT="27432" marB="27432" anchor="ctr"/>
                </a:tc>
                <a:tc>
                  <a:txBody>
                    <a:bodyPr/>
                    <a:lstStyle/>
                    <a:p>
                      <a:r>
                        <a:rPr sz="1400" b="1">
                          <a:solidFill>
                            <a:srgbClr val="FFFFFF"/>
                          </a:solidFill>
                        </a:rPr>
                        <a:t>Qué exige</a:t>
                      </a:r>
                      <a:endParaRPr sz="1400" b="1">
                        <a:solidFill>
                          <a:srgbClr val="FFFFFF"/>
                        </a:solidFill>
                        <a:latin typeface="Calibri"/>
                      </a:endParaRPr>
                    </a:p>
                  </a:txBody>
                  <a:tcPr marL="73152" marR="73152" marT="27432" marB="27432" anchor="ctr"/>
                </a:tc>
                <a:tc>
                  <a:txBody>
                    <a:bodyPr/>
                    <a:lstStyle/>
                    <a:p>
                      <a:r>
                        <a:rPr sz="1400" b="1">
                          <a:solidFill>
                            <a:srgbClr val="FFFFFF"/>
                          </a:solidFill>
                        </a:rPr>
                        <a:t>Evidencia y herramientas</a:t>
                      </a:r>
                      <a:endParaRPr sz="1400" b="1">
                        <a:solidFill>
                          <a:srgbClr val="FFFFFF"/>
                        </a:solidFill>
                        <a:latin typeface="Calibri"/>
                      </a:endParaRPr>
                    </a:p>
                  </a:txBody>
                  <a:tcPr marL="73152" marR="73152" marT="27432" marB="27432" anchor="ctr"/>
                </a:tc>
                <a:extLst>
                  <a:ext uri="{0D108BD9-81ED-4DB2-BD59-A6C34878D82A}">
                    <a16:rowId xmlns:a16="http://schemas.microsoft.com/office/drawing/2014/main" val="10000"/>
                  </a:ext>
                </a:extLst>
              </a:tr>
              <a:tr h="457200">
                <a:tc>
                  <a:txBody>
                    <a:bodyPr/>
                    <a:lstStyle/>
                    <a:p>
                      <a:r>
                        <a:rPr sz="1400" b="1">
                          <a:solidFill>
                            <a:srgbClr val="1B2A4A"/>
                          </a:solidFill>
                        </a:rPr>
                        <a:t>Art. 9 · Riesgos</a:t>
                      </a:r>
                      <a:endParaRPr sz="1400" b="1">
                        <a:solidFill>
                          <a:srgbClr val="1B2A4A"/>
                        </a:solidFill>
                        <a:latin typeface="Calibri"/>
                      </a:endParaRPr>
                    </a:p>
                  </a:txBody>
                  <a:tcPr marL="73152" marR="73152" marT="27432" marB="27432" anchor="ctr"/>
                </a:tc>
                <a:tc>
                  <a:txBody>
                    <a:bodyPr/>
                    <a:lstStyle/>
                    <a:p>
                      <a:r>
                        <a:rPr sz="1400" b="0">
                          <a:solidFill>
                            <a:srgbClr val="1B2A4A"/>
                          </a:solidFill>
                        </a:rPr>
                        <a:t>Sistema de gestión de riesgos continuo</a:t>
                      </a:r>
                      <a:endParaRPr sz="1400" b="0">
                        <a:solidFill>
                          <a:srgbClr val="1B2A4A"/>
                        </a:solidFill>
                        <a:latin typeface="Calibri"/>
                      </a:endParaRPr>
                    </a:p>
                  </a:txBody>
                  <a:tcPr marL="73152" marR="73152" marT="27432" marB="27432" anchor="ctr"/>
                </a:tc>
                <a:tc>
                  <a:txBody>
                    <a:bodyPr/>
                    <a:lstStyle/>
                    <a:p>
                      <a:r>
                        <a:rPr sz="1400" b="0">
                          <a:solidFill>
                            <a:srgbClr val="1B2A4A"/>
                          </a:solidFill>
                        </a:rPr>
                        <a:t>Registro de riesgos (Issues/Projects), evaluación de impacto</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1"/>
                  </a:ext>
                </a:extLst>
              </a:tr>
              <a:tr h="457200">
                <a:tc>
                  <a:txBody>
                    <a:bodyPr/>
                    <a:lstStyle/>
                    <a:p>
                      <a:r>
                        <a:rPr sz="1400" b="1">
                          <a:solidFill>
                            <a:srgbClr val="1B2A4A"/>
                          </a:solidFill>
                        </a:rPr>
                        <a:t>Art. 10 · Datos</a:t>
                      </a:r>
                      <a:endParaRPr sz="1400" b="1">
                        <a:solidFill>
                          <a:srgbClr val="1B2A4A"/>
                        </a:solidFill>
                        <a:latin typeface="Calibri"/>
                      </a:endParaRPr>
                    </a:p>
                  </a:txBody>
                  <a:tcPr marL="73152" marR="73152" marT="27432" marB="27432" anchor="ctr"/>
                </a:tc>
                <a:tc>
                  <a:txBody>
                    <a:bodyPr/>
                    <a:lstStyle/>
                    <a:p>
                      <a:r>
                        <a:rPr sz="1400" b="0">
                          <a:solidFill>
                            <a:srgbClr val="1B2A4A"/>
                          </a:solidFill>
                        </a:rPr>
                        <a:t>Calidad, representatividad y ausencia de sesgos</a:t>
                      </a:r>
                      <a:endParaRPr sz="1400" b="0">
                        <a:solidFill>
                          <a:srgbClr val="1B2A4A"/>
                        </a:solidFill>
                        <a:latin typeface="Calibri"/>
                      </a:endParaRPr>
                    </a:p>
                  </a:txBody>
                  <a:tcPr marL="73152" marR="73152" marT="27432" marB="27432" anchor="ctr"/>
                </a:tc>
                <a:tc>
                  <a:txBody>
                    <a:bodyPr/>
                    <a:lstStyle/>
                    <a:p>
                      <a:r>
                        <a:rPr sz="1400" b="0">
                          <a:solidFill>
                            <a:srgbClr val="1B2A4A"/>
                          </a:solidFill>
                        </a:rPr>
                        <a:t>DVC, Great Expectations, Fairlearn</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2"/>
                  </a:ext>
                </a:extLst>
              </a:tr>
              <a:tr h="457200">
                <a:tc>
                  <a:txBody>
                    <a:bodyPr/>
                    <a:lstStyle/>
                    <a:p>
                      <a:r>
                        <a:rPr sz="1400" b="1">
                          <a:solidFill>
                            <a:srgbClr val="1B2A4A"/>
                          </a:solidFill>
                        </a:rPr>
                        <a:t>Art. 11 · Documentación</a:t>
                      </a:r>
                      <a:endParaRPr sz="1400" b="1">
                        <a:solidFill>
                          <a:srgbClr val="1B2A4A"/>
                        </a:solidFill>
                        <a:latin typeface="Calibri"/>
                      </a:endParaRPr>
                    </a:p>
                  </a:txBody>
                  <a:tcPr marL="73152" marR="73152" marT="27432" marB="27432" anchor="ctr"/>
                </a:tc>
                <a:tc>
                  <a:txBody>
                    <a:bodyPr/>
                    <a:lstStyle/>
                    <a:p>
                      <a:r>
                        <a:rPr sz="1400" b="0">
                          <a:solidFill>
                            <a:srgbClr val="1B2A4A"/>
                          </a:solidFill>
                        </a:rPr>
                        <a:t>Documentación técnica del sistema</a:t>
                      </a:r>
                      <a:endParaRPr sz="1400" b="0">
                        <a:solidFill>
                          <a:srgbClr val="1B2A4A"/>
                        </a:solidFill>
                        <a:latin typeface="Calibri"/>
                      </a:endParaRPr>
                    </a:p>
                  </a:txBody>
                  <a:tcPr marL="73152" marR="73152" marT="27432" marB="27432" anchor="ctr"/>
                </a:tc>
                <a:tc>
                  <a:txBody>
                    <a:bodyPr/>
                    <a:lstStyle/>
                    <a:p>
                      <a:r>
                        <a:rPr sz="1400" b="0">
                          <a:solidFill>
                            <a:srgbClr val="1B2A4A"/>
                          </a:solidFill>
                        </a:rPr>
                        <a:t>Ficha de modelo, repositorio versionado</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3"/>
                  </a:ext>
                </a:extLst>
              </a:tr>
              <a:tr h="457200">
                <a:tc>
                  <a:txBody>
                    <a:bodyPr/>
                    <a:lstStyle/>
                    <a:p>
                      <a:r>
                        <a:rPr sz="1400" b="1">
                          <a:solidFill>
                            <a:srgbClr val="1B2A4A"/>
                          </a:solidFill>
                        </a:rPr>
                        <a:t>Art. 12 · Registro</a:t>
                      </a:r>
                      <a:endParaRPr sz="1400" b="1">
                        <a:solidFill>
                          <a:srgbClr val="1B2A4A"/>
                        </a:solidFill>
                        <a:latin typeface="Calibri"/>
                      </a:endParaRPr>
                    </a:p>
                  </a:txBody>
                  <a:tcPr marL="73152" marR="73152" marT="27432" marB="27432" anchor="ctr"/>
                </a:tc>
                <a:tc>
                  <a:txBody>
                    <a:bodyPr/>
                    <a:lstStyle/>
                    <a:p>
                      <a:r>
                        <a:rPr sz="1400" b="0">
                          <a:solidFill>
                            <a:srgbClr val="1B2A4A"/>
                          </a:solidFill>
                        </a:rPr>
                        <a:t>Logging automático durante la vida útil</a:t>
                      </a:r>
                      <a:endParaRPr sz="1400" b="0">
                        <a:solidFill>
                          <a:srgbClr val="1B2A4A"/>
                        </a:solidFill>
                        <a:latin typeface="Calibri"/>
                      </a:endParaRPr>
                    </a:p>
                  </a:txBody>
                  <a:tcPr marL="73152" marR="73152" marT="27432" marB="27432" anchor="ctr"/>
                </a:tc>
                <a:tc>
                  <a:txBody>
                    <a:bodyPr/>
                    <a:lstStyle/>
                    <a:p>
                      <a:r>
                        <a:rPr sz="1400" b="0">
                          <a:solidFill>
                            <a:srgbClr val="1B2A4A"/>
                          </a:solidFill>
                        </a:rPr>
                        <a:t>MLflow Tracking, registros del sistema, Grafana</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4"/>
                  </a:ext>
                </a:extLst>
              </a:tr>
              <a:tr h="457200">
                <a:tc>
                  <a:txBody>
                    <a:bodyPr/>
                    <a:lstStyle/>
                    <a:p>
                      <a:r>
                        <a:rPr sz="1400" b="1">
                          <a:solidFill>
                            <a:srgbClr val="1B2A4A"/>
                          </a:solidFill>
                        </a:rPr>
                        <a:t>Art. 14 · Supervisión</a:t>
                      </a:r>
                      <a:endParaRPr sz="1400" b="1">
                        <a:solidFill>
                          <a:srgbClr val="1B2A4A"/>
                        </a:solidFill>
                        <a:latin typeface="Calibri"/>
                      </a:endParaRPr>
                    </a:p>
                  </a:txBody>
                  <a:tcPr marL="73152" marR="73152" marT="27432" marB="27432" anchor="ctr"/>
                </a:tc>
                <a:tc>
                  <a:txBody>
                    <a:bodyPr/>
                    <a:lstStyle/>
                    <a:p>
                      <a:r>
                        <a:rPr sz="1400" b="0">
                          <a:solidFill>
                            <a:srgbClr val="1B2A4A"/>
                          </a:solidFill>
                        </a:rPr>
                        <a:t>Humanos que puedan intervenir y detener</a:t>
                      </a:r>
                      <a:endParaRPr sz="1400" b="0">
                        <a:solidFill>
                          <a:srgbClr val="1B2A4A"/>
                        </a:solidFill>
                        <a:latin typeface="Calibri"/>
                      </a:endParaRPr>
                    </a:p>
                  </a:txBody>
                  <a:tcPr marL="73152" marR="73152" marT="27432" marB="27432" anchor="ctr"/>
                </a:tc>
                <a:tc>
                  <a:txBody>
                    <a:bodyPr/>
                    <a:lstStyle/>
                    <a:p>
                      <a:r>
                        <a:rPr sz="1400" b="0">
                          <a:solidFill>
                            <a:srgbClr val="1B2A4A"/>
                          </a:solidFill>
                        </a:rPr>
                        <a:t>Flujos de aprobación, revisión humana, apagado (kill switch)</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5"/>
                  </a:ext>
                </a:extLst>
              </a:tr>
              <a:tr h="457200">
                <a:tc>
                  <a:txBody>
                    <a:bodyPr/>
                    <a:lstStyle/>
                    <a:p>
                      <a:r>
                        <a:rPr sz="1400" b="1">
                          <a:solidFill>
                            <a:srgbClr val="1B2A4A"/>
                          </a:solidFill>
                        </a:rPr>
                        <a:t>Art. 15 · Ciberseguridad</a:t>
                      </a:r>
                      <a:endParaRPr sz="1400" b="1">
                        <a:solidFill>
                          <a:srgbClr val="1B2A4A"/>
                        </a:solidFill>
                        <a:latin typeface="Calibri"/>
                      </a:endParaRPr>
                    </a:p>
                  </a:txBody>
                  <a:tcPr marL="73152" marR="73152" marT="27432" marB="27432" anchor="ctr"/>
                </a:tc>
                <a:tc>
                  <a:txBody>
                    <a:bodyPr/>
                    <a:lstStyle/>
                    <a:p>
                      <a:r>
                        <a:rPr sz="1400" b="0">
                          <a:solidFill>
                            <a:srgbClr val="1B2A4A"/>
                          </a:solidFill>
                        </a:rPr>
                        <a:t>Exactitud, robustez y resiliencia ante ataques</a:t>
                      </a:r>
                      <a:endParaRPr sz="1400" b="0">
                        <a:solidFill>
                          <a:srgbClr val="1B2A4A"/>
                        </a:solidFill>
                        <a:latin typeface="Calibri"/>
                      </a:endParaRPr>
                    </a:p>
                  </a:txBody>
                  <a:tcPr marL="73152" marR="73152" marT="27432" marB="27432" anchor="ctr"/>
                </a:tc>
                <a:tc>
                  <a:txBody>
                    <a:bodyPr/>
                    <a:lstStyle/>
                    <a:p>
                      <a:r>
                        <a:rPr sz="1400" b="0" dirty="0">
                          <a:solidFill>
                            <a:srgbClr val="1B2A4A"/>
                          </a:solidFill>
                        </a:rPr>
                        <a:t>Cifrado, RBAC, escaneo de dependencias y secretos</a:t>
                      </a:r>
                      <a:endParaRPr sz="1400" b="0" dirty="0">
                        <a:solidFill>
                          <a:srgbClr val="1B2A4A"/>
                        </a:solidFill>
                        <a:latin typeface="Calibri"/>
                      </a:endParaRPr>
                    </a:p>
                  </a:txBody>
                  <a:tcPr marL="73152" marR="73152" marT="27432" marB="27432" anchor="ctr"/>
                </a:tc>
                <a:extLst>
                  <a:ext uri="{0D108BD9-81ED-4DB2-BD59-A6C34878D82A}">
                    <a16:rowId xmlns:a16="http://schemas.microsoft.com/office/drawing/2014/main" val="10006"/>
                  </a:ext>
                </a:extLst>
              </a:tr>
            </a:tbl>
          </a:graphicData>
        </a:graphic>
      </p:graphicFrame>
      <p:sp>
        <p:nvSpPr>
          <p:cNvPr id="5"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Las herramientas facilitan la evidencia técnica; la conformidad exige además procesos, documentación y personas.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ISO/IEC 42001: sistema de gestión de IA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CUMPLIMIENTO</a:t>
            </a:r>
          </a:p>
        </p:txBody>
      </p:sp>
      <p:sp>
        <p:nvSpPr>
          <p:cNvPr id="4" name="Tarjeta"/>
          <p:cNvSpPr/>
          <p:nvPr/>
        </p:nvSpPr>
        <p:spPr>
          <a:xfrm>
            <a:off x="548640" y="2286000"/>
            <a:ext cx="2697480" cy="1463040"/>
          </a:xfrm>
          <a:prstGeom prst="roundRect">
            <a:avLst>
              <a:gd name="adj" fmla="val 6000"/>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o"/>
          <p:cNvSpPr txBox="1"/>
          <p:nvPr/>
        </p:nvSpPr>
        <p:spPr>
          <a:xfrm>
            <a:off x="685800" y="2395728"/>
            <a:ext cx="2423160" cy="320040"/>
          </a:xfrm>
          <a:prstGeom prst="rect">
            <a:avLst/>
          </a:prstGeom>
          <a:noFill/>
        </p:spPr>
        <p:txBody>
          <a:bodyPr wrap="square" lIns="0" tIns="0" rIns="0" bIns="0" anchor="t">
            <a:noAutofit/>
          </a:bodyPr>
          <a:lstStyle/>
          <a:p>
            <a:pPr algn="l"/>
            <a:r>
              <a:rPr sz="1700" b="1" i="0">
                <a:solidFill>
                  <a:srgbClr val="FFFFFF"/>
                </a:solidFill>
                <a:latin typeface="Calibri"/>
              </a:rPr>
              <a:t>PLANIFICAR</a:t>
            </a:r>
          </a:p>
        </p:txBody>
      </p:sp>
      <p:sp>
        <p:nvSpPr>
          <p:cNvPr id="6" name="Texto"/>
          <p:cNvSpPr txBox="1"/>
          <p:nvPr/>
        </p:nvSpPr>
        <p:spPr>
          <a:xfrm>
            <a:off x="685800" y="2788920"/>
            <a:ext cx="2423160" cy="914400"/>
          </a:xfrm>
          <a:prstGeom prst="rect">
            <a:avLst/>
          </a:prstGeom>
          <a:noFill/>
        </p:spPr>
        <p:txBody>
          <a:bodyPr wrap="square" lIns="0" tIns="0" rIns="0" bIns="0" anchor="t">
            <a:noAutofit/>
          </a:bodyPr>
          <a:lstStyle/>
          <a:p>
            <a:pPr algn="l"/>
            <a:r>
              <a:rPr sz="1500" b="0" i="0">
                <a:solidFill>
                  <a:srgbClr val="FFFFFF"/>
                </a:solidFill>
                <a:latin typeface="Calibri"/>
              </a:rPr>
              <a:t>Contexto, liderazgo, riesgos y objetivos (cl. 4–6)</a:t>
            </a:r>
          </a:p>
        </p:txBody>
      </p:sp>
      <p:sp>
        <p:nvSpPr>
          <p:cNvPr id="7" name="Tarjeta"/>
          <p:cNvSpPr/>
          <p:nvPr/>
        </p:nvSpPr>
        <p:spPr>
          <a:xfrm>
            <a:off x="3337560" y="2286000"/>
            <a:ext cx="2697480" cy="1463040"/>
          </a:xfrm>
          <a:prstGeom prst="roundRect">
            <a:avLst>
              <a:gd name="adj" fmla="val 6000"/>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o"/>
          <p:cNvSpPr txBox="1"/>
          <p:nvPr/>
        </p:nvSpPr>
        <p:spPr>
          <a:xfrm>
            <a:off x="3474720" y="2395728"/>
            <a:ext cx="2423160" cy="320040"/>
          </a:xfrm>
          <a:prstGeom prst="rect">
            <a:avLst/>
          </a:prstGeom>
          <a:noFill/>
        </p:spPr>
        <p:txBody>
          <a:bodyPr wrap="square" lIns="0" tIns="0" rIns="0" bIns="0" anchor="t">
            <a:noAutofit/>
          </a:bodyPr>
          <a:lstStyle/>
          <a:p>
            <a:pPr algn="l"/>
            <a:r>
              <a:rPr sz="1700" b="1" i="0">
                <a:solidFill>
                  <a:srgbClr val="1B2A4A"/>
                </a:solidFill>
                <a:latin typeface="Calibri"/>
              </a:rPr>
              <a:t>HACER</a:t>
            </a:r>
          </a:p>
        </p:txBody>
      </p:sp>
      <p:sp>
        <p:nvSpPr>
          <p:cNvPr id="9" name="Texto"/>
          <p:cNvSpPr txBox="1"/>
          <p:nvPr/>
        </p:nvSpPr>
        <p:spPr>
          <a:xfrm>
            <a:off x="3474720" y="2788920"/>
            <a:ext cx="2423160" cy="914400"/>
          </a:xfrm>
          <a:prstGeom prst="rect">
            <a:avLst/>
          </a:prstGeom>
          <a:noFill/>
        </p:spPr>
        <p:txBody>
          <a:bodyPr wrap="square" lIns="0" tIns="0" rIns="0" bIns="0" anchor="t">
            <a:noAutofit/>
          </a:bodyPr>
          <a:lstStyle/>
          <a:p>
            <a:pPr algn="l"/>
            <a:r>
              <a:rPr sz="1500" b="0" i="0">
                <a:solidFill>
                  <a:srgbClr val="1B2A4A"/>
                </a:solidFill>
                <a:latin typeface="Calibri"/>
              </a:rPr>
              <a:t>Recursos y operación del ciclo de vida (cl. 7–8)</a:t>
            </a:r>
          </a:p>
        </p:txBody>
      </p:sp>
      <p:sp>
        <p:nvSpPr>
          <p:cNvPr id="10" name="Tarjeta"/>
          <p:cNvSpPr/>
          <p:nvPr/>
        </p:nvSpPr>
        <p:spPr>
          <a:xfrm>
            <a:off x="3337560" y="3886200"/>
            <a:ext cx="2697480" cy="1463040"/>
          </a:xfrm>
          <a:prstGeom prst="roundRect">
            <a:avLst>
              <a:gd name="adj" fmla="val 6000"/>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p:cNvSpPr txBox="1"/>
          <p:nvPr/>
        </p:nvSpPr>
        <p:spPr>
          <a:xfrm>
            <a:off x="3474720" y="3995928"/>
            <a:ext cx="2423160" cy="320040"/>
          </a:xfrm>
          <a:prstGeom prst="rect">
            <a:avLst/>
          </a:prstGeom>
          <a:noFill/>
        </p:spPr>
        <p:txBody>
          <a:bodyPr wrap="square" lIns="0" tIns="0" rIns="0" bIns="0" anchor="t">
            <a:noAutofit/>
          </a:bodyPr>
          <a:lstStyle/>
          <a:p>
            <a:pPr algn="l"/>
            <a:r>
              <a:rPr sz="1700" b="1" i="0">
                <a:solidFill>
                  <a:srgbClr val="1B2A4A"/>
                </a:solidFill>
                <a:latin typeface="Calibri"/>
              </a:rPr>
              <a:t>VERIFICAR</a:t>
            </a:r>
          </a:p>
        </p:txBody>
      </p:sp>
      <p:sp>
        <p:nvSpPr>
          <p:cNvPr id="12" name="Texto"/>
          <p:cNvSpPr txBox="1"/>
          <p:nvPr/>
        </p:nvSpPr>
        <p:spPr>
          <a:xfrm>
            <a:off x="3474720" y="4389120"/>
            <a:ext cx="2423160" cy="914400"/>
          </a:xfrm>
          <a:prstGeom prst="rect">
            <a:avLst/>
          </a:prstGeom>
          <a:noFill/>
        </p:spPr>
        <p:txBody>
          <a:bodyPr wrap="square" lIns="0" tIns="0" rIns="0" bIns="0" anchor="t">
            <a:noAutofit/>
          </a:bodyPr>
          <a:lstStyle/>
          <a:p>
            <a:pPr algn="l"/>
            <a:r>
              <a:rPr sz="1500" b="0" i="0">
                <a:solidFill>
                  <a:srgbClr val="1B2A4A"/>
                </a:solidFill>
                <a:latin typeface="Calibri"/>
              </a:rPr>
              <a:t>Evaluación del desempeño y auditoría interna (cl. 9)</a:t>
            </a:r>
          </a:p>
        </p:txBody>
      </p:sp>
      <p:sp>
        <p:nvSpPr>
          <p:cNvPr id="13" name="Tarjeta"/>
          <p:cNvSpPr/>
          <p:nvPr/>
        </p:nvSpPr>
        <p:spPr>
          <a:xfrm>
            <a:off x="548640" y="3886200"/>
            <a:ext cx="2697480" cy="1463040"/>
          </a:xfrm>
          <a:prstGeom prst="roundRect">
            <a:avLst>
              <a:gd name="adj" fmla="val 6000"/>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o"/>
          <p:cNvSpPr txBox="1"/>
          <p:nvPr/>
        </p:nvSpPr>
        <p:spPr>
          <a:xfrm>
            <a:off x="685800" y="3995928"/>
            <a:ext cx="2423160" cy="320040"/>
          </a:xfrm>
          <a:prstGeom prst="rect">
            <a:avLst/>
          </a:prstGeom>
          <a:noFill/>
        </p:spPr>
        <p:txBody>
          <a:bodyPr wrap="square" lIns="0" tIns="0" rIns="0" bIns="0" anchor="t">
            <a:noAutofit/>
          </a:bodyPr>
          <a:lstStyle/>
          <a:p>
            <a:pPr algn="l"/>
            <a:r>
              <a:rPr sz="1700" b="1" i="0">
                <a:solidFill>
                  <a:srgbClr val="FFFFFF"/>
                </a:solidFill>
                <a:latin typeface="Calibri"/>
              </a:rPr>
              <a:t>ACTUAR</a:t>
            </a:r>
          </a:p>
        </p:txBody>
      </p:sp>
      <p:sp>
        <p:nvSpPr>
          <p:cNvPr id="15" name="Texto"/>
          <p:cNvSpPr txBox="1"/>
          <p:nvPr/>
        </p:nvSpPr>
        <p:spPr>
          <a:xfrm>
            <a:off x="685800" y="4389120"/>
            <a:ext cx="2423160" cy="914400"/>
          </a:xfrm>
          <a:prstGeom prst="rect">
            <a:avLst/>
          </a:prstGeom>
          <a:noFill/>
        </p:spPr>
        <p:txBody>
          <a:bodyPr wrap="square" lIns="0" tIns="0" rIns="0" bIns="0" anchor="t">
            <a:noAutofit/>
          </a:bodyPr>
          <a:lstStyle/>
          <a:p>
            <a:pPr algn="l"/>
            <a:r>
              <a:rPr sz="1500" b="0" i="0">
                <a:solidFill>
                  <a:srgbClr val="FFFFFF"/>
                </a:solidFill>
                <a:latin typeface="Calibri"/>
              </a:rPr>
              <a:t>Mejora continua y acciones correctivas (cl. 10)</a:t>
            </a:r>
          </a:p>
        </p:txBody>
      </p:sp>
      <p:sp>
        <p:nvSpPr>
          <p:cNvPr id="16" name="Tarjeta"/>
          <p:cNvSpPr/>
          <p:nvPr/>
        </p:nvSpPr>
        <p:spPr>
          <a:xfrm>
            <a:off x="6263640" y="2286000"/>
            <a:ext cx="5376672" cy="56692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Etiqueta"/>
          <p:cNvSpPr/>
          <p:nvPr/>
        </p:nvSpPr>
        <p:spPr>
          <a:xfrm>
            <a:off x="6355080" y="2377440"/>
            <a:ext cx="640080" cy="384048"/>
          </a:xfrm>
          <a:prstGeom prst="roundRect">
            <a:avLst>
              <a:gd name="adj" fmla="val 50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FFFFFF"/>
                </a:solidFill>
                <a:latin typeface="Calibri"/>
              </a:rPr>
              <a:t>A.5</a:t>
            </a:r>
          </a:p>
        </p:txBody>
      </p:sp>
      <p:sp>
        <p:nvSpPr>
          <p:cNvPr id="18" name="Texto"/>
          <p:cNvSpPr txBox="1"/>
          <p:nvPr/>
        </p:nvSpPr>
        <p:spPr>
          <a:xfrm>
            <a:off x="7132320" y="2304288"/>
            <a:ext cx="4434840" cy="274320"/>
          </a:xfrm>
          <a:prstGeom prst="rect">
            <a:avLst/>
          </a:prstGeom>
          <a:noFill/>
        </p:spPr>
        <p:txBody>
          <a:bodyPr wrap="square" lIns="0" tIns="0" rIns="0" bIns="0" anchor="t">
            <a:noAutofit/>
          </a:bodyPr>
          <a:lstStyle/>
          <a:p>
            <a:pPr algn="l"/>
            <a:r>
              <a:rPr sz="1300" b="1" i="0">
                <a:solidFill>
                  <a:srgbClr val="1B2A4A"/>
                </a:solidFill>
                <a:latin typeface="Calibri"/>
              </a:rPr>
              <a:t>Evaluación de impacto</a:t>
            </a:r>
          </a:p>
        </p:txBody>
      </p:sp>
      <p:sp>
        <p:nvSpPr>
          <p:cNvPr id="19" name="Texto"/>
          <p:cNvSpPr txBox="1"/>
          <p:nvPr/>
        </p:nvSpPr>
        <p:spPr>
          <a:xfrm>
            <a:off x="7132320" y="2578608"/>
            <a:ext cx="4434840" cy="256032"/>
          </a:xfrm>
          <a:prstGeom prst="rect">
            <a:avLst/>
          </a:prstGeom>
          <a:noFill/>
        </p:spPr>
        <p:txBody>
          <a:bodyPr wrap="square" lIns="0" tIns="0" rIns="0" bIns="0" anchor="t">
            <a:noAutofit/>
          </a:bodyPr>
          <a:lstStyle/>
          <a:p>
            <a:pPr algn="l"/>
            <a:r>
              <a:rPr sz="1100" b="0" i="0">
                <a:solidFill>
                  <a:srgbClr val="5B6472"/>
                </a:solidFill>
                <a:latin typeface="Calibri"/>
              </a:rPr>
              <a:t>Análisis documentado sobre personas y sociedad</a:t>
            </a:r>
          </a:p>
        </p:txBody>
      </p:sp>
      <p:sp>
        <p:nvSpPr>
          <p:cNvPr id="20" name="Tarjeta"/>
          <p:cNvSpPr/>
          <p:nvPr/>
        </p:nvSpPr>
        <p:spPr>
          <a:xfrm>
            <a:off x="6263640" y="2916936"/>
            <a:ext cx="5376672" cy="56692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Etiqueta"/>
          <p:cNvSpPr/>
          <p:nvPr/>
        </p:nvSpPr>
        <p:spPr>
          <a:xfrm>
            <a:off x="6355080" y="3008376"/>
            <a:ext cx="640080" cy="384048"/>
          </a:xfrm>
          <a:prstGeom prst="roundRect">
            <a:avLst>
              <a:gd name="adj" fmla="val 50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FFFFFF"/>
                </a:solidFill>
                <a:latin typeface="Calibri"/>
              </a:rPr>
              <a:t>A.6</a:t>
            </a:r>
          </a:p>
        </p:txBody>
      </p:sp>
      <p:sp>
        <p:nvSpPr>
          <p:cNvPr id="22" name="Texto"/>
          <p:cNvSpPr txBox="1"/>
          <p:nvPr/>
        </p:nvSpPr>
        <p:spPr>
          <a:xfrm>
            <a:off x="7132320" y="2935224"/>
            <a:ext cx="4434840" cy="274320"/>
          </a:xfrm>
          <a:prstGeom prst="rect">
            <a:avLst/>
          </a:prstGeom>
          <a:noFill/>
        </p:spPr>
        <p:txBody>
          <a:bodyPr wrap="square" lIns="0" tIns="0" rIns="0" bIns="0" anchor="t">
            <a:noAutofit/>
          </a:bodyPr>
          <a:lstStyle/>
          <a:p>
            <a:pPr algn="l"/>
            <a:r>
              <a:rPr sz="1300" b="1" i="0">
                <a:solidFill>
                  <a:srgbClr val="1B2A4A"/>
                </a:solidFill>
                <a:latin typeface="Calibri"/>
              </a:rPr>
              <a:t>Ciclo de vida del sistema</a:t>
            </a:r>
          </a:p>
        </p:txBody>
      </p:sp>
      <p:sp>
        <p:nvSpPr>
          <p:cNvPr id="23" name="Texto"/>
          <p:cNvSpPr txBox="1"/>
          <p:nvPr/>
        </p:nvSpPr>
        <p:spPr>
          <a:xfrm>
            <a:off x="7132320" y="3209544"/>
            <a:ext cx="4434840" cy="256032"/>
          </a:xfrm>
          <a:prstGeom prst="rect">
            <a:avLst/>
          </a:prstGeom>
          <a:noFill/>
        </p:spPr>
        <p:txBody>
          <a:bodyPr wrap="square" lIns="0" tIns="0" rIns="0" bIns="0" anchor="t">
            <a:noAutofit/>
          </a:bodyPr>
          <a:lstStyle/>
          <a:p>
            <a:pPr algn="l"/>
            <a:r>
              <a:rPr sz="1100" b="0" i="0">
                <a:solidFill>
                  <a:srgbClr val="5B6472"/>
                </a:solidFill>
                <a:latin typeface="Calibri"/>
              </a:rPr>
              <a:t>Versionamiento, pruebas y despliegue (GitHub, MLflow)</a:t>
            </a:r>
          </a:p>
        </p:txBody>
      </p:sp>
      <p:sp>
        <p:nvSpPr>
          <p:cNvPr id="24" name="Tarjeta"/>
          <p:cNvSpPr/>
          <p:nvPr/>
        </p:nvSpPr>
        <p:spPr>
          <a:xfrm>
            <a:off x="6263640" y="3547872"/>
            <a:ext cx="5376672" cy="56692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Etiqueta"/>
          <p:cNvSpPr/>
          <p:nvPr/>
        </p:nvSpPr>
        <p:spPr>
          <a:xfrm>
            <a:off x="6355080" y="3639312"/>
            <a:ext cx="640080" cy="384048"/>
          </a:xfrm>
          <a:prstGeom prst="roundRect">
            <a:avLst>
              <a:gd name="adj" fmla="val 50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FFFFFF"/>
                </a:solidFill>
                <a:latin typeface="Calibri"/>
              </a:rPr>
              <a:t>A.7</a:t>
            </a:r>
          </a:p>
        </p:txBody>
      </p:sp>
      <p:sp>
        <p:nvSpPr>
          <p:cNvPr id="26" name="Texto"/>
          <p:cNvSpPr txBox="1"/>
          <p:nvPr/>
        </p:nvSpPr>
        <p:spPr>
          <a:xfrm>
            <a:off x="7132320" y="3566160"/>
            <a:ext cx="4434840" cy="274320"/>
          </a:xfrm>
          <a:prstGeom prst="rect">
            <a:avLst/>
          </a:prstGeom>
          <a:noFill/>
        </p:spPr>
        <p:txBody>
          <a:bodyPr wrap="square" lIns="0" tIns="0" rIns="0" bIns="0" anchor="t">
            <a:noAutofit/>
          </a:bodyPr>
          <a:lstStyle/>
          <a:p>
            <a:pPr algn="l"/>
            <a:r>
              <a:rPr sz="1300" b="1" i="0">
                <a:solidFill>
                  <a:srgbClr val="1B2A4A"/>
                </a:solidFill>
                <a:latin typeface="Calibri"/>
              </a:rPr>
              <a:t>Datos para sistemas de IA</a:t>
            </a:r>
          </a:p>
        </p:txBody>
      </p:sp>
      <p:sp>
        <p:nvSpPr>
          <p:cNvPr id="27" name="Texto"/>
          <p:cNvSpPr txBox="1"/>
          <p:nvPr/>
        </p:nvSpPr>
        <p:spPr>
          <a:xfrm>
            <a:off x="7132320" y="3840480"/>
            <a:ext cx="4434840" cy="256032"/>
          </a:xfrm>
          <a:prstGeom prst="rect">
            <a:avLst/>
          </a:prstGeom>
          <a:noFill/>
        </p:spPr>
        <p:txBody>
          <a:bodyPr wrap="square" lIns="0" tIns="0" rIns="0" bIns="0" anchor="t">
            <a:noAutofit/>
          </a:bodyPr>
          <a:lstStyle/>
          <a:p>
            <a:pPr algn="l"/>
            <a:r>
              <a:rPr sz="1100" b="0" i="0">
                <a:solidFill>
                  <a:srgbClr val="5B6472"/>
                </a:solidFill>
                <a:latin typeface="Calibri"/>
              </a:rPr>
              <a:t>Procedencia, calidad y linaje (DVC)</a:t>
            </a:r>
          </a:p>
        </p:txBody>
      </p:sp>
      <p:sp>
        <p:nvSpPr>
          <p:cNvPr id="28" name="Tarjeta"/>
          <p:cNvSpPr/>
          <p:nvPr/>
        </p:nvSpPr>
        <p:spPr>
          <a:xfrm>
            <a:off x="6263640" y="4178808"/>
            <a:ext cx="5376672" cy="56692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Etiqueta"/>
          <p:cNvSpPr/>
          <p:nvPr/>
        </p:nvSpPr>
        <p:spPr>
          <a:xfrm>
            <a:off x="6355080" y="4270248"/>
            <a:ext cx="640080" cy="384048"/>
          </a:xfrm>
          <a:prstGeom prst="roundRect">
            <a:avLst>
              <a:gd name="adj" fmla="val 50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a:solidFill>
                  <a:srgbClr val="FFFFFF"/>
                </a:solidFill>
                <a:latin typeface="Calibri"/>
              </a:rPr>
              <a:t>A.9</a:t>
            </a:r>
          </a:p>
        </p:txBody>
      </p:sp>
      <p:sp>
        <p:nvSpPr>
          <p:cNvPr id="30" name="Texto"/>
          <p:cNvSpPr txBox="1"/>
          <p:nvPr/>
        </p:nvSpPr>
        <p:spPr>
          <a:xfrm>
            <a:off x="7132320" y="4197096"/>
            <a:ext cx="4434840" cy="274320"/>
          </a:xfrm>
          <a:prstGeom prst="rect">
            <a:avLst/>
          </a:prstGeom>
          <a:noFill/>
        </p:spPr>
        <p:txBody>
          <a:bodyPr wrap="square" lIns="0" tIns="0" rIns="0" bIns="0" anchor="t">
            <a:noAutofit/>
          </a:bodyPr>
          <a:lstStyle/>
          <a:p>
            <a:pPr algn="l"/>
            <a:r>
              <a:rPr sz="1300" b="1" i="0">
                <a:solidFill>
                  <a:srgbClr val="1B2A4A"/>
                </a:solidFill>
                <a:latin typeface="Calibri"/>
              </a:rPr>
              <a:t>Uso de sistemas de IA</a:t>
            </a:r>
          </a:p>
        </p:txBody>
      </p:sp>
      <p:sp>
        <p:nvSpPr>
          <p:cNvPr id="31" name="Texto"/>
          <p:cNvSpPr txBox="1"/>
          <p:nvPr/>
        </p:nvSpPr>
        <p:spPr>
          <a:xfrm>
            <a:off x="7132320" y="4471416"/>
            <a:ext cx="4434840" cy="256032"/>
          </a:xfrm>
          <a:prstGeom prst="rect">
            <a:avLst/>
          </a:prstGeom>
          <a:noFill/>
        </p:spPr>
        <p:txBody>
          <a:bodyPr wrap="square" lIns="0" tIns="0" rIns="0" bIns="0" anchor="t">
            <a:noAutofit/>
          </a:bodyPr>
          <a:lstStyle/>
          <a:p>
            <a:pPr algn="l"/>
            <a:r>
              <a:rPr sz="1100" b="0" i="0">
                <a:solidFill>
                  <a:srgbClr val="5B6472"/>
                </a:solidFill>
                <a:latin typeface="Calibri"/>
              </a:rPr>
              <a:t>RBAC y registros de uso</a:t>
            </a:r>
          </a:p>
        </p:txBody>
      </p:sp>
      <p:sp>
        <p:nvSpPr>
          <p:cNvPr id="32" name="Tarjeta"/>
          <p:cNvSpPr/>
          <p:nvPr/>
        </p:nvSpPr>
        <p:spPr>
          <a:xfrm>
            <a:off x="6263640" y="4809744"/>
            <a:ext cx="5376672" cy="56692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Etiqueta"/>
          <p:cNvSpPr/>
          <p:nvPr/>
        </p:nvSpPr>
        <p:spPr>
          <a:xfrm>
            <a:off x="6355080" y="4901183"/>
            <a:ext cx="640080" cy="384048"/>
          </a:xfrm>
          <a:prstGeom prst="roundRect">
            <a:avLst>
              <a:gd name="adj" fmla="val 50000"/>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noAutofit/>
          </a:bodyPr>
          <a:lstStyle/>
          <a:p>
            <a:pPr algn="ctr"/>
            <a:r>
              <a:rPr sz="1350" b="1" i="0" dirty="0">
                <a:solidFill>
                  <a:srgbClr val="FFFFFF"/>
                </a:solidFill>
                <a:latin typeface="Calibri"/>
              </a:rPr>
              <a:t>A.10</a:t>
            </a:r>
          </a:p>
        </p:txBody>
      </p:sp>
      <p:sp>
        <p:nvSpPr>
          <p:cNvPr id="34" name="Texto"/>
          <p:cNvSpPr txBox="1"/>
          <p:nvPr/>
        </p:nvSpPr>
        <p:spPr>
          <a:xfrm>
            <a:off x="7132320" y="4828031"/>
            <a:ext cx="4434840" cy="274320"/>
          </a:xfrm>
          <a:prstGeom prst="rect">
            <a:avLst/>
          </a:prstGeom>
          <a:noFill/>
        </p:spPr>
        <p:txBody>
          <a:bodyPr wrap="square" lIns="0" tIns="0" rIns="0" bIns="0" anchor="t">
            <a:noAutofit/>
          </a:bodyPr>
          <a:lstStyle/>
          <a:p>
            <a:pPr algn="l"/>
            <a:r>
              <a:rPr sz="1300" b="1" i="0">
                <a:solidFill>
                  <a:srgbClr val="1B2A4A"/>
                </a:solidFill>
                <a:latin typeface="Calibri"/>
              </a:rPr>
              <a:t>Terceros y proveedores</a:t>
            </a:r>
          </a:p>
        </p:txBody>
      </p:sp>
      <p:sp>
        <p:nvSpPr>
          <p:cNvPr id="35" name="Texto"/>
          <p:cNvSpPr txBox="1"/>
          <p:nvPr/>
        </p:nvSpPr>
        <p:spPr>
          <a:xfrm>
            <a:off x="7132320" y="5102352"/>
            <a:ext cx="4434840" cy="256032"/>
          </a:xfrm>
          <a:prstGeom prst="rect">
            <a:avLst/>
          </a:prstGeom>
          <a:noFill/>
        </p:spPr>
        <p:txBody>
          <a:bodyPr wrap="square" lIns="0" tIns="0" rIns="0" bIns="0" anchor="t">
            <a:noAutofit/>
          </a:bodyPr>
          <a:lstStyle/>
          <a:p>
            <a:pPr algn="l"/>
            <a:r>
              <a:rPr sz="1100" b="0" i="0">
                <a:solidFill>
                  <a:srgbClr val="5B6472"/>
                </a:solidFill>
                <a:latin typeface="Calibri"/>
              </a:rPr>
              <a:t>Contratos y evaluación de proveedores</a:t>
            </a:r>
          </a:p>
        </p:txBody>
      </p:sp>
      <p:sp>
        <p:nvSpPr>
          <p:cNvPr id="36"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La certificación ISO/IEC 42001 es evidencia de debida diligencia ante auditorías y autoridades.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Colombia: panorama normativo para IA</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CUMPLIMIENTO</a:t>
            </a:r>
          </a:p>
        </p:txBody>
      </p:sp>
      <p:sp>
        <p:nvSpPr>
          <p:cNvPr id="4" name="Tarjeta"/>
          <p:cNvSpPr/>
          <p:nvPr/>
        </p:nvSpPr>
        <p:spPr>
          <a:xfrm>
            <a:off x="548640" y="2286000"/>
            <a:ext cx="3575304"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írculo de ícono"/>
          <p:cNvSpPr/>
          <p:nvPr/>
        </p:nvSpPr>
        <p:spPr>
          <a:xfrm>
            <a:off x="731520" y="2468880"/>
            <a:ext cx="548640" cy="54864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p:cNvSpPr txBox="1"/>
          <p:nvPr/>
        </p:nvSpPr>
        <p:spPr>
          <a:xfrm>
            <a:off x="1417319" y="2468880"/>
            <a:ext cx="2569464" cy="548640"/>
          </a:xfrm>
          <a:prstGeom prst="rect">
            <a:avLst/>
          </a:prstGeom>
          <a:noFill/>
        </p:spPr>
        <p:txBody>
          <a:bodyPr wrap="square" lIns="0" tIns="0" rIns="0" bIns="0" anchor="ctr">
            <a:noAutofit/>
          </a:bodyPr>
          <a:lstStyle/>
          <a:p>
            <a:pPr algn="l"/>
            <a:r>
              <a:rPr sz="1700" b="1" i="0">
                <a:solidFill>
                  <a:srgbClr val="1B2A4A"/>
                </a:solidFill>
                <a:latin typeface="Calibri"/>
              </a:rPr>
              <a:t>Ley 1581 de 2012</a:t>
            </a:r>
          </a:p>
        </p:txBody>
      </p:sp>
      <p:sp>
        <p:nvSpPr>
          <p:cNvPr id="8" name="Texto"/>
          <p:cNvSpPr txBox="1"/>
          <p:nvPr/>
        </p:nvSpPr>
        <p:spPr>
          <a:xfrm>
            <a:off x="731520" y="3200400"/>
            <a:ext cx="3209544" cy="502919"/>
          </a:xfrm>
          <a:prstGeom prst="rect">
            <a:avLst/>
          </a:prstGeom>
          <a:noFill/>
        </p:spPr>
        <p:txBody>
          <a:bodyPr wrap="square" lIns="0" tIns="0" rIns="0" bIns="0" anchor="t">
            <a:noAutofit/>
          </a:bodyPr>
          <a:lstStyle/>
          <a:p>
            <a:pPr algn="l"/>
            <a:r>
              <a:rPr sz="1500" b="0" i="0">
                <a:solidFill>
                  <a:srgbClr val="5B6472"/>
                </a:solidFill>
                <a:latin typeface="Calibri"/>
              </a:rPr>
              <a:t>Habeas data: finalidad, consentimiento, seguridad y responsabilidad demostrada</a:t>
            </a:r>
          </a:p>
        </p:txBody>
      </p:sp>
      <p:sp>
        <p:nvSpPr>
          <p:cNvPr id="9" name="Tarjeta"/>
          <p:cNvSpPr/>
          <p:nvPr/>
        </p:nvSpPr>
        <p:spPr>
          <a:xfrm>
            <a:off x="4306824" y="2286000"/>
            <a:ext cx="3575304"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írculo de ícono"/>
          <p:cNvSpPr/>
          <p:nvPr/>
        </p:nvSpPr>
        <p:spPr>
          <a:xfrm>
            <a:off x="4489704" y="2468880"/>
            <a:ext cx="548640" cy="54864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o"/>
          <p:cNvSpPr txBox="1"/>
          <p:nvPr/>
        </p:nvSpPr>
        <p:spPr>
          <a:xfrm>
            <a:off x="5175504" y="2468880"/>
            <a:ext cx="2569464" cy="548640"/>
          </a:xfrm>
          <a:prstGeom prst="rect">
            <a:avLst/>
          </a:prstGeom>
          <a:noFill/>
        </p:spPr>
        <p:txBody>
          <a:bodyPr wrap="square" lIns="0" tIns="0" rIns="0" bIns="0" anchor="ctr">
            <a:noAutofit/>
          </a:bodyPr>
          <a:lstStyle/>
          <a:p>
            <a:pPr algn="l"/>
            <a:r>
              <a:rPr sz="1700" b="1" i="0">
                <a:solidFill>
                  <a:srgbClr val="1B2A4A"/>
                </a:solidFill>
                <a:latin typeface="Calibri"/>
              </a:rPr>
              <a:t>Circular Externa 002/2024 SIC</a:t>
            </a:r>
          </a:p>
        </p:txBody>
      </p:sp>
      <p:sp>
        <p:nvSpPr>
          <p:cNvPr id="13" name="Texto"/>
          <p:cNvSpPr txBox="1"/>
          <p:nvPr/>
        </p:nvSpPr>
        <p:spPr>
          <a:xfrm>
            <a:off x="4489704" y="3200400"/>
            <a:ext cx="3209544" cy="502919"/>
          </a:xfrm>
          <a:prstGeom prst="rect">
            <a:avLst/>
          </a:prstGeom>
          <a:noFill/>
        </p:spPr>
        <p:txBody>
          <a:bodyPr wrap="square" lIns="0" tIns="0" rIns="0" bIns="0" anchor="t">
            <a:noAutofit/>
          </a:bodyPr>
          <a:lstStyle/>
          <a:p>
            <a:pPr algn="l"/>
            <a:r>
              <a:rPr sz="1500" b="0" i="0">
                <a:solidFill>
                  <a:srgbClr val="5B6472"/>
                </a:solidFill>
                <a:latin typeface="Calibri"/>
              </a:rPr>
              <a:t>Lineamientos sobre tratamiento de datos personales en sistemas de IA</a:t>
            </a:r>
          </a:p>
        </p:txBody>
      </p:sp>
      <p:sp>
        <p:nvSpPr>
          <p:cNvPr id="14" name="Tarjeta"/>
          <p:cNvSpPr/>
          <p:nvPr/>
        </p:nvSpPr>
        <p:spPr>
          <a:xfrm>
            <a:off x="8065008" y="2286000"/>
            <a:ext cx="3575304" cy="1463039"/>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írculo de ícono"/>
          <p:cNvSpPr/>
          <p:nvPr/>
        </p:nvSpPr>
        <p:spPr>
          <a:xfrm>
            <a:off x="8247888" y="2468880"/>
            <a:ext cx="548640" cy="548640"/>
          </a:xfrm>
          <a:prstGeom prst="ellipse">
            <a:avLst/>
          </a:prstGeom>
          <a:solidFill>
            <a:srgbClr val="56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o"/>
          <p:cNvSpPr txBox="1"/>
          <p:nvPr/>
        </p:nvSpPr>
        <p:spPr>
          <a:xfrm>
            <a:off x="8933688" y="2468880"/>
            <a:ext cx="2569464" cy="548640"/>
          </a:xfrm>
          <a:prstGeom prst="rect">
            <a:avLst/>
          </a:prstGeom>
          <a:noFill/>
        </p:spPr>
        <p:txBody>
          <a:bodyPr wrap="square" lIns="0" tIns="0" rIns="0" bIns="0" anchor="ctr">
            <a:noAutofit/>
          </a:bodyPr>
          <a:lstStyle/>
          <a:p>
            <a:pPr algn="l"/>
            <a:r>
              <a:rPr sz="1700" b="1" i="0">
                <a:solidFill>
                  <a:srgbClr val="1B2A4A"/>
                </a:solidFill>
                <a:latin typeface="Calibri"/>
              </a:rPr>
              <a:t>Sentencia T-323 de 2024</a:t>
            </a:r>
          </a:p>
        </p:txBody>
      </p:sp>
      <p:sp>
        <p:nvSpPr>
          <p:cNvPr id="18" name="Texto"/>
          <p:cNvSpPr txBox="1"/>
          <p:nvPr/>
        </p:nvSpPr>
        <p:spPr>
          <a:xfrm>
            <a:off x="8247888" y="3200400"/>
            <a:ext cx="3209544" cy="502919"/>
          </a:xfrm>
          <a:prstGeom prst="rect">
            <a:avLst/>
          </a:prstGeom>
          <a:noFill/>
        </p:spPr>
        <p:txBody>
          <a:bodyPr wrap="square" lIns="0" tIns="0" rIns="0" bIns="0" anchor="t">
            <a:noAutofit/>
          </a:bodyPr>
          <a:lstStyle/>
          <a:p>
            <a:pPr algn="l"/>
            <a:r>
              <a:rPr sz="1500" b="0" i="0">
                <a:solidFill>
                  <a:srgbClr val="5B6472"/>
                </a:solidFill>
                <a:latin typeface="Calibri"/>
              </a:rPr>
              <a:t>Corte Constitucional: IA generativa en decisiones y ocho principios</a:t>
            </a:r>
          </a:p>
        </p:txBody>
      </p:sp>
      <p:sp>
        <p:nvSpPr>
          <p:cNvPr id="19" name="Tarjeta"/>
          <p:cNvSpPr/>
          <p:nvPr/>
        </p:nvSpPr>
        <p:spPr>
          <a:xfrm>
            <a:off x="548640" y="3931920"/>
            <a:ext cx="3575304" cy="1463039"/>
          </a:xfrm>
          <a:prstGeom prst="roundRect">
            <a:avLst>
              <a:gd name="adj" fmla="val 6000"/>
            </a:avLst>
          </a:prstGeom>
          <a:solidFill>
            <a:srgbClr val="FFF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írculo de ícono"/>
          <p:cNvSpPr/>
          <p:nvPr/>
        </p:nvSpPr>
        <p:spPr>
          <a:xfrm>
            <a:off x="731520" y="4114800"/>
            <a:ext cx="548640" cy="54864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64091"/>
              </a:solidFill>
            </a:endParaRPr>
          </a:p>
        </p:txBody>
      </p:sp>
      <p:sp>
        <p:nvSpPr>
          <p:cNvPr id="22" name="Texto"/>
          <p:cNvSpPr txBox="1"/>
          <p:nvPr/>
        </p:nvSpPr>
        <p:spPr>
          <a:xfrm>
            <a:off x="1417319" y="4114800"/>
            <a:ext cx="2569464" cy="548640"/>
          </a:xfrm>
          <a:prstGeom prst="rect">
            <a:avLst/>
          </a:prstGeom>
          <a:noFill/>
        </p:spPr>
        <p:txBody>
          <a:bodyPr wrap="square" lIns="0" tIns="0" rIns="0" bIns="0" anchor="ctr">
            <a:noAutofit/>
          </a:bodyPr>
          <a:lstStyle/>
          <a:p>
            <a:pPr algn="l"/>
            <a:r>
              <a:rPr sz="1700" b="1" i="0">
                <a:solidFill>
                  <a:srgbClr val="1B2A4A"/>
                </a:solidFill>
                <a:latin typeface="Calibri"/>
              </a:rPr>
              <a:t>CONPES 4144 de 2025</a:t>
            </a:r>
          </a:p>
        </p:txBody>
      </p:sp>
      <p:sp>
        <p:nvSpPr>
          <p:cNvPr id="23" name="Texto"/>
          <p:cNvSpPr txBox="1"/>
          <p:nvPr/>
        </p:nvSpPr>
        <p:spPr>
          <a:xfrm>
            <a:off x="731520" y="4846320"/>
            <a:ext cx="3209544" cy="502919"/>
          </a:xfrm>
          <a:prstGeom prst="rect">
            <a:avLst/>
          </a:prstGeom>
          <a:noFill/>
        </p:spPr>
        <p:txBody>
          <a:bodyPr wrap="square" lIns="0" tIns="0" rIns="0" bIns="0" anchor="t">
            <a:noAutofit/>
          </a:bodyPr>
          <a:lstStyle/>
          <a:p>
            <a:pPr algn="l"/>
            <a:r>
              <a:rPr sz="1500" b="0" i="0">
                <a:solidFill>
                  <a:srgbClr val="5B6472"/>
                </a:solidFill>
                <a:latin typeface="Calibri"/>
              </a:rPr>
              <a:t>Política Nacional de IA: 106 acciones y COP 479 mil millones hasta 2030</a:t>
            </a:r>
          </a:p>
        </p:txBody>
      </p:sp>
      <p:sp>
        <p:nvSpPr>
          <p:cNvPr id="24" name="Tarjeta"/>
          <p:cNvSpPr/>
          <p:nvPr/>
        </p:nvSpPr>
        <p:spPr>
          <a:xfrm>
            <a:off x="4306824" y="3931920"/>
            <a:ext cx="3575304" cy="1463039"/>
          </a:xfrm>
          <a:prstGeom prst="roundRect">
            <a:avLst>
              <a:gd name="adj" fmla="val 6000"/>
            </a:avLst>
          </a:prstGeom>
          <a:solidFill>
            <a:srgbClr val="FFF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írculo de ícono"/>
          <p:cNvSpPr/>
          <p:nvPr/>
        </p:nvSpPr>
        <p:spPr>
          <a:xfrm>
            <a:off x="4489704" y="4114800"/>
            <a:ext cx="548640" cy="54864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64091"/>
              </a:solidFill>
            </a:endParaRPr>
          </a:p>
        </p:txBody>
      </p:sp>
      <p:sp>
        <p:nvSpPr>
          <p:cNvPr id="27" name="Texto"/>
          <p:cNvSpPr txBox="1"/>
          <p:nvPr/>
        </p:nvSpPr>
        <p:spPr>
          <a:xfrm>
            <a:off x="5175504" y="4114800"/>
            <a:ext cx="2569464" cy="548640"/>
          </a:xfrm>
          <a:prstGeom prst="rect">
            <a:avLst/>
          </a:prstGeom>
          <a:noFill/>
        </p:spPr>
        <p:txBody>
          <a:bodyPr wrap="square" lIns="0" tIns="0" rIns="0" bIns="0" anchor="ctr">
            <a:noAutofit/>
          </a:bodyPr>
          <a:lstStyle/>
          <a:p>
            <a:pPr algn="l"/>
            <a:r>
              <a:rPr sz="1700" b="1" i="0">
                <a:solidFill>
                  <a:srgbClr val="1B2A4A"/>
                </a:solidFill>
                <a:latin typeface="Calibri"/>
              </a:rPr>
              <a:t>Acuerdo PCSJA24-12243</a:t>
            </a:r>
          </a:p>
        </p:txBody>
      </p:sp>
      <p:sp>
        <p:nvSpPr>
          <p:cNvPr id="28" name="Texto"/>
          <p:cNvSpPr txBox="1"/>
          <p:nvPr/>
        </p:nvSpPr>
        <p:spPr>
          <a:xfrm>
            <a:off x="4489704" y="4846320"/>
            <a:ext cx="3209544" cy="502919"/>
          </a:xfrm>
          <a:prstGeom prst="rect">
            <a:avLst/>
          </a:prstGeom>
          <a:noFill/>
        </p:spPr>
        <p:txBody>
          <a:bodyPr wrap="square" lIns="0" tIns="0" rIns="0" bIns="0" anchor="t">
            <a:noAutofit/>
          </a:bodyPr>
          <a:lstStyle/>
          <a:p>
            <a:pPr algn="l"/>
            <a:r>
              <a:rPr sz="1500" b="0" i="0">
                <a:solidFill>
                  <a:srgbClr val="5B6472"/>
                </a:solidFill>
                <a:latin typeface="Calibri"/>
              </a:rPr>
              <a:t>Reglas de uso de IA en la Rama Judicial: transparencia y supervisión humana</a:t>
            </a:r>
          </a:p>
        </p:txBody>
      </p:sp>
      <p:sp>
        <p:nvSpPr>
          <p:cNvPr id="29" name="Tarjeta"/>
          <p:cNvSpPr/>
          <p:nvPr/>
        </p:nvSpPr>
        <p:spPr>
          <a:xfrm>
            <a:off x="8065008" y="3931920"/>
            <a:ext cx="3575304" cy="1463039"/>
          </a:xfrm>
          <a:prstGeom prst="roundRect">
            <a:avLst>
              <a:gd name="adj" fmla="val 6000"/>
            </a:avLst>
          </a:prstGeom>
          <a:solidFill>
            <a:srgbClr val="FFF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írculo de ícono"/>
          <p:cNvSpPr/>
          <p:nvPr/>
        </p:nvSpPr>
        <p:spPr>
          <a:xfrm>
            <a:off x="8247888" y="4114800"/>
            <a:ext cx="548640" cy="54864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64091"/>
              </a:solidFill>
            </a:endParaRPr>
          </a:p>
        </p:txBody>
      </p:sp>
      <p:sp>
        <p:nvSpPr>
          <p:cNvPr id="32" name="Texto"/>
          <p:cNvSpPr txBox="1"/>
          <p:nvPr/>
        </p:nvSpPr>
        <p:spPr>
          <a:xfrm>
            <a:off x="8933688" y="4114800"/>
            <a:ext cx="2569464" cy="548640"/>
          </a:xfrm>
          <a:prstGeom prst="rect">
            <a:avLst/>
          </a:prstGeom>
          <a:noFill/>
        </p:spPr>
        <p:txBody>
          <a:bodyPr wrap="square" lIns="0" tIns="0" rIns="0" bIns="0" anchor="ctr">
            <a:noAutofit/>
          </a:bodyPr>
          <a:lstStyle/>
          <a:p>
            <a:pPr algn="l"/>
            <a:r>
              <a:rPr sz="1700" b="1" i="0">
                <a:solidFill>
                  <a:srgbClr val="1B2A4A"/>
                </a:solidFill>
                <a:latin typeface="Calibri"/>
              </a:rPr>
              <a:t>Proyectos de ley de IA</a:t>
            </a:r>
          </a:p>
        </p:txBody>
      </p:sp>
      <p:sp>
        <p:nvSpPr>
          <p:cNvPr id="33" name="Texto"/>
          <p:cNvSpPr txBox="1"/>
          <p:nvPr/>
        </p:nvSpPr>
        <p:spPr>
          <a:xfrm>
            <a:off x="8247888" y="4846320"/>
            <a:ext cx="3209544" cy="502919"/>
          </a:xfrm>
          <a:prstGeom prst="rect">
            <a:avLst/>
          </a:prstGeom>
          <a:noFill/>
        </p:spPr>
        <p:txBody>
          <a:bodyPr wrap="square" lIns="0" tIns="0" rIns="0" bIns="0" anchor="t">
            <a:noAutofit/>
          </a:bodyPr>
          <a:lstStyle/>
          <a:p>
            <a:pPr algn="l"/>
            <a:r>
              <a:rPr sz="1500" b="0" i="0">
                <a:solidFill>
                  <a:srgbClr val="5B6472"/>
                </a:solidFill>
                <a:latin typeface="Calibri"/>
              </a:rPr>
              <a:t>En trámite, enfoque por riesgo inspirado en la UE; aún no son obligatorios</a:t>
            </a:r>
          </a:p>
        </p:txBody>
      </p:sp>
      <p:sp>
        <p:nvSpPr>
          <p:cNvPr id="34"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Morado: obligaciones exigibles hoy. Ámbar: política pública, acuerdos y proyectos. Verifique el estado vigente.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Sentencia T-323/24: ocho principios, ocho controles</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CUMPLIMIENTO</a:t>
            </a:r>
          </a:p>
        </p:txBody>
      </p:sp>
      <p:sp>
        <p:nvSpPr>
          <p:cNvPr id="4" name="Tarjeta"/>
          <p:cNvSpPr/>
          <p:nvPr/>
        </p:nvSpPr>
        <p:spPr>
          <a:xfrm>
            <a:off x="548640"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Número 1"/>
          <p:cNvSpPr/>
          <p:nvPr/>
        </p:nvSpPr>
        <p:spPr>
          <a:xfrm>
            <a:off x="731520" y="246888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064091"/>
                </a:solidFill>
                <a:latin typeface="Calibri"/>
              </a:rPr>
              <a:t>1</a:t>
            </a:r>
          </a:p>
        </p:txBody>
      </p:sp>
      <p:sp>
        <p:nvSpPr>
          <p:cNvPr id="6" name="Texto"/>
          <p:cNvSpPr txBox="1"/>
          <p:nvPr/>
        </p:nvSpPr>
        <p:spPr>
          <a:xfrm>
            <a:off x="1325880" y="2468880"/>
            <a:ext cx="1721358" cy="457200"/>
          </a:xfrm>
          <a:prstGeom prst="rect">
            <a:avLst/>
          </a:prstGeom>
          <a:noFill/>
        </p:spPr>
        <p:txBody>
          <a:bodyPr wrap="square" lIns="0" tIns="0" rIns="0" bIns="0" anchor="ctr">
            <a:noAutofit/>
          </a:bodyPr>
          <a:lstStyle/>
          <a:p>
            <a:pPr algn="l"/>
            <a:r>
              <a:rPr sz="1600" b="1" i="0">
                <a:solidFill>
                  <a:srgbClr val="1B2A4A"/>
                </a:solidFill>
                <a:latin typeface="Calibri"/>
              </a:rPr>
              <a:t>Transparencia</a:t>
            </a:r>
          </a:p>
        </p:txBody>
      </p:sp>
      <p:sp>
        <p:nvSpPr>
          <p:cNvPr id="7" name="Texto"/>
          <p:cNvSpPr txBox="1"/>
          <p:nvPr/>
        </p:nvSpPr>
        <p:spPr>
          <a:xfrm>
            <a:off x="731520" y="3154680"/>
            <a:ext cx="2269998" cy="571500"/>
          </a:xfrm>
          <a:prstGeom prst="rect">
            <a:avLst/>
          </a:prstGeom>
          <a:noFill/>
        </p:spPr>
        <p:txBody>
          <a:bodyPr wrap="square" lIns="0" tIns="0" rIns="0" bIns="0" anchor="t">
            <a:noAutofit/>
          </a:bodyPr>
          <a:lstStyle/>
          <a:p>
            <a:pPr algn="l"/>
            <a:r>
              <a:rPr sz="1500" b="0" i="0">
                <a:solidFill>
                  <a:srgbClr val="5B6472"/>
                </a:solidFill>
                <a:latin typeface="Calibri"/>
              </a:rPr>
              <a:t>Divulgar el uso de IA y documentar el sistema</a:t>
            </a:r>
          </a:p>
        </p:txBody>
      </p:sp>
      <p:sp>
        <p:nvSpPr>
          <p:cNvPr id="8" name="Tarjeta"/>
          <p:cNvSpPr/>
          <p:nvPr/>
        </p:nvSpPr>
        <p:spPr>
          <a:xfrm>
            <a:off x="3367278"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Número 2"/>
          <p:cNvSpPr/>
          <p:nvPr/>
        </p:nvSpPr>
        <p:spPr>
          <a:xfrm>
            <a:off x="3550158" y="246888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064091"/>
                </a:solidFill>
                <a:latin typeface="Calibri"/>
              </a:rPr>
              <a:t>2</a:t>
            </a:r>
          </a:p>
        </p:txBody>
      </p:sp>
      <p:sp>
        <p:nvSpPr>
          <p:cNvPr id="10" name="Texto"/>
          <p:cNvSpPr txBox="1"/>
          <p:nvPr/>
        </p:nvSpPr>
        <p:spPr>
          <a:xfrm>
            <a:off x="4144518" y="2468880"/>
            <a:ext cx="1721358" cy="457200"/>
          </a:xfrm>
          <a:prstGeom prst="rect">
            <a:avLst/>
          </a:prstGeom>
          <a:noFill/>
        </p:spPr>
        <p:txBody>
          <a:bodyPr wrap="square" lIns="0" tIns="0" rIns="0" bIns="0" anchor="ctr">
            <a:noAutofit/>
          </a:bodyPr>
          <a:lstStyle/>
          <a:p>
            <a:pPr algn="l"/>
            <a:r>
              <a:rPr sz="1600" b="1" i="0">
                <a:solidFill>
                  <a:srgbClr val="1B2A4A"/>
                </a:solidFill>
                <a:latin typeface="Calibri"/>
              </a:rPr>
              <a:t>No discriminación</a:t>
            </a:r>
          </a:p>
        </p:txBody>
      </p:sp>
      <p:sp>
        <p:nvSpPr>
          <p:cNvPr id="11" name="Texto"/>
          <p:cNvSpPr txBox="1"/>
          <p:nvPr/>
        </p:nvSpPr>
        <p:spPr>
          <a:xfrm>
            <a:off x="3550158" y="3154680"/>
            <a:ext cx="2269998" cy="571500"/>
          </a:xfrm>
          <a:prstGeom prst="rect">
            <a:avLst/>
          </a:prstGeom>
          <a:noFill/>
        </p:spPr>
        <p:txBody>
          <a:bodyPr wrap="square" lIns="0" tIns="0" rIns="0" bIns="0" anchor="t">
            <a:noAutofit/>
          </a:bodyPr>
          <a:lstStyle/>
          <a:p>
            <a:pPr algn="l"/>
            <a:r>
              <a:rPr sz="1500" b="0" i="0">
                <a:solidFill>
                  <a:srgbClr val="5B6472"/>
                </a:solidFill>
                <a:latin typeface="Calibri"/>
              </a:rPr>
              <a:t>Pruebas de sesgo (Fairlearn)</a:t>
            </a:r>
          </a:p>
        </p:txBody>
      </p:sp>
      <p:sp>
        <p:nvSpPr>
          <p:cNvPr id="12" name="Tarjeta"/>
          <p:cNvSpPr/>
          <p:nvPr/>
        </p:nvSpPr>
        <p:spPr>
          <a:xfrm>
            <a:off x="6185916"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Número 3"/>
          <p:cNvSpPr/>
          <p:nvPr/>
        </p:nvSpPr>
        <p:spPr>
          <a:xfrm>
            <a:off x="6368796" y="246888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064091"/>
                </a:solidFill>
                <a:latin typeface="Calibri"/>
              </a:rPr>
              <a:t>3</a:t>
            </a:r>
          </a:p>
        </p:txBody>
      </p:sp>
      <p:sp>
        <p:nvSpPr>
          <p:cNvPr id="14" name="Texto"/>
          <p:cNvSpPr txBox="1"/>
          <p:nvPr/>
        </p:nvSpPr>
        <p:spPr>
          <a:xfrm>
            <a:off x="6963156" y="2468880"/>
            <a:ext cx="1721358" cy="457200"/>
          </a:xfrm>
          <a:prstGeom prst="rect">
            <a:avLst/>
          </a:prstGeom>
          <a:noFill/>
        </p:spPr>
        <p:txBody>
          <a:bodyPr wrap="square" lIns="0" tIns="0" rIns="0" bIns="0" anchor="ctr">
            <a:noAutofit/>
          </a:bodyPr>
          <a:lstStyle/>
          <a:p>
            <a:pPr algn="l"/>
            <a:r>
              <a:rPr sz="1600" b="1" i="0">
                <a:solidFill>
                  <a:srgbClr val="1B2A4A"/>
                </a:solidFill>
                <a:latin typeface="Calibri"/>
              </a:rPr>
              <a:t>Explicabilidad</a:t>
            </a:r>
          </a:p>
        </p:txBody>
      </p:sp>
      <p:sp>
        <p:nvSpPr>
          <p:cNvPr id="15" name="Texto"/>
          <p:cNvSpPr txBox="1"/>
          <p:nvPr/>
        </p:nvSpPr>
        <p:spPr>
          <a:xfrm>
            <a:off x="6368796" y="3154680"/>
            <a:ext cx="2269998" cy="571500"/>
          </a:xfrm>
          <a:prstGeom prst="rect">
            <a:avLst/>
          </a:prstGeom>
          <a:noFill/>
        </p:spPr>
        <p:txBody>
          <a:bodyPr wrap="square" lIns="0" tIns="0" rIns="0" bIns="0" anchor="t">
            <a:noAutofit/>
          </a:bodyPr>
          <a:lstStyle/>
          <a:p>
            <a:pPr algn="l"/>
            <a:r>
              <a:rPr sz="1500" b="0" i="0">
                <a:solidFill>
                  <a:srgbClr val="5B6472"/>
                </a:solidFill>
                <a:latin typeface="Calibri"/>
              </a:rPr>
              <a:t>Fichas de modelo y explicaciones (SHAP)</a:t>
            </a:r>
          </a:p>
        </p:txBody>
      </p:sp>
      <p:sp>
        <p:nvSpPr>
          <p:cNvPr id="16" name="Tarjeta"/>
          <p:cNvSpPr/>
          <p:nvPr/>
        </p:nvSpPr>
        <p:spPr>
          <a:xfrm>
            <a:off x="9004554" y="228600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úmero 4"/>
          <p:cNvSpPr/>
          <p:nvPr/>
        </p:nvSpPr>
        <p:spPr>
          <a:xfrm>
            <a:off x="9187434" y="246888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064091"/>
                </a:solidFill>
                <a:latin typeface="Calibri"/>
              </a:rPr>
              <a:t>4</a:t>
            </a:r>
          </a:p>
        </p:txBody>
      </p:sp>
      <p:sp>
        <p:nvSpPr>
          <p:cNvPr id="18" name="Texto"/>
          <p:cNvSpPr txBox="1"/>
          <p:nvPr/>
        </p:nvSpPr>
        <p:spPr>
          <a:xfrm>
            <a:off x="9781794" y="2468880"/>
            <a:ext cx="1721358" cy="457200"/>
          </a:xfrm>
          <a:prstGeom prst="rect">
            <a:avLst/>
          </a:prstGeom>
          <a:noFill/>
        </p:spPr>
        <p:txBody>
          <a:bodyPr wrap="square" lIns="0" tIns="0" rIns="0" bIns="0" anchor="ctr">
            <a:noAutofit/>
          </a:bodyPr>
          <a:lstStyle/>
          <a:p>
            <a:pPr algn="l"/>
            <a:r>
              <a:rPr sz="1600" b="1" i="0">
                <a:solidFill>
                  <a:srgbClr val="1B2A4A"/>
                </a:solidFill>
                <a:latin typeface="Calibri"/>
              </a:rPr>
              <a:t>Supervisión humana</a:t>
            </a:r>
          </a:p>
        </p:txBody>
      </p:sp>
      <p:sp>
        <p:nvSpPr>
          <p:cNvPr id="19" name="Texto"/>
          <p:cNvSpPr txBox="1"/>
          <p:nvPr/>
        </p:nvSpPr>
        <p:spPr>
          <a:xfrm>
            <a:off x="9187434" y="3154680"/>
            <a:ext cx="2269998" cy="571500"/>
          </a:xfrm>
          <a:prstGeom prst="rect">
            <a:avLst/>
          </a:prstGeom>
          <a:noFill/>
        </p:spPr>
        <p:txBody>
          <a:bodyPr wrap="square" lIns="0" tIns="0" rIns="0" bIns="0" anchor="t">
            <a:noAutofit/>
          </a:bodyPr>
          <a:lstStyle/>
          <a:p>
            <a:pPr algn="l"/>
            <a:r>
              <a:rPr sz="1500" b="0" i="0">
                <a:solidFill>
                  <a:srgbClr val="5B6472"/>
                </a:solidFill>
                <a:latin typeface="Calibri"/>
              </a:rPr>
              <a:t>Revisión humana y capacidad de apagado</a:t>
            </a:r>
          </a:p>
        </p:txBody>
      </p:sp>
      <p:sp>
        <p:nvSpPr>
          <p:cNvPr id="20" name="Tarjeta"/>
          <p:cNvSpPr/>
          <p:nvPr/>
        </p:nvSpPr>
        <p:spPr>
          <a:xfrm>
            <a:off x="548640"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úmero 5"/>
          <p:cNvSpPr/>
          <p:nvPr/>
        </p:nvSpPr>
        <p:spPr>
          <a:xfrm>
            <a:off x="731520" y="413766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064091"/>
                </a:solidFill>
                <a:latin typeface="Calibri"/>
              </a:rPr>
              <a:t>5</a:t>
            </a:r>
          </a:p>
        </p:txBody>
      </p:sp>
      <p:sp>
        <p:nvSpPr>
          <p:cNvPr id="22" name="Texto"/>
          <p:cNvSpPr txBox="1"/>
          <p:nvPr/>
        </p:nvSpPr>
        <p:spPr>
          <a:xfrm>
            <a:off x="1325880" y="4137660"/>
            <a:ext cx="1721358" cy="457200"/>
          </a:xfrm>
          <a:prstGeom prst="rect">
            <a:avLst/>
          </a:prstGeom>
          <a:noFill/>
        </p:spPr>
        <p:txBody>
          <a:bodyPr wrap="square" lIns="0" tIns="0" rIns="0" bIns="0" anchor="ctr">
            <a:noAutofit/>
          </a:bodyPr>
          <a:lstStyle/>
          <a:p>
            <a:pPr algn="l"/>
            <a:r>
              <a:rPr sz="1600" b="1" i="0">
                <a:solidFill>
                  <a:srgbClr val="1B2A4A"/>
                </a:solidFill>
                <a:latin typeface="Calibri"/>
              </a:rPr>
              <a:t>Privacidad y datos</a:t>
            </a:r>
          </a:p>
        </p:txBody>
      </p:sp>
      <p:sp>
        <p:nvSpPr>
          <p:cNvPr id="23" name="Texto"/>
          <p:cNvSpPr txBox="1"/>
          <p:nvPr/>
        </p:nvSpPr>
        <p:spPr>
          <a:xfrm>
            <a:off x="731520" y="4823460"/>
            <a:ext cx="2269998" cy="571500"/>
          </a:xfrm>
          <a:prstGeom prst="rect">
            <a:avLst/>
          </a:prstGeom>
          <a:noFill/>
        </p:spPr>
        <p:txBody>
          <a:bodyPr wrap="square" lIns="0" tIns="0" rIns="0" bIns="0" anchor="t">
            <a:noAutofit/>
          </a:bodyPr>
          <a:lstStyle/>
          <a:p>
            <a:pPr algn="l"/>
            <a:r>
              <a:rPr sz="1500" b="0" i="0">
                <a:solidFill>
                  <a:srgbClr val="5B6472"/>
                </a:solidFill>
                <a:latin typeface="Calibri"/>
              </a:rPr>
              <a:t>Protección de datos, RBAC y cifrado</a:t>
            </a:r>
          </a:p>
        </p:txBody>
      </p:sp>
      <p:sp>
        <p:nvSpPr>
          <p:cNvPr id="24" name="Tarjeta"/>
          <p:cNvSpPr/>
          <p:nvPr/>
        </p:nvSpPr>
        <p:spPr>
          <a:xfrm>
            <a:off x="3367278"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Número 6"/>
          <p:cNvSpPr/>
          <p:nvPr/>
        </p:nvSpPr>
        <p:spPr>
          <a:xfrm>
            <a:off x="3550158" y="413766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064091"/>
                </a:solidFill>
                <a:latin typeface="Calibri"/>
              </a:rPr>
              <a:t>6</a:t>
            </a:r>
          </a:p>
        </p:txBody>
      </p:sp>
      <p:sp>
        <p:nvSpPr>
          <p:cNvPr id="26" name="Texto"/>
          <p:cNvSpPr txBox="1"/>
          <p:nvPr/>
        </p:nvSpPr>
        <p:spPr>
          <a:xfrm>
            <a:off x="4144518" y="4137660"/>
            <a:ext cx="1721358" cy="457200"/>
          </a:xfrm>
          <a:prstGeom prst="rect">
            <a:avLst/>
          </a:prstGeom>
          <a:noFill/>
        </p:spPr>
        <p:txBody>
          <a:bodyPr wrap="square" lIns="0" tIns="0" rIns="0" bIns="0" anchor="ctr">
            <a:noAutofit/>
          </a:bodyPr>
          <a:lstStyle/>
          <a:p>
            <a:pPr algn="l"/>
            <a:r>
              <a:rPr sz="1600" b="1" i="0">
                <a:solidFill>
                  <a:srgbClr val="1B2A4A"/>
                </a:solidFill>
                <a:latin typeface="Calibri"/>
              </a:rPr>
              <a:t>Seguridad y solidez</a:t>
            </a:r>
          </a:p>
        </p:txBody>
      </p:sp>
      <p:sp>
        <p:nvSpPr>
          <p:cNvPr id="27" name="Texto"/>
          <p:cNvSpPr txBox="1"/>
          <p:nvPr/>
        </p:nvSpPr>
        <p:spPr>
          <a:xfrm>
            <a:off x="3550158" y="4823460"/>
            <a:ext cx="2269998" cy="571500"/>
          </a:xfrm>
          <a:prstGeom prst="rect">
            <a:avLst/>
          </a:prstGeom>
          <a:noFill/>
        </p:spPr>
        <p:txBody>
          <a:bodyPr wrap="square" lIns="0" tIns="0" rIns="0" bIns="0" anchor="t">
            <a:noAutofit/>
          </a:bodyPr>
          <a:lstStyle/>
          <a:p>
            <a:pPr algn="l"/>
            <a:r>
              <a:rPr sz="1500" b="0" i="0">
                <a:solidFill>
                  <a:srgbClr val="5B6472"/>
                </a:solidFill>
                <a:latin typeface="Calibri"/>
              </a:rPr>
              <a:t>Pruebas de robustez y segmentación</a:t>
            </a:r>
          </a:p>
        </p:txBody>
      </p:sp>
      <p:sp>
        <p:nvSpPr>
          <p:cNvPr id="28" name="Tarjeta"/>
          <p:cNvSpPr/>
          <p:nvPr/>
        </p:nvSpPr>
        <p:spPr>
          <a:xfrm>
            <a:off x="6185916"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úmero 7"/>
          <p:cNvSpPr/>
          <p:nvPr/>
        </p:nvSpPr>
        <p:spPr>
          <a:xfrm>
            <a:off x="6368796" y="413766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064091"/>
                </a:solidFill>
                <a:latin typeface="Calibri"/>
              </a:rPr>
              <a:t>7</a:t>
            </a:r>
          </a:p>
        </p:txBody>
      </p:sp>
      <p:sp>
        <p:nvSpPr>
          <p:cNvPr id="30" name="Texto"/>
          <p:cNvSpPr txBox="1"/>
          <p:nvPr/>
        </p:nvSpPr>
        <p:spPr>
          <a:xfrm>
            <a:off x="6963156" y="4137660"/>
            <a:ext cx="1721358" cy="457200"/>
          </a:xfrm>
          <a:prstGeom prst="rect">
            <a:avLst/>
          </a:prstGeom>
          <a:noFill/>
        </p:spPr>
        <p:txBody>
          <a:bodyPr wrap="square" lIns="0" tIns="0" rIns="0" bIns="0" anchor="ctr">
            <a:noAutofit/>
          </a:bodyPr>
          <a:lstStyle/>
          <a:p>
            <a:pPr algn="l"/>
            <a:r>
              <a:rPr sz="1600" b="1" i="0">
                <a:solidFill>
                  <a:srgbClr val="1B2A4A"/>
                </a:solidFill>
                <a:latin typeface="Calibri"/>
              </a:rPr>
              <a:t>Trazabilidad</a:t>
            </a:r>
          </a:p>
        </p:txBody>
      </p:sp>
      <p:sp>
        <p:nvSpPr>
          <p:cNvPr id="31" name="Texto"/>
          <p:cNvSpPr txBox="1"/>
          <p:nvPr/>
        </p:nvSpPr>
        <p:spPr>
          <a:xfrm>
            <a:off x="6368796" y="4823460"/>
            <a:ext cx="2269998" cy="571500"/>
          </a:xfrm>
          <a:prstGeom prst="rect">
            <a:avLst/>
          </a:prstGeom>
          <a:noFill/>
        </p:spPr>
        <p:txBody>
          <a:bodyPr wrap="square" lIns="0" tIns="0" rIns="0" bIns="0" anchor="t">
            <a:noAutofit/>
          </a:bodyPr>
          <a:lstStyle/>
          <a:p>
            <a:pPr algn="l"/>
            <a:r>
              <a:rPr sz="1500" b="0" i="0">
                <a:solidFill>
                  <a:srgbClr val="5B6472"/>
                </a:solidFill>
                <a:latin typeface="Calibri"/>
              </a:rPr>
              <a:t>Registros y versiones (GitHub, DVC, MLflow)</a:t>
            </a:r>
          </a:p>
        </p:txBody>
      </p:sp>
      <p:sp>
        <p:nvSpPr>
          <p:cNvPr id="32" name="Tarjeta"/>
          <p:cNvSpPr/>
          <p:nvPr/>
        </p:nvSpPr>
        <p:spPr>
          <a:xfrm>
            <a:off x="9004554" y="3954780"/>
            <a:ext cx="2635758" cy="148590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Número 8"/>
          <p:cNvSpPr/>
          <p:nvPr/>
        </p:nvSpPr>
        <p:spPr>
          <a:xfrm>
            <a:off x="9187434" y="4137660"/>
            <a:ext cx="457200" cy="45720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064091"/>
                </a:solidFill>
                <a:latin typeface="Calibri"/>
              </a:rPr>
              <a:t>8</a:t>
            </a:r>
          </a:p>
        </p:txBody>
      </p:sp>
      <p:sp>
        <p:nvSpPr>
          <p:cNvPr id="34" name="Texto"/>
          <p:cNvSpPr txBox="1"/>
          <p:nvPr/>
        </p:nvSpPr>
        <p:spPr>
          <a:xfrm>
            <a:off x="9781794" y="4137660"/>
            <a:ext cx="1721358" cy="457200"/>
          </a:xfrm>
          <a:prstGeom prst="rect">
            <a:avLst/>
          </a:prstGeom>
          <a:noFill/>
        </p:spPr>
        <p:txBody>
          <a:bodyPr wrap="square" lIns="0" tIns="0" rIns="0" bIns="0" anchor="ctr">
            <a:noAutofit/>
          </a:bodyPr>
          <a:lstStyle/>
          <a:p>
            <a:pPr algn="l"/>
            <a:r>
              <a:rPr sz="1600" b="1" i="0">
                <a:solidFill>
                  <a:srgbClr val="1B2A4A"/>
                </a:solidFill>
                <a:latin typeface="Calibri"/>
              </a:rPr>
              <a:t>Rendición de cuentas</a:t>
            </a:r>
          </a:p>
        </p:txBody>
      </p:sp>
      <p:sp>
        <p:nvSpPr>
          <p:cNvPr id="35" name="Texto"/>
          <p:cNvSpPr txBox="1"/>
          <p:nvPr/>
        </p:nvSpPr>
        <p:spPr>
          <a:xfrm>
            <a:off x="9187434" y="4823460"/>
            <a:ext cx="2269998" cy="571500"/>
          </a:xfrm>
          <a:prstGeom prst="rect">
            <a:avLst/>
          </a:prstGeom>
          <a:noFill/>
        </p:spPr>
        <p:txBody>
          <a:bodyPr wrap="square" lIns="0" tIns="0" rIns="0" bIns="0" anchor="t">
            <a:noAutofit/>
          </a:bodyPr>
          <a:lstStyle/>
          <a:p>
            <a:pPr algn="l"/>
            <a:r>
              <a:rPr sz="1500" b="0" i="0">
                <a:solidFill>
                  <a:srgbClr val="5B6472"/>
                </a:solidFill>
                <a:latin typeface="Calibri"/>
              </a:rPr>
              <a:t>Roles, aprobaciones y auditoría</a:t>
            </a:r>
          </a:p>
        </p:txBody>
      </p:sp>
      <p:sp>
        <p:nvSpPr>
          <p:cNvPr id="36"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Conexión: explicabilidad, registro y gestión de incidentes se alinean con los controles de ISO/IEC 42001.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Matriz integrada de cumplimiento</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SÍNTESIS</a:t>
            </a:r>
          </a:p>
        </p:txBody>
      </p:sp>
      <p:graphicFrame>
        <p:nvGraphicFramePr>
          <p:cNvPr id="4" name="Tabla"/>
          <p:cNvGraphicFramePr>
            <a:graphicFrameLocks noGrp="1"/>
          </p:cNvGraphicFramePr>
          <p:nvPr>
            <p:extLst>
              <p:ext uri="{D42A27DB-BD31-4B8C-83A1-F6EECF244321}">
                <p14:modId xmlns:p14="http://schemas.microsoft.com/office/powerpoint/2010/main" val="1812733356"/>
              </p:ext>
            </p:extLst>
          </p:nvPr>
        </p:nvGraphicFramePr>
        <p:xfrm>
          <a:off x="548640" y="2286000"/>
          <a:ext cx="11091671" cy="2990088"/>
        </p:xfrm>
        <a:graphic>
          <a:graphicData uri="http://schemas.openxmlformats.org/drawingml/2006/table">
            <a:tbl>
              <a:tblPr firstRow="1">
                <a:tableStyleId>{F5AB1C69-6EDB-4FF4-983F-18BD219EF322}</a:tableStyleId>
              </a:tblPr>
              <a:tblGrid>
                <a:gridCol w="1191667">
                  <a:extLst>
                    <a:ext uri="{9D8B030D-6E8A-4147-A177-3AD203B41FA5}">
                      <a16:colId xmlns:a16="http://schemas.microsoft.com/office/drawing/2014/main" val="20000"/>
                    </a:ext>
                  </a:extLst>
                </a:gridCol>
                <a:gridCol w="2475001">
                  <a:extLst>
                    <a:ext uri="{9D8B030D-6E8A-4147-A177-3AD203B41FA5}">
                      <a16:colId xmlns:a16="http://schemas.microsoft.com/office/drawing/2014/main" val="20001"/>
                    </a:ext>
                  </a:extLst>
                </a:gridCol>
                <a:gridCol w="2200001">
                  <a:extLst>
                    <a:ext uri="{9D8B030D-6E8A-4147-A177-3AD203B41FA5}">
                      <a16:colId xmlns:a16="http://schemas.microsoft.com/office/drawing/2014/main" val="20002"/>
                    </a:ext>
                  </a:extLst>
                </a:gridCol>
                <a:gridCol w="2383334">
                  <a:extLst>
                    <a:ext uri="{9D8B030D-6E8A-4147-A177-3AD203B41FA5}">
                      <a16:colId xmlns:a16="http://schemas.microsoft.com/office/drawing/2014/main" val="20003"/>
                    </a:ext>
                  </a:extLst>
                </a:gridCol>
                <a:gridCol w="2841668">
                  <a:extLst>
                    <a:ext uri="{9D8B030D-6E8A-4147-A177-3AD203B41FA5}">
                      <a16:colId xmlns:a16="http://schemas.microsoft.com/office/drawing/2014/main" val="20004"/>
                    </a:ext>
                  </a:extLst>
                </a:gridCol>
              </a:tblGrid>
              <a:tr h="384048">
                <a:tc>
                  <a:txBody>
                    <a:bodyPr/>
                    <a:lstStyle/>
                    <a:p>
                      <a:r>
                        <a:rPr sz="1400" b="1">
                          <a:solidFill>
                            <a:srgbClr val="FFFFFF"/>
                          </a:solidFill>
                        </a:rPr>
                        <a:t>Fase</a:t>
                      </a:r>
                      <a:endParaRPr sz="1400" b="1">
                        <a:solidFill>
                          <a:srgbClr val="FFFFFF"/>
                        </a:solidFill>
                        <a:latin typeface="Calibri"/>
                      </a:endParaRPr>
                    </a:p>
                  </a:txBody>
                  <a:tcPr marL="73152" marR="73152" marT="27432" marB="27432" anchor="ctr"/>
                </a:tc>
                <a:tc>
                  <a:txBody>
                    <a:bodyPr/>
                    <a:lstStyle/>
                    <a:p>
                      <a:r>
                        <a:rPr sz="1400" b="1">
                          <a:solidFill>
                            <a:srgbClr val="FFFFFF"/>
                          </a:solidFill>
                        </a:rPr>
                        <a:t>EU AI Act</a:t>
                      </a:r>
                      <a:endParaRPr sz="1400" b="1">
                        <a:solidFill>
                          <a:srgbClr val="FFFFFF"/>
                        </a:solidFill>
                        <a:latin typeface="Calibri"/>
                      </a:endParaRPr>
                    </a:p>
                  </a:txBody>
                  <a:tcPr marL="73152" marR="73152" marT="27432" marB="27432" anchor="ctr"/>
                </a:tc>
                <a:tc>
                  <a:txBody>
                    <a:bodyPr/>
                    <a:lstStyle/>
                    <a:p>
                      <a:r>
                        <a:rPr sz="1400" b="1">
                          <a:solidFill>
                            <a:srgbClr val="FFFFFF"/>
                          </a:solidFill>
                        </a:rPr>
                        <a:t>ISO/IEC 42001</a:t>
                      </a:r>
                      <a:endParaRPr sz="1400" b="1">
                        <a:solidFill>
                          <a:srgbClr val="FFFFFF"/>
                        </a:solidFill>
                        <a:latin typeface="Calibri"/>
                      </a:endParaRPr>
                    </a:p>
                  </a:txBody>
                  <a:tcPr marL="73152" marR="73152" marT="27432" marB="27432" anchor="ctr"/>
                </a:tc>
                <a:tc>
                  <a:txBody>
                    <a:bodyPr/>
                    <a:lstStyle/>
                    <a:p>
                      <a:r>
                        <a:rPr sz="1400" b="1">
                          <a:solidFill>
                            <a:srgbClr val="FFFFFF"/>
                          </a:solidFill>
                        </a:rPr>
                        <a:t>Colombia</a:t>
                      </a:r>
                      <a:endParaRPr sz="1400" b="1">
                        <a:solidFill>
                          <a:srgbClr val="FFFFFF"/>
                        </a:solidFill>
                        <a:latin typeface="Calibri"/>
                      </a:endParaRPr>
                    </a:p>
                  </a:txBody>
                  <a:tcPr marL="73152" marR="73152" marT="27432" marB="27432" anchor="ctr"/>
                </a:tc>
                <a:tc>
                  <a:txBody>
                    <a:bodyPr/>
                    <a:lstStyle/>
                    <a:p>
                      <a:r>
                        <a:rPr sz="1400" b="1">
                          <a:solidFill>
                            <a:srgbClr val="FFFFFF"/>
                          </a:solidFill>
                        </a:rPr>
                        <a:t>Evidencia y herramientas</a:t>
                      </a:r>
                      <a:endParaRPr sz="1400" b="1">
                        <a:solidFill>
                          <a:srgbClr val="FFFFFF"/>
                        </a:solidFill>
                        <a:latin typeface="Calibri"/>
                      </a:endParaRPr>
                    </a:p>
                  </a:txBody>
                  <a:tcPr marL="73152" marR="73152" marT="27432" marB="27432" anchor="ctr"/>
                </a:tc>
                <a:extLst>
                  <a:ext uri="{0D108BD9-81ED-4DB2-BD59-A6C34878D82A}">
                    <a16:rowId xmlns:a16="http://schemas.microsoft.com/office/drawing/2014/main" val="10000"/>
                  </a:ext>
                </a:extLst>
              </a:tr>
              <a:tr h="868680">
                <a:tc>
                  <a:txBody>
                    <a:bodyPr/>
                    <a:lstStyle/>
                    <a:p>
                      <a:r>
                        <a:rPr sz="1400" b="1">
                          <a:solidFill>
                            <a:srgbClr val="1B2A4A"/>
                          </a:solidFill>
                        </a:rPr>
                        <a:t>Datos</a:t>
                      </a:r>
                      <a:endParaRPr sz="1400" b="1">
                        <a:solidFill>
                          <a:srgbClr val="1B2A4A"/>
                        </a:solidFill>
                        <a:latin typeface="Calibri"/>
                      </a:endParaRPr>
                    </a:p>
                  </a:txBody>
                  <a:tcPr marL="73152" marR="73152" marT="27432" marB="27432" anchor="ctr"/>
                </a:tc>
                <a:tc>
                  <a:txBody>
                    <a:bodyPr/>
                    <a:lstStyle/>
                    <a:p>
                      <a:r>
                        <a:rPr sz="1400" b="0">
                          <a:solidFill>
                            <a:srgbClr val="1B2A4A"/>
                          </a:solidFill>
                        </a:rPr>
                        <a:t>Art. 10: calidad y sesgos</a:t>
                      </a:r>
                      <a:endParaRPr sz="1400" b="0">
                        <a:solidFill>
                          <a:srgbClr val="1B2A4A"/>
                        </a:solidFill>
                        <a:latin typeface="Calibri"/>
                      </a:endParaRPr>
                    </a:p>
                  </a:txBody>
                  <a:tcPr marL="73152" marR="73152" marT="27432" marB="27432" anchor="ctr"/>
                </a:tc>
                <a:tc>
                  <a:txBody>
                    <a:bodyPr/>
                    <a:lstStyle/>
                    <a:p>
                      <a:r>
                        <a:rPr sz="1400" b="0">
                          <a:solidFill>
                            <a:srgbClr val="1B2A4A"/>
                          </a:solidFill>
                        </a:rPr>
                        <a:t>A.7: procedencia y calidad</a:t>
                      </a:r>
                      <a:endParaRPr sz="1400" b="0">
                        <a:solidFill>
                          <a:srgbClr val="1B2A4A"/>
                        </a:solidFill>
                        <a:latin typeface="Calibri"/>
                      </a:endParaRPr>
                    </a:p>
                  </a:txBody>
                  <a:tcPr marL="73152" marR="73152" marT="27432" marB="27432" anchor="ctr"/>
                </a:tc>
                <a:tc>
                  <a:txBody>
                    <a:bodyPr/>
                    <a:lstStyle/>
                    <a:p>
                      <a:r>
                        <a:rPr sz="1400" b="0">
                          <a:solidFill>
                            <a:srgbClr val="1B2A4A"/>
                          </a:solidFill>
                        </a:rPr>
                        <a:t>Ley 1581 y Circular SIC 002/2024</a:t>
                      </a:r>
                      <a:endParaRPr sz="1400" b="0">
                        <a:solidFill>
                          <a:srgbClr val="1B2A4A"/>
                        </a:solidFill>
                        <a:latin typeface="Calibri"/>
                      </a:endParaRPr>
                    </a:p>
                  </a:txBody>
                  <a:tcPr marL="73152" marR="73152" marT="27432" marB="27432" anchor="ctr"/>
                </a:tc>
                <a:tc>
                  <a:txBody>
                    <a:bodyPr/>
                    <a:lstStyle/>
                    <a:p>
                      <a:r>
                        <a:rPr sz="1400" b="0">
                          <a:solidFill>
                            <a:srgbClr val="1B2A4A"/>
                          </a:solidFill>
                        </a:rPr>
                        <a:t>DVC, Great Expectations, RBAC</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1"/>
                  </a:ext>
                </a:extLst>
              </a:tr>
              <a:tr h="868680">
                <a:tc>
                  <a:txBody>
                    <a:bodyPr/>
                    <a:lstStyle/>
                    <a:p>
                      <a:r>
                        <a:rPr sz="1400" b="1">
                          <a:solidFill>
                            <a:srgbClr val="1B2A4A"/>
                          </a:solidFill>
                        </a:rPr>
                        <a:t>Modelo</a:t>
                      </a:r>
                      <a:endParaRPr sz="1400" b="1">
                        <a:solidFill>
                          <a:srgbClr val="1B2A4A"/>
                        </a:solidFill>
                        <a:latin typeface="Calibri"/>
                      </a:endParaRPr>
                    </a:p>
                  </a:txBody>
                  <a:tcPr marL="73152" marR="73152" marT="27432" marB="27432" anchor="ctr"/>
                </a:tc>
                <a:tc>
                  <a:txBody>
                    <a:bodyPr/>
                    <a:lstStyle/>
                    <a:p>
                      <a:r>
                        <a:rPr sz="1400" b="0">
                          <a:solidFill>
                            <a:srgbClr val="1B2A4A"/>
                          </a:solidFill>
                        </a:rPr>
                        <a:t>Arts. 9, 11 y 15: riesgos, documentación, robustez</a:t>
                      </a:r>
                      <a:endParaRPr sz="1400" b="0">
                        <a:solidFill>
                          <a:srgbClr val="1B2A4A"/>
                        </a:solidFill>
                        <a:latin typeface="Calibri"/>
                      </a:endParaRPr>
                    </a:p>
                  </a:txBody>
                  <a:tcPr marL="73152" marR="73152" marT="27432" marB="27432" anchor="ctr"/>
                </a:tc>
                <a:tc>
                  <a:txBody>
                    <a:bodyPr/>
                    <a:lstStyle/>
                    <a:p>
                      <a:r>
                        <a:rPr sz="1400" b="0">
                          <a:solidFill>
                            <a:srgbClr val="1B2A4A"/>
                          </a:solidFill>
                        </a:rPr>
                        <a:t>A.5 y A.6: impacto y ciclo de vida</a:t>
                      </a:r>
                      <a:endParaRPr sz="1400" b="0">
                        <a:solidFill>
                          <a:srgbClr val="1B2A4A"/>
                        </a:solidFill>
                        <a:latin typeface="Calibri"/>
                      </a:endParaRPr>
                    </a:p>
                  </a:txBody>
                  <a:tcPr marL="73152" marR="73152" marT="27432" marB="27432" anchor="ctr"/>
                </a:tc>
                <a:tc>
                  <a:txBody>
                    <a:bodyPr/>
                    <a:lstStyle/>
                    <a:p>
                      <a:r>
                        <a:rPr sz="1400" b="0">
                          <a:solidFill>
                            <a:srgbClr val="1B2A4A"/>
                          </a:solidFill>
                        </a:rPr>
                        <a:t>T-323: no discriminación y explicabilidad</a:t>
                      </a:r>
                      <a:endParaRPr sz="1400" b="0">
                        <a:solidFill>
                          <a:srgbClr val="1B2A4A"/>
                        </a:solidFill>
                        <a:latin typeface="Calibri"/>
                      </a:endParaRPr>
                    </a:p>
                  </a:txBody>
                  <a:tcPr marL="73152" marR="73152" marT="27432" marB="27432" anchor="ctr"/>
                </a:tc>
                <a:tc>
                  <a:txBody>
                    <a:bodyPr/>
                    <a:lstStyle/>
                    <a:p>
                      <a:r>
                        <a:rPr sz="1400" b="0">
                          <a:solidFill>
                            <a:srgbClr val="1B2A4A"/>
                          </a:solidFill>
                        </a:rPr>
                        <a:t>MLflow, SHAP, Fairlearn, fichas de modelo</a:t>
                      </a:r>
                      <a:endParaRPr sz="1400" b="0">
                        <a:solidFill>
                          <a:srgbClr val="1B2A4A"/>
                        </a:solidFill>
                        <a:latin typeface="Calibri"/>
                      </a:endParaRPr>
                    </a:p>
                  </a:txBody>
                  <a:tcPr marL="73152" marR="73152" marT="27432" marB="27432" anchor="ctr"/>
                </a:tc>
                <a:extLst>
                  <a:ext uri="{0D108BD9-81ED-4DB2-BD59-A6C34878D82A}">
                    <a16:rowId xmlns:a16="http://schemas.microsoft.com/office/drawing/2014/main" val="10002"/>
                  </a:ext>
                </a:extLst>
              </a:tr>
              <a:tr h="868680">
                <a:tc>
                  <a:txBody>
                    <a:bodyPr/>
                    <a:lstStyle/>
                    <a:p>
                      <a:r>
                        <a:rPr sz="1400" b="1">
                          <a:solidFill>
                            <a:srgbClr val="1B2A4A"/>
                          </a:solidFill>
                        </a:rPr>
                        <a:t>Despliegue</a:t>
                      </a:r>
                      <a:endParaRPr sz="1400" b="1">
                        <a:solidFill>
                          <a:srgbClr val="1B2A4A"/>
                        </a:solidFill>
                        <a:latin typeface="Calibri"/>
                      </a:endParaRPr>
                    </a:p>
                  </a:txBody>
                  <a:tcPr marL="73152" marR="73152" marT="27432" marB="27432" anchor="ctr"/>
                </a:tc>
                <a:tc>
                  <a:txBody>
                    <a:bodyPr/>
                    <a:lstStyle/>
                    <a:p>
                      <a:r>
                        <a:rPr sz="1400" b="0">
                          <a:solidFill>
                            <a:srgbClr val="1B2A4A"/>
                          </a:solidFill>
                        </a:rPr>
                        <a:t>Arts. 12 y 14: registro y supervisión humana</a:t>
                      </a:r>
                      <a:endParaRPr sz="1400" b="0">
                        <a:solidFill>
                          <a:srgbClr val="1B2A4A"/>
                        </a:solidFill>
                        <a:latin typeface="Calibri"/>
                      </a:endParaRPr>
                    </a:p>
                  </a:txBody>
                  <a:tcPr marL="73152" marR="73152" marT="27432" marB="27432" anchor="ctr"/>
                </a:tc>
                <a:tc>
                  <a:txBody>
                    <a:bodyPr/>
                    <a:lstStyle/>
                    <a:p>
                      <a:r>
                        <a:rPr sz="1400" b="0">
                          <a:solidFill>
                            <a:srgbClr val="1B2A4A"/>
                          </a:solidFill>
                        </a:rPr>
                        <a:t>A.9 y cl. 9: uso y auditoría</a:t>
                      </a:r>
                      <a:endParaRPr sz="1400" b="0">
                        <a:solidFill>
                          <a:srgbClr val="1B2A4A"/>
                        </a:solidFill>
                        <a:latin typeface="Calibri"/>
                      </a:endParaRPr>
                    </a:p>
                  </a:txBody>
                  <a:tcPr marL="73152" marR="73152" marT="27432" marB="27432" anchor="ctr"/>
                </a:tc>
                <a:tc>
                  <a:txBody>
                    <a:bodyPr/>
                    <a:lstStyle/>
                    <a:p>
                      <a:r>
                        <a:rPr sz="1400" b="0">
                          <a:solidFill>
                            <a:srgbClr val="1B2A4A"/>
                          </a:solidFill>
                        </a:rPr>
                        <a:t>T-323: trazabilidad y rendición de cuentas</a:t>
                      </a:r>
                      <a:endParaRPr sz="1400" b="0">
                        <a:solidFill>
                          <a:srgbClr val="1B2A4A"/>
                        </a:solidFill>
                        <a:latin typeface="Calibri"/>
                      </a:endParaRPr>
                    </a:p>
                  </a:txBody>
                  <a:tcPr marL="73152" marR="73152" marT="27432" marB="27432" anchor="ctr"/>
                </a:tc>
                <a:tc>
                  <a:txBody>
                    <a:bodyPr/>
                    <a:lstStyle/>
                    <a:p>
                      <a:r>
                        <a:rPr sz="1400" b="0" dirty="0">
                          <a:solidFill>
                            <a:srgbClr val="1B2A4A"/>
                          </a:solidFill>
                        </a:rPr>
                        <a:t>Registros, </a:t>
                      </a:r>
                      <a:r>
                        <a:rPr sz="1400" b="0" dirty="0" err="1">
                          <a:solidFill>
                            <a:srgbClr val="1B2A4A"/>
                          </a:solidFill>
                        </a:rPr>
                        <a:t>Evidently</a:t>
                      </a:r>
                      <a:r>
                        <a:rPr sz="1400" b="0" dirty="0">
                          <a:solidFill>
                            <a:srgbClr val="1B2A4A"/>
                          </a:solidFill>
                        </a:rPr>
                        <a:t>/</a:t>
                      </a:r>
                      <a:r>
                        <a:rPr sz="1400" b="0" dirty="0" err="1">
                          <a:solidFill>
                            <a:srgbClr val="1B2A4A"/>
                          </a:solidFill>
                        </a:rPr>
                        <a:t>Grafana</a:t>
                      </a:r>
                      <a:r>
                        <a:rPr sz="1400" b="0" dirty="0">
                          <a:solidFill>
                            <a:srgbClr val="1B2A4A"/>
                          </a:solidFill>
                        </a:rPr>
                        <a:t>, apagado</a:t>
                      </a:r>
                      <a:endParaRPr sz="1400" b="0" dirty="0">
                        <a:solidFill>
                          <a:srgbClr val="1B2A4A"/>
                        </a:solidFill>
                        <a:latin typeface="Calibri"/>
                      </a:endParaRPr>
                    </a:p>
                  </a:txBody>
                  <a:tcPr marL="73152" marR="73152" marT="27432" marB="27432" anchor="ctr"/>
                </a:tc>
                <a:extLst>
                  <a:ext uri="{0D108BD9-81ED-4DB2-BD59-A6C34878D82A}">
                    <a16:rowId xmlns:a16="http://schemas.microsoft.com/office/drawing/2014/main" val="10003"/>
                  </a:ext>
                </a:extLst>
              </a:tr>
            </a:tbl>
          </a:graphicData>
        </a:graphic>
      </p:graphicFrame>
      <p:sp>
        <p:nvSpPr>
          <p:cNvPr id="5" name="Nota"/>
          <p:cNvSpPr/>
          <p:nvPr/>
        </p:nvSpPr>
        <p:spPr>
          <a:xfrm>
            <a:off x="548640" y="5559552"/>
            <a:ext cx="11091672" cy="347472"/>
          </a:xfrm>
          <a:prstGeom prst="roundRect">
            <a:avLst>
              <a:gd name="adj" fmla="val 2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noAutofit/>
          </a:bodyPr>
          <a:lstStyle/>
          <a:p>
            <a:pPr algn="l"/>
            <a:r>
              <a:rPr sz="1350" b="0" i="1">
                <a:solidFill>
                  <a:srgbClr val="1B2A4A"/>
                </a:solidFill>
                <a:latin typeface="Calibri"/>
              </a:rPr>
              <a:t>Úsela como lista de verificación para cada sistema, según su tier MVG.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Hoja de ruta de implementación</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IMPLEMENTACIÓN</a:t>
            </a:r>
          </a:p>
        </p:txBody>
      </p:sp>
      <p:sp>
        <p:nvSpPr>
          <p:cNvPr id="4" name="Tarjeta"/>
          <p:cNvSpPr/>
          <p:nvPr/>
        </p:nvSpPr>
        <p:spPr>
          <a:xfrm>
            <a:off x="548640" y="2286000"/>
            <a:ext cx="2130552" cy="2103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Número 1"/>
          <p:cNvSpPr/>
          <p:nvPr/>
        </p:nvSpPr>
        <p:spPr>
          <a:xfrm>
            <a:off x="1385316" y="242316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dirty="0">
                <a:solidFill>
                  <a:srgbClr val="2CD9FF"/>
                </a:solidFill>
                <a:latin typeface="Calibri"/>
              </a:rPr>
              <a:t>1</a:t>
            </a:r>
          </a:p>
        </p:txBody>
      </p:sp>
      <p:sp>
        <p:nvSpPr>
          <p:cNvPr id="6" name="Texto"/>
          <p:cNvSpPr txBox="1"/>
          <p:nvPr/>
        </p:nvSpPr>
        <p:spPr>
          <a:xfrm>
            <a:off x="640080" y="2971800"/>
            <a:ext cx="1947672" cy="548640"/>
          </a:xfrm>
          <a:prstGeom prst="rect">
            <a:avLst/>
          </a:prstGeom>
          <a:noFill/>
        </p:spPr>
        <p:txBody>
          <a:bodyPr wrap="square" lIns="0" tIns="0" rIns="0" bIns="0" anchor="t">
            <a:noAutofit/>
          </a:bodyPr>
          <a:lstStyle/>
          <a:p>
            <a:pPr algn="ctr"/>
            <a:r>
              <a:rPr sz="1700" b="1" i="0">
                <a:solidFill>
                  <a:srgbClr val="1B2A4A"/>
                </a:solidFill>
                <a:latin typeface="Calibri"/>
              </a:rPr>
              <a:t>Inventariar y clasificar</a:t>
            </a:r>
          </a:p>
        </p:txBody>
      </p:sp>
      <p:sp>
        <p:nvSpPr>
          <p:cNvPr id="7" name="Texto"/>
          <p:cNvSpPr txBox="1"/>
          <p:nvPr/>
        </p:nvSpPr>
        <p:spPr>
          <a:xfrm>
            <a:off x="685800" y="3566160"/>
            <a:ext cx="1856232" cy="777240"/>
          </a:xfrm>
          <a:prstGeom prst="rect">
            <a:avLst/>
          </a:prstGeom>
          <a:noFill/>
        </p:spPr>
        <p:txBody>
          <a:bodyPr wrap="square" lIns="0" tIns="0" rIns="0" bIns="0" anchor="t">
            <a:noAutofit/>
          </a:bodyPr>
          <a:lstStyle/>
          <a:p>
            <a:pPr algn="ctr"/>
            <a:r>
              <a:rPr sz="1500" b="0" i="0">
                <a:solidFill>
                  <a:srgbClr val="5B6472"/>
                </a:solidFill>
                <a:latin typeface="Calibri"/>
              </a:rPr>
              <a:t>Sistemas de IA, tier MVG y riesgo UE</a:t>
            </a:r>
          </a:p>
        </p:txBody>
      </p:sp>
      <p:sp>
        <p:nvSpPr>
          <p:cNvPr id="8" name="Tarjeta"/>
          <p:cNvSpPr/>
          <p:nvPr/>
        </p:nvSpPr>
        <p:spPr>
          <a:xfrm>
            <a:off x="2788920" y="2286000"/>
            <a:ext cx="2130552" cy="2103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Número 2"/>
          <p:cNvSpPr/>
          <p:nvPr/>
        </p:nvSpPr>
        <p:spPr>
          <a:xfrm>
            <a:off x="3625596" y="2423160"/>
            <a:ext cx="457200" cy="457200"/>
          </a:xfrm>
          <a:prstGeom prst="ellipse">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1B2A4A"/>
                </a:solidFill>
                <a:latin typeface="Calibri"/>
              </a:rPr>
              <a:t>2</a:t>
            </a:r>
          </a:p>
        </p:txBody>
      </p:sp>
      <p:sp>
        <p:nvSpPr>
          <p:cNvPr id="10" name="Texto"/>
          <p:cNvSpPr txBox="1"/>
          <p:nvPr/>
        </p:nvSpPr>
        <p:spPr>
          <a:xfrm>
            <a:off x="2880360" y="2971800"/>
            <a:ext cx="1947672" cy="548640"/>
          </a:xfrm>
          <a:prstGeom prst="rect">
            <a:avLst/>
          </a:prstGeom>
          <a:noFill/>
        </p:spPr>
        <p:txBody>
          <a:bodyPr wrap="square" lIns="0" tIns="0" rIns="0" bIns="0" anchor="t">
            <a:noAutofit/>
          </a:bodyPr>
          <a:lstStyle/>
          <a:p>
            <a:pPr algn="ctr"/>
            <a:r>
              <a:rPr sz="1700" b="1" i="0">
                <a:solidFill>
                  <a:srgbClr val="1B2A4A"/>
                </a:solidFill>
                <a:latin typeface="Calibri"/>
              </a:rPr>
              <a:t>Definir gobernanza</a:t>
            </a:r>
          </a:p>
        </p:txBody>
      </p:sp>
      <p:sp>
        <p:nvSpPr>
          <p:cNvPr id="11" name="Texto"/>
          <p:cNvSpPr txBox="1"/>
          <p:nvPr/>
        </p:nvSpPr>
        <p:spPr>
          <a:xfrm>
            <a:off x="2926080" y="3566160"/>
            <a:ext cx="1856232" cy="777240"/>
          </a:xfrm>
          <a:prstGeom prst="rect">
            <a:avLst/>
          </a:prstGeom>
          <a:noFill/>
        </p:spPr>
        <p:txBody>
          <a:bodyPr wrap="square" lIns="0" tIns="0" rIns="0" bIns="0" anchor="t">
            <a:noAutofit/>
          </a:bodyPr>
          <a:lstStyle/>
          <a:p>
            <a:pPr algn="ctr"/>
            <a:r>
              <a:rPr sz="1500" b="0" i="0">
                <a:solidFill>
                  <a:srgbClr val="5B6472"/>
                </a:solidFill>
                <a:latin typeface="Calibri"/>
              </a:rPr>
              <a:t>Políticas, comité de IA y roles</a:t>
            </a:r>
          </a:p>
        </p:txBody>
      </p:sp>
      <p:sp>
        <p:nvSpPr>
          <p:cNvPr id="12" name="Tarjeta"/>
          <p:cNvSpPr/>
          <p:nvPr/>
        </p:nvSpPr>
        <p:spPr>
          <a:xfrm>
            <a:off x="5029200" y="2286000"/>
            <a:ext cx="2130552" cy="2103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Número 3"/>
          <p:cNvSpPr/>
          <p:nvPr/>
        </p:nvSpPr>
        <p:spPr>
          <a:xfrm>
            <a:off x="5865876" y="242316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dirty="0">
                <a:solidFill>
                  <a:srgbClr val="2CD9FF"/>
                </a:solidFill>
                <a:latin typeface="Calibri"/>
              </a:rPr>
              <a:t>3</a:t>
            </a:r>
          </a:p>
        </p:txBody>
      </p:sp>
      <p:sp>
        <p:nvSpPr>
          <p:cNvPr id="14" name="Texto"/>
          <p:cNvSpPr txBox="1"/>
          <p:nvPr/>
        </p:nvSpPr>
        <p:spPr>
          <a:xfrm>
            <a:off x="5120640" y="2971800"/>
            <a:ext cx="1947672" cy="548640"/>
          </a:xfrm>
          <a:prstGeom prst="rect">
            <a:avLst/>
          </a:prstGeom>
          <a:noFill/>
        </p:spPr>
        <p:txBody>
          <a:bodyPr wrap="square" lIns="0" tIns="0" rIns="0" bIns="0" anchor="t">
            <a:noAutofit/>
          </a:bodyPr>
          <a:lstStyle/>
          <a:p>
            <a:pPr algn="ctr"/>
            <a:r>
              <a:rPr sz="1700" b="1" i="0">
                <a:solidFill>
                  <a:srgbClr val="1B2A4A"/>
                </a:solidFill>
                <a:latin typeface="Calibri"/>
              </a:rPr>
              <a:t>Habilitar evidencia</a:t>
            </a:r>
          </a:p>
        </p:txBody>
      </p:sp>
      <p:sp>
        <p:nvSpPr>
          <p:cNvPr id="15" name="Texto"/>
          <p:cNvSpPr txBox="1"/>
          <p:nvPr/>
        </p:nvSpPr>
        <p:spPr>
          <a:xfrm>
            <a:off x="5166360" y="3566160"/>
            <a:ext cx="1856232" cy="777240"/>
          </a:xfrm>
          <a:prstGeom prst="rect">
            <a:avLst/>
          </a:prstGeom>
          <a:noFill/>
        </p:spPr>
        <p:txBody>
          <a:bodyPr wrap="square" lIns="0" tIns="0" rIns="0" bIns="0" anchor="t">
            <a:noAutofit/>
          </a:bodyPr>
          <a:lstStyle/>
          <a:p>
            <a:pPr algn="ctr"/>
            <a:r>
              <a:rPr sz="1500" b="0" i="0">
                <a:solidFill>
                  <a:srgbClr val="5B6472"/>
                </a:solidFill>
                <a:latin typeface="Calibri"/>
              </a:rPr>
              <a:t>Repositorio, datos, experimentos y monitoreo</a:t>
            </a:r>
          </a:p>
        </p:txBody>
      </p:sp>
      <p:sp>
        <p:nvSpPr>
          <p:cNvPr id="16" name="Tarjeta"/>
          <p:cNvSpPr/>
          <p:nvPr/>
        </p:nvSpPr>
        <p:spPr>
          <a:xfrm>
            <a:off x="7269480" y="2286000"/>
            <a:ext cx="2130552" cy="2103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úmero 4"/>
          <p:cNvSpPr/>
          <p:nvPr/>
        </p:nvSpPr>
        <p:spPr>
          <a:xfrm>
            <a:off x="8106156" y="2423160"/>
            <a:ext cx="457200" cy="457200"/>
          </a:xfrm>
          <a:prstGeom prst="ellipse">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1B2A4A"/>
                </a:solidFill>
                <a:latin typeface="Calibri"/>
              </a:rPr>
              <a:t>4</a:t>
            </a:r>
          </a:p>
        </p:txBody>
      </p:sp>
      <p:sp>
        <p:nvSpPr>
          <p:cNvPr id="18" name="Texto"/>
          <p:cNvSpPr txBox="1"/>
          <p:nvPr/>
        </p:nvSpPr>
        <p:spPr>
          <a:xfrm>
            <a:off x="7360920" y="2971800"/>
            <a:ext cx="1947672" cy="548640"/>
          </a:xfrm>
          <a:prstGeom prst="rect">
            <a:avLst/>
          </a:prstGeom>
          <a:noFill/>
        </p:spPr>
        <p:txBody>
          <a:bodyPr wrap="square" lIns="0" tIns="0" rIns="0" bIns="0" anchor="t">
            <a:noAutofit/>
          </a:bodyPr>
          <a:lstStyle/>
          <a:p>
            <a:pPr algn="ctr"/>
            <a:r>
              <a:rPr sz="1700" b="1" i="0">
                <a:solidFill>
                  <a:srgbClr val="1B2A4A"/>
                </a:solidFill>
                <a:latin typeface="Calibri"/>
              </a:rPr>
              <a:t>Operar el ciclo de vida</a:t>
            </a:r>
          </a:p>
        </p:txBody>
      </p:sp>
      <p:sp>
        <p:nvSpPr>
          <p:cNvPr id="19" name="Texto"/>
          <p:cNvSpPr txBox="1"/>
          <p:nvPr/>
        </p:nvSpPr>
        <p:spPr>
          <a:xfrm>
            <a:off x="7406640" y="3566160"/>
            <a:ext cx="1856232" cy="777240"/>
          </a:xfrm>
          <a:prstGeom prst="rect">
            <a:avLst/>
          </a:prstGeom>
          <a:noFill/>
        </p:spPr>
        <p:txBody>
          <a:bodyPr wrap="square" lIns="0" tIns="0" rIns="0" bIns="0" anchor="t">
            <a:noAutofit/>
          </a:bodyPr>
          <a:lstStyle/>
          <a:p>
            <a:pPr algn="ctr"/>
            <a:r>
              <a:rPr sz="1500" b="0" i="0">
                <a:solidFill>
                  <a:srgbClr val="5B6472"/>
                </a:solidFill>
                <a:latin typeface="Calibri"/>
              </a:rPr>
              <a:t>MLOps con puertas de calidad y riesgo</a:t>
            </a:r>
          </a:p>
        </p:txBody>
      </p:sp>
      <p:sp>
        <p:nvSpPr>
          <p:cNvPr id="20" name="Tarjeta"/>
          <p:cNvSpPr/>
          <p:nvPr/>
        </p:nvSpPr>
        <p:spPr>
          <a:xfrm>
            <a:off x="9509760" y="2286000"/>
            <a:ext cx="2130552" cy="210312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úmero 5"/>
          <p:cNvSpPr/>
          <p:nvPr/>
        </p:nvSpPr>
        <p:spPr>
          <a:xfrm>
            <a:off x="10346436" y="2423160"/>
            <a:ext cx="457200" cy="457200"/>
          </a:xfrm>
          <a:prstGeom prst="ellipse">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2CD9FF"/>
                </a:solidFill>
                <a:latin typeface="Calibri"/>
              </a:rPr>
              <a:t>5</a:t>
            </a:r>
          </a:p>
        </p:txBody>
      </p:sp>
      <p:sp>
        <p:nvSpPr>
          <p:cNvPr id="22" name="Texto"/>
          <p:cNvSpPr txBox="1"/>
          <p:nvPr/>
        </p:nvSpPr>
        <p:spPr>
          <a:xfrm>
            <a:off x="9601200" y="2971800"/>
            <a:ext cx="1947672" cy="548640"/>
          </a:xfrm>
          <a:prstGeom prst="rect">
            <a:avLst/>
          </a:prstGeom>
          <a:noFill/>
        </p:spPr>
        <p:txBody>
          <a:bodyPr wrap="square" lIns="0" tIns="0" rIns="0" bIns="0" anchor="t">
            <a:noAutofit/>
          </a:bodyPr>
          <a:lstStyle/>
          <a:p>
            <a:pPr algn="ctr"/>
            <a:r>
              <a:rPr sz="1700" b="1" i="0">
                <a:solidFill>
                  <a:srgbClr val="1B2A4A"/>
                </a:solidFill>
                <a:latin typeface="Calibri"/>
              </a:rPr>
              <a:t>Medir y auditar</a:t>
            </a:r>
          </a:p>
        </p:txBody>
      </p:sp>
      <p:sp>
        <p:nvSpPr>
          <p:cNvPr id="23" name="Texto"/>
          <p:cNvSpPr txBox="1"/>
          <p:nvPr/>
        </p:nvSpPr>
        <p:spPr>
          <a:xfrm>
            <a:off x="9646920" y="3566160"/>
            <a:ext cx="1856232" cy="777240"/>
          </a:xfrm>
          <a:prstGeom prst="rect">
            <a:avLst/>
          </a:prstGeom>
          <a:noFill/>
        </p:spPr>
        <p:txBody>
          <a:bodyPr wrap="square" lIns="0" tIns="0" rIns="0" bIns="0" anchor="t">
            <a:noAutofit/>
          </a:bodyPr>
          <a:lstStyle/>
          <a:p>
            <a:pPr algn="ctr"/>
            <a:r>
              <a:rPr sz="1500" b="0" i="0">
                <a:solidFill>
                  <a:srgbClr val="5B6472"/>
                </a:solidFill>
                <a:latin typeface="Calibri"/>
              </a:rPr>
              <a:t>Indicadores, auditoría y mejora (ISO 42001)</a:t>
            </a:r>
          </a:p>
        </p:txBody>
      </p:sp>
      <p:sp>
        <p:nvSpPr>
          <p:cNvPr id="24" name="Tarjeta"/>
          <p:cNvSpPr/>
          <p:nvPr/>
        </p:nvSpPr>
        <p:spPr>
          <a:xfrm>
            <a:off x="548640" y="4526280"/>
            <a:ext cx="11091672" cy="91440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o"/>
          <p:cNvSpPr txBox="1"/>
          <p:nvPr/>
        </p:nvSpPr>
        <p:spPr>
          <a:xfrm>
            <a:off x="822960" y="4572000"/>
            <a:ext cx="2011680" cy="822960"/>
          </a:xfrm>
          <a:prstGeom prst="rect">
            <a:avLst/>
          </a:prstGeom>
          <a:noFill/>
        </p:spPr>
        <p:txBody>
          <a:bodyPr wrap="square" lIns="0" tIns="0" rIns="0" bIns="0" anchor="ctr">
            <a:noAutofit/>
          </a:bodyPr>
          <a:lstStyle/>
          <a:p>
            <a:pPr algn="l"/>
            <a:r>
              <a:rPr sz="1600" b="1" i="0">
                <a:solidFill>
                  <a:srgbClr val="FFA400"/>
                </a:solidFill>
                <a:latin typeface="Calibri"/>
              </a:rPr>
              <a:t>PRIMEROS 90 DÍAS</a:t>
            </a:r>
          </a:p>
        </p:txBody>
      </p:sp>
      <p:sp>
        <p:nvSpPr>
          <p:cNvPr id="26" name="Texto"/>
          <p:cNvSpPr txBox="1"/>
          <p:nvPr/>
        </p:nvSpPr>
        <p:spPr>
          <a:xfrm>
            <a:off x="2834640" y="4572000"/>
            <a:ext cx="8595360" cy="822960"/>
          </a:xfrm>
          <a:prstGeom prst="rect">
            <a:avLst/>
          </a:prstGeom>
          <a:noFill/>
        </p:spPr>
        <p:txBody>
          <a:bodyPr wrap="square" lIns="0" tIns="0" rIns="0" bIns="0" anchor="ctr">
            <a:noAutofit/>
          </a:bodyPr>
          <a:lstStyle/>
          <a:p>
            <a:pPr algn="l"/>
            <a:r>
              <a:rPr sz="1600" b="0" i="0">
                <a:solidFill>
                  <a:srgbClr val="FFFFFF"/>
                </a:solidFill>
                <a:latin typeface="Calibri"/>
              </a:rPr>
              <a:t>Inventario de sistemas · política de uso aceptable · DLP para IA externa · piloto de evidencia: un modelo con repositorio, DVC, MLflow, explicaciones SHAP y ficha de modelo.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Ruta de aprendizaje para empezar</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IMPLEMENTACIÓN</a:t>
            </a:r>
          </a:p>
        </p:txBody>
      </p:sp>
      <p:sp>
        <p:nvSpPr>
          <p:cNvPr id="4" name="Tarjeta"/>
          <p:cNvSpPr/>
          <p:nvPr/>
        </p:nvSpPr>
        <p:spPr>
          <a:xfrm>
            <a:off x="548640" y="2286000"/>
            <a:ext cx="3575304"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arjeta"/>
          <p:cNvSpPr/>
          <p:nvPr/>
        </p:nvSpPr>
        <p:spPr>
          <a:xfrm>
            <a:off x="548640" y="2286000"/>
            <a:ext cx="3575304" cy="777240"/>
          </a:xfrm>
          <a:prstGeom prst="roundRect">
            <a:avLst>
              <a:gd name="adj" fmla="val 6000"/>
            </a:avLst>
          </a:prstGeom>
          <a:solidFill>
            <a:srgbClr val="0724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o"/>
          <p:cNvSpPr txBox="1"/>
          <p:nvPr/>
        </p:nvSpPr>
        <p:spPr>
          <a:xfrm>
            <a:off x="731520" y="2359152"/>
            <a:ext cx="3209544" cy="365760"/>
          </a:xfrm>
          <a:prstGeom prst="rect">
            <a:avLst/>
          </a:prstGeom>
          <a:noFill/>
        </p:spPr>
        <p:txBody>
          <a:bodyPr wrap="square" lIns="0" tIns="0" rIns="0" bIns="0" anchor="t">
            <a:noAutofit/>
          </a:bodyPr>
          <a:lstStyle/>
          <a:p>
            <a:pPr algn="l"/>
            <a:r>
              <a:rPr sz="1600" b="1" i="0">
                <a:solidFill>
                  <a:srgbClr val="FFFFFF"/>
                </a:solidFill>
                <a:latin typeface="Calibri"/>
              </a:rPr>
              <a:t>NIVEL 1 · FUNDAMENTOS</a:t>
            </a:r>
          </a:p>
        </p:txBody>
      </p:sp>
      <p:sp>
        <p:nvSpPr>
          <p:cNvPr id="7" name="Texto"/>
          <p:cNvSpPr txBox="1"/>
          <p:nvPr/>
        </p:nvSpPr>
        <p:spPr>
          <a:xfrm>
            <a:off x="731520" y="2697480"/>
            <a:ext cx="3209544" cy="274320"/>
          </a:xfrm>
          <a:prstGeom prst="rect">
            <a:avLst/>
          </a:prstGeom>
          <a:noFill/>
        </p:spPr>
        <p:txBody>
          <a:bodyPr wrap="square" lIns="0" tIns="0" rIns="0" bIns="0" anchor="t">
            <a:noAutofit/>
          </a:bodyPr>
          <a:lstStyle/>
          <a:p>
            <a:pPr algn="l"/>
            <a:r>
              <a:rPr sz="1350" b="0" i="1">
                <a:solidFill>
                  <a:srgbClr val="FFFFFF"/>
                </a:solidFill>
                <a:latin typeface="Calibri"/>
              </a:rPr>
              <a:t>Leer y comprender</a:t>
            </a:r>
          </a:p>
        </p:txBody>
      </p:sp>
      <p:sp>
        <p:nvSpPr>
          <p:cNvPr id="8" name="Lista"/>
          <p:cNvSpPr txBox="1"/>
          <p:nvPr/>
        </p:nvSpPr>
        <p:spPr>
          <a:xfrm>
            <a:off x="777240" y="3246120"/>
            <a:ext cx="3163824" cy="2103120"/>
          </a:xfrm>
          <a:prstGeom prst="rect">
            <a:avLst/>
          </a:prstGeom>
          <a:noFill/>
        </p:spPr>
        <p:txBody>
          <a:bodyPr wrap="square" lIns="0" tIns="0" rIns="0" bIns="0">
            <a:noAutofit/>
          </a:bodyPr>
          <a:lstStyle/>
          <a:p>
            <a:pPr marL="182880" indent="-182880">
              <a:spcAft>
                <a:spcPts val="800"/>
              </a:spcAft>
              <a:buClr>
                <a:srgbClr val="9200EE"/>
              </a:buClr>
              <a:buFont typeface="Arial"/>
              <a:buChar char="•"/>
            </a:pPr>
            <a:r>
              <a:rPr sz="1500" b="0">
                <a:solidFill>
                  <a:srgbClr val="1B2A4A"/>
                </a:solidFill>
                <a:latin typeface="Calibri"/>
              </a:rPr>
              <a:t>NIST AI RMF 1.0 y su Playbook</a:t>
            </a:r>
          </a:p>
          <a:p>
            <a:pPr marL="182880" indent="-182880">
              <a:spcAft>
                <a:spcPts val="800"/>
              </a:spcAft>
              <a:buClr>
                <a:srgbClr val="9200EE"/>
              </a:buClr>
              <a:buFont typeface="Arial"/>
              <a:buChar char="•"/>
            </a:pPr>
            <a:r>
              <a:rPr sz="1500" b="0">
                <a:solidFill>
                  <a:srgbClr val="1B2A4A"/>
                </a:solidFill>
                <a:latin typeface="Calibri"/>
              </a:rPr>
              <a:t>Principios OCDE y Recomendación UNESCO</a:t>
            </a:r>
          </a:p>
          <a:p>
            <a:pPr marL="182880" indent="-182880">
              <a:spcAft>
                <a:spcPts val="800"/>
              </a:spcAft>
              <a:buClr>
                <a:srgbClr val="9200EE"/>
              </a:buClr>
              <a:buFont typeface="Arial"/>
              <a:buChar char="•"/>
            </a:pPr>
            <a:r>
              <a:rPr sz="1500" b="0">
                <a:solidFill>
                  <a:srgbClr val="1B2A4A"/>
                </a:solidFill>
                <a:latin typeface="Calibri"/>
              </a:rPr>
              <a:t>EU AI Act: texto y explorador en línea</a:t>
            </a:r>
          </a:p>
          <a:p>
            <a:pPr marL="182880" indent="-182880">
              <a:spcAft>
                <a:spcPts val="800"/>
              </a:spcAft>
              <a:buClr>
                <a:srgbClr val="9200EE"/>
              </a:buClr>
              <a:buFont typeface="Arial"/>
              <a:buChar char="•"/>
            </a:pPr>
            <a:r>
              <a:rPr sz="1500" b="0">
                <a:solidFill>
                  <a:srgbClr val="1B2A4A"/>
                </a:solidFill>
                <a:latin typeface="Calibri"/>
              </a:rPr>
              <a:t>ISO/IEC 22989: vocabulario de IA</a:t>
            </a:r>
          </a:p>
        </p:txBody>
      </p:sp>
      <p:sp>
        <p:nvSpPr>
          <p:cNvPr id="9" name="Tarjeta"/>
          <p:cNvSpPr/>
          <p:nvPr/>
        </p:nvSpPr>
        <p:spPr>
          <a:xfrm>
            <a:off x="4306824" y="2286000"/>
            <a:ext cx="3575304"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arjeta"/>
          <p:cNvSpPr/>
          <p:nvPr/>
        </p:nvSpPr>
        <p:spPr>
          <a:xfrm>
            <a:off x="4306824" y="2286000"/>
            <a:ext cx="3575304" cy="777240"/>
          </a:xfrm>
          <a:prstGeom prst="roundRect">
            <a:avLst>
              <a:gd name="adj" fmla="val 6000"/>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p:cNvSpPr txBox="1"/>
          <p:nvPr/>
        </p:nvSpPr>
        <p:spPr>
          <a:xfrm>
            <a:off x="4489704" y="2359152"/>
            <a:ext cx="3209544" cy="365760"/>
          </a:xfrm>
          <a:prstGeom prst="rect">
            <a:avLst/>
          </a:prstGeom>
          <a:noFill/>
        </p:spPr>
        <p:txBody>
          <a:bodyPr wrap="square" lIns="0" tIns="0" rIns="0" bIns="0" anchor="t">
            <a:noAutofit/>
          </a:bodyPr>
          <a:lstStyle/>
          <a:p>
            <a:pPr algn="l"/>
            <a:r>
              <a:rPr sz="1600" b="1" i="0">
                <a:solidFill>
                  <a:srgbClr val="1B2A4A"/>
                </a:solidFill>
                <a:latin typeface="Calibri"/>
              </a:rPr>
              <a:t>NIVEL 2 · PRÁCTICA</a:t>
            </a:r>
          </a:p>
        </p:txBody>
      </p:sp>
      <p:sp>
        <p:nvSpPr>
          <p:cNvPr id="12" name="Texto"/>
          <p:cNvSpPr txBox="1"/>
          <p:nvPr/>
        </p:nvSpPr>
        <p:spPr>
          <a:xfrm>
            <a:off x="4489704" y="2697480"/>
            <a:ext cx="3209544" cy="274320"/>
          </a:xfrm>
          <a:prstGeom prst="rect">
            <a:avLst/>
          </a:prstGeom>
          <a:noFill/>
        </p:spPr>
        <p:txBody>
          <a:bodyPr wrap="square" lIns="0" tIns="0" rIns="0" bIns="0" anchor="t">
            <a:noAutofit/>
          </a:bodyPr>
          <a:lstStyle/>
          <a:p>
            <a:pPr algn="l"/>
            <a:r>
              <a:rPr sz="1350" b="0" i="1">
                <a:solidFill>
                  <a:srgbClr val="1B2A4A"/>
                </a:solidFill>
                <a:latin typeface="Calibri"/>
              </a:rPr>
              <a:t>Hacer con casos reales</a:t>
            </a:r>
          </a:p>
        </p:txBody>
      </p:sp>
      <p:sp>
        <p:nvSpPr>
          <p:cNvPr id="13" name="Lista"/>
          <p:cNvSpPr txBox="1"/>
          <p:nvPr/>
        </p:nvSpPr>
        <p:spPr>
          <a:xfrm>
            <a:off x="4535424" y="3246120"/>
            <a:ext cx="3163824" cy="2103120"/>
          </a:xfrm>
          <a:prstGeom prst="rect">
            <a:avLst/>
          </a:prstGeom>
          <a:noFill/>
        </p:spPr>
        <p:txBody>
          <a:bodyPr wrap="square" lIns="0" tIns="0" rIns="0" bIns="0">
            <a:noAutofit/>
          </a:bodyPr>
          <a:lstStyle/>
          <a:p>
            <a:pPr marL="182880" indent="-182880">
              <a:spcAft>
                <a:spcPts val="800"/>
              </a:spcAft>
              <a:buClr>
                <a:srgbClr val="9200EE"/>
              </a:buClr>
              <a:buFont typeface="Arial"/>
              <a:buChar char="•"/>
            </a:pPr>
            <a:r>
              <a:rPr sz="1500" b="0">
                <a:solidFill>
                  <a:srgbClr val="1B2A4A"/>
                </a:solidFill>
                <a:latin typeface="Calibri"/>
              </a:rPr>
              <a:t>Mini-laboratorio con Git, DVC, MLflow y SHAP</a:t>
            </a:r>
          </a:p>
          <a:p>
            <a:pPr marL="182880" indent="-182880">
              <a:spcAft>
                <a:spcPts val="800"/>
              </a:spcAft>
              <a:buClr>
                <a:srgbClr val="9200EE"/>
              </a:buClr>
              <a:buFont typeface="Arial"/>
              <a:buChar char="•"/>
            </a:pPr>
            <a:r>
              <a:rPr sz="1500" b="0">
                <a:solidFill>
                  <a:srgbClr val="1B2A4A"/>
                </a:solidFill>
                <a:latin typeface="Calibri"/>
              </a:rPr>
              <a:t>Ficha de modelo y evaluación de impacto</a:t>
            </a:r>
          </a:p>
          <a:p>
            <a:pPr marL="182880" indent="-182880">
              <a:spcAft>
                <a:spcPts val="800"/>
              </a:spcAft>
              <a:buClr>
                <a:srgbClr val="9200EE"/>
              </a:buClr>
              <a:buFont typeface="Arial"/>
              <a:buChar char="•"/>
            </a:pPr>
            <a:r>
              <a:rPr sz="1500" b="0">
                <a:solidFill>
                  <a:srgbClr val="1B2A4A"/>
                </a:solidFill>
                <a:latin typeface="Calibri"/>
              </a:rPr>
              <a:t>Inventario y clasificación de 5 sistemas</a:t>
            </a:r>
          </a:p>
          <a:p>
            <a:pPr marL="182880" indent="-182880">
              <a:spcAft>
                <a:spcPts val="800"/>
              </a:spcAft>
              <a:buClr>
                <a:srgbClr val="9200EE"/>
              </a:buClr>
              <a:buFont typeface="Arial"/>
              <a:buChar char="•"/>
            </a:pPr>
            <a:r>
              <a:rPr sz="1500" b="0">
                <a:solidFill>
                  <a:srgbClr val="1B2A4A"/>
                </a:solidFill>
                <a:latin typeface="Calibri"/>
              </a:rPr>
              <a:t>Indicadores y umbrales de un tablero</a:t>
            </a:r>
          </a:p>
        </p:txBody>
      </p:sp>
      <p:sp>
        <p:nvSpPr>
          <p:cNvPr id="14" name="Tarjeta"/>
          <p:cNvSpPr/>
          <p:nvPr/>
        </p:nvSpPr>
        <p:spPr>
          <a:xfrm>
            <a:off x="8065008" y="2286000"/>
            <a:ext cx="3575304" cy="315468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arjeta"/>
          <p:cNvSpPr/>
          <p:nvPr/>
        </p:nvSpPr>
        <p:spPr>
          <a:xfrm>
            <a:off x="8065008" y="2286000"/>
            <a:ext cx="3575304" cy="777240"/>
          </a:xfrm>
          <a:prstGeom prst="roundRect">
            <a:avLst>
              <a:gd name="adj" fmla="val 6000"/>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o"/>
          <p:cNvSpPr txBox="1"/>
          <p:nvPr/>
        </p:nvSpPr>
        <p:spPr>
          <a:xfrm>
            <a:off x="8247888" y="2359152"/>
            <a:ext cx="3209544" cy="365760"/>
          </a:xfrm>
          <a:prstGeom prst="rect">
            <a:avLst/>
          </a:prstGeom>
          <a:noFill/>
        </p:spPr>
        <p:txBody>
          <a:bodyPr wrap="square" lIns="0" tIns="0" rIns="0" bIns="0" anchor="t">
            <a:noAutofit/>
          </a:bodyPr>
          <a:lstStyle/>
          <a:p>
            <a:pPr algn="l"/>
            <a:r>
              <a:rPr sz="1600" b="1" i="0">
                <a:solidFill>
                  <a:srgbClr val="FFFFFF"/>
                </a:solidFill>
                <a:latin typeface="Calibri"/>
              </a:rPr>
              <a:t>NIVEL 3 · PROFUNDIZACIÓN</a:t>
            </a:r>
          </a:p>
        </p:txBody>
      </p:sp>
      <p:sp>
        <p:nvSpPr>
          <p:cNvPr id="17" name="Texto"/>
          <p:cNvSpPr txBox="1"/>
          <p:nvPr/>
        </p:nvSpPr>
        <p:spPr>
          <a:xfrm>
            <a:off x="8247888" y="2697480"/>
            <a:ext cx="3209544" cy="274320"/>
          </a:xfrm>
          <a:prstGeom prst="rect">
            <a:avLst/>
          </a:prstGeom>
          <a:noFill/>
        </p:spPr>
        <p:txBody>
          <a:bodyPr wrap="square" lIns="0" tIns="0" rIns="0" bIns="0" anchor="t">
            <a:noAutofit/>
          </a:bodyPr>
          <a:lstStyle/>
          <a:p>
            <a:pPr algn="l"/>
            <a:r>
              <a:rPr sz="1350" b="0" i="1">
                <a:solidFill>
                  <a:srgbClr val="FFFFFF"/>
                </a:solidFill>
                <a:latin typeface="Calibri"/>
              </a:rPr>
              <a:t>Certificar y especializar</a:t>
            </a:r>
          </a:p>
        </p:txBody>
      </p:sp>
      <p:sp>
        <p:nvSpPr>
          <p:cNvPr id="18" name="Lista"/>
          <p:cNvSpPr txBox="1"/>
          <p:nvPr/>
        </p:nvSpPr>
        <p:spPr>
          <a:xfrm>
            <a:off x="8293608" y="3246120"/>
            <a:ext cx="3163824" cy="2103120"/>
          </a:xfrm>
          <a:prstGeom prst="rect">
            <a:avLst/>
          </a:prstGeom>
          <a:noFill/>
        </p:spPr>
        <p:txBody>
          <a:bodyPr wrap="square" lIns="0" tIns="0" rIns="0" bIns="0">
            <a:noAutofit/>
          </a:bodyPr>
          <a:lstStyle/>
          <a:p>
            <a:pPr marL="182880" indent="-182880">
              <a:spcAft>
                <a:spcPts val="800"/>
              </a:spcAft>
              <a:buClr>
                <a:srgbClr val="9200EE"/>
              </a:buClr>
              <a:buFont typeface="Arial"/>
              <a:buChar char="•"/>
            </a:pPr>
            <a:r>
              <a:rPr sz="1500" b="0">
                <a:solidFill>
                  <a:srgbClr val="1B2A4A"/>
                </a:solidFill>
                <a:latin typeface="Calibri"/>
              </a:rPr>
              <a:t>ISO/IEC 42001: implementador o auditor líder</a:t>
            </a:r>
          </a:p>
          <a:p>
            <a:pPr marL="182880" indent="-182880">
              <a:spcAft>
                <a:spcPts val="800"/>
              </a:spcAft>
              <a:buClr>
                <a:srgbClr val="9200EE"/>
              </a:buClr>
              <a:buFont typeface="Arial"/>
              <a:buChar char="•"/>
            </a:pPr>
            <a:r>
              <a:rPr sz="1500" b="0">
                <a:solidFill>
                  <a:srgbClr val="1B2A4A"/>
                </a:solidFill>
                <a:latin typeface="Calibri"/>
              </a:rPr>
              <a:t>IAPP AIGP (gobernanza de IA)</a:t>
            </a:r>
          </a:p>
          <a:p>
            <a:pPr marL="182880" indent="-182880">
              <a:spcAft>
                <a:spcPts val="800"/>
              </a:spcAft>
              <a:buClr>
                <a:srgbClr val="9200EE"/>
              </a:buClr>
              <a:buFont typeface="Arial"/>
              <a:buChar char="•"/>
            </a:pPr>
            <a:r>
              <a:rPr sz="1500" b="0">
                <a:solidFill>
                  <a:srgbClr val="1B2A4A"/>
                </a:solidFill>
                <a:latin typeface="Calibri"/>
              </a:rPr>
              <a:t>ISO/IEC 27001: seguridad de la información</a:t>
            </a:r>
          </a:p>
          <a:p>
            <a:pPr marL="182880" indent="-182880">
              <a:spcAft>
                <a:spcPts val="800"/>
              </a:spcAft>
              <a:buClr>
                <a:srgbClr val="9200EE"/>
              </a:buClr>
              <a:buFont typeface="Arial"/>
              <a:buChar char="•"/>
            </a:pPr>
            <a:r>
              <a:rPr sz="1500" b="0">
                <a:solidFill>
                  <a:srgbClr val="1B2A4A"/>
                </a:solidFill>
                <a:latin typeface="Calibri"/>
              </a:rPr>
              <a:t>Auditoría interna de sistemas de gestión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98280" cy="566928"/>
          </a:xfrm>
        </p:spPr>
        <p:txBody>
          <a:bodyPr wrap="square" anchor="ctr">
            <a:noAutofit/>
          </a:bodyPr>
          <a:lstStyle/>
          <a:p>
            <a:pPr algn="l"/>
            <a:r>
              <a:rPr sz="2600" dirty="0">
                <a:solidFill>
                  <a:srgbClr val="1B2A4A"/>
                </a:solidFill>
                <a:latin typeface="Arial"/>
              </a:rPr>
              <a:t>Demostración con </a:t>
            </a:r>
            <a:r>
              <a:rPr sz="2600" dirty="0" err="1">
                <a:solidFill>
                  <a:srgbClr val="1B2A4A"/>
                </a:solidFill>
                <a:latin typeface="Arial"/>
              </a:rPr>
              <a:t>Soberania</a:t>
            </a:r>
            <a:r>
              <a:rPr sz="2600" b="1" dirty="0">
                <a:solidFill>
                  <a:srgbClr val="1B2A4A"/>
                </a:solidFill>
                <a:latin typeface="Arial"/>
              </a:rPr>
              <a:t>: gobierna tu primer modelo y en la tarde</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IMPLEMENTACIÓN</a:t>
            </a:r>
          </a:p>
        </p:txBody>
      </p:sp>
      <p:sp>
        <p:nvSpPr>
          <p:cNvPr id="4" name="Tarjeta"/>
          <p:cNvSpPr/>
          <p:nvPr/>
        </p:nvSpPr>
        <p:spPr>
          <a:xfrm>
            <a:off x="548640" y="2286000"/>
            <a:ext cx="7315200" cy="56692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Número 1"/>
          <p:cNvSpPr/>
          <p:nvPr/>
        </p:nvSpPr>
        <p:spPr>
          <a:xfrm>
            <a:off x="640080" y="2304288"/>
            <a:ext cx="420624" cy="420624"/>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FFFFFF"/>
                </a:solidFill>
                <a:latin typeface="Calibri"/>
              </a:rPr>
              <a:t>1</a:t>
            </a:r>
          </a:p>
        </p:txBody>
      </p:sp>
      <p:sp>
        <p:nvSpPr>
          <p:cNvPr id="6" name="Texto"/>
          <p:cNvSpPr txBox="1"/>
          <p:nvPr/>
        </p:nvSpPr>
        <p:spPr>
          <a:xfrm>
            <a:off x="1234440" y="2304288"/>
            <a:ext cx="3017520" cy="530352"/>
          </a:xfrm>
          <a:prstGeom prst="rect">
            <a:avLst/>
          </a:prstGeom>
          <a:noFill/>
        </p:spPr>
        <p:txBody>
          <a:bodyPr wrap="square" lIns="0" tIns="0" rIns="0" bIns="0" anchor="ctr">
            <a:noAutofit/>
          </a:bodyPr>
          <a:lstStyle/>
          <a:p>
            <a:pPr algn="l"/>
            <a:r>
              <a:rPr sz="1600" b="1" i="0">
                <a:solidFill>
                  <a:srgbClr val="1B2A4A"/>
                </a:solidFill>
                <a:latin typeface="Calibri"/>
              </a:rPr>
              <a:t>Repositorio en GitHub</a:t>
            </a:r>
          </a:p>
        </p:txBody>
      </p:sp>
      <p:sp>
        <p:nvSpPr>
          <p:cNvPr id="7" name="Texto"/>
          <p:cNvSpPr txBox="1"/>
          <p:nvPr/>
        </p:nvSpPr>
        <p:spPr>
          <a:xfrm>
            <a:off x="4297680" y="2304288"/>
            <a:ext cx="3474720" cy="530352"/>
          </a:xfrm>
          <a:prstGeom prst="rect">
            <a:avLst/>
          </a:prstGeom>
          <a:noFill/>
        </p:spPr>
        <p:txBody>
          <a:bodyPr wrap="square" lIns="0" tIns="0" rIns="0" bIns="0" anchor="ctr">
            <a:noAutofit/>
          </a:bodyPr>
          <a:lstStyle/>
          <a:p>
            <a:pPr algn="l"/>
            <a:r>
              <a:rPr sz="1500" b="0" i="0">
                <a:solidFill>
                  <a:srgbClr val="5B6472"/>
                </a:solidFill>
                <a:latin typeface="Calibri"/>
              </a:rPr>
              <a:t>Protección de rama y CODEOWNERS</a:t>
            </a:r>
          </a:p>
        </p:txBody>
      </p:sp>
      <p:sp>
        <p:nvSpPr>
          <p:cNvPr id="8" name="Tarjeta"/>
          <p:cNvSpPr/>
          <p:nvPr/>
        </p:nvSpPr>
        <p:spPr>
          <a:xfrm>
            <a:off x="548640" y="2926080"/>
            <a:ext cx="7315200" cy="56692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Número 2"/>
          <p:cNvSpPr/>
          <p:nvPr/>
        </p:nvSpPr>
        <p:spPr>
          <a:xfrm>
            <a:off x="640080" y="2999232"/>
            <a:ext cx="420624" cy="420624"/>
          </a:xfrm>
          <a:prstGeom prst="ellipse">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1B2A4A"/>
                </a:solidFill>
                <a:latin typeface="Calibri"/>
              </a:rPr>
              <a:t>2</a:t>
            </a:r>
          </a:p>
        </p:txBody>
      </p:sp>
      <p:sp>
        <p:nvSpPr>
          <p:cNvPr id="10" name="Texto"/>
          <p:cNvSpPr txBox="1"/>
          <p:nvPr/>
        </p:nvSpPr>
        <p:spPr>
          <a:xfrm>
            <a:off x="1234440" y="2944368"/>
            <a:ext cx="3017520" cy="530352"/>
          </a:xfrm>
          <a:prstGeom prst="rect">
            <a:avLst/>
          </a:prstGeom>
          <a:noFill/>
        </p:spPr>
        <p:txBody>
          <a:bodyPr wrap="square" lIns="0" tIns="0" rIns="0" bIns="0" anchor="ctr">
            <a:noAutofit/>
          </a:bodyPr>
          <a:lstStyle/>
          <a:p>
            <a:pPr algn="l"/>
            <a:r>
              <a:rPr sz="1600" b="1" i="0">
                <a:solidFill>
                  <a:srgbClr val="1B2A4A"/>
                </a:solidFill>
                <a:latin typeface="Calibri"/>
              </a:rPr>
              <a:t>Versionar un dataset</a:t>
            </a:r>
          </a:p>
        </p:txBody>
      </p:sp>
      <p:sp>
        <p:nvSpPr>
          <p:cNvPr id="11" name="Texto"/>
          <p:cNvSpPr txBox="1"/>
          <p:nvPr/>
        </p:nvSpPr>
        <p:spPr>
          <a:xfrm>
            <a:off x="4297680" y="2944368"/>
            <a:ext cx="3474720" cy="530352"/>
          </a:xfrm>
          <a:prstGeom prst="rect">
            <a:avLst/>
          </a:prstGeom>
          <a:noFill/>
        </p:spPr>
        <p:txBody>
          <a:bodyPr wrap="square" lIns="0" tIns="0" rIns="0" bIns="0" anchor="ctr">
            <a:noAutofit/>
          </a:bodyPr>
          <a:lstStyle/>
          <a:p>
            <a:pPr algn="l"/>
            <a:r>
              <a:rPr sz="1500" b="0" i="0">
                <a:solidFill>
                  <a:srgbClr val="5B6472"/>
                </a:solidFill>
                <a:latin typeface="Calibri"/>
              </a:rPr>
              <a:t>dvc add y dvc push</a:t>
            </a:r>
          </a:p>
        </p:txBody>
      </p:sp>
      <p:sp>
        <p:nvSpPr>
          <p:cNvPr id="12" name="Tarjeta"/>
          <p:cNvSpPr/>
          <p:nvPr/>
        </p:nvSpPr>
        <p:spPr>
          <a:xfrm>
            <a:off x="548640" y="3566160"/>
            <a:ext cx="7315200" cy="56692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Número 3"/>
          <p:cNvSpPr/>
          <p:nvPr/>
        </p:nvSpPr>
        <p:spPr>
          <a:xfrm>
            <a:off x="640080" y="3639312"/>
            <a:ext cx="420624" cy="420624"/>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FFFFFF"/>
                </a:solidFill>
                <a:latin typeface="Calibri"/>
              </a:rPr>
              <a:t>3</a:t>
            </a:r>
          </a:p>
        </p:txBody>
      </p:sp>
      <p:sp>
        <p:nvSpPr>
          <p:cNvPr id="14" name="Texto"/>
          <p:cNvSpPr txBox="1"/>
          <p:nvPr/>
        </p:nvSpPr>
        <p:spPr>
          <a:xfrm>
            <a:off x="1234440" y="3584448"/>
            <a:ext cx="3017520" cy="530352"/>
          </a:xfrm>
          <a:prstGeom prst="rect">
            <a:avLst/>
          </a:prstGeom>
          <a:noFill/>
        </p:spPr>
        <p:txBody>
          <a:bodyPr wrap="square" lIns="0" tIns="0" rIns="0" bIns="0" anchor="ctr">
            <a:noAutofit/>
          </a:bodyPr>
          <a:lstStyle/>
          <a:p>
            <a:pPr algn="l"/>
            <a:r>
              <a:rPr sz="1600" b="1" i="0">
                <a:solidFill>
                  <a:srgbClr val="1B2A4A"/>
                </a:solidFill>
                <a:latin typeface="Calibri"/>
              </a:rPr>
              <a:t>Entrenar y registrar</a:t>
            </a:r>
          </a:p>
        </p:txBody>
      </p:sp>
      <p:sp>
        <p:nvSpPr>
          <p:cNvPr id="15" name="Texto"/>
          <p:cNvSpPr txBox="1"/>
          <p:nvPr/>
        </p:nvSpPr>
        <p:spPr>
          <a:xfrm>
            <a:off x="4297680" y="3584448"/>
            <a:ext cx="3474720" cy="530352"/>
          </a:xfrm>
          <a:prstGeom prst="rect">
            <a:avLst/>
          </a:prstGeom>
          <a:noFill/>
        </p:spPr>
        <p:txBody>
          <a:bodyPr wrap="square" lIns="0" tIns="0" rIns="0" bIns="0" anchor="ctr">
            <a:noAutofit/>
          </a:bodyPr>
          <a:lstStyle/>
          <a:p>
            <a:pPr algn="l"/>
            <a:r>
              <a:rPr sz="1500" b="0" i="0">
                <a:solidFill>
                  <a:srgbClr val="5B6472"/>
                </a:solidFill>
                <a:latin typeface="Calibri"/>
              </a:rPr>
              <a:t>Corrida y modelo en MLflow</a:t>
            </a:r>
          </a:p>
        </p:txBody>
      </p:sp>
      <p:sp>
        <p:nvSpPr>
          <p:cNvPr id="16" name="Tarjeta"/>
          <p:cNvSpPr/>
          <p:nvPr/>
        </p:nvSpPr>
        <p:spPr>
          <a:xfrm>
            <a:off x="548640" y="4206240"/>
            <a:ext cx="7315200" cy="56692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úmero 4"/>
          <p:cNvSpPr/>
          <p:nvPr/>
        </p:nvSpPr>
        <p:spPr>
          <a:xfrm>
            <a:off x="640080" y="4279392"/>
            <a:ext cx="420624" cy="420624"/>
          </a:xfrm>
          <a:prstGeom prst="ellipse">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1B2A4A"/>
                </a:solidFill>
                <a:latin typeface="Calibri"/>
              </a:rPr>
              <a:t>4</a:t>
            </a:r>
          </a:p>
        </p:txBody>
      </p:sp>
      <p:sp>
        <p:nvSpPr>
          <p:cNvPr id="18" name="Texto"/>
          <p:cNvSpPr txBox="1"/>
          <p:nvPr/>
        </p:nvSpPr>
        <p:spPr>
          <a:xfrm>
            <a:off x="1234440" y="4224527"/>
            <a:ext cx="3017520" cy="530352"/>
          </a:xfrm>
          <a:prstGeom prst="rect">
            <a:avLst/>
          </a:prstGeom>
          <a:noFill/>
        </p:spPr>
        <p:txBody>
          <a:bodyPr wrap="square" lIns="0" tIns="0" rIns="0" bIns="0" anchor="ctr">
            <a:noAutofit/>
          </a:bodyPr>
          <a:lstStyle/>
          <a:p>
            <a:pPr algn="l"/>
            <a:r>
              <a:rPr sz="1600" b="1" i="0">
                <a:solidFill>
                  <a:srgbClr val="1B2A4A"/>
                </a:solidFill>
                <a:latin typeface="Calibri"/>
              </a:rPr>
              <a:t>Explicar</a:t>
            </a:r>
          </a:p>
        </p:txBody>
      </p:sp>
      <p:sp>
        <p:nvSpPr>
          <p:cNvPr id="19" name="Texto"/>
          <p:cNvSpPr txBox="1"/>
          <p:nvPr/>
        </p:nvSpPr>
        <p:spPr>
          <a:xfrm>
            <a:off x="4297680" y="4224527"/>
            <a:ext cx="3474720" cy="530352"/>
          </a:xfrm>
          <a:prstGeom prst="rect">
            <a:avLst/>
          </a:prstGeom>
          <a:noFill/>
        </p:spPr>
        <p:txBody>
          <a:bodyPr wrap="square" lIns="0" tIns="0" rIns="0" bIns="0" anchor="ctr">
            <a:noAutofit/>
          </a:bodyPr>
          <a:lstStyle/>
          <a:p>
            <a:pPr algn="l"/>
            <a:r>
              <a:rPr sz="1500" b="0" i="0">
                <a:solidFill>
                  <a:srgbClr val="5B6472"/>
                </a:solidFill>
                <a:latin typeface="Calibri"/>
              </a:rPr>
              <a:t>Gráficos SHAP como artefacto</a:t>
            </a:r>
          </a:p>
        </p:txBody>
      </p:sp>
      <p:sp>
        <p:nvSpPr>
          <p:cNvPr id="20" name="Tarjeta"/>
          <p:cNvSpPr/>
          <p:nvPr/>
        </p:nvSpPr>
        <p:spPr>
          <a:xfrm>
            <a:off x="548640" y="4846320"/>
            <a:ext cx="7315200" cy="566928"/>
          </a:xfrm>
          <a:prstGeom prst="roundRect">
            <a:avLst>
              <a:gd name="adj" fmla="val 15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úmero 5"/>
          <p:cNvSpPr/>
          <p:nvPr/>
        </p:nvSpPr>
        <p:spPr>
          <a:xfrm>
            <a:off x="640080" y="4919472"/>
            <a:ext cx="420624" cy="420624"/>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dirty="0">
                <a:solidFill>
                  <a:srgbClr val="FFFFFF"/>
                </a:solidFill>
                <a:latin typeface="Calibri"/>
              </a:rPr>
              <a:t>5</a:t>
            </a:r>
          </a:p>
        </p:txBody>
      </p:sp>
      <p:sp>
        <p:nvSpPr>
          <p:cNvPr id="22" name="Texto"/>
          <p:cNvSpPr txBox="1"/>
          <p:nvPr/>
        </p:nvSpPr>
        <p:spPr>
          <a:xfrm>
            <a:off x="1234440" y="4864607"/>
            <a:ext cx="3017520" cy="530352"/>
          </a:xfrm>
          <a:prstGeom prst="rect">
            <a:avLst/>
          </a:prstGeom>
          <a:noFill/>
        </p:spPr>
        <p:txBody>
          <a:bodyPr wrap="square" lIns="0" tIns="0" rIns="0" bIns="0" anchor="ctr">
            <a:noAutofit/>
          </a:bodyPr>
          <a:lstStyle/>
          <a:p>
            <a:pPr algn="l"/>
            <a:r>
              <a:rPr sz="1600" b="1" i="0">
                <a:solidFill>
                  <a:srgbClr val="1B2A4A"/>
                </a:solidFill>
                <a:latin typeface="Calibri"/>
              </a:rPr>
              <a:t>Documentar y clasificar</a:t>
            </a:r>
          </a:p>
        </p:txBody>
      </p:sp>
      <p:sp>
        <p:nvSpPr>
          <p:cNvPr id="23" name="Texto"/>
          <p:cNvSpPr txBox="1"/>
          <p:nvPr/>
        </p:nvSpPr>
        <p:spPr>
          <a:xfrm>
            <a:off x="4297680" y="4864607"/>
            <a:ext cx="3474720" cy="530352"/>
          </a:xfrm>
          <a:prstGeom prst="rect">
            <a:avLst/>
          </a:prstGeom>
          <a:noFill/>
        </p:spPr>
        <p:txBody>
          <a:bodyPr wrap="square" lIns="0" tIns="0" rIns="0" bIns="0" anchor="ctr">
            <a:noAutofit/>
          </a:bodyPr>
          <a:lstStyle/>
          <a:p>
            <a:pPr algn="l"/>
            <a:r>
              <a:rPr sz="1500" b="0" i="0">
                <a:solidFill>
                  <a:srgbClr val="5B6472"/>
                </a:solidFill>
                <a:latin typeface="Calibri"/>
              </a:rPr>
              <a:t>Ficha de modelo y tier MVG</a:t>
            </a:r>
          </a:p>
        </p:txBody>
      </p:sp>
      <p:sp>
        <p:nvSpPr>
          <p:cNvPr id="24" name="Tarjeta"/>
          <p:cNvSpPr/>
          <p:nvPr/>
        </p:nvSpPr>
        <p:spPr>
          <a:xfrm>
            <a:off x="8092440" y="2286000"/>
            <a:ext cx="3547872" cy="315468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írculo de ícono"/>
          <p:cNvSpPr/>
          <p:nvPr/>
        </p:nvSpPr>
        <p:spPr>
          <a:xfrm>
            <a:off x="8366760" y="2514600"/>
            <a:ext cx="685800" cy="685800"/>
          </a:xfrm>
          <a:prstGeom prst="ellipse">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2CD9FF"/>
              </a:solidFill>
            </a:endParaRPr>
          </a:p>
        </p:txBody>
      </p:sp>
      <p:pic>
        <p:nvPicPr>
          <p:cNvPr id="26" name="Ícono FaClipboardCheck" descr="ClipboardCheck"/>
          <p:cNvPicPr>
            <a:picLocks noChangeAspect="1"/>
          </p:cNvPicPr>
          <p:nvPr/>
        </p:nvPicPr>
        <p:blipFill>
          <a:blip r:embed="rId3"/>
          <a:stretch>
            <a:fillRect/>
          </a:stretch>
        </p:blipFill>
        <p:spPr>
          <a:xfrm>
            <a:off x="8531352" y="2679192"/>
            <a:ext cx="356616" cy="356616"/>
          </a:xfrm>
          <a:prstGeom prst="rect">
            <a:avLst/>
          </a:prstGeom>
        </p:spPr>
      </p:pic>
      <p:sp>
        <p:nvSpPr>
          <p:cNvPr id="27" name="Texto"/>
          <p:cNvSpPr txBox="1"/>
          <p:nvPr/>
        </p:nvSpPr>
        <p:spPr>
          <a:xfrm>
            <a:off x="8366760" y="3383280"/>
            <a:ext cx="3017520" cy="365760"/>
          </a:xfrm>
          <a:prstGeom prst="rect">
            <a:avLst/>
          </a:prstGeom>
          <a:noFill/>
        </p:spPr>
        <p:txBody>
          <a:bodyPr wrap="square" lIns="0" tIns="0" rIns="0" bIns="0" anchor="t">
            <a:noAutofit/>
          </a:bodyPr>
          <a:lstStyle/>
          <a:p>
            <a:pPr algn="l"/>
            <a:r>
              <a:rPr sz="1500" b="1" i="0">
                <a:solidFill>
                  <a:srgbClr val="2CD9FF"/>
                </a:solidFill>
                <a:latin typeface="Calibri"/>
              </a:rPr>
              <a:t>ENTREGABLE</a:t>
            </a:r>
          </a:p>
        </p:txBody>
      </p:sp>
      <p:sp>
        <p:nvSpPr>
          <p:cNvPr id="28" name="Texto"/>
          <p:cNvSpPr txBox="1"/>
          <p:nvPr/>
        </p:nvSpPr>
        <p:spPr>
          <a:xfrm>
            <a:off x="8366760" y="3749039"/>
            <a:ext cx="3017520" cy="1645920"/>
          </a:xfrm>
          <a:prstGeom prst="rect">
            <a:avLst/>
          </a:prstGeom>
          <a:noFill/>
        </p:spPr>
        <p:txBody>
          <a:bodyPr wrap="square" lIns="0" tIns="0" rIns="0" bIns="0" anchor="t">
            <a:noAutofit/>
          </a:bodyPr>
          <a:lstStyle/>
          <a:p>
            <a:pPr algn="l"/>
            <a:r>
              <a:rPr sz="1600" b="0" i="0">
                <a:solidFill>
                  <a:srgbClr val="FFFFFF"/>
                </a:solidFill>
                <a:latin typeface="Calibri"/>
              </a:rPr>
              <a:t>Repositorio con evidencia de trazabilidad, datos, experimento y explicabilidad, más una ficha de modelo de una página.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72768"/>
            <a:ext cx="9052560" cy="566928"/>
          </a:xfrm>
        </p:spPr>
        <p:txBody>
          <a:bodyPr wrap="square" anchor="ctr">
            <a:noAutofit/>
          </a:bodyPr>
          <a:lstStyle/>
          <a:p>
            <a:pPr algn="l"/>
            <a:r>
              <a:rPr sz="2600" b="1">
                <a:solidFill>
                  <a:srgbClr val="1B2A4A"/>
                </a:solidFill>
                <a:latin typeface="Arial"/>
              </a:rPr>
              <a:t>Gobernar para innovar: ideas para llevarse</a:t>
            </a:r>
          </a:p>
        </p:txBody>
      </p:sp>
      <p:sp>
        <p:nvSpPr>
          <p:cNvPr id="3" name="Etiqueta de sección"/>
          <p:cNvSpPr/>
          <p:nvPr/>
        </p:nvSpPr>
        <p:spPr>
          <a:xfrm>
            <a:off x="9646920" y="1673352"/>
            <a:ext cx="2011680" cy="329184"/>
          </a:xfrm>
          <a:prstGeom prst="roundRect">
            <a:avLst>
              <a:gd name="adj" fmla="val 50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Autofit/>
          </a:bodyPr>
          <a:lstStyle/>
          <a:p>
            <a:pPr algn="ctr"/>
            <a:r>
              <a:rPr sz="1100" b="1" i="0">
                <a:solidFill>
                  <a:srgbClr val="9200EE"/>
                </a:solidFill>
                <a:latin typeface="Calibri"/>
              </a:rPr>
              <a:t>CIERRE</a:t>
            </a:r>
          </a:p>
        </p:txBody>
      </p:sp>
      <p:sp>
        <p:nvSpPr>
          <p:cNvPr id="4" name="Tarjeta"/>
          <p:cNvSpPr/>
          <p:nvPr/>
        </p:nvSpPr>
        <p:spPr>
          <a:xfrm>
            <a:off x="548640" y="2286000"/>
            <a:ext cx="5454396" cy="128016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Número 1"/>
          <p:cNvSpPr/>
          <p:nvPr/>
        </p:nvSpPr>
        <p:spPr>
          <a:xfrm>
            <a:off x="777240" y="265176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100" b="1" i="0">
                <a:solidFill>
                  <a:srgbClr val="FFFFFF"/>
                </a:solidFill>
                <a:latin typeface="Calibri"/>
              </a:rPr>
              <a:t>1</a:t>
            </a:r>
          </a:p>
        </p:txBody>
      </p:sp>
      <p:sp>
        <p:nvSpPr>
          <p:cNvPr id="6" name="Texto"/>
          <p:cNvSpPr txBox="1"/>
          <p:nvPr/>
        </p:nvSpPr>
        <p:spPr>
          <a:xfrm>
            <a:off x="1554480" y="2395728"/>
            <a:ext cx="4265676" cy="548640"/>
          </a:xfrm>
          <a:prstGeom prst="rect">
            <a:avLst/>
          </a:prstGeom>
          <a:noFill/>
        </p:spPr>
        <p:txBody>
          <a:bodyPr wrap="square" lIns="0" tIns="0" rIns="0" bIns="0" anchor="ctr">
            <a:noAutofit/>
          </a:bodyPr>
          <a:lstStyle/>
          <a:p>
            <a:pPr algn="l"/>
            <a:r>
              <a:rPr sz="1800" b="1" i="0">
                <a:solidFill>
                  <a:srgbClr val="1B2A4A"/>
                </a:solidFill>
                <a:latin typeface="Calibri"/>
              </a:rPr>
              <a:t>La IA no gobernada es un pasivo</a:t>
            </a:r>
          </a:p>
        </p:txBody>
      </p:sp>
      <p:sp>
        <p:nvSpPr>
          <p:cNvPr id="7" name="Texto"/>
          <p:cNvSpPr txBox="1"/>
          <p:nvPr/>
        </p:nvSpPr>
        <p:spPr>
          <a:xfrm>
            <a:off x="1554480" y="2999232"/>
            <a:ext cx="4265676" cy="548640"/>
          </a:xfrm>
          <a:prstGeom prst="rect">
            <a:avLst/>
          </a:prstGeom>
          <a:noFill/>
        </p:spPr>
        <p:txBody>
          <a:bodyPr wrap="square" lIns="0" tIns="0" rIns="0" bIns="0" anchor="t">
            <a:noAutofit/>
          </a:bodyPr>
          <a:lstStyle/>
          <a:p>
            <a:pPr algn="l"/>
            <a:r>
              <a:rPr sz="1600" b="0" i="0">
                <a:solidFill>
                  <a:srgbClr val="5B6472"/>
                </a:solidFill>
                <a:latin typeface="Calibri"/>
              </a:rPr>
              <a:t>Gobernar no es prohibir: es dar una alternativa segura.</a:t>
            </a:r>
          </a:p>
        </p:txBody>
      </p:sp>
      <p:sp>
        <p:nvSpPr>
          <p:cNvPr id="8" name="Tarjeta"/>
          <p:cNvSpPr/>
          <p:nvPr/>
        </p:nvSpPr>
        <p:spPr>
          <a:xfrm>
            <a:off x="6185916" y="2286000"/>
            <a:ext cx="5454396" cy="128016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Número 2"/>
          <p:cNvSpPr/>
          <p:nvPr/>
        </p:nvSpPr>
        <p:spPr>
          <a:xfrm>
            <a:off x="6414516" y="2651760"/>
            <a:ext cx="548640" cy="548640"/>
          </a:xfrm>
          <a:prstGeom prst="ellipse">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100" b="1" i="0">
                <a:solidFill>
                  <a:srgbClr val="1B2A4A"/>
                </a:solidFill>
                <a:latin typeface="Calibri"/>
              </a:rPr>
              <a:t>2</a:t>
            </a:r>
          </a:p>
        </p:txBody>
      </p:sp>
      <p:sp>
        <p:nvSpPr>
          <p:cNvPr id="10" name="Texto"/>
          <p:cNvSpPr txBox="1"/>
          <p:nvPr/>
        </p:nvSpPr>
        <p:spPr>
          <a:xfrm>
            <a:off x="7191756" y="2395728"/>
            <a:ext cx="4265676" cy="548640"/>
          </a:xfrm>
          <a:prstGeom prst="rect">
            <a:avLst/>
          </a:prstGeom>
          <a:noFill/>
        </p:spPr>
        <p:txBody>
          <a:bodyPr wrap="square" lIns="0" tIns="0" rIns="0" bIns="0" anchor="ctr">
            <a:noAutofit/>
          </a:bodyPr>
          <a:lstStyle/>
          <a:p>
            <a:pPr algn="l"/>
            <a:r>
              <a:rPr sz="1800" b="1" i="0">
                <a:solidFill>
                  <a:srgbClr val="1B2A4A"/>
                </a:solidFill>
                <a:latin typeface="Calibri"/>
              </a:rPr>
              <a:t>Gobernar en proporción al riesgo</a:t>
            </a:r>
          </a:p>
        </p:txBody>
      </p:sp>
      <p:sp>
        <p:nvSpPr>
          <p:cNvPr id="11" name="Texto"/>
          <p:cNvSpPr txBox="1"/>
          <p:nvPr/>
        </p:nvSpPr>
        <p:spPr>
          <a:xfrm>
            <a:off x="7191756" y="2999232"/>
            <a:ext cx="4265676" cy="548640"/>
          </a:xfrm>
          <a:prstGeom prst="rect">
            <a:avLst/>
          </a:prstGeom>
          <a:noFill/>
        </p:spPr>
        <p:txBody>
          <a:bodyPr wrap="square" lIns="0" tIns="0" rIns="0" bIns="0" anchor="t">
            <a:noAutofit/>
          </a:bodyPr>
          <a:lstStyle/>
          <a:p>
            <a:pPr algn="l"/>
            <a:r>
              <a:rPr sz="1600" b="0" i="0">
                <a:solidFill>
                  <a:srgbClr val="5B6472"/>
                </a:solidFill>
                <a:latin typeface="Calibri"/>
              </a:rPr>
              <a:t>MVG: suelo para todos y más control en Tier 3.</a:t>
            </a:r>
          </a:p>
        </p:txBody>
      </p:sp>
      <p:sp>
        <p:nvSpPr>
          <p:cNvPr id="12" name="Tarjeta"/>
          <p:cNvSpPr/>
          <p:nvPr/>
        </p:nvSpPr>
        <p:spPr>
          <a:xfrm>
            <a:off x="548640" y="3749039"/>
            <a:ext cx="5454396" cy="128016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Número 3"/>
          <p:cNvSpPr/>
          <p:nvPr/>
        </p:nvSpPr>
        <p:spPr>
          <a:xfrm>
            <a:off x="777240" y="4114800"/>
            <a:ext cx="548640" cy="548640"/>
          </a:xfrm>
          <a:prstGeom prst="ellipse">
            <a:avLst/>
          </a:prstGeom>
          <a:solidFill>
            <a:srgbClr val="0640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100" b="1" i="0">
                <a:solidFill>
                  <a:srgbClr val="FFFFFF"/>
                </a:solidFill>
                <a:latin typeface="Calibri"/>
              </a:rPr>
              <a:t>3</a:t>
            </a:r>
          </a:p>
        </p:txBody>
      </p:sp>
      <p:sp>
        <p:nvSpPr>
          <p:cNvPr id="14" name="Texto"/>
          <p:cNvSpPr txBox="1"/>
          <p:nvPr/>
        </p:nvSpPr>
        <p:spPr>
          <a:xfrm>
            <a:off x="1554480" y="3858768"/>
            <a:ext cx="4265676" cy="548640"/>
          </a:xfrm>
          <a:prstGeom prst="rect">
            <a:avLst/>
          </a:prstGeom>
          <a:noFill/>
        </p:spPr>
        <p:txBody>
          <a:bodyPr wrap="square" lIns="0" tIns="0" rIns="0" bIns="0" anchor="ctr">
            <a:noAutofit/>
          </a:bodyPr>
          <a:lstStyle/>
          <a:p>
            <a:pPr algn="l"/>
            <a:r>
              <a:rPr sz="1800" b="1" i="0">
                <a:solidFill>
                  <a:srgbClr val="1B2A4A"/>
                </a:solidFill>
                <a:latin typeface="Calibri"/>
              </a:rPr>
              <a:t>Lo que no se mide no se gobierna</a:t>
            </a:r>
          </a:p>
        </p:txBody>
      </p:sp>
      <p:sp>
        <p:nvSpPr>
          <p:cNvPr id="15" name="Texto"/>
          <p:cNvSpPr txBox="1"/>
          <p:nvPr/>
        </p:nvSpPr>
        <p:spPr>
          <a:xfrm>
            <a:off x="1554480" y="4462272"/>
            <a:ext cx="4265676" cy="548640"/>
          </a:xfrm>
          <a:prstGeom prst="rect">
            <a:avLst/>
          </a:prstGeom>
          <a:noFill/>
        </p:spPr>
        <p:txBody>
          <a:bodyPr wrap="square" lIns="0" tIns="0" rIns="0" bIns="0" anchor="t">
            <a:noAutofit/>
          </a:bodyPr>
          <a:lstStyle/>
          <a:p>
            <a:pPr algn="l"/>
            <a:r>
              <a:rPr sz="1600" b="0" i="0">
                <a:solidFill>
                  <a:srgbClr val="5B6472"/>
                </a:solidFill>
                <a:latin typeface="Calibri"/>
              </a:rPr>
              <a:t>GitHub, DVC, MLflow y SHAP producen la evidencia.</a:t>
            </a:r>
          </a:p>
        </p:txBody>
      </p:sp>
      <p:sp>
        <p:nvSpPr>
          <p:cNvPr id="16" name="Tarjeta"/>
          <p:cNvSpPr/>
          <p:nvPr/>
        </p:nvSpPr>
        <p:spPr>
          <a:xfrm>
            <a:off x="6185916" y="3749039"/>
            <a:ext cx="5454396" cy="1280160"/>
          </a:xfrm>
          <a:prstGeom prst="roundRect">
            <a:avLst>
              <a:gd name="adj" fmla="val 6000"/>
            </a:avLst>
          </a:prstGeom>
          <a:solidFill>
            <a:srgbClr val="F3E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úmero 4"/>
          <p:cNvSpPr/>
          <p:nvPr/>
        </p:nvSpPr>
        <p:spPr>
          <a:xfrm>
            <a:off x="6414516" y="4114800"/>
            <a:ext cx="548640" cy="548640"/>
          </a:xfrm>
          <a:prstGeom prst="ellipse">
            <a:avLst/>
          </a:prstGeom>
          <a:solidFill>
            <a:srgbClr val="2CD9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100" b="1" i="0">
                <a:solidFill>
                  <a:srgbClr val="1B2A4A"/>
                </a:solidFill>
                <a:latin typeface="Calibri"/>
              </a:rPr>
              <a:t>4</a:t>
            </a:r>
          </a:p>
        </p:txBody>
      </p:sp>
      <p:sp>
        <p:nvSpPr>
          <p:cNvPr id="18" name="Texto"/>
          <p:cNvSpPr txBox="1"/>
          <p:nvPr/>
        </p:nvSpPr>
        <p:spPr>
          <a:xfrm>
            <a:off x="7191756" y="3858768"/>
            <a:ext cx="4265676" cy="548640"/>
          </a:xfrm>
          <a:prstGeom prst="rect">
            <a:avLst/>
          </a:prstGeom>
          <a:noFill/>
        </p:spPr>
        <p:txBody>
          <a:bodyPr wrap="square" lIns="0" tIns="0" rIns="0" bIns="0" anchor="ctr">
            <a:noAutofit/>
          </a:bodyPr>
          <a:lstStyle/>
          <a:p>
            <a:pPr algn="l"/>
            <a:r>
              <a:rPr sz="1800" b="1" i="0">
                <a:solidFill>
                  <a:srgbClr val="1B2A4A"/>
                </a:solidFill>
                <a:latin typeface="Calibri"/>
              </a:rPr>
              <a:t>Un control sirve a varios marcos</a:t>
            </a:r>
          </a:p>
        </p:txBody>
      </p:sp>
      <p:sp>
        <p:nvSpPr>
          <p:cNvPr id="19" name="Texto"/>
          <p:cNvSpPr txBox="1"/>
          <p:nvPr/>
        </p:nvSpPr>
        <p:spPr>
          <a:xfrm>
            <a:off x="7191756" y="4462272"/>
            <a:ext cx="4265676" cy="548640"/>
          </a:xfrm>
          <a:prstGeom prst="rect">
            <a:avLst/>
          </a:prstGeom>
          <a:noFill/>
        </p:spPr>
        <p:txBody>
          <a:bodyPr wrap="square" lIns="0" tIns="0" rIns="0" bIns="0" anchor="t">
            <a:noAutofit/>
          </a:bodyPr>
          <a:lstStyle/>
          <a:p>
            <a:pPr algn="l"/>
            <a:r>
              <a:rPr sz="1600" b="0" i="0">
                <a:solidFill>
                  <a:srgbClr val="5B6472"/>
                </a:solidFill>
                <a:latin typeface="Calibri"/>
              </a:rPr>
              <a:t>EU AI Act, ISO/IEC 42001 y marco colombiano.</a:t>
            </a:r>
          </a:p>
        </p:txBody>
      </p:sp>
      <p:sp>
        <p:nvSpPr>
          <p:cNvPr id="20" name="Texto"/>
          <p:cNvSpPr txBox="1"/>
          <p:nvPr/>
        </p:nvSpPr>
        <p:spPr>
          <a:xfrm>
            <a:off x="548640" y="5212080"/>
            <a:ext cx="11091672" cy="365760"/>
          </a:xfrm>
          <a:prstGeom prst="rect">
            <a:avLst/>
          </a:prstGeom>
          <a:noFill/>
        </p:spPr>
        <p:txBody>
          <a:bodyPr wrap="square" lIns="0" tIns="0" rIns="0" bIns="0" anchor="t">
            <a:noAutofit/>
          </a:bodyPr>
          <a:lstStyle/>
          <a:p>
            <a:pPr algn="ctr"/>
            <a:r>
              <a:rPr sz="1600" b="1" i="0">
                <a:solidFill>
                  <a:srgbClr val="1B2A4A"/>
                </a:solidFill>
                <a:latin typeface="Calibri"/>
              </a:rPr>
              <a:t>Alfredo Díaz Claros · #unabvibra+</a:t>
            </a:r>
          </a:p>
        </p:txBody>
      </p:sp>
    </p:spTree>
  </p:cSld>
  <p:clrMapOvr>
    <a:masterClrMapping/>
  </p:clrMapOvr>
</p:sld>
</file>

<file path=ppt/theme/theme1.xml><?xml version="1.0" encoding="utf-8"?>
<a:theme xmlns:a="http://schemas.openxmlformats.org/drawingml/2006/main" name="Personalizar">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7_TF78853419_Win32" id="{89881BBC-4720-4DBD-B653-230ED84EDDDD}" vid="{D5D0700E-9D65-401B-B37B-B3D39C01EE2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B194E-8B30-4377-8C59-ECFB902D2A26}">
  <ds:schemaRefs>
    <ds:schemaRef ds:uri="http://purl.org/dc/elements/1.1/"/>
    <ds:schemaRef ds:uri="http://purl.org/dc/dcmitype/"/>
    <ds:schemaRef ds:uri="http://schemas.microsoft.com/office/infopath/2007/PartnerControls"/>
    <ds:schemaRef ds:uri="http://schemas.microsoft.com/office/2006/metadata/properties"/>
    <ds:schemaRef ds:uri="http://www.w3.org/XML/1998/namespace"/>
    <ds:schemaRef ds:uri="71af3243-3dd4-4a8d-8c0d-dd76da1f02a5"/>
    <ds:schemaRef ds:uri="http://schemas.microsoft.com/sharepoint/v3"/>
    <ds:schemaRef ds:uri="http://schemas.microsoft.com/office/2006/documentManagement/types"/>
    <ds:schemaRef ds:uri="http://purl.org/dc/terms/"/>
    <ds:schemaRef ds:uri="http://schemas.openxmlformats.org/package/2006/metadata/core-properties"/>
    <ds:schemaRef ds:uri="230e9df3-be65-4c73-a93b-d1236ebd677e"/>
    <ds:schemaRef ds:uri="16c05727-aa75-4e4a-9b5f-8a80a116589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{9206A260-B746-4F20-ADD6-50C3B94EDA30}TFd3b75063-ff25-434d-b12c-efeaf07d16c3e7f35a69_win32-0d75b5563924</Template>
  <TotalTime>1289</TotalTime>
  <Words>12705</Words>
  <Application>Microsoft Office PowerPoint</Application>
  <PresentationFormat>Panorámica</PresentationFormat>
  <Paragraphs>1100</Paragraphs>
  <Slides>42</Slides>
  <Notes>41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42</vt:i4>
      </vt:variant>
    </vt:vector>
  </HeadingPairs>
  <TitlesOfParts>
    <vt:vector size="48" baseType="lpstr">
      <vt:lpstr>Arial</vt:lpstr>
      <vt:lpstr>Calibri</vt:lpstr>
      <vt:lpstr>Courier New</vt:lpstr>
      <vt:lpstr>Franklin Gothic Book</vt:lpstr>
      <vt:lpstr>Franklin Gothic Demi</vt:lpstr>
      <vt:lpstr>Personalizar</vt:lpstr>
      <vt:lpstr>Presentación de PowerPoint</vt:lpstr>
      <vt:lpstr>Gobernanza y Gestión de la Inteligencia Artificial</vt:lpstr>
      <vt:lpstr>Agenda</vt:lpstr>
      <vt:lpstr>¿Qué vas a aprender en este Bienal?</vt:lpstr>
      <vt:lpstr>Vocabulario esencial para empezar</vt:lpstr>
      <vt:lpstr>El riesgo de la IA no gobernada</vt:lpstr>
      <vt:lpstr>Shadow AI: la trampa de la productividad</vt:lpstr>
      <vt:lpstr>Cuando la IA falla: casos reales</vt:lpstr>
      <vt:lpstr>Gobernanza y gestión de IA: dos niveles</vt:lpstr>
      <vt:lpstr>¿Quién hace qué? Roles en la gobernanza de IA</vt:lpstr>
      <vt:lpstr>Marco de referencia en cuatro capas</vt:lpstr>
      <vt:lpstr>Siete requisitos de una IA confiable</vt:lpstr>
      <vt:lpstr>MVG: cuánta gobernanza es suficiente</vt:lpstr>
      <vt:lpstr>Cuatro niveles de gobernanza (tiers)</vt:lpstr>
      <vt:lpstr>Proceso MVG en cinco pasos</vt:lpstr>
      <vt:lpstr>Caso ilustrativo: MVG aplicado a 8 sistemas</vt:lpstr>
      <vt:lpstr>MVG: del tier al entorno de despliegue</vt:lpstr>
      <vt:lpstr>Ciclo de vida de IA: datos, modelo, despliegue</vt:lpstr>
      <vt:lpstr>Fase 1 · Datos: gobernar desde el origen</vt:lpstr>
      <vt:lpstr>Fase 2 · Modelo: entrenar con evidencia</vt:lpstr>
      <vt:lpstr>Fase 3 · Despliegue: operar bajo control</vt:lpstr>
      <vt:lpstr>Componentes de MLOps y su aporte a la gobernanza</vt:lpstr>
      <vt:lpstr>Medir para gobernar: ¿qué se mide?</vt:lpstr>
      <vt:lpstr>Indicadores y umbrales de referencia</vt:lpstr>
      <vt:lpstr>Mapa de herramientas: del control a la evidencia</vt:lpstr>
      <vt:lpstr>GitHub: trazabilidad y control de cambios</vt:lpstr>
      <vt:lpstr>DVC: versionar datos como se versiona código</vt:lpstr>
      <vt:lpstr>MLflow: experimentos y registro de modelos</vt:lpstr>
      <vt:lpstr>Explicabilidad: SHAP y TensorBoard</vt:lpstr>
      <vt:lpstr>Equidad, calidad de datos y monitoreo</vt:lpstr>
      <vt:lpstr>Sistemas de gestión ISO: ordenan la evidencia</vt:lpstr>
      <vt:lpstr>De la norma a la evidencia</vt:lpstr>
      <vt:lpstr>EU AI Act: enfoque basado en el riesgo</vt:lpstr>
      <vt:lpstr>EU AI Act: obligaciones y evidencia</vt:lpstr>
      <vt:lpstr>ISO/IEC 42001: sistema de gestión de IA</vt:lpstr>
      <vt:lpstr>Colombia: panorama normativo para IA</vt:lpstr>
      <vt:lpstr>Sentencia T-323/24: ocho principios, ocho controles</vt:lpstr>
      <vt:lpstr>Matriz integrada de cumplimiento</vt:lpstr>
      <vt:lpstr>Hoja de ruta de implementación</vt:lpstr>
      <vt:lpstr>Ruta de aprendizaje para empezar</vt:lpstr>
      <vt:lpstr>Demostración con Soberania: gobierna tu primer modelo y en la tarde</vt:lpstr>
      <vt:lpstr>Gobernar para innovar: ideas para llevarse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Francisco Javier Giraldo Bustamante</dc:creator>
  <cp:lastModifiedBy>Ximena Patricia Mattinez Arciniegas</cp:lastModifiedBy>
  <cp:revision>18</cp:revision>
  <dcterms:created xsi:type="dcterms:W3CDTF">2026-10-15T21:36:20Z</dcterms:created>
  <dcterms:modified xsi:type="dcterms:W3CDTF">2026-10-29T02:09:13Z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